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4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/>
    <p:restoredTop sz="90028"/>
  </p:normalViewPr>
  <p:slideViewPr>
    <p:cSldViewPr snapToGrid="0" snapToObjects="1">
      <p:cViewPr varScale="1">
        <p:scale>
          <a:sx n="105" d="100"/>
          <a:sy n="105" d="100"/>
        </p:scale>
        <p:origin x="1080" y="20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lstStyle/>
          <a:p>
            <a:pPr algn="l">
              <a:defRPr sz="1400" b="0" i="0" u="none">
                <a:solidFill>
                  <a:sysClr val="windowText" lastClr="000000"/>
                </a:solidFill>
                <a:latin typeface="Calibri"/>
                <a:ea typeface="맑은 고딕"/>
                <a:cs typeface="맑은 고딕"/>
                <a:sym typeface="맑은 고딕"/>
              </a:defRPr>
            </a:pPr>
            <a:r>
              <a:rPr lang="en" sz="1400" b="0" i="0" u="none">
                <a:solidFill>
                  <a:sysClr val="windowText" lastClr="000000"/>
                </a:solidFill>
                <a:latin typeface="Calibri"/>
                <a:ea typeface="맑은 고딕"/>
                <a:cs typeface="맑은 고딕"/>
                <a:sym typeface="맑은 고딕"/>
              </a:rPr>
              <a:t>Two environment-specific responses of the parent entity phylum</a:t>
            </a:r>
            <a:endParaRPr lang="en"/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roadside (mean)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Actinobacteriota</c:v>
                </c:pt>
                <c:pt idx="1">
                  <c:v>Proteobacteria</c:v>
                </c:pt>
                <c:pt idx="2">
                  <c:v>Gemmatimonadota</c:v>
                </c:pt>
                <c:pt idx="3">
                  <c:v>Firmicutes</c:v>
                </c:pt>
                <c:pt idx="4">
                  <c:v>Myxococcota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0.5655</c:v>
                </c:pt>
                <c:pt idx="1">
                  <c:v>0.28889999999999999</c:v>
                </c:pt>
                <c:pt idx="2">
                  <c:v>6.1400000000000003E-2</c:v>
                </c:pt>
                <c:pt idx="3">
                  <c:v>1.5699999999999999E-2</c:v>
                </c:pt>
                <c:pt idx="4">
                  <c:v>1.0800000000000001E-2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B4-A348-8E2C-80D56E847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 (mean)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Actinobacteriota</c:v>
                </c:pt>
                <c:pt idx="1">
                  <c:v>Proteobacteria</c:v>
                </c:pt>
                <c:pt idx="2">
                  <c:v>Gemmatimonadota</c:v>
                </c:pt>
                <c:pt idx="3">
                  <c:v>Firmicutes</c:v>
                </c:pt>
                <c:pt idx="4">
                  <c:v>Myxococcota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0.48830000000000001</c:v>
                </c:pt>
                <c:pt idx="1">
                  <c:v>0.35060000000000002</c:v>
                </c:pt>
                <c:pt idx="2">
                  <c:v>2.3099999999999999E-2</c:v>
                </c:pt>
                <c:pt idx="3">
                  <c:v>6.1400000000000003E-2</c:v>
                </c:pt>
                <c:pt idx="4">
                  <c:v>1.95E-2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B4-A348-8E2C-80D56E847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8909749"/>
        <c:axId val="7287270"/>
      </c:barChart>
      <c:catAx>
        <c:axId val="99890974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7287270"/>
        <c:crosses val="autoZero"/>
        <c:auto val="1"/>
        <c:lblAlgn val="ctr"/>
        <c:lblOffset val="100"/>
        <c:tickMarkSkip val="1"/>
        <c:noMultiLvlLbl val="0"/>
      </c:catAx>
      <c:valAx>
        <c:axId val="7287270"/>
        <c:scaling>
          <c:orientation val="minMax"/>
        </c:scaling>
        <c:delete val="0"/>
        <c:axPos val="t"/>
        <c:majorGridlines/>
        <c:numFmt formatCode="0.00%" sourceLinked="1"/>
        <c:majorTickMark val="out"/>
        <c:minorTickMark val="none"/>
        <c:tickLblPos val="low"/>
        <c:crossAx val="998909749"/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r"/>
      <c:overlay val="0"/>
    </c:legend>
    <c:plotVisOnly val="0"/>
    <c:dispBlanksAs val="gap"/>
    <c:showDLblsOverMax val="1"/>
  </c:chart>
  <c:txPr>
    <a:bodyPr rot="0" vert="horz" wrap="none" lIns="0" tIns="0" rIns="0" bIns="0" anchor="ctr" anchorCtr="1"/>
    <a:lstStyle/>
    <a:p>
      <a:pPr algn="l">
        <a:defRPr sz="1000" b="0" i="0" u="none">
          <a:latin typeface="Calibri"/>
          <a:ea typeface="맑은 고딕"/>
          <a:cs typeface="맑은 고딕"/>
          <a:sym typeface="맑은 고딕"/>
        </a:defRPr>
      </a:pPr>
      <a:endParaRPr lang="ko-KR"/>
    </a:p>
  </c:txPr>
  <c:externalData r:id="rId1">
    <c:autoUpdate val="0"/>
  </c:externalData>
  <c:extLst>
    <c:ext uri="CC8EB2C9-7E31-499d-B8F2-F6CE61031016">
      <ho:hncChartStyle xmlns:ho="http://schemas.haansoft.com/office/8.0" layoutIndex="-1" colorIndex="0" styleIndex="0"/>
    </c:ext>
  </c:extLs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2026. 9. 4.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15133" y="136503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>
                <a:latin typeface="Times New Roman"/>
                <a:ea typeface="Times New Roman"/>
                <a:cs typeface="Times New Roman"/>
              </a:rPr>
              <a:t>토양 채취 지역 사진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6DD1CB-326B-0AA9-49B3-CA702BC23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07" y="776583"/>
            <a:ext cx="7734051" cy="5808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190500" y="134486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>
                <a:latin typeface="Times New Roman"/>
                <a:ea typeface="Times New Roman"/>
                <a:cs typeface="Times New Roman"/>
              </a:rPr>
              <a:t>sampling 도식화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65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/>
          <p:cNvGraphicFramePr/>
          <p:nvPr/>
        </p:nvGraphicFramePr>
        <p:xfrm>
          <a:off x="2239211" y="1462170"/>
          <a:ext cx="6858000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2050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148723" y="184617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>
                <a:latin typeface="Times New Roman"/>
                <a:ea typeface="Times New Roman"/>
                <a:cs typeface="Times New Roman"/>
              </a:rPr>
              <a:t>Metis 배양 조건 OD값 table</a:t>
            </a:r>
            <a:r>
              <a:rPr lang="en-US" altLang="ko-KR" b="0" i="0" u="sng" strike="noStrike" baseline="0"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3955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148723" y="184617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 dirty="0">
                <a:latin typeface="Times New Roman"/>
                <a:ea typeface="Times New Roman"/>
                <a:cs typeface="Times New Roman"/>
              </a:rPr>
              <a:t>Metis </a:t>
            </a:r>
            <a:r>
              <a:rPr lang="en-US" b="0" i="0" u="sng" strike="noStrike" baseline="0" dirty="0" err="1">
                <a:latin typeface="Times New Roman"/>
                <a:ea typeface="Times New Roman"/>
                <a:cs typeface="Times New Roman"/>
              </a:rPr>
              <a:t>배양</a:t>
            </a:r>
            <a:r>
              <a:rPr lang="en-US" b="0" i="0" u="sng" strike="noStrike" baseline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0" i="0" u="sng" strike="noStrike" baseline="0" dirty="0" err="1">
                <a:latin typeface="Times New Roman"/>
                <a:ea typeface="Times New Roman"/>
                <a:cs typeface="Times New Roman"/>
              </a:rPr>
              <a:t>조건</a:t>
            </a:r>
            <a:r>
              <a:rPr lang="en-US" altLang="ko-KR" b="0" i="0" u="sng" strike="noStrike" baseline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ko-KR" altLang="en-US" b="0" i="0" u="sng" strike="noStrike" baseline="0" dirty="0">
                <a:latin typeface="Times New Roman"/>
                <a:ea typeface="Times New Roman"/>
                <a:cs typeface="Times New Roman"/>
              </a:rPr>
              <a:t>최적화에 대한</a:t>
            </a:r>
            <a:r>
              <a:rPr lang="en-US" b="0" i="0" u="sng" strike="noStrike" baseline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ko-KR" b="0" i="0" u="sng" strike="noStrike" baseline="0" dirty="0">
                <a:latin typeface="Times New Roman"/>
                <a:ea typeface="Times New Roman"/>
                <a:cs typeface="Times New Roman"/>
              </a:rPr>
              <a:t> scale-up results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4967E5-D71D-C3D0-D672-91595C989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3" y="1196848"/>
            <a:ext cx="3463196" cy="228701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81604C2-05D9-9D88-E686-A6397BD1D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576" y="1196848"/>
            <a:ext cx="2384136" cy="2997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FED467F-EAF7-EC45-1459-C56BAD89A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720" y="824697"/>
            <a:ext cx="4223552" cy="33693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6D033D4-EDC3-7BD2-91D9-458388387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6" y="3483864"/>
            <a:ext cx="3656330" cy="319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6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17236" y="134487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>
                <a:latin typeface="Times New Roman"/>
                <a:ea typeface="Times New Roman"/>
                <a:cs typeface="Times New Roman"/>
              </a:rPr>
              <a:t>box plot</a:t>
            </a:r>
            <a:r>
              <a:rPr lang="ko-KR" altLang="en-US" b="0" i="0" u="sng" strike="noStrike" baseline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ko-KR" b="0" i="0" u="sng" strike="noStrike" baseline="0">
                <a:latin typeface="Times New Roman"/>
                <a:ea typeface="Times New Roman"/>
                <a:cs typeface="Times New Roman"/>
              </a:rPr>
              <a:t>(Alpha diversity)</a:t>
            </a:r>
          </a:p>
        </p:txBody>
      </p:sp>
      <p:pic>
        <p:nvPicPr>
          <p:cNvPr id="3" name="그래픽 127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7647603" y="3521333"/>
            <a:ext cx="1341141" cy="1484634"/>
          </a:xfrm>
          <a:prstGeom prst="rect">
            <a:avLst/>
          </a:prstGeom>
        </p:spPr>
      </p:pic>
      <p:pic>
        <p:nvPicPr>
          <p:cNvPr id="4" name="그래픽 102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5667530" y="3541005"/>
            <a:ext cx="1341141" cy="1464962"/>
          </a:xfrm>
          <a:prstGeom prst="rect">
            <a:avLst/>
          </a:prstGeom>
        </p:spPr>
      </p:pic>
      <p:pic>
        <p:nvPicPr>
          <p:cNvPr id="5" name="그래픽 40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7649556" y="1724646"/>
            <a:ext cx="1332637" cy="1442862"/>
          </a:xfrm>
          <a:prstGeom prst="rect">
            <a:avLst/>
          </a:prstGeom>
        </p:spPr>
      </p:pic>
      <p:pic>
        <p:nvPicPr>
          <p:cNvPr id="6" name="그래픽 23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5668044" y="1724646"/>
            <a:ext cx="1372087" cy="1424800"/>
          </a:xfrm>
          <a:prstGeom prst="rect">
            <a:avLst/>
          </a:prstGeom>
        </p:spPr>
      </p:pic>
      <p:pic>
        <p:nvPicPr>
          <p:cNvPr id="7" name="그래픽 14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3689063" y="1676062"/>
            <a:ext cx="1376773" cy="151878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 flipH="1">
            <a:off x="2304239" y="1464668"/>
            <a:ext cx="212913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86334" y="1345930"/>
            <a:ext cx="289249" cy="338554"/>
          </a:xfrm>
          <a:prstGeom prst="rect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F8766D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08902" y="1815065"/>
            <a:ext cx="289249" cy="338554"/>
          </a:xfrm>
          <a:prstGeom prst="rect">
            <a:avLst/>
          </a:prstGeom>
          <a:solidFill>
            <a:srgbClr val="01BA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08902" y="2284200"/>
            <a:ext cx="289249" cy="338554"/>
          </a:xfrm>
          <a:prstGeom prst="rect">
            <a:avLst/>
          </a:prstGeom>
          <a:solidFill>
            <a:srgbClr val="619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58"/>
          <p:cNvSpPr txBox="1"/>
          <p:nvPr/>
        </p:nvSpPr>
        <p:spPr>
          <a:xfrm>
            <a:off x="6197158" y="1493243"/>
            <a:ext cx="29720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Chao1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13" name="TextBox 74"/>
          <p:cNvSpPr txBox="1"/>
          <p:nvPr/>
        </p:nvSpPr>
        <p:spPr>
          <a:xfrm>
            <a:off x="4236773" y="3365243"/>
            <a:ext cx="359073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Shannon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14" name="TextBox 75"/>
          <p:cNvSpPr txBox="1"/>
          <p:nvPr/>
        </p:nvSpPr>
        <p:spPr>
          <a:xfrm>
            <a:off x="6147792" y="3365243"/>
            <a:ext cx="360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Simpson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15" name="TextBox 78"/>
          <p:cNvSpPr txBox="1"/>
          <p:nvPr/>
        </p:nvSpPr>
        <p:spPr>
          <a:xfrm>
            <a:off x="8136937" y="1504362"/>
            <a:ext cx="23384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ACE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16" name="TextBox 79"/>
          <p:cNvSpPr txBox="1"/>
          <p:nvPr/>
        </p:nvSpPr>
        <p:spPr>
          <a:xfrm>
            <a:off x="3265237" y="1464667"/>
            <a:ext cx="143024" cy="173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Times New Roman"/>
                <a:cs typeface="Times New Roman"/>
              </a:rPr>
              <a:t>A</a:t>
            </a:r>
            <a:endParaRPr lang="ko-KR" altLang="en-US" sz="1200" b="1">
              <a:latin typeface="Times New Roman"/>
              <a:cs typeface="Times New Roman"/>
            </a:endParaRPr>
          </a:p>
        </p:txBody>
      </p:sp>
      <p:sp>
        <p:nvSpPr>
          <p:cNvPr id="17" name="TextBox 80"/>
          <p:cNvSpPr txBox="1"/>
          <p:nvPr/>
        </p:nvSpPr>
        <p:spPr>
          <a:xfrm>
            <a:off x="3265237" y="3336667"/>
            <a:ext cx="13349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Times New Roman"/>
                <a:cs typeface="Times New Roman"/>
              </a:rPr>
              <a:t>B</a:t>
            </a:r>
            <a:endParaRPr lang="ko-KR" altLang="en-US" sz="1200" b="1">
              <a:latin typeface="Times New Roman"/>
              <a:cs typeface="Times New Roman"/>
            </a:endParaRPr>
          </a:p>
        </p:txBody>
      </p:sp>
      <p:sp>
        <p:nvSpPr>
          <p:cNvPr id="18" name="직사각형 17"/>
          <p:cNvSpPr/>
          <p:nvPr/>
        </p:nvSpPr>
        <p:spPr>
          <a:xfrm rot="16200000">
            <a:off x="4314868" y="2547454"/>
            <a:ext cx="152329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Box 120"/>
          <p:cNvSpPr txBox="1"/>
          <p:nvPr/>
        </p:nvSpPr>
        <p:spPr>
          <a:xfrm rot="16200000">
            <a:off x="6875361" y="2314232"/>
            <a:ext cx="57150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Observations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20" name="TextBox 77"/>
          <p:cNvSpPr txBox="1"/>
          <p:nvPr/>
        </p:nvSpPr>
        <p:spPr>
          <a:xfrm>
            <a:off x="4203325" y="1493243"/>
            <a:ext cx="42413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Observed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21" name="TextBox 89"/>
          <p:cNvSpPr txBox="1"/>
          <p:nvPr/>
        </p:nvSpPr>
        <p:spPr>
          <a:xfrm rot="16200000">
            <a:off x="3046311" y="2303113"/>
            <a:ext cx="57150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Observations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cxnSp>
        <p:nvCxnSpPr>
          <p:cNvPr id="22" name="직선 연결선 92"/>
          <p:cNvCxnSpPr/>
          <p:nvPr/>
        </p:nvCxnSpPr>
        <p:spPr>
          <a:xfrm flipH="1">
            <a:off x="3633563" y="3149446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114"/>
          <p:cNvSpPr txBox="1"/>
          <p:nvPr/>
        </p:nvSpPr>
        <p:spPr>
          <a:xfrm>
            <a:off x="3841932" y="3168601"/>
            <a:ext cx="19497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24" name="TextBox 115"/>
          <p:cNvSpPr txBox="1"/>
          <p:nvPr/>
        </p:nvSpPr>
        <p:spPr>
          <a:xfrm>
            <a:off x="4655887" y="3168600"/>
            <a:ext cx="40972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Park 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3491142" y="1822238"/>
            <a:ext cx="102592" cy="1366134"/>
            <a:chOff x="3483306" y="1450917"/>
            <a:chExt cx="102592" cy="1366134"/>
          </a:xfrm>
        </p:grpSpPr>
        <p:sp>
          <p:nvSpPr>
            <p:cNvPr id="26" name="TextBox 107"/>
            <p:cNvSpPr txBox="1"/>
            <p:nvPr/>
          </p:nvSpPr>
          <p:spPr>
            <a:xfrm>
              <a:off x="3483306" y="1450917"/>
              <a:ext cx="13619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60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27" name="TextBox 108"/>
            <p:cNvSpPr txBox="1"/>
            <p:nvPr/>
          </p:nvSpPr>
          <p:spPr>
            <a:xfrm>
              <a:off x="3483306" y="2318678"/>
              <a:ext cx="13619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20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28" name="TextBox 109"/>
            <p:cNvSpPr txBox="1"/>
            <p:nvPr/>
          </p:nvSpPr>
          <p:spPr>
            <a:xfrm>
              <a:off x="3483306" y="1867120"/>
              <a:ext cx="136194" cy="12360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40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29" name="TextBox 110"/>
            <p:cNvSpPr txBox="1"/>
            <p:nvPr/>
          </p:nvSpPr>
          <p:spPr>
            <a:xfrm>
              <a:off x="3534602" y="2693940"/>
              <a:ext cx="8489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</p:grpSp>
      <p:cxnSp>
        <p:nvCxnSpPr>
          <p:cNvPr id="30" name="직선 연결선 162"/>
          <p:cNvCxnSpPr/>
          <p:nvPr/>
        </p:nvCxnSpPr>
        <p:spPr>
          <a:xfrm flipH="1">
            <a:off x="5575009" y="3149446"/>
            <a:ext cx="151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59"/>
          <p:cNvSpPr txBox="1"/>
          <p:nvPr/>
        </p:nvSpPr>
        <p:spPr>
          <a:xfrm rot="16200000">
            <a:off x="4960836" y="2303113"/>
            <a:ext cx="57150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Observations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2" name="직사각형 31"/>
          <p:cNvSpPr/>
          <p:nvPr/>
        </p:nvSpPr>
        <p:spPr>
          <a:xfrm rot="16200000">
            <a:off x="6211133" y="2566217"/>
            <a:ext cx="152329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 rot="16200000">
            <a:off x="8047642" y="2599575"/>
            <a:ext cx="234337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TextBox 76"/>
          <p:cNvSpPr txBox="1"/>
          <p:nvPr/>
        </p:nvSpPr>
        <p:spPr>
          <a:xfrm>
            <a:off x="8113606" y="3365243"/>
            <a:ext cx="25648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Fisher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5" name="TextBox 209"/>
          <p:cNvSpPr txBox="1"/>
          <p:nvPr/>
        </p:nvSpPr>
        <p:spPr>
          <a:xfrm rot="16200000">
            <a:off x="3046311" y="4156062"/>
            <a:ext cx="57150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Observations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6" name="TextBox 231"/>
          <p:cNvSpPr txBox="1"/>
          <p:nvPr/>
        </p:nvSpPr>
        <p:spPr>
          <a:xfrm rot="16200000">
            <a:off x="4970361" y="4156062"/>
            <a:ext cx="57150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Observations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7" name="TextBox 232"/>
          <p:cNvSpPr txBox="1"/>
          <p:nvPr/>
        </p:nvSpPr>
        <p:spPr>
          <a:xfrm rot="16200000">
            <a:off x="6875361" y="4156062"/>
            <a:ext cx="57150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Observations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8" name="직사각형 37"/>
          <p:cNvSpPr/>
          <p:nvPr/>
        </p:nvSpPr>
        <p:spPr>
          <a:xfrm rot="5400000">
            <a:off x="1760923" y="4156066"/>
            <a:ext cx="1800000" cy="16120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 rot="5400000">
            <a:off x="1760992" y="2283997"/>
            <a:ext cx="1800000" cy="16134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3265237" y="951174"/>
            <a:ext cx="1908000" cy="184665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3265237" y="727264"/>
            <a:ext cx="5724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5173237" y="951176"/>
            <a:ext cx="1908000" cy="184664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7081237" y="951175"/>
            <a:ext cx="1908000" cy="184664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44" name="직선 연결선 16"/>
          <p:cNvCxnSpPr/>
          <p:nvPr/>
        </p:nvCxnSpPr>
        <p:spPr>
          <a:xfrm flipH="1">
            <a:off x="3633424" y="1684484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/>
          <p:cNvGrpSpPr/>
          <p:nvPr/>
        </p:nvGrpSpPr>
        <p:grpSpPr>
          <a:xfrm>
            <a:off x="5436211" y="1822238"/>
            <a:ext cx="102592" cy="1366134"/>
            <a:chOff x="3483306" y="1450917"/>
            <a:chExt cx="102592" cy="1366134"/>
          </a:xfrm>
        </p:grpSpPr>
        <p:sp>
          <p:nvSpPr>
            <p:cNvPr id="46" name="TextBox 25"/>
            <p:cNvSpPr txBox="1"/>
            <p:nvPr/>
          </p:nvSpPr>
          <p:spPr>
            <a:xfrm>
              <a:off x="3483306" y="1450917"/>
              <a:ext cx="134225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60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47" name="TextBox 26"/>
            <p:cNvSpPr txBox="1"/>
            <p:nvPr/>
          </p:nvSpPr>
          <p:spPr>
            <a:xfrm>
              <a:off x="3483306" y="2318678"/>
              <a:ext cx="134225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20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48" name="TextBox 27"/>
            <p:cNvSpPr txBox="1"/>
            <p:nvPr/>
          </p:nvSpPr>
          <p:spPr>
            <a:xfrm>
              <a:off x="3483306" y="1867120"/>
              <a:ext cx="134225" cy="12360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40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49" name="TextBox 28"/>
            <p:cNvSpPr txBox="1"/>
            <p:nvPr/>
          </p:nvSpPr>
          <p:spPr>
            <a:xfrm>
              <a:off x="3534602" y="2693940"/>
              <a:ext cx="82929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</p:grpSp>
      <p:cxnSp>
        <p:nvCxnSpPr>
          <p:cNvPr id="50" name="직선 연결선 29"/>
          <p:cNvCxnSpPr/>
          <p:nvPr/>
        </p:nvCxnSpPr>
        <p:spPr>
          <a:xfrm flipH="1">
            <a:off x="5571944" y="1684484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36"/>
          <p:cNvSpPr txBox="1"/>
          <p:nvPr/>
        </p:nvSpPr>
        <p:spPr>
          <a:xfrm>
            <a:off x="5762551" y="3168600"/>
            <a:ext cx="19841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52" name="TextBox 38"/>
          <p:cNvSpPr txBox="1"/>
          <p:nvPr/>
        </p:nvSpPr>
        <p:spPr>
          <a:xfrm>
            <a:off x="6628760" y="3168600"/>
            <a:ext cx="41805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Park 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53" name="TextBox 55"/>
          <p:cNvSpPr txBox="1"/>
          <p:nvPr/>
        </p:nvSpPr>
        <p:spPr>
          <a:xfrm>
            <a:off x="7744781" y="3168600"/>
            <a:ext cx="19738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54" name="TextBox 57"/>
          <p:cNvSpPr txBox="1"/>
          <p:nvPr/>
        </p:nvSpPr>
        <p:spPr>
          <a:xfrm>
            <a:off x="8584863" y="3168600"/>
            <a:ext cx="41457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Park 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7293547" y="1822238"/>
            <a:ext cx="102592" cy="1366134"/>
            <a:chOff x="3483306" y="1450917"/>
            <a:chExt cx="102592" cy="1366134"/>
          </a:xfrm>
        </p:grpSpPr>
        <p:sp>
          <p:nvSpPr>
            <p:cNvPr id="56" name="TextBox 61"/>
            <p:cNvSpPr txBox="1"/>
            <p:nvPr/>
          </p:nvSpPr>
          <p:spPr>
            <a:xfrm>
              <a:off x="3483306" y="1450917"/>
              <a:ext cx="13426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60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57" name="TextBox 62"/>
            <p:cNvSpPr txBox="1"/>
            <p:nvPr/>
          </p:nvSpPr>
          <p:spPr>
            <a:xfrm>
              <a:off x="3483306" y="2318678"/>
              <a:ext cx="13426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20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58" name="TextBox 63"/>
            <p:cNvSpPr txBox="1"/>
            <p:nvPr/>
          </p:nvSpPr>
          <p:spPr>
            <a:xfrm>
              <a:off x="3483306" y="1867120"/>
              <a:ext cx="134264" cy="12360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40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59" name="TextBox 64"/>
            <p:cNvSpPr txBox="1"/>
            <p:nvPr/>
          </p:nvSpPr>
          <p:spPr>
            <a:xfrm>
              <a:off x="3534602" y="2693940"/>
              <a:ext cx="8296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</p:grpSp>
      <p:cxnSp>
        <p:nvCxnSpPr>
          <p:cNvPr id="60" name="직선 연결선 181"/>
          <p:cNvCxnSpPr/>
          <p:nvPr/>
        </p:nvCxnSpPr>
        <p:spPr>
          <a:xfrm flipH="1">
            <a:off x="7483529" y="3160565"/>
            <a:ext cx="151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5"/>
          <p:cNvCxnSpPr/>
          <p:nvPr/>
        </p:nvCxnSpPr>
        <p:spPr>
          <a:xfrm flipH="1">
            <a:off x="7481656" y="1684484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그래픽 67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3769159" y="3521333"/>
            <a:ext cx="1266641" cy="1492224"/>
          </a:xfrm>
          <a:prstGeom prst="rect">
            <a:avLst/>
          </a:prstGeom>
        </p:spPr>
      </p:pic>
      <p:cxnSp>
        <p:nvCxnSpPr>
          <p:cNvPr id="63" name="직선 연결선 18"/>
          <p:cNvCxnSpPr/>
          <p:nvPr/>
        </p:nvCxnSpPr>
        <p:spPr>
          <a:xfrm>
            <a:off x="10328567" y="1345930"/>
            <a:ext cx="0" cy="4453098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직선 연결선 68"/>
          <p:cNvCxnSpPr/>
          <p:nvPr/>
        </p:nvCxnSpPr>
        <p:spPr>
          <a:xfrm flipH="1">
            <a:off x="3633424" y="5014839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9"/>
          <p:cNvSpPr txBox="1"/>
          <p:nvPr/>
        </p:nvSpPr>
        <p:spPr>
          <a:xfrm>
            <a:off x="3841793" y="5033994"/>
            <a:ext cx="195118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66" name="TextBox 70"/>
          <p:cNvSpPr txBox="1"/>
          <p:nvPr/>
        </p:nvSpPr>
        <p:spPr>
          <a:xfrm>
            <a:off x="4655748" y="5033993"/>
            <a:ext cx="40986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Park 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cxnSp>
        <p:nvCxnSpPr>
          <p:cNvPr id="67" name="직선 연결선 71"/>
          <p:cNvCxnSpPr/>
          <p:nvPr/>
        </p:nvCxnSpPr>
        <p:spPr>
          <a:xfrm flipH="1">
            <a:off x="3633285" y="3545167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/>
          <p:cNvGrpSpPr/>
          <p:nvPr/>
        </p:nvGrpSpPr>
        <p:grpSpPr>
          <a:xfrm>
            <a:off x="3542438" y="3488354"/>
            <a:ext cx="51296" cy="1339288"/>
            <a:chOff x="3534602" y="3117033"/>
            <a:chExt cx="51296" cy="1339288"/>
          </a:xfrm>
        </p:grpSpPr>
        <p:sp>
          <p:nvSpPr>
            <p:cNvPr id="69" name="TextBox 73"/>
            <p:cNvSpPr txBox="1"/>
            <p:nvPr/>
          </p:nvSpPr>
          <p:spPr>
            <a:xfrm>
              <a:off x="3534602" y="3117033"/>
              <a:ext cx="8489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4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70" name="TextBox 81"/>
            <p:cNvSpPr txBox="1"/>
            <p:nvPr/>
          </p:nvSpPr>
          <p:spPr>
            <a:xfrm>
              <a:off x="3534602" y="3924969"/>
              <a:ext cx="84898" cy="12315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2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71" name="TextBox 82"/>
            <p:cNvSpPr txBox="1"/>
            <p:nvPr/>
          </p:nvSpPr>
          <p:spPr>
            <a:xfrm>
              <a:off x="3534602" y="3521295"/>
              <a:ext cx="8489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3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72" name="TextBox 83"/>
            <p:cNvSpPr txBox="1"/>
            <p:nvPr/>
          </p:nvSpPr>
          <p:spPr>
            <a:xfrm>
              <a:off x="3534602" y="4333210"/>
              <a:ext cx="8489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1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</p:grpSp>
      <p:cxnSp>
        <p:nvCxnSpPr>
          <p:cNvPr id="73" name="직선 연결선 90"/>
          <p:cNvCxnSpPr/>
          <p:nvPr/>
        </p:nvCxnSpPr>
        <p:spPr>
          <a:xfrm flipH="1">
            <a:off x="5562802" y="5010677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91"/>
          <p:cNvSpPr txBox="1"/>
          <p:nvPr/>
        </p:nvSpPr>
        <p:spPr>
          <a:xfrm>
            <a:off x="5771171" y="5029832"/>
            <a:ext cx="19931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75" name="TextBox 93"/>
          <p:cNvSpPr txBox="1"/>
          <p:nvPr/>
        </p:nvSpPr>
        <p:spPr>
          <a:xfrm>
            <a:off x="6585126" y="5029831"/>
            <a:ext cx="41405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Park 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cxnSp>
        <p:nvCxnSpPr>
          <p:cNvPr id="76" name="직선 연결선 94"/>
          <p:cNvCxnSpPr/>
          <p:nvPr/>
        </p:nvCxnSpPr>
        <p:spPr>
          <a:xfrm flipH="1">
            <a:off x="5562663" y="3541005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/>
          <p:cNvGrpSpPr/>
          <p:nvPr/>
        </p:nvGrpSpPr>
        <p:grpSpPr>
          <a:xfrm>
            <a:off x="5402144" y="3488354"/>
            <a:ext cx="128240" cy="1339288"/>
            <a:chOff x="5463980" y="3117033"/>
            <a:chExt cx="128240" cy="1339288"/>
          </a:xfrm>
        </p:grpSpPr>
        <p:sp>
          <p:nvSpPr>
            <p:cNvPr id="78" name="TextBox 97"/>
            <p:cNvSpPr txBox="1"/>
            <p:nvPr/>
          </p:nvSpPr>
          <p:spPr>
            <a:xfrm>
              <a:off x="5463980" y="3117033"/>
              <a:ext cx="158767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1.0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79" name="TextBox 98"/>
            <p:cNvSpPr txBox="1"/>
            <p:nvPr/>
          </p:nvSpPr>
          <p:spPr>
            <a:xfrm>
              <a:off x="5463980" y="3924969"/>
              <a:ext cx="158767" cy="12315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0.6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80" name="TextBox 99"/>
            <p:cNvSpPr txBox="1"/>
            <p:nvPr/>
          </p:nvSpPr>
          <p:spPr>
            <a:xfrm>
              <a:off x="5463980" y="3521295"/>
              <a:ext cx="158767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0.8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81" name="TextBox 100"/>
            <p:cNvSpPr txBox="1"/>
            <p:nvPr/>
          </p:nvSpPr>
          <p:spPr>
            <a:xfrm>
              <a:off x="5463980" y="4333210"/>
              <a:ext cx="158767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0.4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</p:grpSp>
      <p:cxnSp>
        <p:nvCxnSpPr>
          <p:cNvPr id="82" name="직선 연결선 105"/>
          <p:cNvCxnSpPr/>
          <p:nvPr/>
        </p:nvCxnSpPr>
        <p:spPr>
          <a:xfrm flipH="1">
            <a:off x="7476518" y="5015464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111"/>
          <p:cNvSpPr txBox="1"/>
          <p:nvPr/>
        </p:nvSpPr>
        <p:spPr>
          <a:xfrm>
            <a:off x="7754559" y="5034619"/>
            <a:ext cx="197127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84" name="TextBox 112"/>
          <p:cNvSpPr txBox="1"/>
          <p:nvPr/>
        </p:nvSpPr>
        <p:spPr>
          <a:xfrm>
            <a:off x="8585932" y="5034618"/>
            <a:ext cx="41350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Park Soil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cxnSp>
        <p:nvCxnSpPr>
          <p:cNvPr id="85" name="직선 연결선 117"/>
          <p:cNvCxnSpPr/>
          <p:nvPr/>
        </p:nvCxnSpPr>
        <p:spPr>
          <a:xfrm flipH="1">
            <a:off x="7476379" y="3545792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/>
          <p:cNvGrpSpPr/>
          <p:nvPr/>
        </p:nvGrpSpPr>
        <p:grpSpPr>
          <a:xfrm>
            <a:off x="7315860" y="3493141"/>
            <a:ext cx="128240" cy="1339288"/>
            <a:chOff x="5463980" y="3117033"/>
            <a:chExt cx="128240" cy="1339288"/>
          </a:xfrm>
        </p:grpSpPr>
        <p:sp>
          <p:nvSpPr>
            <p:cNvPr id="87" name="TextBox 119"/>
            <p:cNvSpPr txBox="1"/>
            <p:nvPr/>
          </p:nvSpPr>
          <p:spPr>
            <a:xfrm>
              <a:off x="5463980" y="3117033"/>
              <a:ext cx="15957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1.0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88" name="TextBox 121"/>
            <p:cNvSpPr txBox="1"/>
            <p:nvPr/>
          </p:nvSpPr>
          <p:spPr>
            <a:xfrm>
              <a:off x="5463980" y="3924969"/>
              <a:ext cx="15957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0.6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89" name="TextBox 122"/>
            <p:cNvSpPr txBox="1"/>
            <p:nvPr/>
          </p:nvSpPr>
          <p:spPr>
            <a:xfrm>
              <a:off x="5463980" y="3521295"/>
              <a:ext cx="15957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0.8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90" name="TextBox 124"/>
            <p:cNvSpPr txBox="1"/>
            <p:nvPr/>
          </p:nvSpPr>
          <p:spPr>
            <a:xfrm>
              <a:off x="5463980" y="4333210"/>
              <a:ext cx="15957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0.4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8070369" y="5192126"/>
            <a:ext cx="907061" cy="160742"/>
            <a:chOff x="7385188" y="4806215"/>
            <a:chExt cx="907061" cy="160742"/>
          </a:xfrm>
        </p:grpSpPr>
        <p:pic>
          <p:nvPicPr>
            <p:cNvPr id="92" name="그래픽 129"/>
            <p:cNvPicPr>
              <a:picLocks noChangeAspect="1"/>
            </p:cNvPicPr>
            <p:nvPr/>
          </p:nvPicPr>
          <p:blipFill rotWithShape="1">
            <a:blip/>
            <a:srcRect t="49940"/>
            <a:stretch>
              <a:fillRect/>
            </a:stretch>
          </p:blipFill>
          <p:spPr>
            <a:xfrm>
              <a:off x="7749985" y="4806215"/>
              <a:ext cx="166712" cy="160742"/>
            </a:xfrm>
            <a:prstGeom prst="rect">
              <a:avLst/>
            </a:prstGeom>
          </p:spPr>
        </p:pic>
        <p:sp>
          <p:nvSpPr>
            <p:cNvPr id="93" name="TextBox 131"/>
            <p:cNvSpPr txBox="1"/>
            <p:nvPr/>
          </p:nvSpPr>
          <p:spPr>
            <a:xfrm>
              <a:off x="7547376" y="4823633"/>
              <a:ext cx="19537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Soil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94" name="TextBox 135"/>
            <p:cNvSpPr txBox="1"/>
            <p:nvPr/>
          </p:nvSpPr>
          <p:spPr>
            <a:xfrm>
              <a:off x="7912336" y="4823633"/>
              <a:ext cx="41144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Park Soil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pic>
          <p:nvPicPr>
            <p:cNvPr id="95" name="그래픽 138"/>
            <p:cNvPicPr>
              <a:picLocks noChangeAspect="1"/>
            </p:cNvPicPr>
            <p:nvPr/>
          </p:nvPicPr>
          <p:blipFill rotWithShape="1">
            <a:blip/>
            <a:srcRect b="49930"/>
            <a:stretch>
              <a:fillRect/>
            </a:stretch>
          </p:blipFill>
          <p:spPr>
            <a:xfrm>
              <a:off x="7385188" y="4806215"/>
              <a:ext cx="166709" cy="160742"/>
            </a:xfrm>
            <a:prstGeom prst="rect">
              <a:avLst/>
            </a:prstGeom>
          </p:spPr>
        </p:pic>
      </p:grpSp>
      <p:cxnSp>
        <p:nvCxnSpPr>
          <p:cNvPr id="96" name="직선 연결선 46"/>
          <p:cNvCxnSpPr/>
          <p:nvPr/>
        </p:nvCxnSpPr>
        <p:spPr>
          <a:xfrm>
            <a:off x="3464353" y="6374597"/>
            <a:ext cx="6037539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242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24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7487672" y="1433799"/>
            <a:ext cx="1437165" cy="1401201"/>
          </a:xfrm>
          <a:prstGeom prst="rect">
            <a:avLst/>
          </a:prstGeom>
        </p:spPr>
      </p:pic>
      <p:pic>
        <p:nvPicPr>
          <p:cNvPr id="3" name="그래픽 15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5520973" y="1407672"/>
            <a:ext cx="1417402" cy="1448101"/>
          </a:xfrm>
          <a:prstGeom prst="rect">
            <a:avLst/>
          </a:prstGeom>
        </p:spPr>
      </p:pic>
      <p:pic>
        <p:nvPicPr>
          <p:cNvPr id="4" name="그래픽 9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3619731" y="1433654"/>
            <a:ext cx="1514689" cy="141796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 rot="5400000">
            <a:off x="1230646" y="2156890"/>
            <a:ext cx="2340000" cy="21291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6" name="직선 연결선 34"/>
          <p:cNvCxnSpPr/>
          <p:nvPr/>
        </p:nvCxnSpPr>
        <p:spPr>
          <a:xfrm>
            <a:off x="3603828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37"/>
          <p:cNvCxnSpPr/>
          <p:nvPr/>
        </p:nvCxnSpPr>
        <p:spPr>
          <a:xfrm flipH="1">
            <a:off x="3603828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 rot="16200000">
            <a:off x="1832212" y="2193126"/>
            <a:ext cx="1728000" cy="15709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 rot="16200000">
            <a:off x="4175660" y="2226036"/>
            <a:ext cx="221491" cy="150917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32"/>
          <p:cNvSpPr txBox="1"/>
          <p:nvPr/>
        </p:nvSpPr>
        <p:spPr>
          <a:xfrm>
            <a:off x="4175735" y="2988525"/>
            <a:ext cx="329590" cy="9757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[20.7%]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1" name="TextBox 47"/>
          <p:cNvSpPr txBox="1"/>
          <p:nvPr/>
        </p:nvSpPr>
        <p:spPr>
          <a:xfrm>
            <a:off x="3445258" y="2733286"/>
            <a:ext cx="174242" cy="956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-0.6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2" name="TextBox 53"/>
          <p:cNvSpPr txBox="1"/>
          <p:nvPr/>
        </p:nvSpPr>
        <p:spPr>
          <a:xfrm>
            <a:off x="3808293" y="2872243"/>
            <a:ext cx="173157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-0.4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3" name="TextBox 54"/>
          <p:cNvSpPr txBox="1"/>
          <p:nvPr/>
        </p:nvSpPr>
        <p:spPr>
          <a:xfrm>
            <a:off x="4298528" y="2872243"/>
            <a:ext cx="187747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0.00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4" name="TextBox 55"/>
          <p:cNvSpPr txBox="1"/>
          <p:nvPr/>
        </p:nvSpPr>
        <p:spPr>
          <a:xfrm>
            <a:off x="4765121" y="2872243"/>
            <a:ext cx="149779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0.4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238047" y="1231418"/>
            <a:ext cx="308628" cy="140120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31"/>
          <p:cNvSpPr txBox="1"/>
          <p:nvPr/>
        </p:nvSpPr>
        <p:spPr>
          <a:xfrm rot="16200000">
            <a:off x="3200400" y="2102037"/>
            <a:ext cx="333375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[14.8%]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7" name="TextBox 33"/>
          <p:cNvSpPr txBox="1"/>
          <p:nvPr/>
        </p:nvSpPr>
        <p:spPr>
          <a:xfrm>
            <a:off x="3475716" y="1450157"/>
            <a:ext cx="14378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0.6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8" name="TextBox 42"/>
          <p:cNvSpPr txBox="1"/>
          <p:nvPr/>
        </p:nvSpPr>
        <p:spPr>
          <a:xfrm>
            <a:off x="3475716" y="1770939"/>
            <a:ext cx="143784" cy="9596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0.3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19" name="TextBox 43"/>
          <p:cNvSpPr txBox="1"/>
          <p:nvPr/>
        </p:nvSpPr>
        <p:spPr>
          <a:xfrm>
            <a:off x="3445258" y="2412503"/>
            <a:ext cx="17424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-0.3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20" name="TextBox 44"/>
          <p:cNvSpPr txBox="1"/>
          <p:nvPr/>
        </p:nvSpPr>
        <p:spPr>
          <a:xfrm>
            <a:off x="3475716" y="2091721"/>
            <a:ext cx="14378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21" name="TextBox 61"/>
          <p:cNvSpPr txBox="1"/>
          <p:nvPr/>
        </p:nvSpPr>
        <p:spPr>
          <a:xfrm>
            <a:off x="5564165" y="1121922"/>
            <a:ext cx="1331935" cy="1258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900">
                <a:latin typeface="Times New Roman"/>
                <a:cs typeface="Times New Roman"/>
              </a:rPr>
              <a:t>Jensen-Shannon Divergence</a:t>
            </a:r>
            <a:endParaRPr lang="ko-KR" altLang="en-US" sz="900">
              <a:latin typeface="Times New Roman"/>
              <a:cs typeface="Times New Roman"/>
            </a:endParaRPr>
          </a:p>
        </p:txBody>
      </p:sp>
      <p:sp>
        <p:nvSpPr>
          <p:cNvPr id="22" name="TextBox 62"/>
          <p:cNvSpPr txBox="1"/>
          <p:nvPr/>
        </p:nvSpPr>
        <p:spPr>
          <a:xfrm>
            <a:off x="7693977" y="1121922"/>
            <a:ext cx="688023" cy="1258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900">
                <a:latin typeface="Times New Roman"/>
                <a:cs typeface="Times New Roman"/>
              </a:rPr>
              <a:t> Jaccard Index</a:t>
            </a:r>
            <a:endParaRPr lang="ko-KR" altLang="en-US" sz="900">
              <a:latin typeface="Times New Roman"/>
              <a:cs typeface="Times New Roman"/>
            </a:endParaRPr>
          </a:p>
        </p:txBody>
      </p:sp>
      <p:cxnSp>
        <p:nvCxnSpPr>
          <p:cNvPr id="23" name="직선 연결선 77"/>
          <p:cNvCxnSpPr/>
          <p:nvPr/>
        </p:nvCxnSpPr>
        <p:spPr>
          <a:xfrm>
            <a:off x="5504898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78"/>
          <p:cNvCxnSpPr/>
          <p:nvPr/>
        </p:nvCxnSpPr>
        <p:spPr>
          <a:xfrm flipH="1">
            <a:off x="5501211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86"/>
          <p:cNvSpPr txBox="1"/>
          <p:nvPr/>
        </p:nvSpPr>
        <p:spPr>
          <a:xfrm rot="16200000">
            <a:off x="5105400" y="2102036"/>
            <a:ext cx="333375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[20.9%]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26" name="TextBox 87"/>
          <p:cNvSpPr txBox="1"/>
          <p:nvPr/>
        </p:nvSpPr>
        <p:spPr>
          <a:xfrm>
            <a:off x="5342176" y="1628569"/>
            <a:ext cx="182324" cy="9545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0.25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27" name="TextBox 89"/>
          <p:cNvSpPr txBox="1"/>
          <p:nvPr/>
        </p:nvSpPr>
        <p:spPr>
          <a:xfrm>
            <a:off x="5311718" y="2328119"/>
            <a:ext cx="21278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-0.25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28" name="TextBox 90"/>
          <p:cNvSpPr txBox="1"/>
          <p:nvPr/>
        </p:nvSpPr>
        <p:spPr>
          <a:xfrm>
            <a:off x="5342176" y="1978344"/>
            <a:ext cx="182324" cy="9810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0.00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29" name="직사각형 28"/>
          <p:cNvSpPr/>
          <p:nvPr/>
        </p:nvSpPr>
        <p:spPr>
          <a:xfrm rot="5400000">
            <a:off x="6169460" y="2271363"/>
            <a:ext cx="160045" cy="138083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TextBox 80"/>
          <p:cNvSpPr txBox="1"/>
          <p:nvPr/>
        </p:nvSpPr>
        <p:spPr>
          <a:xfrm>
            <a:off x="6076805" y="2988525"/>
            <a:ext cx="323995" cy="9757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[26.3%]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31" name="TextBox 81"/>
          <p:cNvSpPr txBox="1"/>
          <p:nvPr/>
        </p:nvSpPr>
        <p:spPr>
          <a:xfrm>
            <a:off x="5834228" y="2872243"/>
            <a:ext cx="176047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-0.2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32" name="TextBox 83"/>
          <p:cNvSpPr txBox="1"/>
          <p:nvPr/>
        </p:nvSpPr>
        <p:spPr>
          <a:xfrm>
            <a:off x="6191610" y="2872243"/>
            <a:ext cx="15204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33" name="TextBox 84"/>
          <p:cNvSpPr txBox="1"/>
          <p:nvPr/>
        </p:nvSpPr>
        <p:spPr>
          <a:xfrm>
            <a:off x="6518534" y="2872243"/>
            <a:ext cx="148966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0.2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34" name="TextBox 85"/>
          <p:cNvSpPr txBox="1"/>
          <p:nvPr/>
        </p:nvSpPr>
        <p:spPr>
          <a:xfrm>
            <a:off x="6845456" y="2872243"/>
            <a:ext cx="1458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0.4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cxnSp>
        <p:nvCxnSpPr>
          <p:cNvPr id="35" name="직선 연결선 93"/>
          <p:cNvCxnSpPr/>
          <p:nvPr/>
        </p:nvCxnSpPr>
        <p:spPr>
          <a:xfrm flipH="1">
            <a:off x="7437527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 rot="5400000">
            <a:off x="8172285" y="2295285"/>
            <a:ext cx="244434" cy="138083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TextBox 100"/>
          <p:cNvSpPr txBox="1"/>
          <p:nvPr/>
        </p:nvSpPr>
        <p:spPr>
          <a:xfrm>
            <a:off x="8009434" y="2988525"/>
            <a:ext cx="324941" cy="9757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[14.9%]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38" name="TextBox 88"/>
          <p:cNvSpPr txBox="1"/>
          <p:nvPr/>
        </p:nvSpPr>
        <p:spPr>
          <a:xfrm>
            <a:off x="7264165" y="1437284"/>
            <a:ext cx="184385" cy="9624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0.50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cxnSp>
        <p:nvCxnSpPr>
          <p:cNvPr id="39" name="직선 연결선 92"/>
          <p:cNvCxnSpPr/>
          <p:nvPr/>
        </p:nvCxnSpPr>
        <p:spPr>
          <a:xfrm>
            <a:off x="7429634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95"/>
          <p:cNvSpPr txBox="1"/>
          <p:nvPr/>
        </p:nvSpPr>
        <p:spPr>
          <a:xfrm rot="16200000">
            <a:off x="7019925" y="2102036"/>
            <a:ext cx="333375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[10.1%]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41" name="TextBox 96"/>
          <p:cNvSpPr txBox="1"/>
          <p:nvPr/>
        </p:nvSpPr>
        <p:spPr>
          <a:xfrm>
            <a:off x="7264165" y="1783298"/>
            <a:ext cx="184385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0.25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42" name="TextBox 101"/>
          <p:cNvSpPr txBox="1"/>
          <p:nvPr/>
        </p:nvSpPr>
        <p:spPr>
          <a:xfrm>
            <a:off x="7233707" y="2463046"/>
            <a:ext cx="214843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-0.25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43" name="TextBox 102"/>
          <p:cNvSpPr txBox="1"/>
          <p:nvPr/>
        </p:nvSpPr>
        <p:spPr>
          <a:xfrm>
            <a:off x="7264165" y="2112568"/>
            <a:ext cx="184385" cy="972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0.00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44" name="TextBox 105"/>
          <p:cNvSpPr txBox="1"/>
          <p:nvPr/>
        </p:nvSpPr>
        <p:spPr>
          <a:xfrm>
            <a:off x="7233707" y="2784043"/>
            <a:ext cx="214843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-0.50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45" name="TextBox 22"/>
          <p:cNvSpPr txBox="1"/>
          <p:nvPr/>
        </p:nvSpPr>
        <p:spPr>
          <a:xfrm>
            <a:off x="3257401" y="1093347"/>
            <a:ext cx="171599" cy="17347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Times New Roman"/>
                <a:cs typeface="Times New Roman"/>
              </a:rPr>
              <a:t> A</a:t>
            </a:r>
            <a:endParaRPr lang="ko-KR" altLang="en-US" sz="1200" b="1">
              <a:latin typeface="Times New Roman"/>
              <a:cs typeface="Times New Roman"/>
            </a:endParaRPr>
          </a:p>
        </p:txBody>
      </p:sp>
      <p:sp>
        <p:nvSpPr>
          <p:cNvPr id="46" name="TextBox 2"/>
          <p:cNvSpPr txBox="1"/>
          <p:nvPr/>
        </p:nvSpPr>
        <p:spPr>
          <a:xfrm>
            <a:off x="3904026" y="1121922"/>
            <a:ext cx="858474" cy="1258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900">
                <a:latin typeface="Times New Roman"/>
                <a:cs typeface="Times New Roman"/>
              </a:rPr>
              <a:t>Bray-Curtis Index</a:t>
            </a:r>
            <a:endParaRPr lang="ko-KR" altLang="en-US" sz="900">
              <a:latin typeface="Times New Roman"/>
              <a:cs typeface="Times New Roman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57401" y="579855"/>
            <a:ext cx="1908000" cy="19654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 flipV="1">
            <a:off x="3257401" y="196105"/>
            <a:ext cx="5724000" cy="159838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5165401" y="579855"/>
            <a:ext cx="1908000" cy="196547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7073401" y="579853"/>
            <a:ext cx="1908000" cy="277317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 flipH="1">
            <a:off x="2020178" y="1093347"/>
            <a:ext cx="147598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TextBox 18"/>
          <p:cNvSpPr txBox="1"/>
          <p:nvPr/>
        </p:nvSpPr>
        <p:spPr>
          <a:xfrm>
            <a:off x="5476846" y="2872243"/>
            <a:ext cx="171479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-0.4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53" name="TextBox 21"/>
          <p:cNvSpPr txBox="1"/>
          <p:nvPr/>
        </p:nvSpPr>
        <p:spPr>
          <a:xfrm>
            <a:off x="5311718" y="2677894"/>
            <a:ext cx="21278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-0.50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54" name="TextBox 26"/>
          <p:cNvSpPr txBox="1"/>
          <p:nvPr/>
        </p:nvSpPr>
        <p:spPr>
          <a:xfrm>
            <a:off x="7636793" y="2877997"/>
            <a:ext cx="173707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-0.4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55" name="TextBox 28"/>
          <p:cNvSpPr txBox="1"/>
          <p:nvPr/>
        </p:nvSpPr>
        <p:spPr>
          <a:xfrm>
            <a:off x="8127028" y="2877997"/>
            <a:ext cx="188297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0.00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56" name="TextBox 30"/>
          <p:cNvSpPr txBox="1"/>
          <p:nvPr/>
        </p:nvSpPr>
        <p:spPr>
          <a:xfrm>
            <a:off x="8593621" y="2877997"/>
            <a:ext cx="150329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700">
                <a:latin typeface="Times New Roman"/>
                <a:cs typeface="Times New Roman"/>
              </a:rPr>
              <a:t>0.4</a:t>
            </a:r>
            <a:endParaRPr lang="ko-KR" altLang="en-US" sz="700">
              <a:latin typeface="Times New Roman"/>
              <a:cs typeface="Times New Roman"/>
            </a:endParaRPr>
          </a:p>
        </p:txBody>
      </p:sp>
      <p:sp>
        <p:nvSpPr>
          <p:cNvPr id="57" name="가로 글상자 56"/>
          <p:cNvSpPr txBox="1"/>
          <p:nvPr/>
        </p:nvSpPr>
        <p:spPr>
          <a:xfrm>
            <a:off x="217236" y="134487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>
                <a:latin typeface="Times New Roman"/>
                <a:ea typeface="Times New Roman"/>
                <a:cs typeface="Times New Roman"/>
              </a:rPr>
              <a:t>box plot</a:t>
            </a:r>
            <a:r>
              <a:rPr lang="ko-KR" altLang="en-US" b="0" i="0" u="sng" strike="noStrike" baseline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ko-KR" b="0" i="0" u="sng" strike="noStrike" baseline="0">
                <a:latin typeface="Times New Roman"/>
                <a:ea typeface="Times New Roman"/>
                <a:cs typeface="Times New Roman"/>
              </a:rPr>
              <a:t>(Beta diversity)</a:t>
            </a:r>
          </a:p>
        </p:txBody>
      </p:sp>
    </p:spTree>
    <p:extLst>
      <p:ext uri="{BB962C8B-B14F-4D97-AF65-F5344CB8AC3E}">
        <p14:creationId xmlns:p14="http://schemas.microsoft.com/office/powerpoint/2010/main" val="92692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17236" y="134487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altLang="ko-KR" b="0" i="0" u="sng" strike="noStrike" baseline="0">
                <a:latin typeface="Times New Roman"/>
                <a:ea typeface="Times New Roman"/>
                <a:cs typeface="Times New Roman"/>
              </a:rPr>
              <a:t>PCoA</a:t>
            </a:r>
          </a:p>
        </p:txBody>
      </p:sp>
    </p:spTree>
    <p:extLst>
      <p:ext uri="{BB962C8B-B14F-4D97-AF65-F5344CB8AC3E}">
        <p14:creationId xmlns:p14="http://schemas.microsoft.com/office/powerpoint/2010/main" val="288505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17236" y="134487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altLang="ko-KR" b="0" i="0" u="sng" strike="noStrike" baseline="0">
                <a:latin typeface="Times New Roman"/>
                <a:ea typeface="Times New Roman"/>
                <a:cs typeface="Times New Roman"/>
              </a:rPr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1691526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90764" y="142841"/>
            <a:ext cx="6096000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b="0" i="0" u="sng" strike="noStrike" baseline="0">
                <a:latin typeface="Times New Roman"/>
                <a:ea typeface="Times New Roman"/>
                <a:cs typeface="Times New Roman"/>
              </a:rPr>
              <a:t>LEfSe</a:t>
            </a:r>
            <a:endParaRPr lang="en-US" altLang="ko-KR"/>
          </a:p>
        </p:txBody>
      </p:sp>
      <p:pic>
        <p:nvPicPr>
          <p:cNvPr id="3" name="그림 2" descr="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29281" y="1152667"/>
            <a:ext cx="5184954" cy="36720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9099868" y="1044614"/>
            <a:ext cx="252974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27489" y="1255743"/>
            <a:ext cx="4284324" cy="354869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11"/>
          <p:cNvSpPr txBox="1"/>
          <p:nvPr/>
        </p:nvSpPr>
        <p:spPr>
          <a:xfrm>
            <a:off x="3048000" y="1898086"/>
            <a:ext cx="636515" cy="17485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 algn="r">
              <a:lnSpc>
                <a:spcPct val="70000"/>
              </a:lnSpc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Clostridium</a:t>
            </a:r>
          </a:p>
          <a:p>
            <a:pPr lvl="0" algn="r">
              <a:lnSpc>
                <a:spcPct val="70000"/>
              </a:lnSpc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Sensu stricto 1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2971178" y="1417743"/>
            <a:ext cx="734047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Subdoligranulum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8" name="TextBox 19"/>
          <p:cNvSpPr txBox="1"/>
          <p:nvPr/>
        </p:nvSpPr>
        <p:spPr>
          <a:xfrm>
            <a:off x="3187584" y="1665393"/>
            <a:ext cx="51764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Romboutsia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9" name="TextBox 20"/>
          <p:cNvSpPr txBox="1"/>
          <p:nvPr/>
        </p:nvSpPr>
        <p:spPr>
          <a:xfrm>
            <a:off x="3319030" y="2166493"/>
            <a:ext cx="39572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Dialister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0" name="TextBox 21"/>
          <p:cNvSpPr txBox="1"/>
          <p:nvPr/>
        </p:nvSpPr>
        <p:spPr>
          <a:xfrm>
            <a:off x="2956752" y="2404999"/>
            <a:ext cx="757998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Faecalibacterium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1" name="TextBox 23"/>
          <p:cNvSpPr txBox="1"/>
          <p:nvPr/>
        </p:nvSpPr>
        <p:spPr>
          <a:xfrm>
            <a:off x="3258116" y="2658175"/>
            <a:ext cx="456634" cy="12312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Prevotella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2" name="TextBox 24"/>
          <p:cNvSpPr txBox="1"/>
          <p:nvPr/>
        </p:nvSpPr>
        <p:spPr>
          <a:xfrm>
            <a:off x="3262925" y="2909295"/>
            <a:ext cx="45182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UCG_005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3" name="TextBox 25"/>
          <p:cNvSpPr txBox="1"/>
          <p:nvPr/>
        </p:nvSpPr>
        <p:spPr>
          <a:xfrm>
            <a:off x="3280558" y="3147487"/>
            <a:ext cx="4341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UBA1819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4" name="TextBox 28"/>
          <p:cNvSpPr txBox="1"/>
          <p:nvPr/>
        </p:nvSpPr>
        <p:spPr>
          <a:xfrm>
            <a:off x="2910264" y="3409950"/>
            <a:ext cx="804486" cy="12382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Lachnoclostridium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5" name="TextBox 31"/>
          <p:cNvSpPr txBox="1"/>
          <p:nvPr/>
        </p:nvSpPr>
        <p:spPr>
          <a:xfrm>
            <a:off x="2942324" y="3656908"/>
            <a:ext cx="76290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Ruminococcaceae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6" name="TextBox 32"/>
          <p:cNvSpPr txBox="1"/>
          <p:nvPr/>
        </p:nvSpPr>
        <p:spPr>
          <a:xfrm>
            <a:off x="3319030" y="3891865"/>
            <a:ext cx="38619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Alistipes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sp>
        <p:nvSpPr>
          <p:cNvPr id="17" name="TextBox 33"/>
          <p:cNvSpPr txBox="1"/>
          <p:nvPr/>
        </p:nvSpPr>
        <p:spPr>
          <a:xfrm>
            <a:off x="3195599" y="4160231"/>
            <a:ext cx="51915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 i="1">
                <a:latin typeface="Times New Roman"/>
                <a:cs typeface="Times New Roman"/>
              </a:rPr>
              <a:t>Bacteroides</a:t>
            </a:r>
            <a:endParaRPr lang="ko-KR" altLang="en-US" sz="800" i="1">
              <a:latin typeface="Times New Roman"/>
              <a:cs typeface="Times New Roman"/>
            </a:endParaRPr>
          </a:p>
        </p:txBody>
      </p:sp>
      <p:cxnSp>
        <p:nvCxnSpPr>
          <p:cNvPr id="18" name="직선 연결선 40"/>
          <p:cNvCxnSpPr/>
          <p:nvPr/>
        </p:nvCxnSpPr>
        <p:spPr>
          <a:xfrm>
            <a:off x="3710652" y="4364012"/>
            <a:ext cx="200237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56"/>
          <p:cNvCxnSpPr/>
          <p:nvPr/>
        </p:nvCxnSpPr>
        <p:spPr>
          <a:xfrm flipV="1">
            <a:off x="4723997" y="1277912"/>
            <a:ext cx="0" cy="30861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4728637" y="1401736"/>
            <a:ext cx="6048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728637" y="1641636"/>
            <a:ext cx="6660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728637" y="1881537"/>
            <a:ext cx="6912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117597" y="2874199"/>
            <a:ext cx="6048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24" name="그룹 23"/>
          <p:cNvGrpSpPr/>
          <p:nvPr/>
        </p:nvGrpSpPr>
        <p:grpSpPr>
          <a:xfrm>
            <a:off x="5302154" y="4012560"/>
            <a:ext cx="405415" cy="303390"/>
            <a:chOff x="6334404" y="3952590"/>
            <a:chExt cx="405415" cy="303390"/>
          </a:xfrm>
        </p:grpSpPr>
        <p:sp>
          <p:nvSpPr>
            <p:cNvPr id="25" name="TextBox 137"/>
            <p:cNvSpPr txBox="1"/>
            <p:nvPr/>
          </p:nvSpPr>
          <p:spPr>
            <a:xfrm>
              <a:off x="6571503" y="3952590"/>
              <a:ext cx="204322" cy="12311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 HC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26" name="TextBox 139"/>
            <p:cNvSpPr txBox="1"/>
            <p:nvPr/>
          </p:nvSpPr>
          <p:spPr>
            <a:xfrm>
              <a:off x="6465705" y="4132869"/>
              <a:ext cx="310120" cy="12311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800">
                  <a:latin typeface="Times New Roman"/>
                  <a:cs typeface="Times New Roman"/>
                </a:rPr>
                <a:t>OVCF</a:t>
              </a:r>
              <a:endParaRPr lang="ko-KR" altLang="en-US" sz="800">
                <a:latin typeface="Times New Roman"/>
                <a:cs typeface="Times New Roman"/>
              </a:endParaRPr>
            </a:p>
          </p:txBody>
        </p:sp>
        <p:sp>
          <p:nvSpPr>
            <p:cNvPr id="27" name="타원 141"/>
            <p:cNvSpPr/>
            <p:nvPr/>
          </p:nvSpPr>
          <p:spPr>
            <a:xfrm>
              <a:off x="6334404" y="4140424"/>
              <a:ext cx="108000" cy="108000"/>
            </a:xfrm>
            <a:prstGeom prst="ellipse">
              <a:avLst/>
            </a:prstGeom>
            <a:solidFill>
              <a:srgbClr val="619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8" name="타원 142"/>
            <p:cNvSpPr/>
            <p:nvPr/>
          </p:nvSpPr>
          <p:spPr>
            <a:xfrm>
              <a:off x="6460303" y="3960145"/>
              <a:ext cx="108000" cy="108000"/>
            </a:xfrm>
            <a:prstGeom prst="ellipse">
              <a:avLst/>
            </a:prstGeom>
            <a:solidFill>
              <a:srgbClr val="F876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2874567" y="528398"/>
            <a:ext cx="5724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2869030" y="755105"/>
            <a:ext cx="2844000" cy="14316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1201559" y="1044614"/>
            <a:ext cx="399421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Box 14"/>
          <p:cNvSpPr txBox="1"/>
          <p:nvPr/>
        </p:nvSpPr>
        <p:spPr>
          <a:xfrm rot="16200000">
            <a:off x="2699035" y="2811365"/>
            <a:ext cx="42960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900" b="1">
                <a:latin typeface="Times New Roman"/>
                <a:cs typeface="Times New Roman"/>
              </a:rPr>
              <a:t>Features</a:t>
            </a:r>
            <a:endParaRPr lang="ko-KR" altLang="en-US" sz="900" b="1">
              <a:latin typeface="Times New Roman"/>
              <a:cs typeface="Times New Roman"/>
            </a:endParaRPr>
          </a:p>
        </p:txBody>
      </p:sp>
      <p:sp>
        <p:nvSpPr>
          <p:cNvPr id="33" name="TextBox 69"/>
          <p:cNvSpPr txBox="1"/>
          <p:nvPr/>
        </p:nvSpPr>
        <p:spPr>
          <a:xfrm>
            <a:off x="3664873" y="4399559"/>
            <a:ext cx="145127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- 6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4" name="TextBox 76"/>
          <p:cNvSpPr txBox="1"/>
          <p:nvPr/>
        </p:nvSpPr>
        <p:spPr>
          <a:xfrm>
            <a:off x="3991842" y="4399559"/>
            <a:ext cx="15153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- 4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5" name="TextBox 77"/>
          <p:cNvSpPr txBox="1"/>
          <p:nvPr/>
        </p:nvSpPr>
        <p:spPr>
          <a:xfrm>
            <a:off x="4343293" y="4399559"/>
            <a:ext cx="14298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- 2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6" name="TextBox 78"/>
          <p:cNvSpPr txBox="1"/>
          <p:nvPr/>
        </p:nvSpPr>
        <p:spPr>
          <a:xfrm>
            <a:off x="4702316" y="4399559"/>
            <a:ext cx="7923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0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7" name="TextBox 79"/>
          <p:cNvSpPr txBox="1"/>
          <p:nvPr/>
        </p:nvSpPr>
        <p:spPr>
          <a:xfrm>
            <a:off x="5042323" y="4399559"/>
            <a:ext cx="82127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2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8" name="TextBox 80"/>
          <p:cNvSpPr txBox="1"/>
          <p:nvPr/>
        </p:nvSpPr>
        <p:spPr>
          <a:xfrm>
            <a:off x="5383797" y="4399559"/>
            <a:ext cx="8355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4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39" name="TextBox 100"/>
          <p:cNvSpPr txBox="1"/>
          <p:nvPr/>
        </p:nvSpPr>
        <p:spPr>
          <a:xfrm>
            <a:off x="5666380" y="4399559"/>
            <a:ext cx="7719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800">
                <a:latin typeface="Times New Roman"/>
                <a:cs typeface="Times New Roman"/>
              </a:rPr>
              <a:t>6</a:t>
            </a:r>
            <a:endParaRPr lang="ko-KR" altLang="en-US" sz="800">
              <a:latin typeface="Times New Roman"/>
              <a:cs typeface="Times New Roman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728637" y="2138549"/>
            <a:ext cx="6912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4728637" y="2384578"/>
            <a:ext cx="6984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4728637" y="2648085"/>
            <a:ext cx="783551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4117597" y="3121568"/>
            <a:ext cx="6048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064148" y="3373344"/>
            <a:ext cx="658249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052797" y="3630513"/>
            <a:ext cx="6696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3973821" y="3866861"/>
            <a:ext cx="748576" cy="175107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3938872" y="4124461"/>
            <a:ext cx="7812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TextBox 88"/>
          <p:cNvSpPr txBox="1"/>
          <p:nvPr/>
        </p:nvSpPr>
        <p:spPr>
          <a:xfrm>
            <a:off x="4016916" y="4671594"/>
            <a:ext cx="57413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lang="en-US" altLang="ko-KR" sz="900" b="1">
                <a:latin typeface="Times New Roman"/>
                <a:cs typeface="Times New Roman"/>
              </a:rPr>
              <a:t>LDA Score</a:t>
            </a:r>
            <a:endParaRPr lang="ko-KR" altLang="en-US" sz="900" b="1">
              <a:latin typeface="Times New Roman"/>
              <a:cs typeface="Times New Roman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754567" y="755105"/>
            <a:ext cx="2844000" cy="140016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50" name="그래픽 9"/>
          <p:cNvPicPr>
            <a:picLocks noChangeAspect="1"/>
          </p:cNvPicPr>
          <p:nvPr/>
        </p:nvPicPr>
        <p:blipFill rotWithShape="1">
          <a:blip/>
          <a:stretch>
            <a:fillRect/>
          </a:stretch>
        </p:blipFill>
        <p:spPr>
          <a:xfrm>
            <a:off x="5997993" y="1152667"/>
            <a:ext cx="3623397" cy="4469817"/>
          </a:xfrm>
          <a:prstGeom prst="rect">
            <a:avLst/>
          </a:prstGeom>
        </p:spPr>
      </p:pic>
      <p:cxnSp>
        <p:nvCxnSpPr>
          <p:cNvPr id="51" name="직선 연결선 34"/>
          <p:cNvCxnSpPr/>
          <p:nvPr/>
        </p:nvCxnSpPr>
        <p:spPr>
          <a:xfrm flipV="1">
            <a:off x="3938872" y="1267035"/>
            <a:ext cx="0" cy="30861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6096000" y="2219549"/>
            <a:ext cx="729158" cy="185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86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16794" y="337128"/>
            <a:ext cx="55617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/>
              <a:t>Figure5. Taxonomic</a:t>
            </a:r>
            <a:endParaRPr lang="ko-KR" altLang="en-US" sz="1600" b="1"/>
          </a:p>
        </p:txBody>
      </p:sp>
      <p:sp>
        <p:nvSpPr>
          <p:cNvPr id="3" name="직사각형 2"/>
          <p:cNvSpPr/>
          <p:nvPr/>
        </p:nvSpPr>
        <p:spPr>
          <a:xfrm>
            <a:off x="3745013" y="378646"/>
            <a:ext cx="5220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 flipH="1">
            <a:off x="2784016" y="806139"/>
            <a:ext cx="212913" cy="54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745013" y="615172"/>
            <a:ext cx="2592000" cy="495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 rot="5400000">
            <a:off x="2239262" y="1626974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 rot="5400000">
            <a:off x="2239262" y="3458211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 rot="5400000">
            <a:off x="2251541" y="5298973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373013" y="615172"/>
            <a:ext cx="2592000" cy="6115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rot="5400000">
            <a:off x="3109048" y="2293876"/>
            <a:ext cx="540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 rot="5400000">
            <a:off x="2767048" y="1375876"/>
            <a:ext cx="1224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 rot="5400000">
            <a:off x="3109048" y="4125114"/>
            <a:ext cx="540000" cy="84526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 rot="5400000">
            <a:off x="2767047" y="3207112"/>
            <a:ext cx="1224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2821047" y="4993874"/>
            <a:ext cx="1116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5400000">
            <a:off x="3055048" y="5911874"/>
            <a:ext cx="648000" cy="84529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697978" y="933823"/>
            <a:ext cx="411013" cy="102378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90414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199</Words>
  <Application>Microsoft Macintosh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jimin</dc:creator>
  <cp:lastModifiedBy>Sujin Yun</cp:lastModifiedBy>
  <cp:revision>13</cp:revision>
  <dcterms:created xsi:type="dcterms:W3CDTF">2026-09-04T06:28:16Z</dcterms:created>
  <dcterms:modified xsi:type="dcterms:W3CDTF">2026-09-04T09:22:31Z</dcterms:modified>
  <cp:version>12.0.0.4605</cp:version>
</cp:coreProperties>
</file>