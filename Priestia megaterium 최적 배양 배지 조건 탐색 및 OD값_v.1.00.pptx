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08605ca7a147f4" /><Relationship Type="http://schemas.openxmlformats.org/officeDocument/2006/relationships/extended-properties" Target="/docProps/app.xml" Id="Ra8bf0e4993764269" /><Relationship Type="http://schemas.openxmlformats.org/officeDocument/2006/relationships/officeDocument" Target="/ppt/presentation.xml" Id="R0bd527d02fbc4110" /></Relationships>
</file>

<file path=ppt/presentation.xml><?xml version="1.0" encoding="utf-8"?>
<p:presentation xmlns:p="http://schemas.openxmlformats.org/presentationml/2006/main">
  <p:sldMasterIdLst>
    <p:sldMasterId xmlns:r="http://schemas.openxmlformats.org/officeDocument/2006/relationships" id="2147483648" r:id="Rccbf424c11bf4116"/>
  </p:sldMasterIdLst>
  <p:notesMasterIdLst>
    <p:notesMasterId xmlns:r="http://schemas.openxmlformats.org/officeDocument/2006/relationships" r:id="R4bd6fa99b4b74667"/>
  </p:notesMasterIdLst>
  <p:sldIdLst>
    <p:sldId xmlns:r="http://schemas.openxmlformats.org/officeDocument/2006/relationships" id="256" r:id="R5d0b062141e44495"/>
    <p:sldId xmlns:r="http://schemas.openxmlformats.org/officeDocument/2006/relationships" id="257" r:id="R3129eb7ea22e4255"/>
    <p:sldId xmlns:r="http://schemas.openxmlformats.org/officeDocument/2006/relationships" id="258" r:id="Rf669a80884af494d"/>
    <p:sldId xmlns:r="http://schemas.openxmlformats.org/officeDocument/2006/relationships" id="259" r:id="Re8a7976437a44632"/>
    <p:sldId xmlns:r="http://schemas.openxmlformats.org/officeDocument/2006/relationships" id="260" r:id="R781ae24d929a493c"/>
    <p:sldId xmlns:r="http://schemas.openxmlformats.org/officeDocument/2006/relationships" id="261" r:id="R54f16d01de434f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00f3fde4544c92" /><Relationship Type="http://schemas.openxmlformats.org/officeDocument/2006/relationships/slideMaster" Target="/ppt/slideMasters/slideMaster1.xml" Id="Rccbf424c11bf4116" /><Relationship Type="http://schemas.openxmlformats.org/officeDocument/2006/relationships/notesMaster" Target="/ppt/notesMasters/notesMaster1.xml" Id="R4bd6fa99b4b74667" /><Relationship Type="http://schemas.openxmlformats.org/officeDocument/2006/relationships/presProps" Target="/ppt/presProps.xml" Id="R4755be1cdc8245c4" /><Relationship Type="http://schemas.openxmlformats.org/officeDocument/2006/relationships/tableStyles" Target="/ppt/tableStyles.xml" Id="R8207d6e078644249" /><Relationship Type="http://schemas.openxmlformats.org/officeDocument/2006/relationships/slide" Target="/ppt/slides/slide1.xml" Id="R5d0b062141e44495" /><Relationship Type="http://schemas.openxmlformats.org/officeDocument/2006/relationships/slide" Target="/ppt/slides/slide2.xml" Id="R3129eb7ea22e4255" /><Relationship Type="http://schemas.openxmlformats.org/officeDocument/2006/relationships/slide" Target="/ppt/slides/slide3.xml" Id="Rf669a80884af494d" /><Relationship Type="http://schemas.openxmlformats.org/officeDocument/2006/relationships/slide" Target="/ppt/slides/slide4.xml" Id="Re8a7976437a44632" /><Relationship Type="http://schemas.openxmlformats.org/officeDocument/2006/relationships/slide" Target="/ppt/slides/slide5.xml" Id="R781ae24d929a493c" /><Relationship Type="http://schemas.openxmlformats.org/officeDocument/2006/relationships/slide" Target="/ppt/slides/slide6.xml" Id="R54f16d01de434f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73b44fbea744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46656947ba4de8" /><Relationship Type="http://schemas.openxmlformats.org/officeDocument/2006/relationships/notesMaster" Target="/ppt/notesMasters/notesMaster1.xml" Id="Rb64531f15c6f45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92e3bd605a4ce2" /><Relationship Type="http://schemas.openxmlformats.org/officeDocument/2006/relationships/notesMaster" Target="/ppt/notesMasters/notesMaster1.xml" Id="Ra9093d1c706049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14e802505847d8" /><Relationship Type="http://schemas.openxmlformats.org/officeDocument/2006/relationships/notesMaster" Target="/ppt/notesMasters/notesMaster1.xml" Id="R45f0c54a5d3040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d98eb56064466" /><Relationship Type="http://schemas.openxmlformats.org/officeDocument/2006/relationships/notesMaster" Target="/ppt/notesMasters/notesMaster1.xml" Id="R2b361849cf644d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d8a407a6374670" /><Relationship Type="http://schemas.openxmlformats.org/officeDocument/2006/relationships/notesMaster" Target="/ppt/notesMasters/notesMaster1.xml" Id="R04061d1b729d47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c0b6898cc4dc0" /><Relationship Type="http://schemas.openxmlformats.org/officeDocument/2006/relationships/notesMaster" Target="/ppt/notesMasters/notesMaster1.xml" Id="Re1a1bdcc554d43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Priestia_megaterium_medium_optimization_Table_Figure.xlsx, sheet 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Priestia_megaterium_medium_optimization_Table_Figure.xlsx, sheet Figure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Priestia_megaterium_medium_optimization_Table_Figure.xlsx, sheet Table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Priestia_megaterium_medium_optimization_Table_Figure.xlsx, sheet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Priestia_megaterium_medium_optimization_Table_Figure.xlsx, sheet Table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Priestia_megaterium_medium_optimization_Table_Figure.xlsx, sheet Figure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01a9c2a99a48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e3bf28713a4e1b" /><Relationship Type="http://schemas.openxmlformats.org/officeDocument/2006/relationships/slideLayout" Target="/ppt/slideLayouts/slideLayout1.xml" Id="R1c272b3ab7574e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272b3ab7574e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bad3daaabe4908" /><Relationship Type="http://schemas.openxmlformats.org/officeDocument/2006/relationships/notesSlide" Target="/ppt/notesSlides/notesSlide1.xml" Id="R6d6f8b9776e34f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3040e28a2d43be" /><Relationship Type="http://schemas.openxmlformats.org/officeDocument/2006/relationships/chart" Target="/ppt/slides/charts/chart1.xml" Id="Rb5d80c3231d54d05" /><Relationship Type="http://schemas.openxmlformats.org/officeDocument/2006/relationships/notesSlide" Target="/ppt/notesSlides/notesSlide2.xml" Id="R3017043aa4e949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50c3b9f9af49a8" /><Relationship Type="http://schemas.openxmlformats.org/officeDocument/2006/relationships/notesSlide" Target="/ppt/notesSlides/notesSlide3.xml" Id="R6c8d739a7f9748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fee2c2327543fa" /><Relationship Type="http://schemas.openxmlformats.org/officeDocument/2006/relationships/chart" Target="/ppt/slides/charts/chart2.xml" Id="R11691326520f40f2" /><Relationship Type="http://schemas.openxmlformats.org/officeDocument/2006/relationships/notesSlide" Target="/ppt/notesSlides/notesSlide4.xml" Id="R164f72add0284e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217b9d689d43cf" /><Relationship Type="http://schemas.openxmlformats.org/officeDocument/2006/relationships/notesSlide" Target="/ppt/notesSlides/notesSlide5.xml" Id="Rd003d9d3986349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27451d4c5f4d09" /><Relationship Type="http://schemas.openxmlformats.org/officeDocument/2006/relationships/chart" Target="/ppt/slides/charts/chart3.xml" Id="R963c983137474ccb" /><Relationship Type="http://schemas.openxmlformats.org/officeDocument/2006/relationships/notesSlide" Target="/ppt/notesSlides/notesSlide6.xml" Id="Raa678f92de384e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OD</c:v>
          </c:tx>
          <c:spPr>
            <a:solidFill xmlns:a="http://schemas.openxmlformats.org/drawingml/2006/main">
              <a:srgbClr val="F8766D"/>
            </a:solidFill>
          </c:spPr>
          <c:dPt>
            <c:idx val="0"/>
            <c:invertIfNegative val="0"/>
            <c:spPr>
              <a:solidFill xmlns:a="http://schemas.openxmlformats.org/drawingml/2006/main">
                <a:srgbClr val="F8766D"/>
              </a:solidFill>
              <a:ln xmlns:a="http://schemas.openxmlformats.org/drawingml/2006/main" w="9525">
                <a:solidFill>
                  <a:srgbClr val="F8766D"/>
                </a:solidFill>
                <a:prstDash val="solid"/>
              </a:ln>
            </c:spPr>
          </c:dPt>
          <c:dPt>
            <c:idx val="1"/>
            <c:invertIfNegative val="0"/>
            <c:spPr>
              <a:solidFill xmlns:a="http://schemas.openxmlformats.org/drawingml/2006/main">
                <a:srgbClr val="F8766D"/>
              </a:solidFill>
              <a:ln xmlns:a="http://schemas.openxmlformats.org/drawingml/2006/main" w="9525">
                <a:solidFill>
                  <a:srgbClr val="F8766D"/>
                </a:solidFill>
                <a:prstDash val="solid"/>
              </a:ln>
            </c:spPr>
          </c:dPt>
          <c:dPt>
            <c:idx val="2"/>
            <c:invertIfNegative val="0"/>
            <c:spPr>
              <a:solidFill xmlns:a="http://schemas.openxmlformats.org/drawingml/2006/main">
                <a:srgbClr val="F8766D"/>
              </a:solidFill>
              <a:ln xmlns:a="http://schemas.openxmlformats.org/drawingml/2006/main" w="9525">
                <a:solidFill>
                  <a:srgbClr val="F8766D"/>
                </a:solidFill>
                <a:prstDash val="solid"/>
              </a:ln>
            </c:spPr>
          </c:dPt>
          <c:dPt>
            <c:idx val="3"/>
            <c:invertIfNegative val="0"/>
            <c:spPr>
              <a:solidFill xmlns:a="http://schemas.openxmlformats.org/drawingml/2006/main">
                <a:srgbClr val="F8766D"/>
              </a:solidFill>
              <a:ln xmlns:a="http://schemas.openxmlformats.org/drawingml/2006/main" w="9525">
                <a:solidFill>
                  <a:srgbClr val="F8766D"/>
                </a:solidFill>
                <a:prstDash val="solid"/>
              </a:ln>
            </c:spPr>
          </c:dPt>
          <c:dPt>
            <c:idx val="4"/>
            <c:invertIfNegative val="0"/>
            <c:spPr>
              <a:solidFill xmlns:a="http://schemas.openxmlformats.org/drawingml/2006/main">
                <a:srgbClr val="F8766D"/>
              </a:solidFill>
              <a:ln xmlns:a="http://schemas.openxmlformats.org/drawingml/2006/main" w="9525">
                <a:solidFill>
                  <a:srgbClr val="F8766D"/>
                </a:solidFill>
                <a:prstDash val="solid"/>
              </a:ln>
            </c:spPr>
          </c:dPt>
          <c:dPt>
            <c:idx val="5"/>
            <c:invertIfNegative val="0"/>
            <c:spPr>
              <a:solidFill xmlns:a="http://schemas.openxmlformats.org/drawingml/2006/main">
                <a:srgbClr val="111111"/>
              </a:solidFill>
              <a:ln xmlns:a="http://schemas.openxmlformats.org/drawingml/2006/main" w="9525">
                <a:solidFill>
                  <a:srgbClr val="111111"/>
                </a:solidFill>
                <a:prstDash val="solid"/>
              </a:ln>
            </c:spPr>
          </c:dPt>
          <c:dPt>
            <c:idx val="6"/>
            <c:invertIfNegative val="0"/>
            <c:spPr>
              <a:solidFill xmlns:a="http://schemas.openxmlformats.org/drawingml/2006/main">
                <a:srgbClr val="F8766D"/>
              </a:solidFill>
              <a:ln xmlns:a="http://schemas.openxmlformats.org/drawingml/2006/main" w="9525">
                <a:solidFill>
                  <a:srgbClr val="F8766D"/>
                </a:solidFill>
                <a:prstDash val="solid"/>
              </a:ln>
            </c:spPr>
          </c:dPt>
          <c:dPt>
            <c:idx val="7"/>
            <c:invertIfNegative val="0"/>
            <c:spPr>
              <a:solidFill xmlns:a="http://schemas.openxmlformats.org/drawingml/2006/main">
                <a:srgbClr val="F8766D"/>
              </a:solidFill>
              <a:ln xmlns:a="http://schemas.openxmlformats.org/drawingml/2006/main" w="9525">
                <a:solidFill>
                  <a:srgbClr val="F8766D"/>
                </a:solidFill>
                <a:prstDash val="solid"/>
              </a:ln>
            </c:spPr>
          </c:dPt>
          <c:dPt>
            <c:idx val="8"/>
            <c:invertIfNegative val="0"/>
            <c:spPr>
              <a:solidFill xmlns:a="http://schemas.openxmlformats.org/drawingml/2006/main">
                <a:srgbClr val="F8766D"/>
              </a:solidFill>
              <a:ln xmlns:a="http://schemas.openxmlformats.org/drawingml/2006/main" w="9525">
                <a:solidFill>
                  <a:srgbClr val="F8766D"/>
                </a:solidFill>
                <a:prstDash val="solid"/>
              </a:ln>
            </c:spPr>
          </c:dPt>
          <c:dPt>
            <c:idx val="9"/>
            <c:invertIfNegative val="0"/>
            <c:spPr>
              <a:solidFill xmlns:a="http://schemas.openxmlformats.org/drawingml/2006/main">
                <a:srgbClr val="F8766D"/>
              </a:solidFill>
              <a:ln xmlns:a="http://schemas.openxmlformats.org/drawingml/2006/main" w="9525">
                <a:solidFill>
                  <a:srgbClr val="F8766D"/>
                </a:solidFill>
                <a:prstDash val="solid"/>
              </a:ln>
            </c:spPr>
          </c:dPt>
          <c:dPt>
            <c:idx val="10"/>
            <c:invertIfNegative val="0"/>
            <c:spPr>
              <a:solidFill xmlns:a="http://schemas.openxmlformats.org/drawingml/2006/main">
                <a:srgbClr val="F8766D"/>
              </a:solidFill>
              <a:ln xmlns:a="http://schemas.openxmlformats.org/drawingml/2006/main" w="9525">
                <a:solidFill>
                  <a:srgbClr val="F8766D"/>
                </a:solidFill>
                <a:prstDash val="solid"/>
              </a:ln>
            </c:spPr>
          </c:dPt>
          <c:dPt>
            <c:idx val="11"/>
            <c:invertIfNegative val="0"/>
            <c:spPr>
              <a:solidFill xmlns:a="http://schemas.openxmlformats.org/drawingml/2006/main">
                <a:srgbClr val="F8766D"/>
              </a:solidFill>
              <a:ln xmlns:a="http://schemas.openxmlformats.org/drawingml/2006/main" w="9525">
                <a:solidFill>
                  <a:srgbClr val="F8766D"/>
                </a:solidFill>
                <a:prstDash val="solid"/>
              </a:ln>
            </c:spPr>
          </c:dPt>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0.000</c:formatCode>
                <c:ptCount val="12"/>
                <c:pt idx="0">
                  <c:v>0.563</c:v>
                </c:pt>
                <c:pt idx="1">
                  <c:v>0.621</c:v>
                </c:pt>
                <c:pt idx="2">
                  <c:v>0.687</c:v>
                </c:pt>
                <c:pt idx="3">
                  <c:v>0.712</c:v>
                </c:pt>
                <c:pt idx="4">
                  <c:v>0.456</c:v>
                </c:pt>
                <c:pt idx="5">
                  <c:v>0.758</c:v>
                </c:pt>
                <c:pt idx="6">
                  <c:v>0.652</c:v>
                </c:pt>
                <c:pt idx="7">
                  <c:v>0.522</c:v>
                </c:pt>
                <c:pt idx="8">
                  <c:v>0.459</c:v>
                </c:pt>
                <c:pt idx="9">
                  <c:v>0.589</c:v>
                </c:pt>
                <c:pt idx="10">
                  <c:v>0.346</c:v>
                </c:pt>
                <c:pt idx="11">
                  <c:v>0.569</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11111"/>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b="1">
                    <a:solidFill>
                      <a:srgbClr val="111111"/>
                    </a:solidFill>
                    <a:latin typeface="Times New Roman"/>
                    <a:ea typeface="Times New Roman"/>
                    <a:cs typeface="Times New Roman"/>
                  </a:rPr>
                  <a:t>Condition</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11111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prstDash val="solid"/>
            </a:ln>
          </c:spPr>
        </c:majorGridlines>
        <c:title>
          <c:tx>
            <c:rich>
              <a:bodyPr xmlns:a="http://schemas.openxmlformats.org/drawingml/2006/main"/>
              <a:lstStyle xmlns:a="http://schemas.openxmlformats.org/drawingml/2006/main"/>
              <a:p xmlns:a="http://schemas.openxmlformats.org/drawingml/2006/main">
                <a:r>
                  <a:rPr sz="1275" b="1">
                    <a:solidFill>
                      <a:srgbClr val="111111"/>
                    </a:solidFill>
                    <a:latin typeface="Times New Roman"/>
                    <a:ea typeface="Times New Roman"/>
                    <a:cs typeface="Times New Roman"/>
                  </a:rPr>
                  <a:t>Optical density (OD)</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Times New Roman"/>
                  <a:ea typeface="Times New Roman"/>
                  <a:cs typeface="Times New Roman"/>
                </a:defRPr>
              </a:pPr>
            </a:p>
          </c:txPr>
        </c:title>
        <c:numFmt formatCode="0.0"/>
        <c:majorTickMark val="none"/>
        <c:minorTickMark val="none"/>
        <c:spPr>
          <a:ln xmlns:a="http://schemas.openxmlformats.org/drawingml/2006/main" w="9525">
            <a:solidFill>
              <a:srgbClr val="11111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OD</c:v>
          </c:tx>
          <c:spPr>
            <a:solidFill xmlns:a="http://schemas.openxmlformats.org/drawingml/2006/main">
              <a:srgbClr val="619CFF"/>
            </a:solidFill>
          </c:spPr>
          <c:dPt>
            <c:idx val="0"/>
            <c:invertIfNegative val="0"/>
            <c:spPr>
              <a:solidFill xmlns:a="http://schemas.openxmlformats.org/drawingml/2006/main">
                <a:srgbClr val="619CFF"/>
              </a:solidFill>
              <a:ln xmlns:a="http://schemas.openxmlformats.org/drawingml/2006/main" w="9525">
                <a:solidFill>
                  <a:srgbClr val="619CFF"/>
                </a:solidFill>
                <a:prstDash val="solid"/>
              </a:ln>
            </c:spPr>
          </c:dPt>
          <c:dPt>
            <c:idx val="1"/>
            <c:invertIfNegative val="0"/>
            <c:spPr>
              <a:solidFill xmlns:a="http://schemas.openxmlformats.org/drawingml/2006/main">
                <a:srgbClr val="111111"/>
              </a:solidFill>
              <a:ln xmlns:a="http://schemas.openxmlformats.org/drawingml/2006/main" w="9525">
                <a:solidFill>
                  <a:srgbClr val="111111"/>
                </a:solidFill>
                <a:prstDash val="solid"/>
              </a:ln>
            </c:spPr>
          </c:dPt>
          <c:dPt>
            <c:idx val="2"/>
            <c:invertIfNegative val="0"/>
            <c:spPr>
              <a:solidFill xmlns:a="http://schemas.openxmlformats.org/drawingml/2006/main">
                <a:srgbClr val="619CFF"/>
              </a:solidFill>
              <a:ln xmlns:a="http://schemas.openxmlformats.org/drawingml/2006/main" w="9525">
                <a:solidFill>
                  <a:srgbClr val="619CFF"/>
                </a:solidFill>
                <a:prstDash val="solid"/>
              </a:ln>
            </c:spPr>
          </c:dPt>
          <c:dPt>
            <c:idx val="3"/>
            <c:invertIfNegative val="0"/>
            <c:spPr>
              <a:solidFill xmlns:a="http://schemas.openxmlformats.org/drawingml/2006/main">
                <a:srgbClr val="619CFF"/>
              </a:solidFill>
              <a:ln xmlns:a="http://schemas.openxmlformats.org/drawingml/2006/main" w="9525">
                <a:solidFill>
                  <a:srgbClr val="619CFF"/>
                </a:solidFill>
                <a:prstDash val="solid"/>
              </a:ln>
            </c:spPr>
          </c:dPt>
          <c:dPt>
            <c:idx val="4"/>
            <c:invertIfNegative val="0"/>
            <c:spPr>
              <a:solidFill xmlns:a="http://schemas.openxmlformats.org/drawingml/2006/main">
                <a:srgbClr val="619CFF"/>
              </a:solidFill>
              <a:ln xmlns:a="http://schemas.openxmlformats.org/drawingml/2006/main" w="9525">
                <a:solidFill>
                  <a:srgbClr val="619CFF"/>
                </a:solidFill>
                <a:prstDash val="solid"/>
              </a:ln>
            </c:spPr>
          </c:dPt>
          <c:dPt>
            <c:idx val="5"/>
            <c:invertIfNegative val="0"/>
            <c:spPr>
              <a:solidFill xmlns:a="http://schemas.openxmlformats.org/drawingml/2006/main">
                <a:srgbClr val="619CFF"/>
              </a:solidFill>
              <a:ln xmlns:a="http://schemas.openxmlformats.org/drawingml/2006/main" w="9525">
                <a:solidFill>
                  <a:srgbClr val="619CFF"/>
                </a:solidFill>
                <a:prstDash val="solid"/>
              </a:ln>
            </c:spPr>
          </c:dPt>
          <c:dPt>
            <c:idx val="6"/>
            <c:invertIfNegative val="0"/>
            <c:spPr>
              <a:solidFill xmlns:a="http://schemas.openxmlformats.org/drawingml/2006/main">
                <a:srgbClr val="619CFF"/>
              </a:solidFill>
              <a:ln xmlns:a="http://schemas.openxmlformats.org/drawingml/2006/main" w="9525">
                <a:solidFill>
                  <a:srgbClr val="619CFF"/>
                </a:solidFill>
                <a:prstDash val="solid"/>
              </a:ln>
            </c:spPr>
          </c:dPt>
          <c:dPt>
            <c:idx val="7"/>
            <c:invertIfNegative val="0"/>
            <c:spPr>
              <a:solidFill xmlns:a="http://schemas.openxmlformats.org/drawingml/2006/main">
                <a:srgbClr val="619CFF"/>
              </a:solidFill>
              <a:ln xmlns:a="http://schemas.openxmlformats.org/drawingml/2006/main" w="9525">
                <a:solidFill>
                  <a:srgbClr val="619CFF"/>
                </a:solidFill>
                <a:prstDash val="solid"/>
              </a:ln>
            </c:spPr>
          </c:dPt>
          <c:dPt>
            <c:idx val="8"/>
            <c:invertIfNegative val="0"/>
            <c:spPr>
              <a:solidFill xmlns:a="http://schemas.openxmlformats.org/drawingml/2006/main">
                <a:srgbClr val="619CFF"/>
              </a:solidFill>
              <a:ln xmlns:a="http://schemas.openxmlformats.org/drawingml/2006/main" w="9525">
                <a:solidFill>
                  <a:srgbClr val="619CFF"/>
                </a:solidFill>
                <a:prstDash val="solid"/>
              </a:ln>
            </c:spPr>
          </c:dPt>
          <c:dPt>
            <c:idx val="9"/>
            <c:invertIfNegative val="0"/>
            <c:spPr>
              <a:solidFill xmlns:a="http://schemas.openxmlformats.org/drawingml/2006/main">
                <a:srgbClr val="619CFF"/>
              </a:solidFill>
              <a:ln xmlns:a="http://schemas.openxmlformats.org/drawingml/2006/main" w="9525">
                <a:solidFill>
                  <a:srgbClr val="619CFF"/>
                </a:solidFill>
                <a:prstDash val="solid"/>
              </a:ln>
            </c:spPr>
          </c:dPt>
          <c:dPt>
            <c:idx val="10"/>
            <c:invertIfNegative val="0"/>
            <c:spPr>
              <a:solidFill xmlns:a="http://schemas.openxmlformats.org/drawingml/2006/main">
                <a:srgbClr val="619CFF"/>
              </a:solidFill>
              <a:ln xmlns:a="http://schemas.openxmlformats.org/drawingml/2006/main" w="9525">
                <a:solidFill>
                  <a:srgbClr val="619CFF"/>
                </a:solidFill>
                <a:prstDash val="solid"/>
              </a:ln>
            </c:spPr>
          </c:dPt>
          <c:dPt>
            <c:idx val="11"/>
            <c:invertIfNegative val="0"/>
            <c:spPr>
              <a:solidFill xmlns:a="http://schemas.openxmlformats.org/drawingml/2006/main">
                <a:srgbClr val="619CFF"/>
              </a:solidFill>
              <a:ln xmlns:a="http://schemas.openxmlformats.org/drawingml/2006/main" w="9525">
                <a:solidFill>
                  <a:srgbClr val="619CFF"/>
                </a:solidFill>
                <a:prstDash val="solid"/>
              </a:ln>
            </c:spPr>
          </c:dPt>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0.000</c:formatCode>
                <c:ptCount val="12"/>
                <c:pt idx="0">
                  <c:v>0.712</c:v>
                </c:pt>
                <c:pt idx="1">
                  <c:v>0.879</c:v>
                </c:pt>
                <c:pt idx="2">
                  <c:v>0.801</c:v>
                </c:pt>
                <c:pt idx="3">
                  <c:v>0.812</c:v>
                </c:pt>
                <c:pt idx="4">
                  <c:v>0.796</c:v>
                </c:pt>
                <c:pt idx="5">
                  <c:v>0.602</c:v>
                </c:pt>
                <c:pt idx="6">
                  <c:v>0.571</c:v>
                </c:pt>
                <c:pt idx="7">
                  <c:v>0.726</c:v>
                </c:pt>
                <c:pt idx="8">
                  <c:v>0.703</c:v>
                </c:pt>
                <c:pt idx="9">
                  <c:v>0.799</c:v>
                </c:pt>
                <c:pt idx="10">
                  <c:v>0.758</c:v>
                </c:pt>
                <c:pt idx="11">
                  <c:v>0.761</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11111"/>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b="1">
                    <a:solidFill>
                      <a:srgbClr val="111111"/>
                    </a:solidFill>
                    <a:latin typeface="Times New Roman"/>
                    <a:ea typeface="Times New Roman"/>
                    <a:cs typeface="Times New Roman"/>
                  </a:rPr>
                  <a:t>Condition</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11111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prstDash val="solid"/>
            </a:ln>
          </c:spPr>
        </c:majorGridlines>
        <c:title>
          <c:tx>
            <c:rich>
              <a:bodyPr xmlns:a="http://schemas.openxmlformats.org/drawingml/2006/main"/>
              <a:lstStyle xmlns:a="http://schemas.openxmlformats.org/drawingml/2006/main"/>
              <a:p xmlns:a="http://schemas.openxmlformats.org/drawingml/2006/main">
                <a:r>
                  <a:rPr sz="1275" b="1">
                    <a:solidFill>
                      <a:srgbClr val="111111"/>
                    </a:solidFill>
                    <a:latin typeface="Times New Roman"/>
                    <a:ea typeface="Times New Roman"/>
                    <a:cs typeface="Times New Roman"/>
                  </a:rPr>
                  <a:t>Optical density (OD)</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Times New Roman"/>
                  <a:ea typeface="Times New Roman"/>
                  <a:cs typeface="Times New Roman"/>
                </a:defRPr>
              </a:pPr>
            </a:p>
          </c:txPr>
        </c:title>
        <c:numFmt formatCode="0.0"/>
        <c:majorTickMark val="none"/>
        <c:minorTickMark val="none"/>
        <c:spPr>
          <a:ln xmlns:a="http://schemas.openxmlformats.org/drawingml/2006/main" w="9525">
            <a:solidFill>
              <a:srgbClr val="11111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First round</c:v>
          </c:tx>
          <c:spPr>
            <a:solidFill xmlns:a="http://schemas.openxmlformats.org/drawingml/2006/main">
              <a:srgbClr val="F8766D"/>
            </a:solidFill>
          </c:spP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0.000</c:formatCode>
                <c:ptCount val="12"/>
                <c:pt idx="0">
                  <c:v>0.563</c:v>
                </c:pt>
                <c:pt idx="1">
                  <c:v>0.621</c:v>
                </c:pt>
                <c:pt idx="2">
                  <c:v>0.687</c:v>
                </c:pt>
                <c:pt idx="3">
                  <c:v>0.712</c:v>
                </c:pt>
                <c:pt idx="4">
                  <c:v>0.456</c:v>
                </c:pt>
                <c:pt idx="5">
                  <c:v>0.758</c:v>
                </c:pt>
                <c:pt idx="6">
                  <c:v>0.652</c:v>
                </c:pt>
                <c:pt idx="7">
                  <c:v>0.522</c:v>
                </c:pt>
                <c:pt idx="8">
                  <c:v>0.459</c:v>
                </c:pt>
                <c:pt idx="9">
                  <c:v>0.589</c:v>
                </c:pt>
                <c:pt idx="10">
                  <c:v>0.346</c:v>
                </c:pt>
                <c:pt idx="11">
                  <c:v>0.569</c:v>
                </c:pt>
              </c:numCache>
            </c:numRef>
          </c:val>
        </c:ser>
        <c:ser>
          <c:idx val="1"/>
          <c:order val="1"/>
          <c:tx>
            <c:v>Second round</c:v>
          </c:tx>
          <c:spPr>
            <a:solidFill xmlns:a="http://schemas.openxmlformats.org/drawingml/2006/main">
              <a:srgbClr val="619CFF"/>
            </a:solidFill>
          </c:spP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0.000</c:formatCode>
                <c:ptCount val="12"/>
                <c:pt idx="0">
                  <c:v>0.712</c:v>
                </c:pt>
                <c:pt idx="1">
                  <c:v>0.879</c:v>
                </c:pt>
                <c:pt idx="2">
                  <c:v>0.801</c:v>
                </c:pt>
                <c:pt idx="3">
                  <c:v>0.812</c:v>
                </c:pt>
                <c:pt idx="4">
                  <c:v>0.796</c:v>
                </c:pt>
                <c:pt idx="5">
                  <c:v>0.602</c:v>
                </c:pt>
                <c:pt idx="6">
                  <c:v>0.571</c:v>
                </c:pt>
                <c:pt idx="7">
                  <c:v>0.726</c:v>
                </c:pt>
                <c:pt idx="8">
                  <c:v>0.703</c:v>
                </c:pt>
                <c:pt idx="9">
                  <c:v>0.799</c:v>
                </c:pt>
                <c:pt idx="10">
                  <c:v>0.758</c:v>
                </c:pt>
                <c:pt idx="11">
                  <c:v>0.761</c:v>
                </c:pt>
              </c:numCache>
            </c:numRef>
          </c: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b="1">
                    <a:solidFill>
                      <a:srgbClr val="111111"/>
                    </a:solidFill>
                    <a:latin typeface="Times New Roman"/>
                    <a:ea typeface="Times New Roman"/>
                    <a:cs typeface="Times New Roman"/>
                  </a:rPr>
                  <a:t>Condition</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11111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prstDash val="solid"/>
            </a:ln>
          </c:spPr>
        </c:majorGridlines>
        <c:title>
          <c:tx>
            <c:rich>
              <a:bodyPr xmlns:a="http://schemas.openxmlformats.org/drawingml/2006/main"/>
              <a:lstStyle xmlns:a="http://schemas.openxmlformats.org/drawingml/2006/main"/>
              <a:p xmlns:a="http://schemas.openxmlformats.org/drawingml/2006/main">
                <a:r>
                  <a:rPr sz="1275" b="1">
                    <a:solidFill>
                      <a:srgbClr val="111111"/>
                    </a:solidFill>
                    <a:latin typeface="Times New Roman"/>
                    <a:ea typeface="Times New Roman"/>
                    <a:cs typeface="Times New Roman"/>
                  </a:rPr>
                  <a:t>Optical density (OD)</a:t>
                </a:r>
              </a:p>
            </c:rich>
          </c:tx>
          <c:overlay val="0"/>
          <c:txPr>
            <a:bodyPr xmlns:a="http://schemas.openxmlformats.org/drawingml/2006/main" anchorCtr="1"/>
            <a:lstStyle xmlns:a="http://schemas.openxmlformats.org/drawingml/2006/main"/>
            <a:p xmlns:a="http://schemas.openxmlformats.org/drawingml/2006/main">
              <a:pPr>
                <a:defRPr sz="1275" b="1">
                  <a:solidFill>
                    <a:srgbClr val="111111"/>
                  </a:solidFill>
                  <a:latin typeface="Times New Roman"/>
                  <a:ea typeface="Times New Roman"/>
                  <a:cs typeface="Times New Roman"/>
                </a:defRPr>
              </a:pPr>
            </a:p>
          </c:txPr>
        </c:title>
        <c:numFmt formatCode="0.0"/>
        <c:majorTickMark val="none"/>
        <c:minorTickMark val="none"/>
        <c:spPr>
          <a:ln xmlns:a="http://schemas.openxmlformats.org/drawingml/2006/main" w="9525">
            <a:solidFill>
              <a:srgbClr val="11111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11111"/>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E59B8B9-E883-4737-B42F-4E9133DF579A}"/>
              </a:ext>
            </a:extLst>
          </p:cNvPr>
          <p:cNvSpPr>
            <a:spLocks xmlns:a="http://schemas.openxmlformats.org/drawingml/2006/main" noGrp="1"/>
          </p:cNvSpPr>
          <p:nvPr/>
        </p:nvSpPr>
        <p:spPr>
          <a:xfrm xmlns:a="http://schemas.openxmlformats.org/drawingml/2006/main">
            <a:off x="590550" y="342900"/>
            <a:ext cx="11010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Table 1. First-round medium composition and observed OD</a:t>
            </a:r>
          </a:p>
        </p:txBody>
      </p:sp>
      <p:graphicFrame>
        <p:nvGraphicFramePr>
          <p:cNvPr id="5" name=""/>
          <p:cNvGraphicFramePr/>
          <p:nvPr/>
        </p:nvGraphicFramePr>
        <p:xfrm>
          <a:off xmlns:a="http://schemas.openxmlformats.org/drawingml/2006/main" x="552450" y="1066800"/>
          <a:ext xmlns:a="http://schemas.openxmlformats.org/drawingml/2006/main" cx="11087100" cy="3981450"/>
        </p:xfrm>
        <a:graphic xmlns:a="http://schemas.openxmlformats.org/drawingml/2006/main">
          <a:graphicData uri="http://schemas.openxmlformats.org/drawingml/2006/table">
            <a:tbl>
              <a:tblPr/>
              <a:tblGrid>
                <a:gridCol w="838200"/>
                <a:gridCol w="1352550"/>
                <a:gridCol w="1600200"/>
                <a:gridCol w="1600200"/>
                <a:gridCol w="1352550"/>
                <a:gridCol w="1352550"/>
                <a:gridCol w="1352550"/>
                <a:gridCol w="1638300"/>
              </a:tblGrid>
              <a:tr h="438150">
                <a:tc>
                  <a:txBody>
                    <a:bodyPr>
                      <a:normAutofit/>
                    </a:bodyPr>
                    <a:lstStyle/>
                    <a:p>
                      <a:pPr algn="ctr"/>
                      <a:r>
                        <a:rPr sz="1275" b="1">
                          <a:solidFill>
                            <a:srgbClr val="111111"/>
                          </a:solidFill>
                          <a:latin typeface="Times New Roman"/>
                          <a:ea typeface="Times New Roman"/>
                          <a:cs typeface="Times New Roman"/>
                        </a:rPr>
                        <a:t>Condition</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Peptone</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Meat extract</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Yeast extract</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Glucose</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Fixed mix</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Water</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OD</a:t>
                      </a:r>
                    </a:p>
                  </a:txBody>
                  <a:tcPr marL="47625" marR="47625" marT="38100" marB="38100" anchor="ctr">
                    <a:solidFill>
                      <a:srgbClr val="EDEDED"/>
                    </a:solidFill>
                  </a:tcPr>
                </a:tc>
              </a:tr>
              <a:tr h="295275">
                <a:tc>
                  <a:txBody>
                    <a:bodyPr>
                      <a:normAutofit/>
                    </a:bodyPr>
                    <a:lstStyle/>
                    <a:p>
                      <a:pPr algn="ctr"/>
                      <a:r>
                        <a:rPr sz="1275">
                          <a:solidFill>
                            <a:srgbClr val="111111"/>
                          </a:solidFill>
                          <a:latin typeface="Times New Roman"/>
                          <a:ea typeface="Times New Roman"/>
                          <a:cs typeface="Times New Roman"/>
                        </a:rPr>
                        <a:t>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550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0.563</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650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0.621</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3</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450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0.687</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4</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350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0.712</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0.456</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6</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0.758</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7</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0.652</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8</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0.522</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9</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0.459</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10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0.589</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11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0.346</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12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0.569</a:t>
                      </a:r>
                    </a:p>
                  </a:txBody>
                  <a:tcPr marL="38100" marR="38100" marT="19050" marB="19050" anchor="ctr"/>
                </a:tc>
              </a:tr>
            </a:tbl>
          </a:graphicData>
        </a:graphic>
      </p:graphicFrame>
      <p:sp>
        <p:nvSpPr>
          <p:cNvPr id="3" name="">
            <a:extLst xmlns:a="http://schemas.openxmlformats.org/drawingml/2006/main">
              <a:ext uri="{FF2B5EF4-FFF2-40B4-BE49-F238E27FC236}">
                <a16:creationId xmlns:a16="http://schemas.microsoft.com/office/drawing/2014/main" id="{4011CBE0-D114-4B8F-B065-27E1C57692C8}"/>
              </a:ext>
            </a:extLst>
          </p:cNvPr>
          <p:cNvSpPr>
            <a:spLocks xmlns:a="http://schemas.openxmlformats.org/drawingml/2006/main" noGrp="1"/>
          </p:cNvSpPr>
          <p:nvPr/>
        </p:nvSpPr>
        <p:spPr>
          <a:xfrm xmlns:a="http://schemas.openxmlformats.org/drawingml/2006/main">
            <a:off x="628650" y="52959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i="1">
                <a:solidFill>
                  <a:srgbClr val="555555"/>
                </a:solidFill>
                <a:latin typeface="Times New Roman"/>
                <a:ea typeface="Times New Roman"/>
                <a:cs typeface="Times New Roman"/>
              </a:defRPr>
            </a:pPr>
            <a:r>
              <a:rPr sz="1125" i="1">
                <a:solidFill>
                  <a:srgbClr val="555555"/>
                </a:solidFill>
                <a:latin typeface="Times New Roman"/>
                <a:ea typeface="Times New Roman"/>
                <a:cs typeface="Times New Roman"/>
              </a:rPr>
              <a:t>Values are single observations. Component volumes are expressed in µL. The fixed salt mixture was 250 µL and the final volume was 1,000 µL for every condition. Error estimates and inferential statistics are not available because replicate measurements were not provided.</a:t>
            </a:r>
          </a:p>
        </p:txBody>
      </p:sp>
    </p:spTree>
    <p:extLst>
      <p:ext uri="{BB962C8B-B14F-4D97-AF65-F5344CB8AC3E}">
        <p14:creationId xmlns:p14="http://schemas.microsoft.com/office/powerpoint/2010/main" val="4484471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A2693E-7CB4-41D7-85C9-053E3C5B4785}"/>
              </a:ext>
            </a:extLst>
          </p:cNvPr>
          <p:cNvSpPr>
            <a:spLocks xmlns:a="http://schemas.openxmlformats.org/drawingml/2006/main" noGrp="1"/>
          </p:cNvSpPr>
          <p:nvPr/>
        </p:nvSpPr>
        <p:spPr>
          <a:xfrm xmlns:a="http://schemas.openxmlformats.org/drawingml/2006/main">
            <a:off x="590550" y="342900"/>
            <a:ext cx="11010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Figure 1. OD across first-round conditions</a:t>
            </a:r>
          </a:p>
        </p:txBody>
      </p:sp>
      <p:graphicFrame>
        <p:nvGraphicFramePr>
          <p:cNvPr id="5" name="Chart"/>
          <p:cNvGraphicFramePr/>
          <p:nvPr/>
        </p:nvGraphicFramePr>
        <p:xfrm>
          <a:off xmlns:a="http://schemas.openxmlformats.org/drawingml/2006/main" x="800100" y="1066800"/>
          <a:ext xmlns:a="http://schemas.openxmlformats.org/drawingml/2006/main" cx="10591800" cy="4238625"/>
        </p:xfrm>
        <a:graphic xmlns:a="http://schemas.openxmlformats.org/drawingml/2006/main">
          <a:graphicData uri="http://schemas.openxmlformats.org/drawingml/2006/chart">
            <c:chart xmlns:r="http://schemas.openxmlformats.org/officeDocument/2006/relationships" xmlns:c="http://schemas.openxmlformats.org/drawingml/2006/chart" r:id="Rb5d80c3231d54d05"/>
          </a:graphicData>
        </a:graphic>
      </p:graphicFrame>
      <p:sp>
        <p:nvSpPr>
          <p:cNvPr id="3" name="">
            <a:extLst xmlns:a="http://schemas.openxmlformats.org/drawingml/2006/main">
              <a:ext uri="{FF2B5EF4-FFF2-40B4-BE49-F238E27FC236}">
                <a16:creationId xmlns:a16="http://schemas.microsoft.com/office/drawing/2014/main" id="{7997FA9D-3E4C-4D81-B7C2-2C27B0A94553}"/>
              </a:ext>
            </a:extLst>
          </p:cNvPr>
          <p:cNvSpPr>
            <a:spLocks xmlns:a="http://schemas.openxmlformats.org/drawingml/2006/main" noGrp="1"/>
          </p:cNvSpPr>
          <p:nvPr/>
        </p:nvSpPr>
        <p:spPr>
          <a:xfrm xmlns:a="http://schemas.openxmlformats.org/drawingml/2006/main">
            <a:off x="628650" y="554355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555555"/>
                </a:solidFill>
                <a:latin typeface="Times New Roman"/>
                <a:ea typeface="Times New Roman"/>
                <a:cs typeface="Times New Roman"/>
              </a:defRPr>
            </a:pPr>
            <a:r>
              <a:rPr sz="1125">
                <a:solidFill>
                  <a:srgbClr val="555555"/>
                </a:solidFill>
                <a:latin typeface="Times New Roman"/>
                <a:ea typeface="Times New Roman"/>
                <a:cs typeface="Times New Roman"/>
              </a:rPr>
              <a:t>Fig. 1. Optical density of Priestia megaterium measured across 12 culture-medium conditions in the first-round medium-optimization experiment. Bars show single observations; therefore, error bars and inferential statistics are not presented.</a:t>
            </a:r>
          </a:p>
        </p:txBody>
      </p:sp>
    </p:spTree>
    <p:extLst>
      <p:ext uri="{BB962C8B-B14F-4D97-AF65-F5344CB8AC3E}">
        <p14:creationId xmlns:p14="http://schemas.microsoft.com/office/powerpoint/2010/main" val="8501082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53BF04D-9B8E-43E7-9F77-ECEAEA6141D5}"/>
              </a:ext>
            </a:extLst>
          </p:cNvPr>
          <p:cNvSpPr>
            <a:spLocks xmlns:a="http://schemas.openxmlformats.org/drawingml/2006/main" noGrp="1"/>
          </p:cNvSpPr>
          <p:nvPr/>
        </p:nvSpPr>
        <p:spPr>
          <a:xfrm xmlns:a="http://schemas.openxmlformats.org/drawingml/2006/main">
            <a:off x="590550" y="342900"/>
            <a:ext cx="11010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Table 2. Second-round medium composition and observed OD</a:t>
            </a:r>
          </a:p>
        </p:txBody>
      </p:sp>
      <p:graphicFrame>
        <p:nvGraphicFramePr>
          <p:cNvPr id="5" name=""/>
          <p:cNvGraphicFramePr/>
          <p:nvPr/>
        </p:nvGraphicFramePr>
        <p:xfrm>
          <a:off xmlns:a="http://schemas.openxmlformats.org/drawingml/2006/main" x="552450" y="1066800"/>
          <a:ext xmlns:a="http://schemas.openxmlformats.org/drawingml/2006/main" cx="11087100" cy="3981450"/>
        </p:xfrm>
        <a:graphic xmlns:a="http://schemas.openxmlformats.org/drawingml/2006/main">
          <a:graphicData uri="http://schemas.openxmlformats.org/drawingml/2006/table">
            <a:tbl>
              <a:tblPr/>
              <a:tblGrid>
                <a:gridCol w="838200"/>
                <a:gridCol w="1352550"/>
                <a:gridCol w="1600200"/>
                <a:gridCol w="1600200"/>
                <a:gridCol w="1352550"/>
                <a:gridCol w="1352550"/>
                <a:gridCol w="1352550"/>
                <a:gridCol w="1638300"/>
              </a:tblGrid>
              <a:tr h="438150">
                <a:tc>
                  <a:txBody>
                    <a:bodyPr>
                      <a:normAutofit/>
                    </a:bodyPr>
                    <a:lstStyle/>
                    <a:p>
                      <a:pPr algn="ctr"/>
                      <a:r>
                        <a:rPr sz="1275" b="1">
                          <a:solidFill>
                            <a:srgbClr val="111111"/>
                          </a:solidFill>
                          <a:latin typeface="Times New Roman"/>
                          <a:ea typeface="Times New Roman"/>
                          <a:cs typeface="Times New Roman"/>
                        </a:rPr>
                        <a:t>Condition</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Peptone</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Meat extract</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Yeast extract</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Glucose</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Fixed mix</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Water</a:t>
                      </a:r>
                    </a:p>
                    <a:p>
                      <a:pPr algn="ctr"/>
                      <a:r>
                        <a:rPr sz="1275" b="1">
                          <a:solidFill>
                            <a:srgbClr val="111111"/>
                          </a:solidFill>
                          <a:latin typeface="Times New Roman"/>
                          <a:ea typeface="Times New Roman"/>
                          <a:cs typeface="Times New Roman"/>
                        </a:rPr>
                        <a:t>(µL)</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OD</a:t>
                      </a:r>
                    </a:p>
                  </a:txBody>
                  <a:tcPr marL="47625" marR="47625" marT="38100" marB="38100" anchor="ctr">
                    <a:solidFill>
                      <a:srgbClr val="EDEDED"/>
                    </a:solidFill>
                  </a:tcPr>
                </a:tc>
              </a:tr>
              <a:tr h="295275">
                <a:tc>
                  <a:txBody>
                    <a:bodyPr>
                      <a:normAutofit/>
                    </a:bodyPr>
                    <a:lstStyle/>
                    <a:p>
                      <a:pPr algn="ctr"/>
                      <a:r>
                        <a:rPr sz="1275">
                          <a:solidFill>
                            <a:srgbClr val="111111"/>
                          </a:solidFill>
                          <a:latin typeface="Times New Roman"/>
                          <a:ea typeface="Times New Roman"/>
                          <a:cs typeface="Times New Roman"/>
                        </a:rPr>
                        <a:t>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93</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44</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583</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0.712</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60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508</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0.879</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3</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32</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150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541</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0.801</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4</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45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99</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431</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0.812</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42</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557</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0.796</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6</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86</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96</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560.5</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0.602</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7</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98</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452</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0.571</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8</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56</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81</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488</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0.726</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9</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7</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56</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537</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0.703</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10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78</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545</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0.799</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11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95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150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480</a:t>
                      </a:r>
                    </a:p>
                  </a:txBody>
                  <a:tcPr marL="38100" marR="38100" marT="19050" marB="19050" anchor="ctr">
                    <a:solidFill>
                      <a:srgbClr val="F8F8F8"/>
                    </a:solidFill>
                  </a:tcPr>
                </a:tc>
                <a:tc>
                  <a:txBody>
                    <a:bodyPr>
                      <a:normAutofit/>
                    </a:bodyPr>
                    <a:lstStyle/>
                    <a:p>
                      <a:pPr algn="ctr"/>
                      <a:r>
                        <a:rPr sz="1275" b="1">
                          <a:solidFill>
                            <a:srgbClr val="111111"/>
                          </a:solidFill>
                          <a:latin typeface="Times New Roman"/>
                          <a:ea typeface="Times New Roman"/>
                          <a:cs typeface="Times New Roman"/>
                        </a:rPr>
                        <a:t>0.758</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12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95</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100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250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530</a:t>
                      </a:r>
                    </a:p>
                  </a:txBody>
                  <a:tcPr marL="38100" marR="38100" marT="19050" marB="19050" anchor="ctr"/>
                </a:tc>
                <a:tc>
                  <a:txBody>
                    <a:bodyPr>
                      <a:normAutofit/>
                    </a:bodyPr>
                    <a:lstStyle/>
                    <a:p>
                      <a:pPr algn="ctr"/>
                      <a:r>
                        <a:rPr sz="1275" b="1">
                          <a:solidFill>
                            <a:srgbClr val="111111"/>
                          </a:solidFill>
                          <a:latin typeface="Times New Roman"/>
                          <a:ea typeface="Times New Roman"/>
                          <a:cs typeface="Times New Roman"/>
                        </a:rPr>
                        <a:t>0.761</a:t>
                      </a:r>
                    </a:p>
                  </a:txBody>
                  <a:tcPr marL="38100" marR="38100" marT="19050" marB="19050" anchor="ctr"/>
                </a:tc>
              </a:tr>
            </a:tbl>
          </a:graphicData>
        </a:graphic>
      </p:graphicFrame>
      <p:sp>
        <p:nvSpPr>
          <p:cNvPr id="3" name="">
            <a:extLst xmlns:a="http://schemas.openxmlformats.org/drawingml/2006/main">
              <a:ext uri="{FF2B5EF4-FFF2-40B4-BE49-F238E27FC236}">
                <a16:creationId xmlns:a16="http://schemas.microsoft.com/office/drawing/2014/main" id="{89900418-CA98-4339-B7AC-A2B2B14E592F}"/>
              </a:ext>
            </a:extLst>
          </p:cNvPr>
          <p:cNvSpPr>
            <a:spLocks xmlns:a="http://schemas.openxmlformats.org/drawingml/2006/main" noGrp="1"/>
          </p:cNvSpPr>
          <p:nvPr/>
        </p:nvSpPr>
        <p:spPr>
          <a:xfrm xmlns:a="http://schemas.openxmlformats.org/drawingml/2006/main">
            <a:off x="628650" y="5295900"/>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i="1">
                <a:solidFill>
                  <a:srgbClr val="555555"/>
                </a:solidFill>
                <a:latin typeface="Times New Roman"/>
                <a:ea typeface="Times New Roman"/>
                <a:cs typeface="Times New Roman"/>
              </a:defRPr>
            </a:pPr>
            <a:r>
              <a:rPr sz="1125" i="1">
                <a:solidFill>
                  <a:srgbClr val="555555"/>
                </a:solidFill>
                <a:latin typeface="Times New Roman"/>
                <a:ea typeface="Times New Roman"/>
                <a:cs typeface="Times New Roman"/>
              </a:rPr>
              <a:t>Values are single observations. Component volumes are expressed in µL. The fixed salt mixture was 250 µL and the final volume was 1,000 µL for every condition. Error estimates and inferential statistics are not available because replicate measurements were not provided.</a:t>
            </a:r>
          </a:p>
        </p:txBody>
      </p:sp>
    </p:spTree>
    <p:extLst>
      <p:ext uri="{BB962C8B-B14F-4D97-AF65-F5344CB8AC3E}">
        <p14:creationId xmlns:p14="http://schemas.microsoft.com/office/powerpoint/2010/main" val="21138664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EAF8E6A-19D9-4AE1-AF3F-C0082D898ACD}"/>
              </a:ext>
            </a:extLst>
          </p:cNvPr>
          <p:cNvSpPr>
            <a:spLocks xmlns:a="http://schemas.openxmlformats.org/drawingml/2006/main" noGrp="1"/>
          </p:cNvSpPr>
          <p:nvPr/>
        </p:nvSpPr>
        <p:spPr>
          <a:xfrm xmlns:a="http://schemas.openxmlformats.org/drawingml/2006/main">
            <a:off x="590550" y="342900"/>
            <a:ext cx="11010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Figure 2. OD across second-round conditions</a:t>
            </a:r>
          </a:p>
        </p:txBody>
      </p:sp>
      <p:graphicFrame>
        <p:nvGraphicFramePr>
          <p:cNvPr id="5" name="Chart"/>
          <p:cNvGraphicFramePr/>
          <p:nvPr/>
        </p:nvGraphicFramePr>
        <p:xfrm>
          <a:off xmlns:a="http://schemas.openxmlformats.org/drawingml/2006/main" x="800100" y="1066800"/>
          <a:ext xmlns:a="http://schemas.openxmlformats.org/drawingml/2006/main" cx="10591800" cy="4238625"/>
        </p:xfrm>
        <a:graphic xmlns:a="http://schemas.openxmlformats.org/drawingml/2006/main">
          <a:graphicData uri="http://schemas.openxmlformats.org/drawingml/2006/chart">
            <c:chart xmlns:r="http://schemas.openxmlformats.org/officeDocument/2006/relationships" xmlns:c="http://schemas.openxmlformats.org/drawingml/2006/chart" r:id="R11691326520f40f2"/>
          </a:graphicData>
        </a:graphic>
      </p:graphicFrame>
      <p:sp>
        <p:nvSpPr>
          <p:cNvPr id="3" name="">
            <a:extLst xmlns:a="http://schemas.openxmlformats.org/drawingml/2006/main">
              <a:ext uri="{FF2B5EF4-FFF2-40B4-BE49-F238E27FC236}">
                <a16:creationId xmlns:a16="http://schemas.microsoft.com/office/drawing/2014/main" id="{C5A5B14A-460A-45F0-A001-4AE3FFF07BCB}"/>
              </a:ext>
            </a:extLst>
          </p:cNvPr>
          <p:cNvSpPr>
            <a:spLocks xmlns:a="http://schemas.openxmlformats.org/drawingml/2006/main" noGrp="1"/>
          </p:cNvSpPr>
          <p:nvPr/>
        </p:nvSpPr>
        <p:spPr>
          <a:xfrm xmlns:a="http://schemas.openxmlformats.org/drawingml/2006/main">
            <a:off x="628650" y="554355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555555"/>
                </a:solidFill>
                <a:latin typeface="Times New Roman"/>
                <a:ea typeface="Times New Roman"/>
                <a:cs typeface="Times New Roman"/>
              </a:defRPr>
            </a:pPr>
            <a:r>
              <a:rPr sz="1125">
                <a:solidFill>
                  <a:srgbClr val="555555"/>
                </a:solidFill>
                <a:latin typeface="Times New Roman"/>
                <a:ea typeface="Times New Roman"/>
                <a:cs typeface="Times New Roman"/>
              </a:rPr>
              <a:t>Fig. 2. Optical density of Priestia megaterium measured across 12 culture-medium conditions in the second-round medium-optimization experiment. Bars show single observations; therefore, error bars and inferential statistics are not presented.</a:t>
            </a:r>
          </a:p>
        </p:txBody>
      </p:sp>
    </p:spTree>
    <p:extLst>
      <p:ext uri="{BB962C8B-B14F-4D97-AF65-F5344CB8AC3E}">
        <p14:creationId xmlns:p14="http://schemas.microsoft.com/office/powerpoint/2010/main" val="18512935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4B62F3-E27B-4583-BA94-380E4AE59155}"/>
              </a:ext>
            </a:extLst>
          </p:cNvPr>
          <p:cNvSpPr>
            <a:spLocks xmlns:a="http://schemas.openxmlformats.org/drawingml/2006/main" noGrp="1"/>
          </p:cNvSpPr>
          <p:nvPr/>
        </p:nvSpPr>
        <p:spPr>
          <a:xfrm xmlns:a="http://schemas.openxmlformats.org/drawingml/2006/main">
            <a:off x="590550" y="342900"/>
            <a:ext cx="11010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Table 3. Descriptive comparison of OD between experiments</a:t>
            </a:r>
          </a:p>
        </p:txBody>
      </p:sp>
      <p:sp>
        <p:nvSpPr>
          <p:cNvPr id="2" name="">
            <a:extLst xmlns:a="http://schemas.openxmlformats.org/drawingml/2006/main">
              <a:ext uri="{FF2B5EF4-FFF2-40B4-BE49-F238E27FC236}">
                <a16:creationId xmlns:a16="http://schemas.microsoft.com/office/drawing/2014/main" id="{8EB31BE8-91F9-45C2-A14D-96FF6C2B6B45}"/>
              </a:ext>
            </a:extLst>
          </p:cNvPr>
          <p:cNvSpPr>
            <a:spLocks xmlns:a="http://schemas.openxmlformats.org/drawingml/2006/main" noGrp="1"/>
          </p:cNvSpPr>
          <p:nvPr/>
        </p:nvSpPr>
        <p:spPr>
          <a:xfrm xmlns:a="http://schemas.openxmlformats.org/drawingml/2006/main">
            <a:off x="1047750" y="88582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i="1">
                <a:solidFill>
                  <a:srgbClr val="555555"/>
                </a:solidFill>
                <a:latin typeface="Times New Roman"/>
                <a:ea typeface="Times New Roman"/>
                <a:cs typeface="Times New Roman"/>
              </a:defRPr>
            </a:pPr>
            <a:r>
              <a:rPr sz="1350" i="1">
                <a:solidFill>
                  <a:srgbClr val="555555"/>
                </a:solidFill>
                <a:latin typeface="Times New Roman"/>
                <a:ea typeface="Times New Roman"/>
                <a:cs typeface="Times New Roman"/>
              </a:rPr>
              <a:t>Test organism: Priestia megaterium</a:t>
            </a:r>
          </a:p>
        </p:txBody>
      </p:sp>
      <p:graphicFrame>
        <p:nvGraphicFramePr>
          <p:cNvPr id="7" name=""/>
          <p:cNvGraphicFramePr/>
          <p:nvPr/>
        </p:nvGraphicFramePr>
        <p:xfrm>
          <a:off xmlns:a="http://schemas.openxmlformats.org/drawingml/2006/main" x="1047750" y="1285875"/>
          <a:ext xmlns:a="http://schemas.openxmlformats.org/drawingml/2006/main" cx="10096500" cy="3924300"/>
        </p:xfrm>
        <a:graphic xmlns:a="http://schemas.openxmlformats.org/drawingml/2006/main">
          <a:graphicData uri="http://schemas.openxmlformats.org/drawingml/2006/table">
            <a:tbl>
              <a:tblPr/>
              <a:tblGrid>
                <a:gridCol w="1619250"/>
                <a:gridCol w="2571750"/>
                <a:gridCol w="2571750"/>
                <a:gridCol w="3333750"/>
              </a:tblGrid>
              <a:tr h="438150">
                <a:tc>
                  <a:txBody>
                    <a:bodyPr>
                      <a:normAutofit/>
                    </a:bodyPr>
                    <a:lstStyle/>
                    <a:p>
                      <a:pPr algn="ctr"/>
                      <a:r>
                        <a:rPr sz="1275" b="1">
                          <a:solidFill>
                            <a:srgbClr val="111111"/>
                          </a:solidFill>
                          <a:latin typeface="Times New Roman"/>
                          <a:ea typeface="Times New Roman"/>
                          <a:cs typeface="Times New Roman"/>
                        </a:rPr>
                        <a:t>Condition</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First-round OD</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Second-round OD</a:t>
                      </a:r>
                    </a:p>
                  </a:txBody>
                  <a:tcPr marL="47625" marR="47625" marT="38100" marB="38100" anchor="ctr">
                    <a:solidFill>
                      <a:srgbClr val="EDEDED"/>
                    </a:solidFill>
                  </a:tcPr>
                </a:tc>
                <a:tc>
                  <a:txBody>
                    <a:bodyPr>
                      <a:normAutofit/>
                    </a:bodyPr>
                    <a:lstStyle/>
                    <a:p>
                      <a:pPr algn="ctr"/>
                      <a:r>
                        <a:rPr sz="1275" b="1">
                          <a:solidFill>
                            <a:srgbClr val="111111"/>
                          </a:solidFill>
                          <a:latin typeface="Times New Roman"/>
                          <a:ea typeface="Times New Roman"/>
                          <a:cs typeface="Times New Roman"/>
                        </a:rPr>
                        <a:t>Difference</a:t>
                      </a:r>
                    </a:p>
                    <a:p>
                      <a:pPr algn="ctr"/>
                      <a:r>
                        <a:rPr sz="1275" b="1">
                          <a:solidFill>
                            <a:srgbClr val="111111"/>
                          </a:solidFill>
                          <a:latin typeface="Times New Roman"/>
                          <a:ea typeface="Times New Roman"/>
                          <a:cs typeface="Times New Roman"/>
                        </a:rPr>
                        <a:t>(second - first)</a:t>
                      </a:r>
                    </a:p>
                  </a:txBody>
                  <a:tcPr marL="47625" marR="47625" marT="38100" marB="38100" anchor="ctr">
                    <a:solidFill>
                      <a:srgbClr val="EDEDED"/>
                    </a:solidFill>
                  </a:tcPr>
                </a:tc>
              </a:tr>
              <a:tr h="295275">
                <a:tc>
                  <a:txBody>
                    <a:bodyPr>
                      <a:normAutofit/>
                    </a:bodyPr>
                    <a:lstStyle/>
                    <a:p>
                      <a:pPr algn="ctr"/>
                      <a:r>
                        <a:rPr sz="1275">
                          <a:solidFill>
                            <a:srgbClr val="111111"/>
                          </a:solidFill>
                          <a:latin typeface="Times New Roman"/>
                          <a:ea typeface="Times New Roman"/>
                          <a:cs typeface="Times New Roman"/>
                        </a:rPr>
                        <a:t>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0.563</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0.712</a:t>
                      </a:r>
                    </a:p>
                  </a:txBody>
                  <a:tcPr marL="38100" marR="38100" marT="19050" marB="19050" anchor="ctr">
                    <a:solidFill>
                      <a:srgbClr val="F8F8F8"/>
                    </a:solidFill>
                  </a:tcPr>
                </a:tc>
                <a:tc>
                  <a:txBody>
                    <a:bodyPr>
                      <a:normAutofit/>
                    </a:bodyPr>
                    <a:lstStyle/>
                    <a:p>
                      <a:pPr algn="ctr"/>
                      <a:r>
                        <a:rPr sz="1275" b="1">
                          <a:solidFill>
                            <a:srgbClr val="2166AC"/>
                          </a:solidFill>
                          <a:latin typeface="Times New Roman"/>
                          <a:ea typeface="Times New Roman"/>
                          <a:cs typeface="Times New Roman"/>
                        </a:rPr>
                        <a:t>0.149</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0.621</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0.879</a:t>
                      </a:r>
                    </a:p>
                  </a:txBody>
                  <a:tcPr marL="38100" marR="38100" marT="19050" marB="19050" anchor="ctr"/>
                </a:tc>
                <a:tc>
                  <a:txBody>
                    <a:bodyPr>
                      <a:normAutofit/>
                    </a:bodyPr>
                    <a:lstStyle/>
                    <a:p>
                      <a:pPr algn="ctr"/>
                      <a:r>
                        <a:rPr sz="1275" b="1">
                          <a:solidFill>
                            <a:srgbClr val="2166AC"/>
                          </a:solidFill>
                          <a:latin typeface="Times New Roman"/>
                          <a:ea typeface="Times New Roman"/>
                          <a:cs typeface="Times New Roman"/>
                        </a:rPr>
                        <a:t>0.258</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3</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0.687</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0.801</a:t>
                      </a:r>
                    </a:p>
                  </a:txBody>
                  <a:tcPr marL="38100" marR="38100" marT="19050" marB="19050" anchor="ctr">
                    <a:solidFill>
                      <a:srgbClr val="F8F8F8"/>
                    </a:solidFill>
                  </a:tcPr>
                </a:tc>
                <a:tc>
                  <a:txBody>
                    <a:bodyPr>
                      <a:normAutofit/>
                    </a:bodyPr>
                    <a:lstStyle/>
                    <a:p>
                      <a:pPr algn="ctr"/>
                      <a:r>
                        <a:rPr sz="1275" b="1">
                          <a:solidFill>
                            <a:srgbClr val="2166AC"/>
                          </a:solidFill>
                          <a:latin typeface="Times New Roman"/>
                          <a:ea typeface="Times New Roman"/>
                          <a:cs typeface="Times New Roman"/>
                        </a:rPr>
                        <a:t>0.114</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4</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0.712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0.812</a:t>
                      </a:r>
                    </a:p>
                  </a:txBody>
                  <a:tcPr marL="38100" marR="38100" marT="19050" marB="19050" anchor="ctr"/>
                </a:tc>
                <a:tc>
                  <a:txBody>
                    <a:bodyPr>
                      <a:normAutofit/>
                    </a:bodyPr>
                    <a:lstStyle/>
                    <a:p>
                      <a:pPr algn="ctr"/>
                      <a:r>
                        <a:rPr sz="1275" b="1">
                          <a:solidFill>
                            <a:srgbClr val="2166AC"/>
                          </a:solidFill>
                          <a:latin typeface="Times New Roman"/>
                          <a:ea typeface="Times New Roman"/>
                          <a:cs typeface="Times New Roman"/>
                        </a:rPr>
                        <a:t>0.100</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5</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0.456</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0.796</a:t>
                      </a:r>
                    </a:p>
                  </a:txBody>
                  <a:tcPr marL="38100" marR="38100" marT="19050" marB="19050" anchor="ctr">
                    <a:solidFill>
                      <a:srgbClr val="F8F8F8"/>
                    </a:solidFill>
                  </a:tcPr>
                </a:tc>
                <a:tc>
                  <a:txBody>
                    <a:bodyPr>
                      <a:normAutofit/>
                    </a:bodyPr>
                    <a:lstStyle/>
                    <a:p>
                      <a:pPr algn="ctr"/>
                      <a:r>
                        <a:rPr sz="1275" b="1">
                          <a:solidFill>
                            <a:srgbClr val="2166AC"/>
                          </a:solidFill>
                          <a:latin typeface="Times New Roman"/>
                          <a:ea typeface="Times New Roman"/>
                          <a:cs typeface="Times New Roman"/>
                        </a:rPr>
                        <a:t>0.340</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6</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0.758</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0.602</a:t>
                      </a:r>
                    </a:p>
                  </a:txBody>
                  <a:tcPr marL="38100" marR="38100" marT="19050" marB="19050" anchor="ctr"/>
                </a:tc>
                <a:tc>
                  <a:txBody>
                    <a:bodyPr>
                      <a:normAutofit/>
                    </a:bodyPr>
                    <a:lstStyle/>
                    <a:p>
                      <a:pPr algn="ctr"/>
                      <a:r>
                        <a:rPr sz="1275" b="1">
                          <a:solidFill>
                            <a:srgbClr val="B2182B"/>
                          </a:solidFill>
                          <a:latin typeface="Times New Roman"/>
                          <a:ea typeface="Times New Roman"/>
                          <a:cs typeface="Times New Roman"/>
                        </a:rPr>
                        <a:t>-0.156</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7</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0.652</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0.571</a:t>
                      </a:r>
                    </a:p>
                  </a:txBody>
                  <a:tcPr marL="38100" marR="38100" marT="19050" marB="19050" anchor="ctr">
                    <a:solidFill>
                      <a:srgbClr val="F8F8F8"/>
                    </a:solidFill>
                  </a:tcPr>
                </a:tc>
                <a:tc>
                  <a:txBody>
                    <a:bodyPr>
                      <a:normAutofit/>
                    </a:bodyPr>
                    <a:lstStyle/>
                    <a:p>
                      <a:pPr algn="ctr"/>
                      <a:r>
                        <a:rPr sz="1275" b="1">
                          <a:solidFill>
                            <a:srgbClr val="B2182B"/>
                          </a:solidFill>
                          <a:latin typeface="Times New Roman"/>
                          <a:ea typeface="Times New Roman"/>
                          <a:cs typeface="Times New Roman"/>
                        </a:rPr>
                        <a:t>-0.081</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8</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0.522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0.726</a:t>
                      </a:r>
                    </a:p>
                  </a:txBody>
                  <a:tcPr marL="38100" marR="38100" marT="19050" marB="19050" anchor="ctr"/>
                </a:tc>
                <a:tc>
                  <a:txBody>
                    <a:bodyPr>
                      <a:normAutofit/>
                    </a:bodyPr>
                    <a:lstStyle/>
                    <a:p>
                      <a:pPr algn="ctr"/>
                      <a:r>
                        <a:rPr sz="1275" b="1">
                          <a:solidFill>
                            <a:srgbClr val="2166AC"/>
                          </a:solidFill>
                          <a:latin typeface="Times New Roman"/>
                          <a:ea typeface="Times New Roman"/>
                          <a:cs typeface="Times New Roman"/>
                        </a:rPr>
                        <a:t>0.204</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9</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0.459</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0.703</a:t>
                      </a:r>
                    </a:p>
                  </a:txBody>
                  <a:tcPr marL="38100" marR="38100" marT="19050" marB="19050" anchor="ctr">
                    <a:solidFill>
                      <a:srgbClr val="F8F8F8"/>
                    </a:solidFill>
                  </a:tcPr>
                </a:tc>
                <a:tc>
                  <a:txBody>
                    <a:bodyPr>
                      <a:normAutofit/>
                    </a:bodyPr>
                    <a:lstStyle/>
                    <a:p>
                      <a:pPr algn="ctr"/>
                      <a:r>
                        <a:rPr sz="1275" b="1">
                          <a:solidFill>
                            <a:srgbClr val="2166AC"/>
                          </a:solidFill>
                          <a:latin typeface="Times New Roman"/>
                          <a:ea typeface="Times New Roman"/>
                          <a:cs typeface="Times New Roman"/>
                        </a:rPr>
                        <a:t>0.244</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10</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0.589</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0.799</a:t>
                      </a:r>
                    </a:p>
                  </a:txBody>
                  <a:tcPr marL="38100" marR="38100" marT="19050" marB="19050" anchor="ctr"/>
                </a:tc>
                <a:tc>
                  <a:txBody>
                    <a:bodyPr>
                      <a:normAutofit/>
                    </a:bodyPr>
                    <a:lstStyle/>
                    <a:p>
                      <a:pPr algn="ctr"/>
                      <a:r>
                        <a:rPr sz="1275" b="1">
                          <a:solidFill>
                            <a:srgbClr val="2166AC"/>
                          </a:solidFill>
                          <a:latin typeface="Times New Roman"/>
                          <a:ea typeface="Times New Roman"/>
                          <a:cs typeface="Times New Roman"/>
                        </a:rPr>
                        <a:t>0.210</a:t>
                      </a:r>
                    </a:p>
                  </a:txBody>
                  <a:tcPr marL="38100" marR="38100" marT="19050" marB="19050" anchor="ctr"/>
                </a:tc>
              </a:tr>
              <a:tr h="295275">
                <a:tc>
                  <a:txBody>
                    <a:bodyPr>
                      <a:normAutofit/>
                    </a:bodyPr>
                    <a:lstStyle/>
                    <a:p>
                      <a:pPr algn="ctr"/>
                      <a:r>
                        <a:rPr sz="1275">
                          <a:solidFill>
                            <a:srgbClr val="111111"/>
                          </a:solidFill>
                          <a:latin typeface="Times New Roman"/>
                          <a:ea typeface="Times New Roman"/>
                          <a:cs typeface="Times New Roman"/>
                        </a:rPr>
                        <a:t>11</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0.346</a:t>
                      </a:r>
                    </a:p>
                  </a:txBody>
                  <a:tcPr marL="38100" marR="38100" marT="19050" marB="19050" anchor="ctr">
                    <a:solidFill>
                      <a:srgbClr val="F8F8F8"/>
                    </a:solidFill>
                  </a:tcPr>
                </a:tc>
                <a:tc>
                  <a:txBody>
                    <a:bodyPr>
                      <a:normAutofit/>
                    </a:bodyPr>
                    <a:lstStyle/>
                    <a:p>
                      <a:pPr algn="ctr"/>
                      <a:r>
                        <a:rPr sz="1275">
                          <a:solidFill>
                            <a:srgbClr val="111111"/>
                          </a:solidFill>
                          <a:latin typeface="Times New Roman"/>
                          <a:ea typeface="Times New Roman"/>
                          <a:cs typeface="Times New Roman"/>
                        </a:rPr>
                        <a:t>0.758</a:t>
                      </a:r>
                    </a:p>
                  </a:txBody>
                  <a:tcPr marL="38100" marR="38100" marT="19050" marB="19050" anchor="ctr">
                    <a:solidFill>
                      <a:srgbClr val="F8F8F8"/>
                    </a:solidFill>
                  </a:tcPr>
                </a:tc>
                <a:tc>
                  <a:txBody>
                    <a:bodyPr>
                      <a:normAutofit/>
                    </a:bodyPr>
                    <a:lstStyle/>
                    <a:p>
                      <a:pPr algn="ctr"/>
                      <a:r>
                        <a:rPr sz="1275" b="1">
                          <a:solidFill>
                            <a:srgbClr val="2166AC"/>
                          </a:solidFill>
                          <a:latin typeface="Times New Roman"/>
                          <a:ea typeface="Times New Roman"/>
                          <a:cs typeface="Times New Roman"/>
                        </a:rPr>
                        <a:t>0.412</a:t>
                      </a:r>
                    </a:p>
                  </a:txBody>
                  <a:tcPr marL="38100" marR="38100" marT="19050" marB="19050" anchor="ctr">
                    <a:solidFill>
                      <a:srgbClr val="F8F8F8"/>
                    </a:solidFill>
                  </a:tcPr>
                </a:tc>
              </a:tr>
              <a:tr h="295275">
                <a:tc>
                  <a:txBody>
                    <a:bodyPr>
                      <a:normAutofit/>
                    </a:bodyPr>
                    <a:lstStyle/>
                    <a:p>
                      <a:pPr algn="ctr"/>
                      <a:r>
                        <a:rPr sz="1275">
                          <a:solidFill>
                            <a:srgbClr val="111111"/>
                          </a:solidFill>
                          <a:latin typeface="Times New Roman"/>
                          <a:ea typeface="Times New Roman"/>
                          <a:cs typeface="Times New Roman"/>
                        </a:rPr>
                        <a:t>12</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0.569</a:t>
                      </a:r>
                    </a:p>
                  </a:txBody>
                  <a:tcPr marL="38100" marR="38100" marT="19050" marB="19050" anchor="ctr"/>
                </a:tc>
                <a:tc>
                  <a:txBody>
                    <a:bodyPr>
                      <a:normAutofit/>
                    </a:bodyPr>
                    <a:lstStyle/>
                    <a:p>
                      <a:pPr algn="ctr"/>
                      <a:r>
                        <a:rPr sz="1275">
                          <a:solidFill>
                            <a:srgbClr val="111111"/>
                          </a:solidFill>
                          <a:latin typeface="Times New Roman"/>
                          <a:ea typeface="Times New Roman"/>
                          <a:cs typeface="Times New Roman"/>
                        </a:rPr>
                        <a:t>0.761</a:t>
                      </a:r>
                    </a:p>
                  </a:txBody>
                  <a:tcPr marL="38100" marR="38100" marT="19050" marB="19050" anchor="ctr"/>
                </a:tc>
                <a:tc>
                  <a:txBody>
                    <a:bodyPr>
                      <a:normAutofit/>
                    </a:bodyPr>
                    <a:lstStyle/>
                    <a:p>
                      <a:pPr algn="ctr"/>
                      <a:r>
                        <a:rPr sz="1275" b="1">
                          <a:solidFill>
                            <a:srgbClr val="2166AC"/>
                          </a:solidFill>
                          <a:latin typeface="Times New Roman"/>
                          <a:ea typeface="Times New Roman"/>
                          <a:cs typeface="Times New Roman"/>
                        </a:rPr>
                        <a:t>0.192</a:t>
                      </a:r>
                    </a:p>
                  </a:txBody>
                  <a:tcPr marL="38100" marR="38100" marT="19050" marB="19050" anchor="ctr"/>
                </a:tc>
              </a:tr>
            </a:tbl>
          </a:graphicData>
        </a:graphic>
      </p:graphicFrame>
      <p:sp>
        <p:nvSpPr>
          <p:cNvPr id="4" name="">
            <a:extLst xmlns:a="http://schemas.openxmlformats.org/drawingml/2006/main">
              <a:ext uri="{FF2B5EF4-FFF2-40B4-BE49-F238E27FC236}">
                <a16:creationId xmlns:a16="http://schemas.microsoft.com/office/drawing/2014/main" id="{A1C9A2C3-846B-42AD-935E-8B4225684093}"/>
              </a:ext>
            </a:extLst>
          </p:cNvPr>
          <p:cNvSpPr>
            <a:spLocks xmlns:a="http://schemas.openxmlformats.org/drawingml/2006/main" noGrp="1"/>
          </p:cNvSpPr>
          <p:nvPr/>
        </p:nvSpPr>
        <p:spPr>
          <a:xfrm xmlns:a="http://schemas.openxmlformats.org/drawingml/2006/main">
            <a:off x="1104900" y="546735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i="1">
                <a:solidFill>
                  <a:srgbClr val="555555"/>
                </a:solidFill>
                <a:latin typeface="Times New Roman"/>
                <a:ea typeface="Times New Roman"/>
                <a:cs typeface="Times New Roman"/>
              </a:defRPr>
            </a:pPr>
            <a:r>
              <a:rPr sz="1125" i="1">
                <a:solidFill>
                  <a:srgbClr val="555555"/>
                </a:solidFill>
                <a:latin typeface="Times New Roman"/>
                <a:ea typeface="Times New Roman"/>
                <a:cs typeface="Times New Roman"/>
              </a:rPr>
              <a:t>The same condition number represents a different medium formulation in each round. Differences are descriptive and should not be interpreted as paired effects.</a:t>
            </a:r>
          </a:p>
        </p:txBody>
      </p:sp>
    </p:spTree>
    <p:extLst>
      <p:ext uri="{BB962C8B-B14F-4D97-AF65-F5344CB8AC3E}">
        <p14:creationId xmlns:p14="http://schemas.microsoft.com/office/powerpoint/2010/main" val="15100696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52F9D2-18FA-4F3F-B88A-8A83EA883FE4}"/>
              </a:ext>
            </a:extLst>
          </p:cNvPr>
          <p:cNvSpPr>
            <a:spLocks xmlns:a="http://schemas.openxmlformats.org/drawingml/2006/main" noGrp="1"/>
          </p:cNvSpPr>
          <p:nvPr/>
        </p:nvSpPr>
        <p:spPr>
          <a:xfrm xmlns:a="http://schemas.openxmlformats.org/drawingml/2006/main">
            <a:off x="590550" y="342900"/>
            <a:ext cx="11010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Figure 3. First- and second-round OD by condition</a:t>
            </a:r>
          </a:p>
        </p:txBody>
      </p:sp>
      <p:graphicFrame>
        <p:nvGraphicFramePr>
          <p:cNvPr id="5" name="Chart"/>
          <p:cNvGraphicFramePr/>
          <p:nvPr/>
        </p:nvGraphicFramePr>
        <p:xfrm>
          <a:off xmlns:a="http://schemas.openxmlformats.org/drawingml/2006/main" x="800100" y="1066800"/>
          <a:ext xmlns:a="http://schemas.openxmlformats.org/drawingml/2006/main" cx="10591800" cy="4238625"/>
        </p:xfrm>
        <a:graphic xmlns:a="http://schemas.openxmlformats.org/drawingml/2006/main">
          <a:graphicData uri="http://schemas.openxmlformats.org/drawingml/2006/chart">
            <c:chart xmlns:r="http://schemas.openxmlformats.org/officeDocument/2006/relationships" xmlns:c="http://schemas.openxmlformats.org/drawingml/2006/chart" r:id="R963c983137474ccb"/>
          </a:graphicData>
        </a:graphic>
      </p:graphicFrame>
      <p:sp>
        <p:nvSpPr>
          <p:cNvPr id="3" name="">
            <a:extLst xmlns:a="http://schemas.openxmlformats.org/drawingml/2006/main">
              <a:ext uri="{FF2B5EF4-FFF2-40B4-BE49-F238E27FC236}">
                <a16:creationId xmlns:a16="http://schemas.microsoft.com/office/drawing/2014/main" id="{3A8F89B6-CEB5-462F-BA5F-5BEA0D8E2F3A}"/>
              </a:ext>
            </a:extLst>
          </p:cNvPr>
          <p:cNvSpPr>
            <a:spLocks xmlns:a="http://schemas.openxmlformats.org/drawingml/2006/main" noGrp="1"/>
          </p:cNvSpPr>
          <p:nvPr/>
        </p:nvSpPr>
        <p:spPr>
          <a:xfrm xmlns:a="http://schemas.openxmlformats.org/drawingml/2006/main">
            <a:off x="628650" y="554355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a:solidFill>
                  <a:srgbClr val="555555"/>
                </a:solidFill>
                <a:latin typeface="Times New Roman"/>
                <a:ea typeface="Times New Roman"/>
                <a:cs typeface="Times New Roman"/>
              </a:defRPr>
            </a:pPr>
            <a:r>
              <a:rPr sz="1125">
                <a:solidFill>
                  <a:srgbClr val="555555"/>
                </a:solidFill>
                <a:latin typeface="Times New Roman"/>
                <a:ea typeface="Times New Roman"/>
                <a:cs typeface="Times New Roman"/>
              </a:rPr>
              <a:t>Fig. 3. Descriptive comparison of optical density across the first- and second-round experiments. Identically numbered conditions contain different medium formulations. Bars represent single observations; no error bars or significance tests are shown.</a:t>
            </a:r>
          </a:p>
        </p:txBody>
      </p:sp>
    </p:spTree>
    <p:extLst>
      <p:ext uri="{BB962C8B-B14F-4D97-AF65-F5344CB8AC3E}">
        <p14:creationId xmlns:p14="http://schemas.microsoft.com/office/powerpoint/2010/main" val="6624348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2026-09-04T07:47:28.3850000Z</dcterms:created>
  <dcterms:modified xsi:type="dcterms:W3CDTF">2026-09-04T07:47:28.3850000Z</dcterms:modified>
</coreProperties>
</file>