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5620"/>
    <p:restoredTop sz="86754"/>
  </p:normalViewPr>
  <p:slideViewPr>
    <p:cSldViewPr snapToGrid="0" snapToObjects="1">
      <p:cViewPr>
        <p:scale>
          <a:sx n="100" d="100"/>
          <a:sy n="100" d="100"/>
        </p:scale>
        <p:origin x="-1512" y="-112"/>
      </p:cViewPr>
      <p:guideLst>
        <p:guide orient="horz" pos="2157"/>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presProps" Target="presProps.xml"  /><Relationship Id="rId16" Type="http://schemas.openxmlformats.org/officeDocument/2006/relationships/viewProps" Target="viewProps.xml"  /><Relationship Id="rId17" Type="http://schemas.openxmlformats.org/officeDocument/2006/relationships/theme" Target="theme/theme1.xml"  /><Relationship Id="rId18"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457200"/>
          </a:xfrm>
          <a:prstGeom prst="rect">
            <a:avLst/>
          </a:prstGeom>
        </p:spPr>
        <p:txBody>
          <a:bodyPr vert="horz" lIns="91440" tIns="45720" rIns="91440" bIns="45720" rtlCol="0"/>
          <a:lstStyle>
            <a:lvl1pPr algn="l">
              <a:defRPr sz="1200"/>
            </a:lvl1pPr>
          </a:lstStyle>
          <a:p>
            <a:pPr lvl="0"/>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lvl="0"/>
            <a:fld id="{E2B2BC9D-A816-4D0A-858B-1D023B3A8ACA}" type="datetime1">
              <a:rPr lang="ko-KR" altLang="en-US" smtClean="0"/>
              <a:pPr/>
              <a:t>2009-03-26</a:t>
            </a:fld>
            <a:endParaRPr lang="ko-KR" altLang="en-US"/>
          </a:p>
        </p:txBody>
      </p:sp>
      <p:sp>
        <p:nvSpPr>
          <p:cNvPr id="4" name="슬라이드 이미지 개체 틀 3"/>
          <p:cNvSpPr>
            <a:spLocks noGrp="1" noRot="1" noChangeAspect="1" noTextEdi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a:noAutofit/>
          </a:bodyPr>
          <a:lstStyle/>
          <a:p>
            <a:pPr lvl="0">
              <a:defRPr/>
            </a:pPr>
            <a:r>
              <a:rPr lang="ko-KR" altLang="en-US"/>
              <a:t>마스터 텍스트 스타일을 편집합니다</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lvl="0"/>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lvl="0"/>
            <a:fld id="{09F4262C-968C-4EE9-8164-CE16364706B3}" type="slidenum">
              <a:rPr lang="ko-KR" altLang="en-US" smtClean="0"/>
              <a:pPr/>
              <a:t>‹#›</a:t>
            </a:fld>
            <a:endParaRPr lang="ko-KR" altLang="en-US"/>
          </a:p>
        </p:txBody>
      </p:sp>
    </p:spTree>
    <p:extLst>
      <p:ext uri="{BB962C8B-B14F-4D97-AF65-F5344CB8AC3E}">
        <p14:creationId xmlns:p14="http://schemas.microsoft.com/office/powerpoint/2010/main" val="3877533519"/>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j-lt"/>
        <a:ea typeface="+mj-ea"/>
        <a:cs typeface="+mj-cs"/>
      </a:defRPr>
    </a:lvl1pPr>
    <a:lvl2pPr marL="457200" algn="l" defTabSz="914400" rtl="0" eaLnBrk="1" latinLnBrk="1" hangingPunct="1">
      <a:defRPr sz="1200" kern="1200">
        <a:solidFill>
          <a:schemeClr val="tx1"/>
        </a:solidFill>
        <a:latin typeface="+mj-lt"/>
        <a:ea typeface="+mj-ea"/>
        <a:cs typeface="+mj-cs"/>
      </a:defRPr>
    </a:lvl2pPr>
    <a:lvl3pPr marL="914400" algn="l" defTabSz="914400" rtl="0" eaLnBrk="1" latinLnBrk="1" hangingPunct="1">
      <a:defRPr sz="1200" kern="1200">
        <a:solidFill>
          <a:schemeClr val="tx1"/>
        </a:solidFill>
        <a:latin typeface="+mj-lt"/>
        <a:ea typeface="+mj-ea"/>
        <a:cs typeface="+mj-cs"/>
      </a:defRPr>
    </a:lvl3pPr>
    <a:lvl4pPr marL="1371600" algn="l" defTabSz="914400" rtl="0" eaLnBrk="1" latinLnBrk="1" hangingPunct="1">
      <a:defRPr sz="1200" kern="1200">
        <a:solidFill>
          <a:schemeClr val="tx1"/>
        </a:solidFill>
        <a:latin typeface="+mj-lt"/>
        <a:ea typeface="+mj-ea"/>
        <a:cs typeface="+mj-cs"/>
      </a:defRPr>
    </a:lvl4pPr>
    <a:lvl5pPr marL="1828800" algn="l" defTabSz="914400" rtl="0" eaLnBrk="1" latinLnBrk="1" hangingPunct="1">
      <a:defRPr sz="1200" kern="1200">
        <a:solidFill>
          <a:schemeClr val="tx1"/>
        </a:solidFill>
        <a:latin typeface="+mj-lt"/>
        <a:ea typeface="+mj-ea"/>
        <a:cs typeface="+mj-cs"/>
      </a:defRPr>
    </a:lvl5pPr>
    <a:lvl6pPr marL="2286000" algn="l" defTabSz="914400" rtl="0" eaLnBrk="1" latinLnBrk="1" hangingPunct="1">
      <a:defRPr sz="1200" kern="1200">
        <a:solidFill>
          <a:schemeClr val="tx1"/>
        </a:solidFill>
        <a:latin typeface="+mj-lt"/>
        <a:ea typeface="+mj-ea"/>
        <a:cs typeface="+mj-cs"/>
      </a:defRPr>
    </a:lvl6pPr>
    <a:lvl7pPr marL="2743200" algn="l" defTabSz="914400" rtl="0" eaLnBrk="1" latinLnBrk="1" hangingPunct="1">
      <a:defRPr sz="1200" kern="1200">
        <a:solidFill>
          <a:schemeClr val="tx1"/>
        </a:solidFill>
        <a:latin typeface="+mj-lt"/>
        <a:ea typeface="+mj-ea"/>
        <a:cs typeface="+mj-cs"/>
      </a:defRPr>
    </a:lvl7pPr>
    <a:lvl8pPr marL="3200400" algn="l" defTabSz="914400" rtl="0" eaLnBrk="1" latinLnBrk="1" hangingPunct="1">
      <a:defRPr sz="1200" kern="1200">
        <a:solidFill>
          <a:schemeClr val="tx1"/>
        </a:solidFill>
        <a:latin typeface="+mj-lt"/>
        <a:ea typeface="+mj-ea"/>
        <a:cs typeface="+mj-cs"/>
      </a:defRPr>
    </a:lvl8pPr>
    <a:lvl9pPr marL="3657600" algn="l" defTabSz="914400" rtl="0" eaLnBrk="1" latinLnBrk="1" hangingPunct="1">
      <a:defRPr sz="1200" kern="1200">
        <a:solidFill>
          <a:schemeClr val="tx1"/>
        </a:solidFill>
        <a:latin typeface="+mj-lt"/>
        <a:ea typeface="+mj-ea"/>
        <a:cs typeface="+mj-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오늘 발표할 논문은 2023년 Science of The Total Environment에 게재된 ‘도시 토지 이용이 토양 미생물의 풍부도와 다양성에 미치는 영향’('Urban land uses shape soil microbial abundance and diversity')입니다.</a:t>
            </a:r>
            <a:endParaRPr xmlns:mc="http://schemas.openxmlformats.org/markup-compatibility/2006" xmlns:hp="http://schemas.haansoft.com/office/presentation/8.0" lang="en-US" b="0" i="0" u="none" strike="noStrike" baseline="0" mc:Ignorable="hp" hp:hslEmbossed="0">
              <a:latin typeface="맑은 고딕"/>
              <a:ea typeface="맑은 고딕"/>
              <a:cs typeface="맑은 고딕"/>
            </a:endParaRPr>
          </a:p>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도시 토양 미생물의 생물다양성은 도시에 다양한 유익한 서비스를 제공하지만, 도시 토양 미생물 군집의 생태는 아직 제대로 연구되지 않았고, 도시 토지 이용이 미치는 영향을 더 잘 예측하기 위해서는 연구가 필요합니다. 본 논문은 프랑스 디종(Dijon) 시를 대상으로, 도시 공원, 도로변, 도시 농업지 등 다양한 토지 이용 방식이 토양 미생물의 양(Abundance)과 다양성(Diversity)에 어떤 차이를 만드는지 메타게놈 및 미생물 생태학적 기법으로 분석한 연구입니다."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a:t>
            </a:fld>
            <a:endParaRPr lang="ko-KR" altLang="en-US"/>
          </a:p>
        </p:txBody>
      </p:sp>
    </p:spTree>
    <p:extLst>
      <p:ext uri="{BB962C8B-B14F-4D97-AF65-F5344CB8AC3E}">
        <p14:creationId xmlns:p14="http://schemas.microsoft.com/office/powerpoint/2010/main" val="3739143747"/>
      </p:ext>
    </p:extLst>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defRPr/>
            </a:pPr>
            <a:r>
              <a:rPr lang="ko-KR" altLang="en-US"/>
              <a:t>핵심 </a:t>
            </a:r>
            <a:r>
              <a:rPr lang="en-US" altLang="ko-KR"/>
              <a:t>summary</a:t>
            </a:r>
            <a:endParaRPr lang="en-US" altLang="ko-KR"/>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2</a:t>
            </a:fld>
            <a:endParaRPr lang="ko-KR" altLang="en-US"/>
          </a:p>
        </p:txBody>
      </p:sp>
    </p:spTree>
    <p:extLst>
      <p:ext uri="{BB962C8B-B14F-4D97-AF65-F5344CB8AC3E}">
        <p14:creationId xmlns:p14="http://schemas.microsoft.com/office/powerpoint/2010/main" val="2065081730"/>
      </p:ext>
    </p:extLst>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도시 토양은 인공적 피복, 경작, 교란, 자동차 배기가스 등 다각적인 환경 스트레스에 노출되어 있습니다. 지금까지의 도시 토양 연구는 주로 특정 오염물질에 의한 독성 평가나 정량적 분석에 집중되어 있었습니다.</a:t>
            </a:r>
            <a:endParaRPr xmlns:mc="http://schemas.openxmlformats.org/markup-compatibility/2006" xmlns:hp="http://schemas.haansoft.com/office/presentation/8.0" lang="en-US" b="0" i="0" u="none" strike="noStrike" baseline="0" mc:Ignorable="hp" hp:hslEmbossed="0">
              <a:latin typeface="맑은 고딕"/>
              <a:ea typeface="맑은 고딕"/>
              <a:cs typeface="맑은 고딕"/>
            </a:endParaRPr>
          </a:p>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그러나 다양한 토지 이용 체계가 토양 미생물 바이오매스와 세균-진균 상호작용, 그리고 세부 생태적 전략(Ecological Strategy)에 종합적으로 어떠한 지형적 패턴을 만드는지에 대한 연구는 상대적으로 부족했습니다. 본 연구에서는 정밀하게 분류된 도시 토지 이용 카테고리를 바탕으로 이 Knowledge Gap을 규명하고자 했습니다.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3</a:t>
            </a:fld>
            <a:endParaRPr lang="ko-KR" altLang="en-US"/>
          </a:p>
        </p:txBody>
      </p:sp>
    </p:spTree>
    <p:extLst>
      <p:ext uri="{BB962C8B-B14F-4D97-AF65-F5344CB8AC3E}">
        <p14:creationId xmlns:p14="http://schemas.microsoft.com/office/powerpoint/2010/main" val="862228527"/>
      </p:ext>
    </p:extLst>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실험 설계와 분석 방법입니다.</a:t>
            </a:r>
            <a:endParaRPr xmlns:mc="http://schemas.openxmlformats.org/markup-compatibility/2006" xmlns:hp="http://schemas.haansoft.com/office/presentation/8.0" lang="en-US" b="0" i="0" u="none" strike="noStrike" baseline="0" mc:Ignorable="hp" hp:hslEmbossed="0">
              <a:latin typeface="맑은 고딕"/>
              <a:ea typeface="맑은 고딕"/>
              <a:cs typeface="맑은 고딕"/>
            </a:endParaRPr>
          </a:p>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샘플링은 프랑스 디종 도시 내 3대 핵심 토지 이용 유형인 공원 및 녹지(Urban Parks), 도로변 교통 구역(Roadside/Traffic), 도시 농업지(Urban Agriculture)를 대상으로 세부 표적지점 40여 곳의 토양 샘플을 수집했습니다.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4</a:t>
            </a:fld>
            <a:endParaRPr lang="ko-KR" altLang="en-US"/>
          </a:p>
        </p:txBody>
      </p:sp>
    </p:spTree>
    <p:extLst>
      <p:ext uri="{BB962C8B-B14F-4D97-AF65-F5344CB8AC3E}">
        <p14:creationId xmlns:p14="http://schemas.microsoft.com/office/powerpoint/2010/main" val="4197159727"/>
      </p:ext>
    </p:extLst>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t>샘플링된 토양은 pH, 유기탄소(OC), 중금속(Pb, Cu, Zn) 및 PAH 분석을 거쳤으며, 분자생물학적 분석 기법으로는 qPCR을 이용한 16S 및 ITS rRNA 앰플리콘 정량과 Illumina 시퀀싱 기반의 미생물 다양성 분석을 실시했습니다. 환경 변수와 미생물 군집 구조 간의 상관관계는 RDA(Redundancy Analysis) 및 Variance Partitioning 분석으로 파악했습니다.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5</a:t>
            </a:fld>
            <a:endParaRPr lang="ko-KR" altLang="en-US"/>
          </a:p>
        </p:txBody>
      </p:sp>
    </p:spTree>
    <p:extLst>
      <p:ext uri="{BB962C8B-B14F-4D97-AF65-F5344CB8AC3E}">
        <p14:creationId xmlns:p14="http://schemas.microsoft.com/office/powerpoint/2010/main" val="1894824686"/>
      </p:ext>
    </p:extLst>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핵심 연구 결과입니다.</a:t>
            </a:r>
            <a:endParaRPr xmlns:mc="http://schemas.openxmlformats.org/markup-compatibility/2006" xmlns:hp="http://schemas.haansoft.com/office/presentation/8.0" lang="en-US" b="0" i="0" u="none" strike="noStrike" baseline="0" mc:Ignorable="hp" hp:hslEmbossed="0">
              <a:latin typeface="맑은 고딕"/>
              <a:ea typeface="맑은 고딕"/>
              <a:cs typeface="맑은 고딕"/>
            </a:endParaRPr>
          </a:p>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먼저 미생물 바이오매스측면에서, 도시 공원 및 수목 구역 토양이 가장 높은 qPCR 카피 수를 기록했습니다. 이는 풍부한 유기탄소(OC)와 지속적인 식생 피복 덕분입니다. 반면 도로변과 경작지는 높은 다짐도와 잦은 지표면 교란으로 미생물 총량이 상대적으로 낮았습니다.</a:t>
            </a:r>
            <a:endParaRPr xmlns:mc="http://schemas.openxmlformats.org/markup-compatibility/2006" xmlns:hp="http://schemas.haansoft.com/office/presentation/8.0" lang="en-US" b="0" i="0" u="none" strike="noStrike" baseline="0" mc:Ignorable="hp" hp:hslEmbossed="0">
              <a:latin typeface="맑은 고딕"/>
              <a:ea typeface="맑은 고딕"/>
              <a:cs typeface="맑은 고딕"/>
            </a:endParaRPr>
          </a:p>
          <a:p>
            <a:pPr lvl="0" algn="just">
              <a:lnSpc>
                <a:spcPct val="107000"/>
              </a:lnSpc>
              <a:spcAft>
                <a:spcPts val="800"/>
              </a:spcAft>
              <a:defRPr/>
            </a:pPr>
            <a:endParaRPr xmlns:mc="http://schemas.openxmlformats.org/markup-compatibility/2006" xmlns:hp="http://schemas.haansoft.com/office/presentation/8.0" lang="en-US" altLang="ko-KR" b="0" i="0" u="none" strike="noStrike" baseline="0" mc:Ignorable="hp" hp:hslEmbossed="0">
              <a:latin typeface="맑은 고딕"/>
              <a:ea typeface="맑은 고딕"/>
              <a:cs typeface="맑은 고딕"/>
            </a:endParaRPr>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6</a:t>
            </a:fld>
            <a:endParaRPr lang="ko-KR" altLang="en-US"/>
          </a:p>
        </p:txBody>
      </p:sp>
    </p:spTree>
    <p:extLst>
      <p:ext uri="{BB962C8B-B14F-4D97-AF65-F5344CB8AC3E}">
        <p14:creationId xmlns:p14="http://schemas.microsoft.com/office/powerpoint/2010/main" val="744453293"/>
      </p:ext>
    </p:extLst>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lang="ko-KR" altLang="en-US"/>
              <a:t>여기서 </a:t>
            </a: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흥미로운 점은 세균과 진균 </a:t>
            </a:r>
            <a:r>
              <a:rPr xmlns:mc="http://schemas.openxmlformats.org/markup-compatibility/2006" xmlns:hp="http://schemas.haansoft.com/office/presentation/8.0" lang="ko-KR" altLang="en-US" b="0" i="0" u="none" strike="noStrike" baseline="0" mc:Ignorable="hp" hp:hslEmbossed="0">
                <a:latin typeface="맑은 고딕"/>
                <a:ea typeface="맑은 고딕"/>
                <a:cs typeface="맑은 고딕"/>
              </a:rPr>
              <a:t>풍부도에 대한</a:t>
            </a: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 대조적</a:t>
            </a:r>
            <a:r>
              <a:rPr xmlns:mc="http://schemas.openxmlformats.org/markup-compatibility/2006" xmlns:hp="http://schemas.haansoft.com/office/presentation/8.0" lang="ko-KR" altLang="en-US" b="0" i="0" u="none" strike="noStrike" baseline="0" mc:Ignorable="hp" hp:hslEmbossed="0">
                <a:latin typeface="맑은 고딕"/>
                <a:ea typeface="맑은 고딕"/>
                <a:cs typeface="맑은 고딕"/>
              </a:rPr>
              <a:t>인 결과입니다</a:t>
            </a:r>
            <a:r>
              <a:rPr xmlns:mc="http://schemas.openxmlformats.org/markup-compatibility/2006" xmlns:hp="http://schemas.haansoft.com/office/presentation/8.0" lang="en-US" altLang="ko-KR" b="0" i="0" u="none" strike="noStrike" baseline="0" mc:Ignorable="hp" hp:hslEmbossed="0">
                <a:latin typeface="맑은 고딕"/>
                <a:ea typeface="맑은 고딕"/>
                <a:cs typeface="맑은 고딕"/>
              </a:rPr>
              <a:t>.</a:t>
            </a: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 세균 Alpha 다양성은 토양 반응이 안정적이고 교란이 적은 공원에서 높았습니다. 반면 진균의 경우, 수목 구역보다 수목이 없는 도시 농업지나 개활지에서 Alpha 다양성이 크게 상승했습니다. 이는 농경지의 외부 작물 투입, 유기질 비료, 수목 외 다양한 기주식물(Host plant)의 존재가 영양원 다변화를 이끌어 진균 다양성을 증대시켰기 때문입니다</a:t>
            </a:r>
            <a:r>
              <a:rPr xmlns:mc="http://schemas.openxmlformats.org/markup-compatibility/2006" xmlns:hp="http://schemas.haansoft.com/office/presentation/8.0" lang="en-US" altLang="ko-KR" b="0" i="0" u="none" strike="noStrike" baseline="0" mc:Ignorable="hp" hp:hslEmbossed="0">
                <a:latin typeface="맑은 고딕"/>
                <a:ea typeface="맑은 고딕"/>
                <a:cs typeface="맑은 고딕"/>
              </a:rPr>
              <a:t>.</a:t>
            </a:r>
            <a:endParaRPr xmlns:mc="http://schemas.openxmlformats.org/markup-compatibility/2006" xmlns:hp="http://schemas.haansoft.com/office/presentation/8.0" lang="en-US" altLang="ko-KR" b="0" i="0" u="none" strike="noStrike" baseline="0" mc:Ignorable="hp" hp:hslEmbossed="0">
              <a:latin typeface="맑은 고딕"/>
              <a:ea typeface="맑은 고딕"/>
              <a:cs typeface="맑은 고딕"/>
            </a:endParaRPr>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7</a:t>
            </a:fld>
            <a:endParaRPr lang="ko-KR" altLang="en-US"/>
          </a:p>
        </p:txBody>
      </p:sp>
    </p:spTree>
    <p:extLst>
      <p:ext uri="{BB962C8B-B14F-4D97-AF65-F5344CB8AC3E}">
        <p14:creationId xmlns:p14="http://schemas.microsoft.com/office/powerpoint/2010/main" val="3916528591"/>
      </p:ext>
    </p:extLst>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미생물 군집의 구조적 차이를 규명한 RDA 모델 분석 결과, 전체 미생물 군집 변량의 무려 75.6%가 토양 이화학적 특성(pH, C/N ratio, Organic Carbon)과 토지 이용 내력에 의한 것이었습니다.</a:t>
            </a:r>
            <a:endParaRPr xmlns:mc="http://schemas.openxmlformats.org/markup-compatibility/2006" xmlns:hp="http://schemas.haansoft.com/office/presentation/8.0" lang="en-US" b="0" i="0" u="none" strike="noStrike" baseline="0" mc:Ignorable="hp" hp:hslEmbossed="0">
              <a:latin typeface="맑은 고딕"/>
              <a:ea typeface="맑은 고딕"/>
              <a:cs typeface="맑은 고딕"/>
            </a:endParaRPr>
          </a:p>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연구진이 주목한 점은 도로변의 중금속 및 PAH 오염 영향이 예상보다 미미했다는 사실입니다. 오염 요인 단독 설명력은 5% 미만에 불과했습니다. 이는 대상 도시(디종)의 중금속 및 유기 오염 수치가 급성 독성을 일으킬 수준에 미치지 못했으며, 도로변에 정착한 세균들이 이미 인공적 환경 스트레스에 유전적 적응(Adaptation) 및 내성을 확보했음을 시사합니다.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8</a:t>
            </a:fld>
            <a:endParaRPr lang="ko-KR" altLang="en-US"/>
          </a:p>
        </p:txBody>
      </p:sp>
    </p:spTree>
    <p:extLst>
      <p:ext uri="{BB962C8B-B14F-4D97-AF65-F5344CB8AC3E}">
        <p14:creationId xmlns:p14="http://schemas.microsoft.com/office/powerpoint/2010/main" val="4121568424"/>
      </p:ext>
    </p:extLst>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이 논문이 제시하는 생태학적 시사점과 연구의 비평(Critical Evaluation)입니다.</a:t>
            </a:r>
            <a:endParaRPr xmlns:mc="http://schemas.openxmlformats.org/markup-compatibility/2006" xmlns:hp="http://schemas.haansoft.com/office/presentation/8.0" lang="en-US" b="0" i="0" u="none" strike="noStrike" baseline="0" mc:Ignorable="hp" hp:hslEmbossed="0">
              <a:latin typeface="맑은 고딕"/>
              <a:ea typeface="맑은 고딕"/>
              <a:cs typeface="맑은 고딕"/>
            </a:endParaRPr>
          </a:p>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토지 이용 방식에 따라 미생물 군집은 서로 다른 생태적 전략을 채택합니다. 교란이 적고 수목이 풍부한 공원 토양은 균근균(Mycorrhizal fungi) 및 Specialist 위주의 안정적 네트워크를 형성하는 반면, 경작지와 도로변은 환경 변화에 빠르게 적응하는 기회주의적 Generalist 중심의 군집이 발달합니다.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9</a:t>
            </a:fld>
            <a:endParaRPr lang="ko-KR" altLang="en-US"/>
          </a:p>
        </p:txBody>
      </p:sp>
    </p:spTree>
    <p:extLst>
      <p:ext uri="{BB962C8B-B14F-4D97-AF65-F5344CB8AC3E}">
        <p14:creationId xmlns:p14="http://schemas.microsoft.com/office/powerpoint/2010/main" val="892760550"/>
      </p:ext>
    </p:extLst>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이 논문의 장점으로는 실생활과 밀접한 도시 토지 이용 카테고리를 정밀화하여 미생물 지도를 구축했다는 점을 들 수 있습니다. 반면 제한점으로는 대상 도시의 오염도가 비교적 낮아 극단적 공해지역 환경 모니터링 바이오마커 발굴에는 한계가 있었다는 점, 그리고 16S/ITS 앰플리콘 분석 특성상 질소 순환이나 중금속 내성 유전자 등 실제 기능성 유전자(Functional Gene)의 발현 패턴까지 정량화하지는 못했다는 아쉬움이 있습니다.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10</a:t>
            </a:fld>
            <a:endParaRPr lang="ko-KR" altLang="en-US"/>
          </a:p>
        </p:txBody>
      </p:sp>
    </p:spTree>
    <p:extLst>
      <p:ext uri="{BB962C8B-B14F-4D97-AF65-F5344CB8AC3E}">
        <p14:creationId xmlns:p14="http://schemas.microsoft.com/office/powerpoint/2010/main" val="2162367779"/>
      </p:ext>
    </p:extLst>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본 연구는 도시 토양 생태계 관리 시 단순히 '녹지 면적'을 넓히는 것을 넘어, 수목-지표식생의 구조 및 토지 이용 내력을 고려한 '토양 건강도 통합 관리'가 필수적임을 입증했습니다. 종합적으로 이러한 결과는 적절한 관리 방식을 통해 도시 토양의 미생물 생물량과 다양성을 개선하고, 도시 규모에서 미생물의 변이를 촉진하여 지속 가능한 도시 개발에 필요한 다양한 생태 서비스를 증진할 수 있음을 보여줍니다. 다만 도시 미생물 바이오마커 수립 시 세균과 진균의 상이한 응답 패턴을 반드시 고려해야 합니다.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11</a:t>
            </a:fld>
            <a:endParaRPr lang="ko-KR" altLang="en-US"/>
          </a:p>
        </p:txBody>
      </p:sp>
    </p:spTree>
    <p:extLst>
      <p:ext uri="{BB962C8B-B14F-4D97-AF65-F5344CB8AC3E}">
        <p14:creationId xmlns:p14="http://schemas.microsoft.com/office/powerpoint/2010/main" val="985563421"/>
      </p:ext>
    </p:extLst>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슬라이드 이미지 개체 틀 3"/>
          <p:cNvSpPr>
            <a:spLocks noGrp="1" noRot="1" noChangeAspect="1" noTextEdit="1"/>
          </p:cNvSpPr>
          <p:nvPr>
            <p:ph type="sldImg" idx="2"/>
          </p:nvPr>
        </p:nvSpPr>
        <p:spPr/>
        <p:txBody>
          <a:bodyPr/>
          <a:p>
            <a:endParaRPr lang="ko-KR" altLang="en-US"/>
          </a:p>
        </p:txBody>
      </p:sp>
      <p:sp>
        <p:nvSpPr>
          <p:cNvPr id="3" name="슬라이드 노트 개체 틀 4"/>
          <p:cNvSpPr>
            <a:spLocks noGrp="1"/>
          </p:cNvSpPr>
          <p:nvPr>
            <p:ph type="body" sz="quarter" idx="3"/>
          </p:nvPr>
        </p:nvSpPr>
        <p:spPr/>
        <p:txBody>
          <a:bodyPr/>
          <a:p>
            <a:pPr lvl="0" algn="just">
              <a:lnSpc>
                <a:spcPct val="107000"/>
              </a:lnSpc>
              <a:spcAft>
                <a:spcPts val="800"/>
              </a:spcAft>
              <a:defRPr/>
            </a:pPr>
            <a:r>
              <a:rPr xmlns:mc="http://schemas.openxmlformats.org/markup-compatibility/2006" xmlns:hp="http://schemas.haansoft.com/office/presentation/8.0" lang="en-US" b="0" i="0" u="none" strike="noStrike" baseline="0" mc:Ignorable="hp" hp:hslEmbossed="0">
                <a:latin typeface="맑은 고딕"/>
                <a:ea typeface="맑은 고딕"/>
                <a:cs typeface="맑은 고딕"/>
              </a:rPr>
              <a:t>이상으로 발표를 마치겠습니다.</a:t>
            </a:r>
            <a:endParaRPr lang="ko-KR" altLang="en-US"/>
          </a:p>
        </p:txBody>
      </p:sp>
      <p:sp>
        <p:nvSpPr>
          <p:cNvPr id="4" name="슬라이드 번호 개체 틀 6"/>
          <p:cNvSpPr>
            <a:spLocks noGrp="1"/>
          </p:cNvSpPr>
          <p:nvPr>
            <p:ph type="sldNum" sz="quarter" idx="5"/>
          </p:nvPr>
        </p:nvSpPr>
        <p:spPr/>
        <p:txBody>
          <a:bodyPr/>
          <a:p>
            <a:pPr lvl="0"/>
            <a:fld id="{09F4262C-968C-4EE9-8164-CE16364706B3}" type="slidenum">
              <a:rPr lang="ko-KR" altLang="en-US" smtClean="0"/>
              <a:pPr/>
              <a:t>12</a:t>
            </a:fld>
            <a:endParaRPr lang="ko-KR" altLang="en-US"/>
          </a:p>
        </p:txBody>
      </p:sp>
    </p:spTree>
    <p:extLst>
      <p:ext uri="{BB962C8B-B14F-4D97-AF65-F5344CB8AC3E}">
        <p14:creationId xmlns:p14="http://schemas.microsoft.com/office/powerpoint/2010/main" val="2991482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7.xml"  /><Relationship Id="rId3" Type="http://schemas.openxmlformats.org/officeDocument/2006/relationships/image" Target="../media/image1.png"  /><Relationship Id="rId4" Type="http://schemas.openxmlformats.org/officeDocument/2006/relationships/image" Target="../media/image2.png"  /><Relationship Id="rId5" Type="http://schemas.openxmlformats.org/officeDocument/2006/relationships/image" Target="../media/image3.png"  /><Relationship Id="rId6" Type="http://schemas.openxmlformats.org/officeDocument/2006/relationships/image" Target="../media/image4.png"  /><Relationship Id="rId7" Type="http://schemas.openxmlformats.org/officeDocument/2006/relationships/image" Target="../media/image5.png"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10" Type="http://schemas.openxmlformats.org/officeDocument/2006/relationships/image" Target="../media/image13.png"  /><Relationship Id="rId11" Type="http://schemas.openxmlformats.org/officeDocument/2006/relationships/image" Target="../media/image14.png"  /><Relationship Id="rId12" Type="http://schemas.openxmlformats.org/officeDocument/2006/relationships/image" Target="../media/image15.png"  /><Relationship Id="rId13" Type="http://schemas.openxmlformats.org/officeDocument/2006/relationships/image" Target="../media/image16.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7.png"  /><Relationship Id="rId5" Type="http://schemas.openxmlformats.org/officeDocument/2006/relationships/image" Target="../media/image8.png"  /><Relationship Id="rId6" Type="http://schemas.openxmlformats.org/officeDocument/2006/relationships/image" Target="../media/image9.png"  /><Relationship Id="rId7" Type="http://schemas.openxmlformats.org/officeDocument/2006/relationships/image" Target="../media/image10.png"  /><Relationship Id="rId8" Type="http://schemas.openxmlformats.org/officeDocument/2006/relationships/image" Target="../media/image11.png"  /><Relationship Id="rId9" Type="http://schemas.openxmlformats.org/officeDocument/2006/relationships/image" Target="../media/image12.png"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10" Type="http://schemas.openxmlformats.org/officeDocument/2006/relationships/image" Target="../media/image20.png"  /><Relationship Id="rId11" Type="http://schemas.openxmlformats.org/officeDocument/2006/relationships/image" Target="../media/image20.png"  /><Relationship Id="rId12" Type="http://schemas.openxmlformats.org/officeDocument/2006/relationships/image" Target="../media/image16.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17.png"  /><Relationship Id="rId5" Type="http://schemas.openxmlformats.org/officeDocument/2006/relationships/image" Target="../media/image13.png"  /><Relationship Id="rId6" Type="http://schemas.openxmlformats.org/officeDocument/2006/relationships/image" Target="../media/image14.png"  /><Relationship Id="rId7" Type="http://schemas.openxmlformats.org/officeDocument/2006/relationships/image" Target="../media/image18.png"  /><Relationship Id="rId8" Type="http://schemas.openxmlformats.org/officeDocument/2006/relationships/image" Target="../media/image19.png"  /><Relationship Id="rId9" Type="http://schemas.openxmlformats.org/officeDocument/2006/relationships/image" Target="../media/image20.png"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10" Type="http://schemas.openxmlformats.org/officeDocument/2006/relationships/image" Target="../media/image25.png"  /><Relationship Id="rId11" Type="http://schemas.openxmlformats.org/officeDocument/2006/relationships/image" Target="../media/image26.png"  /><Relationship Id="rId12" Type="http://schemas.openxmlformats.org/officeDocument/2006/relationships/image" Target="../media/image27.png"  /><Relationship Id="rId13" Type="http://schemas.openxmlformats.org/officeDocument/2006/relationships/image" Target="../media/image16.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21.png"  /><Relationship Id="rId5" Type="http://schemas.openxmlformats.org/officeDocument/2006/relationships/image" Target="../media/image22.png"  /><Relationship Id="rId6" Type="http://schemas.openxmlformats.org/officeDocument/2006/relationships/image" Target="../media/image23.png"  /><Relationship Id="rId7" Type="http://schemas.openxmlformats.org/officeDocument/2006/relationships/image" Target="../media/image13.png"  /><Relationship Id="rId8" Type="http://schemas.openxmlformats.org/officeDocument/2006/relationships/image" Target="../media/image14.png"  /><Relationship Id="rId9" Type="http://schemas.openxmlformats.org/officeDocument/2006/relationships/image" Target="../media/image24.png"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10" Type="http://schemas.openxmlformats.org/officeDocument/2006/relationships/image" Target="../media/image32.png"  /><Relationship Id="rId11" Type="http://schemas.openxmlformats.org/officeDocument/2006/relationships/image" Target="../media/image16.png"  /><Relationship Id="rId12" Type="http://schemas.openxmlformats.org/officeDocument/2006/relationships/image" Target="../media/image33.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13.png"  /><Relationship Id="rId5" Type="http://schemas.openxmlformats.org/officeDocument/2006/relationships/image" Target="../media/image14.png"  /><Relationship Id="rId6" Type="http://schemas.openxmlformats.org/officeDocument/2006/relationships/image" Target="../media/image28.png"  /><Relationship Id="rId7" Type="http://schemas.openxmlformats.org/officeDocument/2006/relationships/image" Target="../media/image29.png"  /><Relationship Id="rId8" Type="http://schemas.openxmlformats.org/officeDocument/2006/relationships/image" Target="../media/image30.png"  /><Relationship Id="rId9" Type="http://schemas.openxmlformats.org/officeDocument/2006/relationships/image" Target="../media/image31.png"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10" Type="http://schemas.openxmlformats.org/officeDocument/2006/relationships/image" Target="../media/image14.png"  /><Relationship Id="rId11" Type="http://schemas.openxmlformats.org/officeDocument/2006/relationships/image" Target="../media/image39.png"  /><Relationship Id="rId12" Type="http://schemas.openxmlformats.org/officeDocument/2006/relationships/image" Target="../media/image16.png"  /><Relationship Id="rId13" Type="http://schemas.openxmlformats.org/officeDocument/2006/relationships/image" Target="../media/image40.png"  /><Relationship Id="rId14" Type="http://schemas.openxmlformats.org/officeDocument/2006/relationships/image" Target="../media/image41.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34.png"  /><Relationship Id="rId5" Type="http://schemas.openxmlformats.org/officeDocument/2006/relationships/image" Target="../media/image35.png"  /><Relationship Id="rId6" Type="http://schemas.openxmlformats.org/officeDocument/2006/relationships/image" Target="../media/image36.png"  /><Relationship Id="rId7" Type="http://schemas.openxmlformats.org/officeDocument/2006/relationships/image" Target="../media/image37.png"  /><Relationship Id="rId8" Type="http://schemas.openxmlformats.org/officeDocument/2006/relationships/image" Target="../media/image38.png"  /><Relationship Id="rId9" Type="http://schemas.openxmlformats.org/officeDocument/2006/relationships/image" Target="../media/image13.png"  /></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7.xml"  /><Relationship Id="rId10" Type="http://schemas.openxmlformats.org/officeDocument/2006/relationships/image" Target="../media/image47.png"  /><Relationship Id="rId11" Type="http://schemas.openxmlformats.org/officeDocument/2006/relationships/image" Target="../media/image48.png"  /><Relationship Id="rId12" Type="http://schemas.openxmlformats.org/officeDocument/2006/relationships/image" Target="../media/image49.png"  /><Relationship Id="rId13" Type="http://schemas.openxmlformats.org/officeDocument/2006/relationships/image" Target="../media/image16.png"  /><Relationship Id="rId14" Type="http://schemas.openxmlformats.org/officeDocument/2006/relationships/image" Target="../media/image50.png"  /><Relationship Id="rId2" Type="http://schemas.openxmlformats.org/officeDocument/2006/relationships/slideLayout" Target="../slideLayouts/slideLayout7.xml"  /><Relationship Id="rId3" Type="http://schemas.openxmlformats.org/officeDocument/2006/relationships/image" Target="../media/image42.png"  /><Relationship Id="rId4" Type="http://schemas.openxmlformats.org/officeDocument/2006/relationships/image" Target="../media/image43.png"  /><Relationship Id="rId5" Type="http://schemas.openxmlformats.org/officeDocument/2006/relationships/image" Target="../media/image44.png"  /><Relationship Id="rId6" Type="http://schemas.openxmlformats.org/officeDocument/2006/relationships/image" Target="../media/image45.png"  /><Relationship Id="rId7" Type="http://schemas.openxmlformats.org/officeDocument/2006/relationships/image" Target="../media/image46.png"  /><Relationship Id="rId8" Type="http://schemas.openxmlformats.org/officeDocument/2006/relationships/image" Target="../media/image13.png"  /><Relationship Id="rId9" Type="http://schemas.openxmlformats.org/officeDocument/2006/relationships/image" Target="../media/image14.png"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8.xml"  /><Relationship Id="rId10" Type="http://schemas.openxmlformats.org/officeDocument/2006/relationships/image" Target="../media/image16.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51.png"  /><Relationship Id="rId5" Type="http://schemas.openxmlformats.org/officeDocument/2006/relationships/image" Target="../media/image52.png"  /><Relationship Id="rId6" Type="http://schemas.openxmlformats.org/officeDocument/2006/relationships/image" Target="../media/image13.png"  /><Relationship Id="rId7" Type="http://schemas.openxmlformats.org/officeDocument/2006/relationships/image" Target="../media/image14.png"  /><Relationship Id="rId8" Type="http://schemas.openxmlformats.org/officeDocument/2006/relationships/image" Target="../media/image53.png"  /><Relationship Id="rId9" Type="http://schemas.openxmlformats.org/officeDocument/2006/relationships/image" Target="../media/image54.png"  /></Relationships>
</file>

<file path=ppt/slides/_rels/slide9.xml.rels><?xml version="1.0" encoding="UTF-8" standalone="yes" ?><Relationships xmlns="http://schemas.openxmlformats.org/package/2006/relationships"><Relationship Id="rId1" Type="http://schemas.openxmlformats.org/officeDocument/2006/relationships/notesSlide" Target="../notesSlides/notesSlide9.xml"  /><Relationship Id="rId10" Type="http://schemas.openxmlformats.org/officeDocument/2006/relationships/image" Target="../media/image59.png"  /><Relationship Id="rId11" Type="http://schemas.openxmlformats.org/officeDocument/2006/relationships/image" Target="../media/image60.png"  /><Relationship Id="rId12" Type="http://schemas.openxmlformats.org/officeDocument/2006/relationships/image" Target="../media/image61.png"  /><Relationship Id="rId13" Type="http://schemas.openxmlformats.org/officeDocument/2006/relationships/image" Target="../media/image62.png"  /><Relationship Id="rId14" Type="http://schemas.openxmlformats.org/officeDocument/2006/relationships/image" Target="../media/image62.png"  /><Relationship Id="rId15" Type="http://schemas.openxmlformats.org/officeDocument/2006/relationships/image" Target="../media/image63.png"  /><Relationship Id="rId16" Type="http://schemas.openxmlformats.org/officeDocument/2006/relationships/image" Target="../media/image63.png"  /><Relationship Id="rId17" Type="http://schemas.openxmlformats.org/officeDocument/2006/relationships/image" Target="../media/image16.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55.png"  /><Relationship Id="rId5" Type="http://schemas.openxmlformats.org/officeDocument/2006/relationships/image" Target="../media/image56.png"  /><Relationship Id="rId6" Type="http://schemas.openxmlformats.org/officeDocument/2006/relationships/image" Target="../media/image57.png"  /><Relationship Id="rId7" Type="http://schemas.openxmlformats.org/officeDocument/2006/relationships/image" Target="../media/image58.png"  /><Relationship Id="rId8" Type="http://schemas.openxmlformats.org/officeDocument/2006/relationships/image" Target="../media/image13.png"  /><Relationship Id="rId9" Type="http://schemas.openxmlformats.org/officeDocument/2006/relationships/image" Target="../media/image14.png"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10.xml"  /><Relationship Id="rId10" Type="http://schemas.openxmlformats.org/officeDocument/2006/relationships/image" Target="../media/image68.png"  /><Relationship Id="rId11" Type="http://schemas.openxmlformats.org/officeDocument/2006/relationships/image" Target="../media/image63.png"  /><Relationship Id="rId12" Type="http://schemas.openxmlformats.org/officeDocument/2006/relationships/image" Target="../media/image63.png"  /><Relationship Id="rId13" Type="http://schemas.openxmlformats.org/officeDocument/2006/relationships/image" Target="../media/image69.png"  /><Relationship Id="rId14" Type="http://schemas.openxmlformats.org/officeDocument/2006/relationships/image" Target="../media/image69.png"  /><Relationship Id="rId15" Type="http://schemas.openxmlformats.org/officeDocument/2006/relationships/image" Target="../media/image16.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64.png"  /><Relationship Id="rId5" Type="http://schemas.openxmlformats.org/officeDocument/2006/relationships/image" Target="../media/image65.png"  /><Relationship Id="rId6" Type="http://schemas.openxmlformats.org/officeDocument/2006/relationships/image" Target="../media/image13.png"  /><Relationship Id="rId7" Type="http://schemas.openxmlformats.org/officeDocument/2006/relationships/image" Target="../media/image14.png"  /><Relationship Id="rId8" Type="http://schemas.openxmlformats.org/officeDocument/2006/relationships/image" Target="../media/image66.png"  /><Relationship Id="rId9" Type="http://schemas.openxmlformats.org/officeDocument/2006/relationships/image" Target="../media/image67.png"  /></Relationships>
</file>

<file path=ppt/slides/_rels/slide11.xml.rels><?xml version="1.0" encoding="UTF-8" standalone="yes" ?><Relationships xmlns="http://schemas.openxmlformats.org/package/2006/relationships"><Relationship Id="rId1" Type="http://schemas.openxmlformats.org/officeDocument/2006/relationships/notesSlide" Target="../notesSlides/notesSlide11.xml"  /><Relationship Id="rId10" Type="http://schemas.openxmlformats.org/officeDocument/2006/relationships/image" Target="../media/image72.png"  /><Relationship Id="rId2" Type="http://schemas.openxmlformats.org/officeDocument/2006/relationships/slideLayout" Target="../slideLayouts/slideLayout7.xml"  /><Relationship Id="rId3" Type="http://schemas.openxmlformats.org/officeDocument/2006/relationships/image" Target="../media/image6.png"  /><Relationship Id="rId4" Type="http://schemas.openxmlformats.org/officeDocument/2006/relationships/image" Target="../media/image13.png"  /><Relationship Id="rId5" Type="http://schemas.openxmlformats.org/officeDocument/2006/relationships/image" Target="../media/image14.png"  /><Relationship Id="rId6" Type="http://schemas.openxmlformats.org/officeDocument/2006/relationships/image" Target="../media/image70.png"  /><Relationship Id="rId7" Type="http://schemas.openxmlformats.org/officeDocument/2006/relationships/image" Target="../media/image71.png"  /><Relationship Id="rId8" Type="http://schemas.openxmlformats.org/officeDocument/2006/relationships/image" Target="../media/image71.png"  /><Relationship Id="rId9" Type="http://schemas.openxmlformats.org/officeDocument/2006/relationships/image" Target="../media/image16.png"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7.xml"  /><Relationship Id="rId3" Type="http://schemas.openxmlformats.org/officeDocument/2006/relationships/image" Target="../media/image73.png"  /><Relationship Id="rId4" Type="http://schemas.openxmlformats.org/officeDocument/2006/relationships/image" Target="../media/image74.png"  /><Relationship Id="rId5" Type="http://schemas.openxmlformats.org/officeDocument/2006/relationships/image" Target="../media/image75.png"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rotWithShape="1">
          <a:blip r:embed="rId4"/>
          <a:stretch>
            <a:fillRect/>
          </a:stretch>
        </p:blipFill>
        <p:spPr>
          <a:xfrm>
            <a:off x="571500" y="1724025"/>
            <a:ext cx="2354758" cy="314325"/>
          </a:xfrm>
          <a:prstGeom prst="rect">
            <a:avLst/>
          </a:prstGeom>
        </p:spPr>
      </p:pic>
      <p:pic>
        <p:nvPicPr>
          <p:cNvPr id="4" name="Picture 3" descr="image.png"/>
          <p:cNvPicPr>
            <a:picLocks noChangeAspect="1"/>
          </p:cNvPicPr>
          <p:nvPr/>
        </p:nvPicPr>
        <p:blipFill rotWithShape="1">
          <a:blip r:embed="rId5"/>
          <a:stretch>
            <a:fillRect/>
          </a:stretch>
        </p:blipFill>
        <p:spPr>
          <a:xfrm>
            <a:off x="571500" y="4200525"/>
            <a:ext cx="9048750" cy="419100"/>
          </a:xfrm>
          <a:prstGeom prst="rect">
            <a:avLst/>
          </a:prstGeom>
        </p:spPr>
      </p:pic>
      <p:sp>
        <p:nvSpPr>
          <p:cNvPr id="5" name="TextBox 4"/>
          <p:cNvSpPr txBox="1"/>
          <p:nvPr/>
        </p:nvSpPr>
        <p:spPr>
          <a:xfrm>
            <a:off x="571500" y="2266950"/>
            <a:ext cx="9501187" cy="1095375"/>
          </a:xfrm>
          <a:prstGeom prst="rect">
            <a:avLst/>
          </a:prstGeom>
          <a:noFill/>
        </p:spPr>
        <p:txBody>
          <a:bodyPr wrap="square" lIns="0" tIns="0" rIns="0" bIns="0" anchor="t">
            <a:spAutoFit/>
          </a:bodyPr>
          <a:lstStyle/>
          <a:p>
            <a:pPr lvl="0" algn="l">
              <a:lnSpc>
                <a:spcPts val="4312"/>
              </a:lnSpc>
              <a:defRPr/>
            </a:pPr>
            <a:r>
              <a:rPr sz="3450" b="1" i="0" u="none">
                <a:solidFill>
                  <a:srgbClr val="ffffff"/>
                </a:solidFill>
                <a:latin typeface="Roboto Slab"/>
              </a:rPr>
              <a:t>Urban Land Uses Shape Soil Microbial Abundance and Diversity</a:t>
            </a:r>
            <a:endParaRPr sz="3450" b="1" i="0" u="none">
              <a:solidFill>
                <a:srgbClr val="ffffff"/>
              </a:solidFill>
              <a:latin typeface="Roboto Slab"/>
            </a:endParaRPr>
          </a:p>
        </p:txBody>
      </p:sp>
      <p:sp>
        <p:nvSpPr>
          <p:cNvPr id="6" name="TextBox 5"/>
          <p:cNvSpPr txBox="1"/>
          <p:nvPr/>
        </p:nvSpPr>
        <p:spPr>
          <a:xfrm>
            <a:off x="571500" y="3552825"/>
            <a:ext cx="9048750" cy="304800"/>
          </a:xfrm>
          <a:prstGeom prst="rect">
            <a:avLst/>
          </a:prstGeom>
          <a:noFill/>
        </p:spPr>
        <p:txBody>
          <a:bodyPr wrap="square" lIns="0" tIns="0" rIns="0" bIns="0" anchor="t">
            <a:spAutoFit/>
          </a:bodyPr>
          <a:lstStyle/>
          <a:p>
            <a:pPr lvl="0" algn="l">
              <a:lnSpc>
                <a:spcPts val="2400"/>
              </a:lnSpc>
              <a:defRPr/>
            </a:pPr>
            <a:r>
              <a:rPr sz="1500" b="0" i="0" u="none">
                <a:solidFill>
                  <a:srgbClr val="cbd5e1"/>
                </a:solidFill>
                <a:latin typeface="Pretendard Light"/>
              </a:rPr>
              <a:t>도시 토지 이용 방식(공원·도로변·도시농업)이 토양 세균 및 진균 군집 구조와 다형성에 미치는 영향</a:t>
            </a:r>
            <a:endParaRPr sz="1500" b="0" i="0" u="none">
              <a:solidFill>
                <a:srgbClr val="cbd5e1"/>
              </a:solidFill>
              <a:latin typeface="Pretendard Light"/>
            </a:endParaRPr>
          </a:p>
        </p:txBody>
      </p:sp>
      <p:sp>
        <p:nvSpPr>
          <p:cNvPr id="7" name="TextBox 6"/>
          <p:cNvSpPr txBox="1"/>
          <p:nvPr/>
        </p:nvSpPr>
        <p:spPr>
          <a:xfrm>
            <a:off x="571500" y="4438650"/>
            <a:ext cx="3023294" cy="180975"/>
          </a:xfrm>
          <a:prstGeom prst="rect">
            <a:avLst/>
          </a:prstGeom>
          <a:noFill/>
        </p:spPr>
        <p:txBody>
          <a:bodyPr wrap="square" lIns="0" tIns="0" rIns="0" bIns="0" anchor="t">
            <a:spAutoFit/>
          </a:bodyPr>
          <a:lstStyle/>
          <a:p>
            <a:pPr lvl="0" algn="l">
              <a:defRPr/>
            </a:pPr>
            <a:r>
              <a:rPr sz="1050" b="1" i="0" u="none">
                <a:solidFill>
                  <a:srgbClr val="e2e8f0"/>
                </a:solidFill>
                <a:latin typeface="Pretendard"/>
              </a:rPr>
              <a:t>Journal:</a:t>
            </a:r>
            <a:r>
              <a:rPr sz="1050" b="0" i="0" u="none">
                <a:solidFill>
                  <a:srgbClr val="94a3b8"/>
                </a:solidFill>
                <a:latin typeface="Pretendard"/>
              </a:rPr>
              <a:t> Science of the Total Environment (2023)</a:t>
            </a:r>
            <a:endParaRPr sz="1050" b="0" i="0" u="none">
              <a:solidFill>
                <a:srgbClr val="94a3b8"/>
              </a:solidFill>
              <a:latin typeface="Pretendard"/>
            </a:endParaRPr>
          </a:p>
        </p:txBody>
      </p:sp>
      <p:sp>
        <p:nvSpPr>
          <p:cNvPr id="8" name="TextBox 7"/>
          <p:cNvSpPr txBox="1"/>
          <p:nvPr/>
        </p:nvSpPr>
        <p:spPr>
          <a:xfrm>
            <a:off x="3975794" y="4438650"/>
            <a:ext cx="1043136" cy="180975"/>
          </a:xfrm>
          <a:prstGeom prst="rect">
            <a:avLst/>
          </a:prstGeom>
          <a:noFill/>
        </p:spPr>
        <p:txBody>
          <a:bodyPr wrap="square" lIns="0" tIns="0" rIns="0" bIns="0" anchor="t">
            <a:spAutoFit/>
          </a:bodyPr>
          <a:lstStyle/>
          <a:p>
            <a:pPr lvl="0" algn="l">
              <a:defRPr/>
            </a:pPr>
            <a:r>
              <a:rPr sz="1050" b="1" i="0" u="none">
                <a:solidFill>
                  <a:srgbClr val="e2e8f0"/>
                </a:solidFill>
                <a:latin typeface="Pretendard"/>
              </a:rPr>
              <a:t>PMID:</a:t>
            </a:r>
            <a:r>
              <a:rPr sz="1050" b="0" i="0" u="none">
                <a:solidFill>
                  <a:srgbClr val="94a3b8"/>
                </a:solidFill>
                <a:latin typeface="Pretendard"/>
              </a:rPr>
              <a:t> 37062324</a:t>
            </a:r>
            <a:endParaRPr sz="1050" b="0" i="0" u="none">
              <a:solidFill>
                <a:srgbClr val="94a3b8"/>
              </a:solidFill>
              <a:latin typeface="Pretendard"/>
            </a:endParaRPr>
          </a:p>
        </p:txBody>
      </p:sp>
      <p:sp>
        <p:nvSpPr>
          <p:cNvPr id="9" name="TextBox 8"/>
          <p:cNvSpPr txBox="1"/>
          <p:nvPr/>
        </p:nvSpPr>
        <p:spPr>
          <a:xfrm>
            <a:off x="5399930" y="4438650"/>
            <a:ext cx="3166020" cy="323850"/>
          </a:xfrm>
          <a:prstGeom prst="rect">
            <a:avLst/>
          </a:prstGeom>
          <a:noFill/>
        </p:spPr>
        <p:txBody>
          <a:bodyPr wrap="square" lIns="0" tIns="0" rIns="0" bIns="0" anchor="t">
            <a:spAutoFit/>
          </a:bodyPr>
          <a:lstStyle/>
          <a:p>
            <a:pPr lvl="0" algn="l">
              <a:defRPr/>
            </a:pPr>
            <a:r>
              <a:rPr lang="ko-KR" altLang="en-US" sz="1050" b="1" i="0" u="none">
                <a:solidFill>
                  <a:srgbClr val="e2e8f0"/>
                </a:solidFill>
                <a:latin typeface="Pretendard"/>
              </a:rPr>
              <a:t>발표자</a:t>
            </a:r>
            <a:r>
              <a:rPr sz="1050" b="1" i="0" u="none">
                <a:solidFill>
                  <a:srgbClr val="e2e8f0"/>
                </a:solidFill>
                <a:latin typeface="Pretendard"/>
              </a:rPr>
              <a:t>:</a:t>
            </a:r>
            <a:r>
              <a:rPr sz="1050" b="0" i="0" u="none">
                <a:solidFill>
                  <a:srgbClr val="94a3b8"/>
                </a:solidFill>
                <a:latin typeface="Pretendard"/>
              </a:rPr>
              <a:t> </a:t>
            </a:r>
            <a:r>
              <a:rPr lang="en-US" altLang="ko-KR" sz="1050" b="0" i="0" u="none">
                <a:solidFill>
                  <a:srgbClr val="94a3b8"/>
                </a:solidFill>
                <a:latin typeface="Pretendard"/>
              </a:rPr>
              <a:t>Lee Jimin</a:t>
            </a:r>
            <a:endParaRPr lang="en-US" altLang="ko-KR" sz="1050" b="0" i="0" u="none">
              <a:solidFill>
                <a:srgbClr val="94a3b8"/>
              </a:solidFill>
              <a:latin typeface="Pretendard"/>
            </a:endParaRPr>
          </a:p>
          <a:p>
            <a:pPr lvl="0" algn="l">
              <a:defRPr/>
            </a:pPr>
            <a:r>
              <a:rPr lang="ko-KR" altLang="en-US" sz="1050" b="1" i="0" u="none">
                <a:solidFill>
                  <a:srgbClr val="e2e8f0"/>
                </a:solidFill>
                <a:latin typeface="Pretendard"/>
              </a:rPr>
              <a:t>팀원</a:t>
            </a:r>
            <a:r>
              <a:rPr sz="1050" b="1" i="0" u="none">
                <a:solidFill>
                  <a:srgbClr val="e2e8f0"/>
                </a:solidFill>
                <a:latin typeface="Pretendard"/>
              </a:rPr>
              <a:t>:</a:t>
            </a:r>
            <a:r>
              <a:rPr sz="1050" b="0" i="0" u="none">
                <a:solidFill>
                  <a:srgbClr val="94a3b8"/>
                </a:solidFill>
                <a:latin typeface="Pretendard"/>
              </a:rPr>
              <a:t> </a:t>
            </a:r>
            <a:r>
              <a:rPr lang="en-US" altLang="ko-KR" sz="1050" b="0" i="0" u="none">
                <a:solidFill>
                  <a:srgbClr val="94a3b8"/>
                </a:solidFill>
                <a:latin typeface="Pretendard"/>
              </a:rPr>
              <a:t>Inyoung, Jeong-Gwan, Sujin, Yura</a:t>
            </a:r>
            <a:endParaRPr lang="en-US" altLang="ko-KR" sz="1050" b="0" i="0" u="none">
              <a:solidFill>
                <a:srgbClr val="94a3b8"/>
              </a:solidFill>
              <a:latin typeface="Pretendard"/>
            </a:endParaRPr>
          </a:p>
        </p:txBody>
      </p:sp>
      <p:sp>
        <p:nvSpPr>
          <p:cNvPr id="10" name="가로 글상자 9"/>
          <p:cNvSpPr txBox="1"/>
          <p:nvPr/>
        </p:nvSpPr>
        <p:spPr>
          <a:xfrm>
            <a:off x="4681970" y="6341920"/>
            <a:ext cx="2828059" cy="340301"/>
          </a:xfrm>
          <a:prstGeom prst="rect">
            <a:avLst/>
          </a:prstGeom>
        </p:spPr>
        <p:txBody>
          <a:bodyPr wrap="square"/>
          <a:p>
            <a:pPr lvl="0" algn="ctr">
              <a:defRPr/>
            </a:pPr>
            <a:r>
              <a:rPr lang="en-US" altLang="ko-KR" sz="1400" b="1">
                <a:solidFill>
                  <a:schemeClr val="lt1"/>
                </a:solidFill>
              </a:rPr>
              <a:t>Microbiome 1</a:t>
            </a:r>
            <a:r>
              <a:rPr lang="ko-KR" altLang="en-US" sz="1400" b="1">
                <a:solidFill>
                  <a:schemeClr val="lt1"/>
                </a:solidFill>
              </a:rPr>
              <a:t>조 </a:t>
            </a:r>
            <a:r>
              <a:rPr lang="en-US" altLang="ko-KR" sz="1400" b="1">
                <a:solidFill>
                  <a:schemeClr val="lt1"/>
                </a:solidFill>
              </a:rPr>
              <a:t>(Soil)</a:t>
            </a:r>
            <a:endParaRPr lang="en-US" altLang="ko-KR" sz="1400" b="1">
              <a:solidFill>
                <a:schemeClr val="lt1"/>
              </a:solidFill>
            </a:endParaRPr>
          </a:p>
        </p:txBody>
      </p:sp>
      <p:pic>
        <p:nvPicPr>
          <p:cNvPr id="15" name="그림 14"/>
          <p:cNvPicPr>
            <a:picLocks noChangeAspect="1"/>
          </p:cNvPicPr>
          <p:nvPr/>
        </p:nvPicPr>
        <p:blipFill rotWithShape="1">
          <a:blip r:embed="rId6"/>
          <a:stretch>
            <a:fillRect/>
          </a:stretch>
        </p:blipFill>
        <p:spPr>
          <a:xfrm>
            <a:off x="11395363" y="121227"/>
            <a:ext cx="570524" cy="570524"/>
          </a:xfrm>
          <a:prstGeom prst="rect">
            <a:avLst/>
          </a:prstGeom>
        </p:spPr>
      </p:pic>
      <p:pic>
        <p:nvPicPr>
          <p:cNvPr id="16" name="그림 15"/>
          <p:cNvPicPr>
            <a:picLocks noChangeAspect="1"/>
          </p:cNvPicPr>
          <p:nvPr/>
        </p:nvPicPr>
        <p:blipFill rotWithShape="1">
          <a:blip r:embed="rId7"/>
          <a:stretch>
            <a:fillRect/>
          </a:stretch>
        </p:blipFill>
        <p:spPr>
          <a:xfrm>
            <a:off x="571499" y="4708525"/>
            <a:ext cx="1359392" cy="1716521"/>
          </a:xfrm>
          <a:prstGeom prst="rect">
            <a:avLst/>
          </a:prstGeom>
        </p:spPr>
      </p:pic>
      <p:sp>
        <p:nvSpPr>
          <p:cNvPr id="17" name="TextBox 7"/>
          <p:cNvSpPr txBox="1"/>
          <p:nvPr/>
        </p:nvSpPr>
        <p:spPr>
          <a:xfrm>
            <a:off x="1978517" y="6244071"/>
            <a:ext cx="1043136" cy="156729"/>
          </a:xfrm>
          <a:prstGeom prst="rect">
            <a:avLst/>
          </a:prstGeom>
          <a:noFill/>
        </p:spPr>
        <p:txBody>
          <a:bodyPr wrap="square" lIns="0" tIns="0" rIns="0" bIns="0" anchor="t">
            <a:spAutoFit/>
          </a:bodyPr>
          <a:lstStyle/>
          <a:p>
            <a:pPr lvl="0" algn="l">
              <a:defRPr/>
            </a:pPr>
            <a:r>
              <a:rPr sz="1050" b="1" i="0" u="none">
                <a:solidFill>
                  <a:srgbClr val="e2e8f0"/>
                </a:solidFill>
                <a:latin typeface="Pretendard"/>
              </a:rPr>
              <a:t>I</a:t>
            </a:r>
            <a:r>
              <a:rPr lang="en-US" altLang="ko-KR" sz="1050" b="1" i="0" u="none">
                <a:solidFill>
                  <a:srgbClr val="e2e8f0"/>
                </a:solidFill>
                <a:latin typeface="Pretendard"/>
              </a:rPr>
              <a:t>F</a:t>
            </a:r>
            <a:r>
              <a:rPr sz="1050" b="1" i="0" u="none">
                <a:solidFill>
                  <a:srgbClr val="e2e8f0"/>
                </a:solidFill>
                <a:latin typeface="Pretendard"/>
              </a:rPr>
              <a:t>:</a:t>
            </a:r>
            <a:r>
              <a:rPr sz="1050" b="0" i="0" u="none">
                <a:solidFill>
                  <a:srgbClr val="94a3b8"/>
                </a:solidFill>
                <a:latin typeface="Pretendard"/>
              </a:rPr>
              <a:t> </a:t>
            </a:r>
            <a:r>
              <a:rPr lang="en-US" altLang="ko-KR" sz="1050" b="0" i="0" u="none">
                <a:solidFill>
                  <a:srgbClr val="94a3b8"/>
                </a:solidFill>
                <a:latin typeface="Pretendard"/>
              </a:rPr>
              <a:t>8.0(2024)</a:t>
            </a:r>
            <a:endParaRPr lang="en-US" altLang="ko-KR" sz="1050" b="0" i="0" u="none">
              <a:solidFill>
                <a:srgbClr val="94a3b8"/>
              </a:solidFill>
              <a:latin typeface="Pretendard"/>
            </a:endParaRPr>
          </a:p>
        </p:txBody>
      </p:sp>
    </p:spTree>
  </p:cSld>
  <p:clrMapOvr>
    <a:masterClrMapping/>
  </p:clrMapOvr>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689026"/>
            <a:ext cx="3530500" cy="2251471"/>
          </a:xfrm>
          <a:prstGeom prst="rect">
            <a:avLst/>
          </a:prstGeom>
        </p:spPr>
      </p:pic>
      <p:pic>
        <p:nvPicPr>
          <p:cNvPr id="4" name="Picture 3" descr="image.png"/>
          <p:cNvPicPr>
            <a:picLocks noChangeAspect="1"/>
          </p:cNvPicPr>
          <p:nvPr/>
        </p:nvPicPr>
        <p:blipFill>
          <a:blip r:embed="rId5"/>
          <a:stretch>
            <a:fillRect/>
          </a:stretch>
        </p:blipFill>
        <p:spPr>
          <a:xfrm>
            <a:off x="4330600" y="2689026"/>
            <a:ext cx="3530649" cy="2251471"/>
          </a:xfrm>
          <a:prstGeom prst="rect">
            <a:avLst/>
          </a:prstGeom>
        </p:spPr>
      </p:pic>
      <p:pic>
        <p:nvPicPr>
          <p:cNvPr id="5" name="Picture 4" descr="image.png"/>
          <p:cNvPicPr>
            <a:picLocks noChangeAspect="1"/>
          </p:cNvPicPr>
          <p:nvPr/>
        </p:nvPicPr>
        <p:blipFill>
          <a:blip r:embed="rId6"/>
          <a:stretch>
            <a:fillRect/>
          </a:stretch>
        </p:blipFill>
        <p:spPr>
          <a:xfrm>
            <a:off x="8089850" y="2689026"/>
            <a:ext cx="3530500" cy="2251471"/>
          </a:xfrm>
          <a:prstGeom prst="rect">
            <a:avLst/>
          </a:prstGeom>
        </p:spPr>
      </p:pic>
      <p:pic>
        <p:nvPicPr>
          <p:cNvPr id="6" name="Picture 5" descr="image.png"/>
          <p:cNvPicPr>
            <a:picLocks noChangeAspect="1"/>
          </p:cNvPicPr>
          <p:nvPr/>
        </p:nvPicPr>
        <p:blipFill>
          <a:blip r:embed="rId7"/>
          <a:stretch>
            <a:fillRect/>
          </a:stretch>
        </p:blipFill>
        <p:spPr>
          <a:xfrm>
            <a:off x="847725" y="2965251"/>
            <a:ext cx="1161008" cy="257175"/>
          </a:xfrm>
          <a:prstGeom prst="rect">
            <a:avLst/>
          </a:prstGeom>
        </p:spPr>
      </p:pic>
      <p:pic>
        <p:nvPicPr>
          <p:cNvPr id="7" name="Picture 6" descr="image.png"/>
          <p:cNvPicPr>
            <a:picLocks noChangeAspect="1"/>
          </p:cNvPicPr>
          <p:nvPr/>
        </p:nvPicPr>
        <p:blipFill>
          <a:blip r:embed="rId8"/>
          <a:stretch>
            <a:fillRect/>
          </a:stretch>
        </p:blipFill>
        <p:spPr>
          <a:xfrm>
            <a:off x="4606825" y="2965251"/>
            <a:ext cx="1035992" cy="257175"/>
          </a:xfrm>
          <a:prstGeom prst="rect">
            <a:avLst/>
          </a:prstGeom>
        </p:spPr>
      </p:pic>
      <p:pic>
        <p:nvPicPr>
          <p:cNvPr id="8" name="Picture 7" descr="image.png"/>
          <p:cNvPicPr>
            <a:picLocks noChangeAspect="1"/>
          </p:cNvPicPr>
          <p:nvPr/>
        </p:nvPicPr>
        <p:blipFill>
          <a:blip r:embed="rId9"/>
          <a:stretch>
            <a:fillRect/>
          </a:stretch>
        </p:blipFill>
        <p:spPr>
          <a:xfrm>
            <a:off x="8366075" y="2965251"/>
            <a:ext cx="1005036" cy="257175"/>
          </a:xfrm>
          <a:prstGeom prst="rect">
            <a:avLst/>
          </a:prstGeom>
        </p:spPr>
      </p:pic>
      <p:pic>
        <p:nvPicPr>
          <p:cNvPr id="9" name="Picture 8" descr="image.png"/>
          <p:cNvPicPr>
            <a:picLocks noChangeAspect="1"/>
          </p:cNvPicPr>
          <p:nvPr/>
        </p:nvPicPr>
        <p:blipFill>
          <a:blip r:embed="rId10"/>
          <a:stretch>
            <a:fillRect/>
          </a:stretch>
        </p:blipFill>
        <p:spPr>
          <a:xfrm>
            <a:off x="9501336" y="238125"/>
            <a:ext cx="2119163" cy="247650"/>
          </a:xfrm>
          <a:prstGeom prst="rect">
            <a:avLst/>
          </a:prstGeom>
        </p:spPr>
      </p:pic>
      <p:pic>
        <p:nvPicPr>
          <p:cNvPr id="10" name="Picture 9" descr="image.png"/>
          <p:cNvPicPr>
            <a:picLocks noChangeAspect="1"/>
          </p:cNvPicPr>
          <p:nvPr/>
        </p:nvPicPr>
        <p:blipFill>
          <a:blip r:embed="rId11"/>
          <a:stretch>
            <a:fillRect/>
          </a:stretch>
        </p:blipFill>
        <p:spPr>
          <a:xfrm>
            <a:off x="571500" y="6419850"/>
            <a:ext cx="11049000" cy="247650"/>
          </a:xfrm>
          <a:prstGeom prst="rect">
            <a:avLst/>
          </a:prstGeom>
        </p:spPr>
      </p:pic>
      <p:pic>
        <p:nvPicPr>
          <p:cNvPr id="11" name="Picture 10" descr="image.png"/>
          <p:cNvPicPr>
            <a:picLocks noChangeAspect="1"/>
          </p:cNvPicPr>
          <p:nvPr/>
        </p:nvPicPr>
        <p:blipFill>
          <a:blip r:embed="rId12"/>
          <a:stretch>
            <a:fillRect/>
          </a:stretch>
        </p:blipFill>
        <p:spPr>
          <a:xfrm>
            <a:off x="571500" y="547687"/>
            <a:ext cx="202703" cy="266700"/>
          </a:xfrm>
          <a:prstGeom prst="rect">
            <a:avLst/>
          </a:prstGeom>
        </p:spPr>
      </p:pic>
      <p:sp>
        <p:nvSpPr>
          <p:cNvPr id="12" name="TextBox 11"/>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13" name="TextBox 12"/>
          <p:cNvSpPr txBox="1"/>
          <p:nvPr/>
        </p:nvSpPr>
        <p:spPr>
          <a:xfrm>
            <a:off x="11268819" y="6505575"/>
            <a:ext cx="351680" cy="161925"/>
          </a:xfrm>
          <a:prstGeom prst="rect">
            <a:avLst/>
          </a:prstGeom>
          <a:noFill/>
        </p:spPr>
        <p:txBody>
          <a:bodyPr wrap="square" lIns="0" rIns="0" tIns="0" bIns="0" anchor="t">
            <a:spAutoFit/>
          </a:bodyPr>
          <a:lstStyle/>
          <a:p>
            <a:pPr algn="l"/>
            <a:r>
              <a:rPr b="0" sz="900" i="0" u="none">
                <a:solidFill>
                  <a:srgbClr val="94A3B8"/>
                </a:solidFill>
                <a:latin typeface="Pretendard"/>
              </a:rPr>
              <a:t>Slide 2</a:t>
            </a:r>
          </a:p>
        </p:txBody>
      </p:sp>
      <p:sp>
        <p:nvSpPr>
          <p:cNvPr id="14" name="TextBox 13"/>
          <p:cNvSpPr txBox="1"/>
          <p:nvPr/>
        </p:nvSpPr>
        <p:spPr>
          <a:xfrm>
            <a:off x="847725" y="3336726"/>
            <a:ext cx="3126953" cy="238125"/>
          </a:xfrm>
          <a:prstGeom prst="rect">
            <a:avLst/>
          </a:prstGeom>
          <a:noFill/>
        </p:spPr>
        <p:txBody>
          <a:bodyPr wrap="square" lIns="0" rIns="0" tIns="0" bIns="0" anchor="t">
            <a:spAutoFit/>
          </a:bodyPr>
          <a:lstStyle/>
          <a:p>
            <a:pPr algn="l"/>
            <a:r>
              <a:rPr b="1" sz="1350" i="0" u="none">
                <a:solidFill>
                  <a:srgbClr val="0F172A"/>
                </a:solidFill>
                <a:latin typeface="Pretendard"/>
              </a:rPr>
              <a:t>도시 토양 미생물 오아시스</a:t>
            </a:r>
          </a:p>
        </p:txBody>
      </p:sp>
      <p:sp>
        <p:nvSpPr>
          <p:cNvPr id="15" name="TextBox 14"/>
          <p:cNvSpPr txBox="1"/>
          <p:nvPr/>
        </p:nvSpPr>
        <p:spPr>
          <a:xfrm>
            <a:off x="847725" y="3689151"/>
            <a:ext cx="2978049" cy="959049"/>
          </a:xfrm>
          <a:prstGeom prst="rect">
            <a:avLst/>
          </a:prstGeom>
          <a:noFill/>
        </p:spPr>
        <p:txBody>
          <a:bodyPr wrap="square" lIns="0" tIns="0" rIns="0" bIns="0" anchor="t">
            <a:spAutoFit/>
          </a:bodyPr>
          <a:lstStyle/>
          <a:p>
            <a:pPr lvl="0" algn="l">
              <a:lnSpc>
                <a:spcPts val="1920"/>
              </a:lnSpc>
              <a:defRPr/>
            </a:pPr>
            <a:r>
              <a:rPr sz="1200" b="0" i="0" u="none">
                <a:solidFill>
                  <a:srgbClr val="334155"/>
                </a:solidFill>
                <a:latin typeface="Pretendard"/>
              </a:rPr>
              <a:t>도시화 진행에 따른 토지 이용 유형별(휴양/공원, 도로/교통, 도시농업) 토양 미생물 바이오매스 및 세균/진균 다형성 변화 메커니즘 </a:t>
            </a:r>
            <a:r>
              <a:rPr lang="ko-KR" altLang="en-US" sz="1200" b="0" i="0" u="none">
                <a:solidFill>
                  <a:srgbClr val="334155"/>
                </a:solidFill>
                <a:latin typeface="Pretendard"/>
              </a:rPr>
              <a:t>규</a:t>
            </a:r>
            <a:r>
              <a:rPr sz="1200" b="0" i="0" u="none">
                <a:solidFill>
                  <a:srgbClr val="334155"/>
                </a:solidFill>
                <a:latin typeface="Pretendard"/>
              </a:rPr>
              <a:t>명.</a:t>
            </a:r>
            <a:endParaRPr sz="1200" b="0" i="0" u="none">
              <a:solidFill>
                <a:srgbClr val="334155"/>
              </a:solidFill>
              <a:latin typeface="Pretendard"/>
            </a:endParaRPr>
          </a:p>
        </p:txBody>
      </p:sp>
      <p:sp>
        <p:nvSpPr>
          <p:cNvPr id="16" name="TextBox 15"/>
          <p:cNvSpPr txBox="1"/>
          <p:nvPr/>
        </p:nvSpPr>
        <p:spPr>
          <a:xfrm>
            <a:off x="4606825" y="3336726"/>
            <a:ext cx="3127109" cy="238125"/>
          </a:xfrm>
          <a:prstGeom prst="rect">
            <a:avLst/>
          </a:prstGeom>
          <a:noFill/>
        </p:spPr>
        <p:txBody>
          <a:bodyPr wrap="square" lIns="0" rIns="0" tIns="0" bIns="0" anchor="t">
            <a:spAutoFit/>
          </a:bodyPr>
          <a:lstStyle/>
          <a:p>
            <a:pPr algn="l"/>
            <a:r>
              <a:rPr b="1" sz="1350" i="0" u="none">
                <a:solidFill>
                  <a:srgbClr val="0F172A"/>
                </a:solidFill>
                <a:latin typeface="Pretendard"/>
              </a:rPr>
              <a:t>바이오매스 및 다형성 차이</a:t>
            </a:r>
          </a:p>
        </p:txBody>
      </p:sp>
      <p:sp>
        <p:nvSpPr>
          <p:cNvPr id="17" name="TextBox 16"/>
          <p:cNvSpPr txBox="1"/>
          <p:nvPr/>
        </p:nvSpPr>
        <p:spPr>
          <a:xfrm>
            <a:off x="4606825" y="3689151"/>
            <a:ext cx="2978199" cy="975121"/>
          </a:xfrm>
          <a:prstGeom prst="rect">
            <a:avLst/>
          </a:prstGeom>
          <a:noFill/>
        </p:spPr>
        <p:txBody>
          <a:bodyPr wrap="square" lIns="0" rIns="0" tIns="0" bIns="0" anchor="t">
            <a:spAutoFit/>
          </a:bodyPr>
          <a:lstStyle/>
          <a:p>
            <a:pPr algn="l">
              <a:lnSpc>
                <a:spcPts val="1920"/>
              </a:lnSpc>
            </a:pPr>
            <a:r>
              <a:rPr b="0" sz="1200" i="0" u="none">
                <a:solidFill>
                  <a:srgbClr val="334155"/>
                </a:solidFill>
                <a:latin typeface="Pretendard"/>
              </a:rPr>
              <a:t>바이오매스는 공원/도로변이 도시농업보다 </a:t>
            </a:r>
            <a:r>
              <a:rPr b="1" sz="1200" i="0" u="none">
                <a:solidFill>
                  <a:srgbClr val="334155"/>
                </a:solidFill>
                <a:latin typeface="Pretendard"/>
              </a:rPr>
              <a:t>1.8배 높음</a:t>
            </a:r>
            <a:r>
              <a:rPr b="0" sz="1200" i="0" u="none">
                <a:solidFill>
                  <a:srgbClr val="334155"/>
                </a:solidFill>
                <a:latin typeface="Pretendard"/>
              </a:rPr>
              <a:t>. 진균 풍부도는 도시농업에서 </a:t>
            </a:r>
            <a:r>
              <a:rPr b="1" sz="1200" i="0" u="none">
                <a:solidFill>
                  <a:srgbClr val="334155"/>
                </a:solidFill>
                <a:latin typeface="Pretendard"/>
              </a:rPr>
              <a:t>+25% 증가</a:t>
            </a:r>
            <a:r>
              <a:rPr b="0" sz="1200" i="0" u="none">
                <a:solidFill>
                  <a:srgbClr val="334155"/>
                </a:solidFill>
                <a:latin typeface="Pretendard"/>
              </a:rPr>
              <a:t>, 세균 풍부도는 공원에서 </a:t>
            </a:r>
            <a:r>
              <a:rPr b="1" sz="1200" i="0" u="none">
                <a:solidFill>
                  <a:srgbClr val="334155"/>
                </a:solidFill>
                <a:latin typeface="Pretendard"/>
              </a:rPr>
              <a:t>-20% 감소</a:t>
            </a:r>
            <a:r>
              <a:rPr b="0" sz="1200" i="0" u="none">
                <a:solidFill>
                  <a:srgbClr val="334155"/>
                </a:solidFill>
                <a:latin typeface="Pretendard"/>
              </a:rPr>
              <a:t>.</a:t>
            </a:r>
          </a:p>
        </p:txBody>
      </p:sp>
      <p:sp>
        <p:nvSpPr>
          <p:cNvPr id="18" name="TextBox 17"/>
          <p:cNvSpPr txBox="1"/>
          <p:nvPr/>
        </p:nvSpPr>
        <p:spPr>
          <a:xfrm>
            <a:off x="8366075" y="3336726"/>
            <a:ext cx="3126953" cy="238125"/>
          </a:xfrm>
          <a:prstGeom prst="rect">
            <a:avLst/>
          </a:prstGeom>
          <a:noFill/>
        </p:spPr>
        <p:txBody>
          <a:bodyPr wrap="square" lIns="0" rIns="0" tIns="0" bIns="0" anchor="t">
            <a:spAutoFit/>
          </a:bodyPr>
          <a:lstStyle/>
          <a:p>
            <a:pPr algn="l"/>
            <a:r>
              <a:rPr b="1" sz="1350" i="0" u="none">
                <a:solidFill>
                  <a:srgbClr val="0F172A"/>
                </a:solidFill>
                <a:latin typeface="Pretendard"/>
              </a:rPr>
              <a:t>도시 환경 모니터링 지표</a:t>
            </a:r>
          </a:p>
        </p:txBody>
      </p:sp>
      <p:sp>
        <p:nvSpPr>
          <p:cNvPr id="19" name="TextBox 18"/>
          <p:cNvSpPr txBox="1"/>
          <p:nvPr/>
        </p:nvSpPr>
        <p:spPr>
          <a:xfrm>
            <a:off x="8366075" y="3689151"/>
            <a:ext cx="2978050" cy="731341"/>
          </a:xfrm>
          <a:prstGeom prst="rect">
            <a:avLst/>
          </a:prstGeom>
          <a:noFill/>
        </p:spPr>
        <p:txBody>
          <a:bodyPr wrap="square" lIns="0" rIns="0" tIns="0" bIns="0" anchor="t">
            <a:spAutoFit/>
          </a:bodyPr>
          <a:lstStyle/>
          <a:p>
            <a:pPr algn="l">
              <a:lnSpc>
                <a:spcPts val="1920"/>
              </a:lnSpc>
            </a:pPr>
            <a:r>
              <a:rPr b="0" sz="1200" i="0" u="none">
                <a:solidFill>
                  <a:srgbClr val="334155"/>
                </a:solidFill>
                <a:latin typeface="Pretendard"/>
              </a:rPr>
              <a:t>유기 탄소와 C/N 비가 바이오매스의 핵심 결정 요인. 지상부 관리 방식 통제를 통한 도시 토양 생태계 서비스 보전 가이드라인 제시.</a:t>
            </a:r>
          </a:p>
        </p:txBody>
      </p:sp>
      <p:sp>
        <p:nvSpPr>
          <p:cNvPr id="20" name="TextBox 19"/>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Executive Summary</a:t>
            </a:r>
          </a:p>
        </p:txBody>
      </p:sp>
      <p:sp>
        <p:nvSpPr>
          <p:cNvPr id="21" name="Rectangle 20"/>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그림 21"/>
          <p:cNvPicPr>
            <a:picLocks noChangeAspect="1"/>
          </p:cNvPicPr>
          <p:nvPr/>
        </p:nvPicPr>
        <p:blipFill rotWithShape="1">
          <a:blip r:embed="rId13"/>
          <a:stretch>
            <a:fillRect/>
          </a:stretch>
        </p:blipFill>
        <p:spPr>
          <a:xfrm>
            <a:off x="4998369" y="6115858"/>
            <a:ext cx="2195260" cy="742142"/>
          </a:xfrm>
          <a:prstGeom prst="rect">
            <a:avLst/>
          </a:prstGeom>
        </p:spPr>
      </p:pic>
    </p:spTree>
  </p:cSld>
  <p:clrMapOvr>
    <a:masterClrMapping/>
  </p:clrMapOvr>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rotWithShape="1">
          <a:blip r:embed="rId4"/>
          <a:srcRect/>
          <a:stretch>
            <a:fillRect/>
          </a:stretch>
        </p:blipFill>
        <p:spPr>
          <a:xfrm>
            <a:off x="6317762" y="2005012"/>
            <a:ext cx="5271476" cy="3619500"/>
          </a:xfrm>
          <a:prstGeom prst="rect">
            <a:avLst/>
          </a:prstGeom>
        </p:spPr>
      </p:pic>
      <p:pic>
        <p:nvPicPr>
          <p:cNvPr id="4" name="Picture 3" descr="image.png"/>
          <p:cNvPicPr>
            <a:picLocks noChangeAspect="1"/>
          </p:cNvPicPr>
          <p:nvPr/>
        </p:nvPicPr>
        <p:blipFill>
          <a:blip r:embed="rId5"/>
          <a:stretch>
            <a:fillRect/>
          </a:stretch>
        </p:blipFill>
        <p:spPr>
          <a:xfrm>
            <a:off x="9501336" y="238125"/>
            <a:ext cx="2119163" cy="247650"/>
          </a:xfrm>
          <a:prstGeom prst="rect">
            <a:avLst/>
          </a:prstGeom>
        </p:spPr>
      </p:pic>
      <p:pic>
        <p:nvPicPr>
          <p:cNvPr id="5" name="Picture 4" descr="image.png"/>
          <p:cNvPicPr>
            <a:picLocks noChangeAspect="1"/>
          </p:cNvPicPr>
          <p:nvPr/>
        </p:nvPicPr>
        <p:blipFill>
          <a:blip r:embed="rId6"/>
          <a:stretch>
            <a:fillRect/>
          </a:stretch>
        </p:blipFill>
        <p:spPr>
          <a:xfrm>
            <a:off x="571500" y="6419850"/>
            <a:ext cx="11049000" cy="247650"/>
          </a:xfrm>
          <a:prstGeom prst="rect">
            <a:avLst/>
          </a:prstGeom>
        </p:spPr>
      </p:pic>
      <p:pic>
        <p:nvPicPr>
          <p:cNvPr id="6" name="Picture 5" descr="image.png"/>
          <p:cNvPicPr>
            <a:picLocks noChangeAspect="1"/>
          </p:cNvPicPr>
          <p:nvPr/>
        </p:nvPicPr>
        <p:blipFill>
          <a:blip r:embed="rId7"/>
          <a:stretch>
            <a:fillRect/>
          </a:stretch>
        </p:blipFill>
        <p:spPr>
          <a:xfrm>
            <a:off x="571500" y="547687"/>
            <a:ext cx="202703" cy="266700"/>
          </a:xfrm>
          <a:prstGeom prst="rect">
            <a:avLst/>
          </a:prstGeom>
        </p:spPr>
      </p:pic>
      <p:sp>
        <p:nvSpPr>
          <p:cNvPr id="7" name="TextBox 6"/>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8" name="TextBox 7"/>
          <p:cNvSpPr txBox="1"/>
          <p:nvPr/>
        </p:nvSpPr>
        <p:spPr>
          <a:xfrm>
            <a:off x="11268819" y="6505575"/>
            <a:ext cx="351680" cy="161925"/>
          </a:xfrm>
          <a:prstGeom prst="rect">
            <a:avLst/>
          </a:prstGeom>
          <a:noFill/>
        </p:spPr>
        <p:txBody>
          <a:bodyPr wrap="square" lIns="0" rIns="0" tIns="0" bIns="0" anchor="t">
            <a:spAutoFit/>
          </a:bodyPr>
          <a:lstStyle/>
          <a:p>
            <a:pPr algn="l"/>
            <a:r>
              <a:rPr b="0" sz="900" i="0" u="none">
                <a:solidFill>
                  <a:srgbClr val="94A3B8"/>
                </a:solidFill>
                <a:latin typeface="Pretendard"/>
              </a:rPr>
              <a:t>Slide 3</a:t>
            </a:r>
          </a:p>
        </p:txBody>
      </p:sp>
      <p:sp>
        <p:nvSpPr>
          <p:cNvPr id="9" name="TextBox 8"/>
          <p:cNvSpPr txBox="1"/>
          <p:nvPr/>
        </p:nvSpPr>
        <p:spPr>
          <a:xfrm>
            <a:off x="571500" y="2654796"/>
            <a:ext cx="5600700" cy="240804"/>
          </a:xfrm>
          <a:prstGeom prst="rect">
            <a:avLst/>
          </a:prstGeom>
          <a:noFill/>
        </p:spPr>
        <p:txBody>
          <a:bodyPr wrap="square" lIns="0" tIns="0" rIns="0" bIns="0" anchor="t">
            <a:spAutoFit/>
          </a:bodyPr>
          <a:lstStyle/>
          <a:p>
            <a:pPr lvl="0" algn="l">
              <a:defRPr/>
            </a:pPr>
            <a:r>
              <a:rPr sz="1650" b="1" i="0" u="none">
                <a:solidFill>
                  <a:srgbClr val="0284c7"/>
                </a:solidFill>
                <a:latin typeface="Pretendard"/>
              </a:rPr>
              <a:t>도시 토양 미생물 연구의 중요성</a:t>
            </a:r>
            <a:endParaRPr sz="1650" b="1" i="0" u="none">
              <a:solidFill>
                <a:srgbClr val="0284c7"/>
              </a:solidFill>
              <a:latin typeface="Pretendard"/>
            </a:endParaRPr>
          </a:p>
        </p:txBody>
      </p:sp>
      <p:sp>
        <p:nvSpPr>
          <p:cNvPr id="10" name="TextBox 9"/>
          <p:cNvSpPr txBox="1"/>
          <p:nvPr/>
        </p:nvSpPr>
        <p:spPr>
          <a:xfrm>
            <a:off x="838200" y="3111996"/>
            <a:ext cx="5067300" cy="487560"/>
          </a:xfrm>
          <a:prstGeom prst="rect">
            <a:avLst/>
          </a:prstGeom>
          <a:noFill/>
        </p:spPr>
        <p:txBody>
          <a:bodyPr wrap="square" lIns="0" tIns="0" rIns="0" bIns="0" anchor="t">
            <a:spAutoFit/>
          </a:bodyPr>
          <a:lstStyle/>
          <a:p>
            <a:pPr lvl="0" algn="l">
              <a:lnSpc>
                <a:spcPts val="1920"/>
              </a:lnSpc>
              <a:defRPr/>
            </a:pPr>
            <a:r>
              <a:rPr sz="1200" b="1" i="0" u="none">
                <a:solidFill>
                  <a:srgbClr val="334155"/>
                </a:solidFill>
                <a:latin typeface="Pretendard"/>
              </a:rPr>
              <a:t>생태계 서비스 제공:</a:t>
            </a:r>
            <a:r>
              <a:rPr sz="1200" b="0" i="0" u="none">
                <a:solidFill>
                  <a:srgbClr val="334155"/>
                </a:solidFill>
                <a:latin typeface="Pretendard"/>
              </a:rPr>
              <a:t> 도시 토양 미생물은 탄소 순환, 영양염류 재활용, 오염물질 정화 등 핵심 생태 기능을 담당함.</a:t>
            </a:r>
            <a:endParaRPr sz="1200" b="0" i="0" u="none">
              <a:solidFill>
                <a:srgbClr val="334155"/>
              </a:solidFill>
              <a:latin typeface="Pretendard"/>
            </a:endParaRPr>
          </a:p>
        </p:txBody>
      </p:sp>
      <p:sp>
        <p:nvSpPr>
          <p:cNvPr id="11" name="TextBox 10"/>
          <p:cNvSpPr txBox="1"/>
          <p:nvPr/>
        </p:nvSpPr>
        <p:spPr>
          <a:xfrm>
            <a:off x="838200" y="3732907"/>
            <a:ext cx="5067300" cy="477143"/>
          </a:xfrm>
          <a:prstGeom prst="rect">
            <a:avLst/>
          </a:prstGeom>
          <a:noFill/>
        </p:spPr>
        <p:txBody>
          <a:bodyPr wrap="square" lIns="0" tIns="0" rIns="0" bIns="0" anchor="t">
            <a:spAutoFit/>
          </a:bodyPr>
          <a:lstStyle/>
          <a:p>
            <a:pPr lvl="0" algn="l">
              <a:lnSpc>
                <a:spcPts val="1920"/>
              </a:lnSpc>
              <a:defRPr/>
            </a:pPr>
            <a:r>
              <a:rPr sz="1200" b="1" i="0" u="none">
                <a:solidFill>
                  <a:srgbClr val="334155"/>
                </a:solidFill>
                <a:latin typeface="Pretendard"/>
              </a:rPr>
              <a:t>인위적 교란 요인:</a:t>
            </a:r>
            <a:r>
              <a:rPr sz="1200" b="0" i="0" u="none">
                <a:solidFill>
                  <a:srgbClr val="334155"/>
                </a:solidFill>
                <a:latin typeface="Pretendard"/>
              </a:rPr>
              <a:t> 도로 공해(중금속, PAH) 및 농업 행위(경운, 비료) 등 다양한 인위적 스트레스에 직면함.</a:t>
            </a:r>
            <a:endParaRPr sz="1200" b="0" i="0" u="none">
              <a:solidFill>
                <a:srgbClr val="334155"/>
              </a:solidFill>
              <a:latin typeface="Pretendard"/>
            </a:endParaRPr>
          </a:p>
        </p:txBody>
      </p:sp>
      <p:sp>
        <p:nvSpPr>
          <p:cNvPr id="12" name="TextBox 11"/>
          <p:cNvSpPr txBox="1"/>
          <p:nvPr/>
        </p:nvSpPr>
        <p:spPr>
          <a:xfrm>
            <a:off x="838200" y="4353817"/>
            <a:ext cx="5067300" cy="487560"/>
          </a:xfrm>
          <a:prstGeom prst="rect">
            <a:avLst/>
          </a:prstGeom>
          <a:noFill/>
        </p:spPr>
        <p:txBody>
          <a:bodyPr wrap="square" lIns="0" tIns="0" rIns="0" bIns="0" anchor="t">
            <a:spAutoFit/>
          </a:bodyPr>
          <a:lstStyle/>
          <a:p>
            <a:pPr lvl="0" algn="l">
              <a:lnSpc>
                <a:spcPts val="1920"/>
              </a:lnSpc>
              <a:defRPr/>
            </a:pPr>
            <a:r>
              <a:rPr sz="1200" b="1" i="0" u="none">
                <a:solidFill>
                  <a:srgbClr val="334155"/>
                </a:solidFill>
                <a:latin typeface="Pretendard"/>
              </a:rPr>
              <a:t>지식 갭 (Knowledge Gap):</a:t>
            </a:r>
            <a:r>
              <a:rPr sz="1200" b="0" i="0" u="none">
                <a:solidFill>
                  <a:srgbClr val="334155"/>
                </a:solidFill>
                <a:latin typeface="Pretendard"/>
              </a:rPr>
              <a:t> 기존 연구는 단일 토지 이용에 집중되었으며, 도시 전체 수준에서 세균과 진균 군집을 통섭적으로 비교한 연구는 부족함.</a:t>
            </a:r>
            <a:endParaRPr sz="1200" b="0" i="0" u="none">
              <a:solidFill>
                <a:srgbClr val="334155"/>
              </a:solidFill>
              <a:latin typeface="Pretendard"/>
            </a:endParaRPr>
          </a:p>
        </p:txBody>
      </p:sp>
      <p:pic>
        <p:nvPicPr>
          <p:cNvPr id="13" name="Picture 12" descr="image.png"/>
          <p:cNvPicPr>
            <a:picLocks noChangeAspect="1"/>
          </p:cNvPicPr>
          <p:nvPr/>
        </p:nvPicPr>
        <p:blipFill rotWithShape="1">
          <a:blip r:embed="rId8"/>
          <a:srcRect l="5640"/>
          <a:stretch>
            <a:fillRect/>
          </a:stretch>
        </p:blipFill>
        <p:spPr>
          <a:xfrm>
            <a:off x="6317762" y="2005012"/>
            <a:ext cx="2595999" cy="209550"/>
          </a:xfrm>
          <a:prstGeom prst="rect">
            <a:avLst/>
          </a:prstGeom>
        </p:spPr>
      </p:pic>
      <p:pic>
        <p:nvPicPr>
          <p:cNvPr id="14" name="Picture 13" descr="image.png"/>
          <p:cNvPicPr>
            <a:picLocks noChangeAspect="1"/>
          </p:cNvPicPr>
          <p:nvPr/>
        </p:nvPicPr>
        <p:blipFill rotWithShape="1">
          <a:blip r:embed="rId9"/>
          <a:stretch>
            <a:fillRect/>
          </a:stretch>
        </p:blipFill>
        <p:spPr>
          <a:xfrm>
            <a:off x="571500" y="3140571"/>
            <a:ext cx="118616" cy="171450"/>
          </a:xfrm>
          <a:prstGeom prst="rect">
            <a:avLst/>
          </a:prstGeom>
        </p:spPr>
      </p:pic>
      <p:pic>
        <p:nvPicPr>
          <p:cNvPr id="15" name="Picture 14" descr="image.png"/>
          <p:cNvPicPr>
            <a:picLocks noChangeAspect="1"/>
          </p:cNvPicPr>
          <p:nvPr/>
        </p:nvPicPr>
        <p:blipFill rotWithShape="1">
          <a:blip r:embed="rId10"/>
          <a:stretch>
            <a:fillRect/>
          </a:stretch>
        </p:blipFill>
        <p:spPr>
          <a:xfrm>
            <a:off x="571500" y="3761482"/>
            <a:ext cx="118616" cy="171450"/>
          </a:xfrm>
          <a:prstGeom prst="rect">
            <a:avLst/>
          </a:prstGeom>
        </p:spPr>
      </p:pic>
      <p:pic>
        <p:nvPicPr>
          <p:cNvPr id="16" name="Picture 15" descr="image.png"/>
          <p:cNvPicPr>
            <a:picLocks noChangeAspect="1"/>
          </p:cNvPicPr>
          <p:nvPr/>
        </p:nvPicPr>
        <p:blipFill rotWithShape="1">
          <a:blip r:embed="rId11"/>
          <a:stretch>
            <a:fillRect/>
          </a:stretch>
        </p:blipFill>
        <p:spPr>
          <a:xfrm>
            <a:off x="571500" y="4382392"/>
            <a:ext cx="118616" cy="171450"/>
          </a:xfrm>
          <a:prstGeom prst="rect">
            <a:avLst/>
          </a:prstGeom>
        </p:spPr>
      </p:pic>
      <p:sp>
        <p:nvSpPr>
          <p:cNvPr id="17" name="TextBox 16"/>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Research Background</a:t>
            </a:r>
          </a:p>
        </p:txBody>
      </p:sp>
      <p:sp>
        <p:nvSpPr>
          <p:cNvPr id="18" name="Rectangle 17"/>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그림 19"/>
          <p:cNvPicPr>
            <a:picLocks noChangeAspect="1"/>
          </p:cNvPicPr>
          <p:nvPr/>
        </p:nvPicPr>
        <p:blipFill rotWithShape="1">
          <a:blip r:embed="rId12"/>
          <a:stretch>
            <a:fillRect/>
          </a:stretch>
        </p:blipFill>
        <p:spPr>
          <a:xfrm>
            <a:off x="4998369" y="6115858"/>
            <a:ext cx="2195260" cy="742142"/>
          </a:xfrm>
          <a:prstGeom prst="rect">
            <a:avLst/>
          </a:prstGeom>
        </p:spPr>
      </p:pic>
    </p:spTree>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913757"/>
            <a:ext cx="3530500" cy="2236142"/>
          </a:xfrm>
          <a:prstGeom prst="rect">
            <a:avLst/>
          </a:prstGeom>
        </p:spPr>
      </p:pic>
      <p:pic>
        <p:nvPicPr>
          <p:cNvPr id="4" name="Picture 3" descr="image.png"/>
          <p:cNvPicPr>
            <a:picLocks noChangeAspect="1"/>
          </p:cNvPicPr>
          <p:nvPr/>
        </p:nvPicPr>
        <p:blipFill>
          <a:blip r:embed="rId5"/>
          <a:stretch>
            <a:fillRect/>
          </a:stretch>
        </p:blipFill>
        <p:spPr>
          <a:xfrm>
            <a:off x="4330600" y="2913757"/>
            <a:ext cx="3530649" cy="2236142"/>
          </a:xfrm>
          <a:prstGeom prst="rect">
            <a:avLst/>
          </a:prstGeom>
        </p:spPr>
      </p:pic>
      <p:pic>
        <p:nvPicPr>
          <p:cNvPr id="5" name="Picture 4" descr="image.png"/>
          <p:cNvPicPr>
            <a:picLocks noChangeAspect="1"/>
          </p:cNvPicPr>
          <p:nvPr/>
        </p:nvPicPr>
        <p:blipFill>
          <a:blip r:embed="rId6"/>
          <a:stretch>
            <a:fillRect/>
          </a:stretch>
        </p:blipFill>
        <p:spPr>
          <a:xfrm>
            <a:off x="8089850" y="2913757"/>
            <a:ext cx="3530500" cy="2236142"/>
          </a:xfrm>
          <a:prstGeom prst="rect">
            <a:avLst/>
          </a:prstGeom>
        </p:spPr>
      </p:pic>
      <p:pic>
        <p:nvPicPr>
          <p:cNvPr id="6" name="Picture 5" descr="image.png"/>
          <p:cNvPicPr>
            <a:picLocks noChangeAspect="1"/>
          </p:cNvPicPr>
          <p:nvPr/>
        </p:nvPicPr>
        <p:blipFill>
          <a:blip r:embed="rId7"/>
          <a:stretch>
            <a:fillRect/>
          </a:stretch>
        </p:blipFill>
        <p:spPr>
          <a:xfrm>
            <a:off x="9501336" y="238125"/>
            <a:ext cx="2119163" cy="247650"/>
          </a:xfrm>
          <a:prstGeom prst="rect">
            <a:avLst/>
          </a:prstGeom>
        </p:spPr>
      </p:pic>
      <p:pic>
        <p:nvPicPr>
          <p:cNvPr id="7" name="Picture 6" descr="image.png"/>
          <p:cNvPicPr>
            <a:picLocks noChangeAspect="1"/>
          </p:cNvPicPr>
          <p:nvPr/>
        </p:nvPicPr>
        <p:blipFill>
          <a:blip r:embed="rId8"/>
          <a:stretch>
            <a:fillRect/>
          </a:stretch>
        </p:blipFill>
        <p:spPr>
          <a:xfrm>
            <a:off x="571500" y="6419850"/>
            <a:ext cx="11049000" cy="247650"/>
          </a:xfrm>
          <a:prstGeom prst="rect">
            <a:avLst/>
          </a:prstGeom>
        </p:spPr>
      </p:pic>
      <p:pic>
        <p:nvPicPr>
          <p:cNvPr id="8" name="Picture 7" descr="image.png"/>
          <p:cNvPicPr>
            <a:picLocks noChangeAspect="1"/>
          </p:cNvPicPr>
          <p:nvPr/>
        </p:nvPicPr>
        <p:blipFill>
          <a:blip r:embed="rId9"/>
          <a:stretch>
            <a:fillRect/>
          </a:stretch>
        </p:blipFill>
        <p:spPr>
          <a:xfrm>
            <a:off x="571500" y="547687"/>
            <a:ext cx="202703" cy="266700"/>
          </a:xfrm>
          <a:prstGeom prst="rect">
            <a:avLst/>
          </a:prstGeom>
        </p:spPr>
      </p:pic>
      <p:sp>
        <p:nvSpPr>
          <p:cNvPr id="9" name="TextBox 8"/>
          <p:cNvSpPr txBox="1"/>
          <p:nvPr/>
        </p:nvSpPr>
        <p:spPr>
          <a:xfrm>
            <a:off x="571500" y="2479476"/>
            <a:ext cx="11049000" cy="243780"/>
          </a:xfrm>
          <a:prstGeom prst="rect">
            <a:avLst/>
          </a:prstGeom>
          <a:noFill/>
        </p:spPr>
        <p:txBody>
          <a:bodyPr wrap="square" lIns="0" rIns="0" tIns="0" bIns="0" anchor="t">
            <a:spAutoFit/>
          </a:bodyPr>
          <a:lstStyle/>
          <a:p>
            <a:pPr algn="l">
              <a:lnSpc>
                <a:spcPts val="1920"/>
              </a:lnSpc>
            </a:pPr>
            <a:r>
              <a:rPr b="0" sz="1200" i="0" u="none">
                <a:solidFill>
                  <a:srgbClr val="475569"/>
                </a:solidFill>
                <a:latin typeface="Pretendard SemiBold"/>
              </a:rPr>
              <a:t>프랑스 디종(Dijon) 도시 토양을 대상으로 3가지 주요 토지 이용 유형 및 세부 관리 유형 분류</a:t>
            </a:r>
          </a:p>
        </p:txBody>
      </p:sp>
      <p:sp>
        <p:nvSpPr>
          <p:cNvPr id="10" name="TextBox 9"/>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11" name="TextBox 10"/>
          <p:cNvSpPr txBox="1"/>
          <p:nvPr/>
        </p:nvSpPr>
        <p:spPr>
          <a:xfrm>
            <a:off x="11268819" y="6505575"/>
            <a:ext cx="351680" cy="161925"/>
          </a:xfrm>
          <a:prstGeom prst="rect">
            <a:avLst/>
          </a:prstGeom>
          <a:noFill/>
        </p:spPr>
        <p:txBody>
          <a:bodyPr wrap="square" lIns="0" rIns="0" tIns="0" bIns="0" anchor="t">
            <a:spAutoFit/>
          </a:bodyPr>
          <a:lstStyle/>
          <a:p>
            <a:pPr algn="l"/>
            <a:r>
              <a:rPr b="0" sz="900" i="0" u="none">
                <a:solidFill>
                  <a:srgbClr val="94A3B8"/>
                </a:solidFill>
                <a:latin typeface="Pretendard"/>
              </a:rPr>
              <a:t>Slide 4</a:t>
            </a:r>
          </a:p>
        </p:txBody>
      </p:sp>
      <p:sp>
        <p:nvSpPr>
          <p:cNvPr id="12" name="TextBox 11"/>
          <p:cNvSpPr txBox="1"/>
          <p:nvPr/>
        </p:nvSpPr>
        <p:spPr>
          <a:xfrm>
            <a:off x="847725" y="3218557"/>
            <a:ext cx="3126953" cy="257175"/>
          </a:xfrm>
          <a:prstGeom prst="rect">
            <a:avLst/>
          </a:prstGeom>
          <a:noFill/>
        </p:spPr>
        <p:txBody>
          <a:bodyPr wrap="square" lIns="148232" rIns="0" tIns="0" bIns="0" anchor="t">
            <a:spAutoFit/>
          </a:bodyPr>
          <a:lstStyle/>
          <a:p>
            <a:pPr algn="l"/>
            <a:r>
              <a:rPr b="1" sz="1500" i="0" u="none">
                <a:solidFill>
                  <a:srgbClr val="0284C7"/>
                </a:solidFill>
                <a:latin typeface="Pretendard"/>
              </a:rPr>
              <a:t>Public Leisure</a:t>
            </a:r>
          </a:p>
        </p:txBody>
      </p:sp>
      <p:sp>
        <p:nvSpPr>
          <p:cNvPr id="13" name="TextBox 12"/>
          <p:cNvSpPr txBox="1"/>
          <p:nvPr/>
        </p:nvSpPr>
        <p:spPr>
          <a:xfrm>
            <a:off x="847725" y="3570982"/>
            <a:ext cx="2978050" cy="213270"/>
          </a:xfrm>
          <a:prstGeom prst="rect">
            <a:avLst/>
          </a:prstGeom>
          <a:noFill/>
        </p:spPr>
        <p:txBody>
          <a:bodyPr wrap="square" lIns="0" rIns="0" tIns="0" bIns="0" anchor="t">
            <a:spAutoFit/>
          </a:bodyPr>
          <a:lstStyle/>
          <a:p>
            <a:pPr algn="l">
              <a:lnSpc>
                <a:spcPts val="1679"/>
              </a:lnSpc>
            </a:pPr>
            <a:r>
              <a:rPr b="1" sz="1050" i="0" u="none">
                <a:solidFill>
                  <a:srgbClr val="64748B"/>
                </a:solidFill>
                <a:latin typeface="Pretendard"/>
              </a:rPr>
              <a:t>공공 휴양 및 녹지 공간</a:t>
            </a:r>
          </a:p>
        </p:txBody>
      </p:sp>
      <p:sp>
        <p:nvSpPr>
          <p:cNvPr id="14" name="TextBox 13"/>
          <p:cNvSpPr txBox="1"/>
          <p:nvPr/>
        </p:nvSpPr>
        <p:spPr>
          <a:xfrm>
            <a:off x="4606825" y="3218557"/>
            <a:ext cx="3127109" cy="257175"/>
          </a:xfrm>
          <a:prstGeom prst="rect">
            <a:avLst/>
          </a:prstGeom>
          <a:noFill/>
        </p:spPr>
        <p:txBody>
          <a:bodyPr wrap="square" lIns="148232" rIns="0" tIns="0" bIns="0" anchor="t">
            <a:spAutoFit/>
          </a:bodyPr>
          <a:lstStyle/>
          <a:p>
            <a:pPr algn="l"/>
            <a:r>
              <a:rPr b="1" sz="1500" i="0" u="none">
                <a:solidFill>
                  <a:srgbClr val="D97706"/>
                </a:solidFill>
                <a:latin typeface="Pretendard"/>
              </a:rPr>
              <a:t>Traffic Sites</a:t>
            </a:r>
          </a:p>
        </p:txBody>
      </p:sp>
      <p:sp>
        <p:nvSpPr>
          <p:cNvPr id="15" name="TextBox 14"/>
          <p:cNvSpPr txBox="1"/>
          <p:nvPr/>
        </p:nvSpPr>
        <p:spPr>
          <a:xfrm>
            <a:off x="4606825" y="3570982"/>
            <a:ext cx="2978199" cy="213270"/>
          </a:xfrm>
          <a:prstGeom prst="rect">
            <a:avLst/>
          </a:prstGeom>
          <a:noFill/>
        </p:spPr>
        <p:txBody>
          <a:bodyPr wrap="square" lIns="0" rIns="0" tIns="0" bIns="0" anchor="t">
            <a:spAutoFit/>
          </a:bodyPr>
          <a:lstStyle/>
          <a:p>
            <a:pPr algn="l">
              <a:lnSpc>
                <a:spcPts val="1679"/>
              </a:lnSpc>
            </a:pPr>
            <a:r>
              <a:rPr b="1" sz="1050" i="0" u="none">
                <a:solidFill>
                  <a:srgbClr val="64748B"/>
                </a:solidFill>
                <a:latin typeface="Pretendard"/>
              </a:rPr>
              <a:t>도로변 및 교통 영향 구역</a:t>
            </a:r>
          </a:p>
        </p:txBody>
      </p:sp>
      <p:sp>
        <p:nvSpPr>
          <p:cNvPr id="16" name="TextBox 15"/>
          <p:cNvSpPr txBox="1"/>
          <p:nvPr/>
        </p:nvSpPr>
        <p:spPr>
          <a:xfrm>
            <a:off x="8366075" y="3218557"/>
            <a:ext cx="3126953" cy="257175"/>
          </a:xfrm>
          <a:prstGeom prst="rect">
            <a:avLst/>
          </a:prstGeom>
          <a:noFill/>
        </p:spPr>
        <p:txBody>
          <a:bodyPr wrap="square" lIns="148232" rIns="0" tIns="0" bIns="0" anchor="t">
            <a:spAutoFit/>
          </a:bodyPr>
          <a:lstStyle/>
          <a:p>
            <a:pPr algn="l"/>
            <a:r>
              <a:rPr b="1" sz="1500" i="0" u="none">
                <a:solidFill>
                  <a:srgbClr val="059669"/>
                </a:solidFill>
                <a:latin typeface="Pretendard"/>
              </a:rPr>
              <a:t>Urban Agriculture</a:t>
            </a:r>
          </a:p>
        </p:txBody>
      </p:sp>
      <p:sp>
        <p:nvSpPr>
          <p:cNvPr id="17" name="TextBox 16"/>
          <p:cNvSpPr txBox="1"/>
          <p:nvPr/>
        </p:nvSpPr>
        <p:spPr>
          <a:xfrm>
            <a:off x="8366075" y="3570982"/>
            <a:ext cx="2978050" cy="213270"/>
          </a:xfrm>
          <a:prstGeom prst="rect">
            <a:avLst/>
          </a:prstGeom>
          <a:noFill/>
        </p:spPr>
        <p:txBody>
          <a:bodyPr wrap="square" lIns="0" rIns="0" tIns="0" bIns="0" anchor="t">
            <a:spAutoFit/>
          </a:bodyPr>
          <a:lstStyle/>
          <a:p>
            <a:pPr algn="l">
              <a:lnSpc>
                <a:spcPts val="1679"/>
              </a:lnSpc>
            </a:pPr>
            <a:r>
              <a:rPr b="1" sz="1050" i="0" u="none">
                <a:solidFill>
                  <a:srgbClr val="64748B"/>
                </a:solidFill>
                <a:latin typeface="Pretendard"/>
              </a:rPr>
              <a:t>도시 경작지 및 텃밭</a:t>
            </a:r>
          </a:p>
        </p:txBody>
      </p:sp>
      <p:pic>
        <p:nvPicPr>
          <p:cNvPr id="18" name="Picture 17" descr="image.png"/>
          <p:cNvPicPr>
            <a:picLocks noChangeAspect="1"/>
          </p:cNvPicPr>
          <p:nvPr/>
        </p:nvPicPr>
        <p:blipFill>
          <a:blip r:embed="rId10"/>
          <a:stretch>
            <a:fillRect/>
          </a:stretch>
        </p:blipFill>
        <p:spPr>
          <a:xfrm>
            <a:off x="847725" y="3256657"/>
            <a:ext cx="148232" cy="190500"/>
          </a:xfrm>
          <a:prstGeom prst="rect">
            <a:avLst/>
          </a:prstGeom>
        </p:spPr>
      </p:pic>
      <p:sp>
        <p:nvSpPr>
          <p:cNvPr id="19" name="TextBox 18"/>
          <p:cNvSpPr txBox="1"/>
          <p:nvPr/>
        </p:nvSpPr>
        <p:spPr>
          <a:xfrm>
            <a:off x="962025" y="3896647"/>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20" name="TextBox 19"/>
          <p:cNvSpPr txBox="1"/>
          <p:nvPr/>
        </p:nvSpPr>
        <p:spPr>
          <a:xfrm>
            <a:off x="1019175" y="3898552"/>
            <a:ext cx="2806600"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도시 공원 (Urban Parks)</a:t>
            </a:r>
          </a:p>
        </p:txBody>
      </p:sp>
      <p:sp>
        <p:nvSpPr>
          <p:cNvPr id="21" name="TextBox 20"/>
          <p:cNvSpPr txBox="1"/>
          <p:nvPr/>
        </p:nvSpPr>
        <p:spPr>
          <a:xfrm>
            <a:off x="962025" y="4140428"/>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22" name="TextBox 21"/>
          <p:cNvSpPr txBox="1"/>
          <p:nvPr/>
        </p:nvSpPr>
        <p:spPr>
          <a:xfrm>
            <a:off x="1019175" y="4142333"/>
            <a:ext cx="2806600"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잔디밭 및 정원 공간</a:t>
            </a:r>
          </a:p>
        </p:txBody>
      </p:sp>
      <p:sp>
        <p:nvSpPr>
          <p:cNvPr id="23" name="TextBox 22"/>
          <p:cNvSpPr txBox="1"/>
          <p:nvPr/>
        </p:nvSpPr>
        <p:spPr>
          <a:xfrm>
            <a:off x="962025" y="4384208"/>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24" name="TextBox 23"/>
          <p:cNvSpPr txBox="1"/>
          <p:nvPr/>
        </p:nvSpPr>
        <p:spPr>
          <a:xfrm>
            <a:off x="1019175" y="4386113"/>
            <a:ext cx="2806600"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안정화된 교란 적은 서식지</a:t>
            </a:r>
          </a:p>
        </p:txBody>
      </p:sp>
      <p:sp>
        <p:nvSpPr>
          <p:cNvPr id="25" name="TextBox 24"/>
          <p:cNvSpPr txBox="1"/>
          <p:nvPr/>
        </p:nvSpPr>
        <p:spPr>
          <a:xfrm>
            <a:off x="962025" y="4627989"/>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26" name="TextBox 25"/>
          <p:cNvSpPr txBox="1"/>
          <p:nvPr/>
        </p:nvSpPr>
        <p:spPr>
          <a:xfrm>
            <a:off x="1019175" y="4629894"/>
            <a:ext cx="2806600"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식물 공생균 유도 환경</a:t>
            </a:r>
          </a:p>
        </p:txBody>
      </p:sp>
      <p:pic>
        <p:nvPicPr>
          <p:cNvPr id="27" name="Picture 26" descr="image.png"/>
          <p:cNvPicPr>
            <a:picLocks noChangeAspect="1"/>
          </p:cNvPicPr>
          <p:nvPr/>
        </p:nvPicPr>
        <p:blipFill>
          <a:blip r:embed="rId11"/>
          <a:stretch>
            <a:fillRect/>
          </a:stretch>
        </p:blipFill>
        <p:spPr>
          <a:xfrm>
            <a:off x="4606825" y="3256657"/>
            <a:ext cx="148232" cy="190500"/>
          </a:xfrm>
          <a:prstGeom prst="rect">
            <a:avLst/>
          </a:prstGeom>
        </p:spPr>
      </p:pic>
      <p:sp>
        <p:nvSpPr>
          <p:cNvPr id="28" name="TextBox 27"/>
          <p:cNvSpPr txBox="1"/>
          <p:nvPr/>
        </p:nvSpPr>
        <p:spPr>
          <a:xfrm>
            <a:off x="4721125" y="3896647"/>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29" name="TextBox 28"/>
          <p:cNvSpPr txBox="1"/>
          <p:nvPr/>
        </p:nvSpPr>
        <p:spPr>
          <a:xfrm>
            <a:off x="4778275" y="3898552"/>
            <a:ext cx="2806749"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주요 도로변 토양 (Roadsides)</a:t>
            </a:r>
          </a:p>
        </p:txBody>
      </p:sp>
      <p:sp>
        <p:nvSpPr>
          <p:cNvPr id="30" name="TextBox 29"/>
          <p:cNvSpPr txBox="1"/>
          <p:nvPr/>
        </p:nvSpPr>
        <p:spPr>
          <a:xfrm>
            <a:off x="4721125" y="4140428"/>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31" name="TextBox 30"/>
          <p:cNvSpPr txBox="1"/>
          <p:nvPr/>
        </p:nvSpPr>
        <p:spPr>
          <a:xfrm>
            <a:off x="4778275" y="4142333"/>
            <a:ext cx="2806749"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배기 가스 및 도로 비점 오염</a:t>
            </a:r>
          </a:p>
        </p:txBody>
      </p:sp>
      <p:sp>
        <p:nvSpPr>
          <p:cNvPr id="32" name="TextBox 31"/>
          <p:cNvSpPr txBox="1"/>
          <p:nvPr/>
        </p:nvSpPr>
        <p:spPr>
          <a:xfrm>
            <a:off x="4721125" y="4384208"/>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33" name="TextBox 32"/>
          <p:cNvSpPr txBox="1"/>
          <p:nvPr/>
        </p:nvSpPr>
        <p:spPr>
          <a:xfrm>
            <a:off x="4778275" y="4386113"/>
            <a:ext cx="2806749"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중금속/PAH 분진 노출 지역</a:t>
            </a:r>
          </a:p>
        </p:txBody>
      </p:sp>
      <p:sp>
        <p:nvSpPr>
          <p:cNvPr id="34" name="TextBox 33"/>
          <p:cNvSpPr txBox="1"/>
          <p:nvPr/>
        </p:nvSpPr>
        <p:spPr>
          <a:xfrm>
            <a:off x="4721125" y="4627989"/>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35" name="TextBox 34"/>
          <p:cNvSpPr txBox="1"/>
          <p:nvPr/>
        </p:nvSpPr>
        <p:spPr>
          <a:xfrm>
            <a:off x="4778275" y="4629894"/>
            <a:ext cx="2806749"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특수 유기분해균 우점 구역</a:t>
            </a:r>
          </a:p>
        </p:txBody>
      </p:sp>
      <p:pic>
        <p:nvPicPr>
          <p:cNvPr id="36" name="Picture 35" descr="image.png"/>
          <p:cNvPicPr>
            <a:picLocks noChangeAspect="1"/>
          </p:cNvPicPr>
          <p:nvPr/>
        </p:nvPicPr>
        <p:blipFill>
          <a:blip r:embed="rId12"/>
          <a:stretch>
            <a:fillRect/>
          </a:stretch>
        </p:blipFill>
        <p:spPr>
          <a:xfrm>
            <a:off x="8366075" y="3256657"/>
            <a:ext cx="148232" cy="190500"/>
          </a:xfrm>
          <a:prstGeom prst="rect">
            <a:avLst/>
          </a:prstGeom>
        </p:spPr>
      </p:pic>
      <p:sp>
        <p:nvSpPr>
          <p:cNvPr id="37" name="TextBox 36"/>
          <p:cNvSpPr txBox="1"/>
          <p:nvPr/>
        </p:nvSpPr>
        <p:spPr>
          <a:xfrm>
            <a:off x="8480375" y="3896647"/>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38" name="TextBox 37"/>
          <p:cNvSpPr txBox="1"/>
          <p:nvPr/>
        </p:nvSpPr>
        <p:spPr>
          <a:xfrm>
            <a:off x="8537525" y="3898552"/>
            <a:ext cx="2806600"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텃밭 및 주말농장 (Allotments)</a:t>
            </a:r>
          </a:p>
        </p:txBody>
      </p:sp>
      <p:sp>
        <p:nvSpPr>
          <p:cNvPr id="39" name="TextBox 38"/>
          <p:cNvSpPr txBox="1"/>
          <p:nvPr/>
        </p:nvSpPr>
        <p:spPr>
          <a:xfrm>
            <a:off x="8480375" y="4140428"/>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40" name="TextBox 39"/>
          <p:cNvSpPr txBox="1"/>
          <p:nvPr/>
        </p:nvSpPr>
        <p:spPr>
          <a:xfrm>
            <a:off x="8537525" y="4142333"/>
            <a:ext cx="2806600"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경운 및 비료 투입 구역</a:t>
            </a:r>
          </a:p>
        </p:txBody>
      </p:sp>
      <p:sp>
        <p:nvSpPr>
          <p:cNvPr id="41" name="TextBox 40"/>
          <p:cNvSpPr txBox="1"/>
          <p:nvPr/>
        </p:nvSpPr>
        <p:spPr>
          <a:xfrm>
            <a:off x="8480375" y="4384208"/>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42" name="TextBox 41"/>
          <p:cNvSpPr txBox="1"/>
          <p:nvPr/>
        </p:nvSpPr>
        <p:spPr>
          <a:xfrm>
            <a:off x="8537525" y="4386113"/>
            <a:ext cx="2806600"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인위적 물리적 교란 주기적 발생</a:t>
            </a:r>
          </a:p>
        </p:txBody>
      </p:sp>
      <p:sp>
        <p:nvSpPr>
          <p:cNvPr id="43" name="TextBox 42"/>
          <p:cNvSpPr txBox="1"/>
          <p:nvPr/>
        </p:nvSpPr>
        <p:spPr>
          <a:xfrm>
            <a:off x="8480375" y="4627989"/>
            <a:ext cx="57150" cy="247650"/>
          </a:xfrm>
          <a:prstGeom prst="rect">
            <a:avLst/>
          </a:prstGeom>
          <a:noFill/>
        </p:spPr>
        <p:txBody>
          <a:bodyPr wrap="square" lIns="0" rIns="0" tIns="0" bIns="0" anchor="t">
            <a:spAutoFit/>
          </a:bodyPr>
          <a:lstStyle/>
          <a:p>
            <a:pPr algn="l"/>
            <a:r>
              <a:rPr b="0" sz="1200" i="0" u="none">
                <a:solidFill>
                  <a:srgbClr val="334155"/>
                </a:solidFill>
                <a:latin typeface="Pretendard"/>
              </a:rPr>
              <a:t>•</a:t>
            </a:r>
          </a:p>
        </p:txBody>
      </p:sp>
      <p:sp>
        <p:nvSpPr>
          <p:cNvPr id="44" name="TextBox 43"/>
          <p:cNvSpPr txBox="1"/>
          <p:nvPr/>
        </p:nvSpPr>
        <p:spPr>
          <a:xfrm>
            <a:off x="8537525" y="4629894"/>
            <a:ext cx="2806600" cy="243780"/>
          </a:xfrm>
          <a:prstGeom prst="rect">
            <a:avLst/>
          </a:prstGeom>
          <a:noFill/>
        </p:spPr>
        <p:txBody>
          <a:bodyPr wrap="square" lIns="57150" rIns="0" tIns="0" bIns="0" anchor="t">
            <a:spAutoFit/>
          </a:bodyPr>
          <a:lstStyle/>
          <a:p>
            <a:pPr algn="l">
              <a:lnSpc>
                <a:spcPts val="1920"/>
              </a:lnSpc>
            </a:pPr>
            <a:r>
              <a:rPr b="0" sz="1200" i="0" u="none">
                <a:solidFill>
                  <a:srgbClr val="334155"/>
                </a:solidFill>
                <a:latin typeface="Pretendard"/>
              </a:rPr>
              <a:t>기회주의 미생물군 자극</a:t>
            </a:r>
          </a:p>
        </p:txBody>
      </p:sp>
      <p:sp>
        <p:nvSpPr>
          <p:cNvPr id="45" name="TextBox 44"/>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Experimental Design</a:t>
            </a:r>
          </a:p>
        </p:txBody>
      </p:sp>
      <p:sp>
        <p:nvSpPr>
          <p:cNvPr id="46" name="Rectangle 45"/>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그림 46"/>
          <p:cNvPicPr>
            <a:picLocks noChangeAspect="1"/>
          </p:cNvPicPr>
          <p:nvPr/>
        </p:nvPicPr>
        <p:blipFill rotWithShape="1">
          <a:blip r:embed="rId13"/>
          <a:stretch>
            <a:fillRect/>
          </a:stretch>
        </p:blipFill>
        <p:spPr>
          <a:xfrm>
            <a:off x="4998369" y="6115858"/>
            <a:ext cx="2195260" cy="742142"/>
          </a:xfrm>
          <a:prstGeom prst="rect">
            <a:avLst/>
          </a:prstGeom>
        </p:spPr>
      </p:pic>
    </p:spTree>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4"/>
          <a:stretch>
            <a:fillRect/>
          </a:stretch>
        </p:blipFill>
        <p:spPr>
          <a:xfrm>
            <a:off x="9501336" y="238125"/>
            <a:ext cx="2119163" cy="247650"/>
          </a:xfrm>
          <a:prstGeom prst="rect">
            <a:avLst/>
          </a:prstGeom>
        </p:spPr>
      </p:pic>
      <p:pic>
        <p:nvPicPr>
          <p:cNvPr id="5" name="Picture 4" descr="image.png"/>
          <p:cNvPicPr>
            <a:picLocks noChangeAspect="1"/>
          </p:cNvPicPr>
          <p:nvPr/>
        </p:nvPicPr>
        <p:blipFill>
          <a:blip r:embed="rId5"/>
          <a:stretch>
            <a:fillRect/>
          </a:stretch>
        </p:blipFill>
        <p:spPr>
          <a:xfrm>
            <a:off x="571500" y="6419850"/>
            <a:ext cx="11049000" cy="247650"/>
          </a:xfrm>
          <a:prstGeom prst="rect">
            <a:avLst/>
          </a:prstGeom>
        </p:spPr>
      </p:pic>
      <p:pic>
        <p:nvPicPr>
          <p:cNvPr id="6" name="Picture 5" descr="image.png"/>
          <p:cNvPicPr>
            <a:picLocks noChangeAspect="1"/>
          </p:cNvPicPr>
          <p:nvPr/>
        </p:nvPicPr>
        <p:blipFill>
          <a:blip r:embed="rId6"/>
          <a:stretch>
            <a:fillRect/>
          </a:stretch>
        </p:blipFill>
        <p:spPr>
          <a:xfrm>
            <a:off x="571500" y="547687"/>
            <a:ext cx="202703" cy="266700"/>
          </a:xfrm>
          <a:prstGeom prst="rect">
            <a:avLst/>
          </a:prstGeom>
        </p:spPr>
      </p:pic>
      <p:sp>
        <p:nvSpPr>
          <p:cNvPr id="7" name="TextBox 6"/>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8" name="TextBox 7"/>
          <p:cNvSpPr txBox="1"/>
          <p:nvPr/>
        </p:nvSpPr>
        <p:spPr>
          <a:xfrm>
            <a:off x="11268819" y="6505575"/>
            <a:ext cx="351680" cy="161925"/>
          </a:xfrm>
          <a:prstGeom prst="rect">
            <a:avLst/>
          </a:prstGeom>
          <a:noFill/>
        </p:spPr>
        <p:txBody>
          <a:bodyPr wrap="square" lIns="0" rIns="0" tIns="0" bIns="0" anchor="t">
            <a:spAutoFit/>
          </a:bodyPr>
          <a:lstStyle/>
          <a:p>
            <a:pPr algn="l"/>
            <a:r>
              <a:rPr b="0" sz="900" i="0" u="none">
                <a:solidFill>
                  <a:srgbClr val="94A3B8"/>
                </a:solidFill>
                <a:latin typeface="Pretendard"/>
              </a:rPr>
              <a:t>Slide 5</a:t>
            </a:r>
          </a:p>
        </p:txBody>
      </p:sp>
      <p:sp>
        <p:nvSpPr>
          <p:cNvPr id="9" name="TextBox 8"/>
          <p:cNvSpPr txBox="1"/>
          <p:nvPr/>
        </p:nvSpPr>
        <p:spPr>
          <a:xfrm>
            <a:off x="838200" y="2117675"/>
            <a:ext cx="5067300" cy="487560"/>
          </a:xfrm>
          <a:prstGeom prst="rect">
            <a:avLst/>
          </a:prstGeom>
          <a:noFill/>
        </p:spPr>
        <p:txBody>
          <a:bodyPr wrap="square" lIns="0" tIns="0" rIns="0" bIns="0" anchor="t">
            <a:spAutoFit/>
          </a:bodyPr>
          <a:lstStyle/>
          <a:p>
            <a:pPr lvl="0" algn="l">
              <a:lnSpc>
                <a:spcPts val="1920"/>
              </a:lnSpc>
              <a:defRPr/>
            </a:pPr>
            <a:r>
              <a:rPr sz="1200" b="1" i="0" u="none">
                <a:solidFill>
                  <a:srgbClr val="334155"/>
                </a:solidFill>
                <a:latin typeface="Pretendard"/>
              </a:rPr>
              <a:t>토양 DNA 정량 &amp; 바이오매스 산출:</a:t>
            </a:r>
            <a:endParaRPr sz="1200" b="1" i="0" u="none">
              <a:solidFill>
                <a:srgbClr val="334155"/>
              </a:solidFill>
              <a:latin typeface="Pretendard"/>
            </a:endParaRPr>
          </a:p>
          <a:p>
            <a:pPr lvl="0" algn="l">
              <a:lnSpc>
                <a:spcPts val="1920"/>
              </a:lnSpc>
              <a:defRPr/>
            </a:pPr>
            <a:r>
              <a:rPr sz="1200" b="0" i="0" u="none">
                <a:solidFill>
                  <a:srgbClr val="334155"/>
                </a:solidFill>
                <a:latin typeface="Pretendard"/>
              </a:rPr>
              <a:t> qPCR 기반 토양 DNA 정량을 통한 전체 미생물 바이오매스 측정</a:t>
            </a:r>
            <a:endParaRPr sz="1200" b="0" i="0" u="none">
              <a:solidFill>
                <a:srgbClr val="334155"/>
              </a:solidFill>
              <a:latin typeface="Pretendard"/>
            </a:endParaRPr>
          </a:p>
        </p:txBody>
      </p:sp>
      <p:sp>
        <p:nvSpPr>
          <p:cNvPr id="10" name="TextBox 9"/>
          <p:cNvSpPr txBox="1"/>
          <p:nvPr/>
        </p:nvSpPr>
        <p:spPr>
          <a:xfrm>
            <a:off x="838200" y="2738586"/>
            <a:ext cx="5067300" cy="487560"/>
          </a:xfrm>
          <a:prstGeom prst="rect">
            <a:avLst/>
          </a:prstGeom>
          <a:noFill/>
        </p:spPr>
        <p:txBody>
          <a:bodyPr wrap="square" lIns="0" tIns="0" rIns="0" bIns="0" anchor="t">
            <a:spAutoFit/>
          </a:bodyPr>
          <a:lstStyle/>
          <a:p>
            <a:pPr lvl="0" algn="l">
              <a:lnSpc>
                <a:spcPts val="1920"/>
              </a:lnSpc>
              <a:defRPr/>
            </a:pPr>
            <a:r>
              <a:rPr sz="1200" b="1" i="0" u="none">
                <a:solidFill>
                  <a:srgbClr val="334155"/>
                </a:solidFill>
                <a:latin typeface="Pretendard"/>
              </a:rPr>
              <a:t>분자생물학적 군집 분석 (NGS):</a:t>
            </a:r>
            <a:endParaRPr sz="1200" b="1" i="0" u="none">
              <a:solidFill>
                <a:srgbClr val="334155"/>
              </a:solidFill>
              <a:latin typeface="Pretendard"/>
            </a:endParaRPr>
          </a:p>
          <a:p>
            <a:pPr lvl="0" algn="l">
              <a:lnSpc>
                <a:spcPts val="1920"/>
              </a:lnSpc>
              <a:defRPr/>
            </a:pPr>
            <a:r>
              <a:rPr sz="1200" b="0" i="0" u="none">
                <a:solidFill>
                  <a:srgbClr val="334155"/>
                </a:solidFill>
                <a:latin typeface="Pretendard"/>
              </a:rPr>
              <a:t> 16S rRNA (세균/고균) 및 ITS (진균) 영역 High-Throughput Sequencing</a:t>
            </a:r>
            <a:endParaRPr sz="1200" b="0" i="0" u="none">
              <a:solidFill>
                <a:srgbClr val="334155"/>
              </a:solidFill>
              <a:latin typeface="Pretendard"/>
            </a:endParaRPr>
          </a:p>
        </p:txBody>
      </p:sp>
      <p:sp>
        <p:nvSpPr>
          <p:cNvPr id="11" name="TextBox 10"/>
          <p:cNvSpPr txBox="1"/>
          <p:nvPr/>
        </p:nvSpPr>
        <p:spPr>
          <a:xfrm>
            <a:off x="838200" y="3359497"/>
            <a:ext cx="5067300" cy="717203"/>
          </a:xfrm>
          <a:prstGeom prst="rect">
            <a:avLst/>
          </a:prstGeom>
          <a:noFill/>
        </p:spPr>
        <p:txBody>
          <a:bodyPr wrap="square" lIns="0" tIns="0" rIns="0" bIns="0" anchor="t">
            <a:spAutoFit/>
          </a:bodyPr>
          <a:lstStyle/>
          <a:p>
            <a:pPr lvl="0" algn="l">
              <a:lnSpc>
                <a:spcPts val="1920"/>
              </a:lnSpc>
              <a:defRPr/>
            </a:pPr>
            <a:r>
              <a:rPr sz="1200" b="1" i="0" u="none">
                <a:solidFill>
                  <a:srgbClr val="334155"/>
                </a:solidFill>
                <a:latin typeface="Pretendard"/>
              </a:rPr>
              <a:t>이화학적 특성 및 오염물질 분석:</a:t>
            </a:r>
            <a:endParaRPr sz="1200" b="1" i="0" u="none">
              <a:solidFill>
                <a:srgbClr val="334155"/>
              </a:solidFill>
              <a:latin typeface="Pretendard"/>
            </a:endParaRPr>
          </a:p>
          <a:p>
            <a:pPr lvl="0" algn="l">
              <a:lnSpc>
                <a:spcPts val="1920"/>
              </a:lnSpc>
              <a:defRPr/>
            </a:pPr>
            <a:r>
              <a:rPr sz="1200" b="0" i="0" u="none">
                <a:solidFill>
                  <a:srgbClr val="334155"/>
                </a:solidFill>
                <a:latin typeface="Pretendard"/>
              </a:rPr>
              <a:t> 토성(Soil texture), pH, 유기 탄소(OC), C/N 비, 미량 중금속(Pb, Cu, Zn 등) 및 다환방향족탄화수소(PAHs)</a:t>
            </a:r>
            <a:endParaRPr sz="1200" b="0" i="0" u="none">
              <a:solidFill>
                <a:srgbClr val="334155"/>
              </a:solidFill>
              <a:latin typeface="Pretendard"/>
            </a:endParaRPr>
          </a:p>
        </p:txBody>
      </p:sp>
      <p:sp>
        <p:nvSpPr>
          <p:cNvPr id="12" name="TextBox 11"/>
          <p:cNvSpPr txBox="1"/>
          <p:nvPr/>
        </p:nvSpPr>
        <p:spPr>
          <a:xfrm>
            <a:off x="838200" y="4224188"/>
            <a:ext cx="5067300" cy="487560"/>
          </a:xfrm>
          <a:prstGeom prst="rect">
            <a:avLst/>
          </a:prstGeom>
          <a:noFill/>
        </p:spPr>
        <p:txBody>
          <a:bodyPr wrap="square" lIns="0" tIns="0" rIns="0" bIns="0" anchor="t">
            <a:spAutoFit/>
          </a:bodyPr>
          <a:lstStyle/>
          <a:p>
            <a:pPr lvl="0" algn="l">
              <a:lnSpc>
                <a:spcPts val="1920"/>
              </a:lnSpc>
              <a:defRPr/>
            </a:pPr>
            <a:r>
              <a:rPr sz="1200" b="1" i="0" u="none">
                <a:solidFill>
                  <a:srgbClr val="334155"/>
                </a:solidFill>
                <a:latin typeface="Pretendard"/>
              </a:rPr>
              <a:t>통계 모델링 (Variation Partitioning):</a:t>
            </a:r>
            <a:endParaRPr sz="1200" b="1" i="0" u="none">
              <a:solidFill>
                <a:srgbClr val="334155"/>
              </a:solidFill>
              <a:latin typeface="Pretendard"/>
            </a:endParaRPr>
          </a:p>
          <a:p>
            <a:pPr lvl="0" algn="l">
              <a:lnSpc>
                <a:spcPts val="1920"/>
              </a:lnSpc>
              <a:defRPr/>
            </a:pPr>
            <a:r>
              <a:rPr sz="1200" b="0" i="0" u="none">
                <a:solidFill>
                  <a:srgbClr val="334155"/>
                </a:solidFill>
                <a:latin typeface="Pretendard"/>
              </a:rPr>
              <a:t> 토양 물성과 토지 이용이 미생물 군집 변량에 미치는 상대적 기여도 산출</a:t>
            </a:r>
            <a:endParaRPr sz="1200" b="0" i="0" u="none">
              <a:solidFill>
                <a:srgbClr val="334155"/>
              </a:solidFill>
              <a:latin typeface="Pretendard"/>
            </a:endParaRPr>
          </a:p>
        </p:txBody>
      </p:sp>
      <p:pic>
        <p:nvPicPr>
          <p:cNvPr id="14" name="Picture 13" descr="image.png"/>
          <p:cNvPicPr>
            <a:picLocks noChangeAspect="1"/>
          </p:cNvPicPr>
          <p:nvPr/>
        </p:nvPicPr>
        <p:blipFill rotWithShape="1">
          <a:blip r:embed="rId7"/>
          <a:stretch>
            <a:fillRect/>
          </a:stretch>
        </p:blipFill>
        <p:spPr>
          <a:xfrm>
            <a:off x="571500" y="2146250"/>
            <a:ext cx="118616" cy="171450"/>
          </a:xfrm>
          <a:prstGeom prst="rect">
            <a:avLst/>
          </a:prstGeom>
        </p:spPr>
      </p:pic>
      <p:pic>
        <p:nvPicPr>
          <p:cNvPr id="15" name="Picture 14" descr="image.png"/>
          <p:cNvPicPr>
            <a:picLocks noChangeAspect="1"/>
          </p:cNvPicPr>
          <p:nvPr/>
        </p:nvPicPr>
        <p:blipFill rotWithShape="1">
          <a:blip r:embed="rId8"/>
          <a:stretch>
            <a:fillRect/>
          </a:stretch>
        </p:blipFill>
        <p:spPr>
          <a:xfrm>
            <a:off x="571500" y="2767161"/>
            <a:ext cx="118616" cy="171450"/>
          </a:xfrm>
          <a:prstGeom prst="rect">
            <a:avLst/>
          </a:prstGeom>
        </p:spPr>
      </p:pic>
      <p:pic>
        <p:nvPicPr>
          <p:cNvPr id="16" name="Picture 15" descr="image.png"/>
          <p:cNvPicPr>
            <a:picLocks noChangeAspect="1"/>
          </p:cNvPicPr>
          <p:nvPr/>
        </p:nvPicPr>
        <p:blipFill rotWithShape="1">
          <a:blip r:embed="rId9"/>
          <a:stretch>
            <a:fillRect/>
          </a:stretch>
        </p:blipFill>
        <p:spPr>
          <a:xfrm>
            <a:off x="571500" y="3388072"/>
            <a:ext cx="118616" cy="171450"/>
          </a:xfrm>
          <a:prstGeom prst="rect">
            <a:avLst/>
          </a:prstGeom>
        </p:spPr>
      </p:pic>
      <p:pic>
        <p:nvPicPr>
          <p:cNvPr id="17" name="Picture 16" descr="image.png"/>
          <p:cNvPicPr>
            <a:picLocks noChangeAspect="1"/>
          </p:cNvPicPr>
          <p:nvPr/>
        </p:nvPicPr>
        <p:blipFill rotWithShape="1">
          <a:blip r:embed="rId10"/>
          <a:stretch>
            <a:fillRect/>
          </a:stretch>
        </p:blipFill>
        <p:spPr>
          <a:xfrm>
            <a:off x="571500" y="4252763"/>
            <a:ext cx="118616" cy="171450"/>
          </a:xfrm>
          <a:prstGeom prst="rect">
            <a:avLst/>
          </a:prstGeom>
        </p:spPr>
      </p:pic>
      <p:sp>
        <p:nvSpPr>
          <p:cNvPr id="18" name="TextBox 17"/>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Methodology Overview</a:t>
            </a:r>
          </a:p>
        </p:txBody>
      </p:sp>
      <p:sp>
        <p:nvSpPr>
          <p:cNvPr id="19" name="Rectangle 18"/>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그림 19"/>
          <p:cNvPicPr>
            <a:picLocks noChangeAspect="1"/>
          </p:cNvPicPr>
          <p:nvPr/>
        </p:nvPicPr>
        <p:blipFill rotWithShape="1">
          <a:blip r:embed="rId11"/>
          <a:stretch>
            <a:fillRect/>
          </a:stretch>
        </p:blipFill>
        <p:spPr>
          <a:xfrm>
            <a:off x="4998369" y="6115858"/>
            <a:ext cx="2195260" cy="742142"/>
          </a:xfrm>
          <a:prstGeom prst="rect">
            <a:avLst/>
          </a:prstGeom>
        </p:spPr>
      </p:pic>
      <p:pic>
        <p:nvPicPr>
          <p:cNvPr id="23" name="그림 22"/>
          <p:cNvPicPr>
            <a:picLocks noChangeAspect="1"/>
          </p:cNvPicPr>
          <p:nvPr/>
        </p:nvPicPr>
        <p:blipFill rotWithShape="1">
          <a:blip r:embed="rId12"/>
          <a:stretch>
            <a:fillRect/>
          </a:stretch>
        </p:blipFill>
        <p:spPr>
          <a:xfrm>
            <a:off x="6374204" y="2208357"/>
            <a:ext cx="5520632" cy="2441284"/>
          </a:xfrm>
          <a:prstGeom prst="rect">
            <a:avLst/>
          </a:prstGeom>
        </p:spPr>
      </p:pic>
    </p:spTree>
  </p:cSld>
  <p:clrMapOvr>
    <a:masterClrMapping/>
  </p:clrMapOvr>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rotWithShape="1">
          <a:blip r:embed="rId4"/>
          <a:stretch>
            <a:fillRect/>
          </a:stretch>
        </p:blipFill>
        <p:spPr>
          <a:xfrm>
            <a:off x="608647" y="1237358"/>
            <a:ext cx="5334000" cy="2752725"/>
          </a:xfrm>
          <a:prstGeom prst="rect">
            <a:avLst/>
          </a:prstGeom>
        </p:spPr>
      </p:pic>
      <p:pic>
        <p:nvPicPr>
          <p:cNvPr id="4" name="Picture 3" descr="image.png"/>
          <p:cNvPicPr>
            <a:picLocks noChangeAspect="1"/>
          </p:cNvPicPr>
          <p:nvPr/>
        </p:nvPicPr>
        <p:blipFill rotWithShape="1">
          <a:blip r:embed="rId5"/>
          <a:stretch>
            <a:fillRect/>
          </a:stretch>
        </p:blipFill>
        <p:spPr>
          <a:xfrm>
            <a:off x="6323647" y="1237358"/>
            <a:ext cx="5334000" cy="2752725"/>
          </a:xfrm>
          <a:prstGeom prst="rect">
            <a:avLst/>
          </a:prstGeom>
        </p:spPr>
      </p:pic>
      <p:pic>
        <p:nvPicPr>
          <p:cNvPr id="5" name="Picture 4" descr="image.png"/>
          <p:cNvPicPr>
            <a:picLocks noChangeAspect="1"/>
          </p:cNvPicPr>
          <p:nvPr/>
        </p:nvPicPr>
        <p:blipFill rotWithShape="1">
          <a:blip r:embed="rId6"/>
          <a:stretch>
            <a:fillRect/>
          </a:stretch>
        </p:blipFill>
        <p:spPr>
          <a:xfrm>
            <a:off x="884872" y="1569840"/>
            <a:ext cx="4781550" cy="1087635"/>
          </a:xfrm>
          <a:prstGeom prst="rect">
            <a:avLst/>
          </a:prstGeom>
        </p:spPr>
      </p:pic>
      <p:pic>
        <p:nvPicPr>
          <p:cNvPr id="6" name="Picture 5" descr="image.png"/>
          <p:cNvPicPr>
            <a:picLocks noChangeAspect="1"/>
          </p:cNvPicPr>
          <p:nvPr/>
        </p:nvPicPr>
        <p:blipFill rotWithShape="1">
          <a:blip r:embed="rId7"/>
          <a:stretch>
            <a:fillRect/>
          </a:stretch>
        </p:blipFill>
        <p:spPr>
          <a:xfrm>
            <a:off x="6599872" y="1904108"/>
            <a:ext cx="4781550" cy="933450"/>
          </a:xfrm>
          <a:prstGeom prst="rect">
            <a:avLst/>
          </a:prstGeom>
        </p:spPr>
      </p:pic>
      <p:pic>
        <p:nvPicPr>
          <p:cNvPr id="7" name="Picture 6" descr="image.png"/>
          <p:cNvPicPr>
            <a:picLocks noChangeAspect="1"/>
          </p:cNvPicPr>
          <p:nvPr/>
        </p:nvPicPr>
        <p:blipFill rotWithShape="1">
          <a:blip r:embed="rId8"/>
          <a:stretch>
            <a:fillRect/>
          </a:stretch>
        </p:blipFill>
        <p:spPr>
          <a:xfrm>
            <a:off x="6599872" y="2989958"/>
            <a:ext cx="4781550" cy="723900"/>
          </a:xfrm>
          <a:prstGeom prst="rect">
            <a:avLst/>
          </a:prstGeom>
        </p:spPr>
      </p:pic>
      <p:pic>
        <p:nvPicPr>
          <p:cNvPr id="8" name="Picture 7" descr="image.png"/>
          <p:cNvPicPr>
            <a:picLocks noChangeAspect="1"/>
          </p:cNvPicPr>
          <p:nvPr/>
        </p:nvPicPr>
        <p:blipFill>
          <a:blip r:embed="rId9"/>
          <a:stretch>
            <a:fillRect/>
          </a:stretch>
        </p:blipFill>
        <p:spPr>
          <a:xfrm>
            <a:off x="9501336" y="238125"/>
            <a:ext cx="2119163" cy="247650"/>
          </a:xfrm>
          <a:prstGeom prst="rect">
            <a:avLst/>
          </a:prstGeom>
        </p:spPr>
      </p:pic>
      <p:pic>
        <p:nvPicPr>
          <p:cNvPr id="9" name="Picture 8" descr="image.png"/>
          <p:cNvPicPr>
            <a:picLocks noChangeAspect="1"/>
          </p:cNvPicPr>
          <p:nvPr/>
        </p:nvPicPr>
        <p:blipFill>
          <a:blip r:embed="rId10"/>
          <a:stretch>
            <a:fillRect/>
          </a:stretch>
        </p:blipFill>
        <p:spPr>
          <a:xfrm>
            <a:off x="571500" y="6419850"/>
            <a:ext cx="11049000" cy="247650"/>
          </a:xfrm>
          <a:prstGeom prst="rect">
            <a:avLst/>
          </a:prstGeom>
        </p:spPr>
      </p:pic>
      <p:pic>
        <p:nvPicPr>
          <p:cNvPr id="10" name="Picture 9" descr="image.png"/>
          <p:cNvPicPr>
            <a:picLocks noChangeAspect="1"/>
          </p:cNvPicPr>
          <p:nvPr/>
        </p:nvPicPr>
        <p:blipFill>
          <a:blip r:embed="rId11"/>
          <a:stretch>
            <a:fillRect/>
          </a:stretch>
        </p:blipFill>
        <p:spPr>
          <a:xfrm>
            <a:off x="571500" y="547687"/>
            <a:ext cx="202703" cy="266700"/>
          </a:xfrm>
          <a:prstGeom prst="rect">
            <a:avLst/>
          </a:prstGeom>
        </p:spPr>
      </p:pic>
      <p:sp>
        <p:nvSpPr>
          <p:cNvPr id="11" name="TextBox 10"/>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12" name="TextBox 11"/>
          <p:cNvSpPr txBox="1"/>
          <p:nvPr/>
        </p:nvSpPr>
        <p:spPr>
          <a:xfrm>
            <a:off x="11268819" y="6505575"/>
            <a:ext cx="351680" cy="161925"/>
          </a:xfrm>
          <a:prstGeom prst="rect">
            <a:avLst/>
          </a:prstGeom>
          <a:noFill/>
        </p:spPr>
        <p:txBody>
          <a:bodyPr wrap="square" lIns="0" rIns="0" tIns="0" bIns="0" anchor="t">
            <a:spAutoFit/>
          </a:bodyPr>
          <a:lstStyle/>
          <a:p>
            <a:pPr algn="l"/>
            <a:r>
              <a:rPr b="0" sz="900" i="0" u="none">
                <a:solidFill>
                  <a:srgbClr val="94A3B8"/>
                </a:solidFill>
                <a:latin typeface="Pretendard"/>
              </a:rPr>
              <a:t>Slide 6</a:t>
            </a:r>
          </a:p>
        </p:txBody>
      </p:sp>
      <p:sp>
        <p:nvSpPr>
          <p:cNvPr id="13" name="TextBox 12"/>
          <p:cNvSpPr txBox="1"/>
          <p:nvPr/>
        </p:nvSpPr>
        <p:spPr>
          <a:xfrm>
            <a:off x="884872" y="2847975"/>
            <a:ext cx="5020627" cy="208658"/>
          </a:xfrm>
          <a:prstGeom prst="rect">
            <a:avLst/>
          </a:prstGeom>
          <a:noFill/>
        </p:spPr>
        <p:txBody>
          <a:bodyPr wrap="square" lIns="0" tIns="0" rIns="0" bIns="0" anchor="t">
            <a:spAutoFit/>
          </a:bodyPr>
          <a:lstStyle/>
          <a:p>
            <a:pPr lvl="0" algn="l">
              <a:defRPr/>
            </a:pPr>
            <a:r>
              <a:rPr sz="1350" b="1" i="0" u="none">
                <a:solidFill>
                  <a:srgbClr val="0284c7"/>
                </a:solidFill>
                <a:latin typeface="Pretendard"/>
              </a:rPr>
              <a:t>바이오매스 변화 핵심 결과</a:t>
            </a:r>
            <a:endParaRPr sz="1350" b="1" i="0" u="none">
              <a:solidFill>
                <a:srgbClr val="0284c7"/>
              </a:solidFill>
              <a:latin typeface="Pretendard"/>
            </a:endParaRPr>
          </a:p>
        </p:txBody>
      </p:sp>
      <p:sp>
        <p:nvSpPr>
          <p:cNvPr id="14" name="TextBox 13"/>
          <p:cNvSpPr txBox="1"/>
          <p:nvPr/>
        </p:nvSpPr>
        <p:spPr>
          <a:xfrm>
            <a:off x="884872" y="3200400"/>
            <a:ext cx="4781550" cy="457200"/>
          </a:xfrm>
          <a:prstGeom prst="rect">
            <a:avLst/>
          </a:prstGeom>
          <a:noFill/>
        </p:spPr>
        <p:txBody>
          <a:bodyPr wrap="square" lIns="0" tIns="0" rIns="0" bIns="0" anchor="t">
            <a:spAutoFit/>
          </a:bodyPr>
          <a:lstStyle/>
          <a:p>
            <a:pPr lvl="0" algn="l">
              <a:lnSpc>
                <a:spcPts val="1800"/>
              </a:lnSpc>
              <a:defRPr/>
            </a:pPr>
            <a:r>
              <a:rPr sz="1125" b="0" i="0" u="none">
                <a:solidFill>
                  <a:srgbClr val="334155"/>
                </a:solidFill>
                <a:latin typeface="Pretendard"/>
              </a:rPr>
              <a:t>공공 휴양지(Public Leisure) 및 도로변(Traffic) 토양이 도시 경작지(Urban Agriculture)에 비해 현저히 높은 미생물 바이오매스를 유지함.</a:t>
            </a:r>
            <a:endParaRPr sz="1125" b="0" i="0" u="none">
              <a:solidFill>
                <a:srgbClr val="334155"/>
              </a:solidFill>
              <a:latin typeface="Pretendard"/>
            </a:endParaRPr>
          </a:p>
        </p:txBody>
      </p:sp>
      <p:sp>
        <p:nvSpPr>
          <p:cNvPr id="15" name="TextBox 14"/>
          <p:cNvSpPr txBox="1"/>
          <p:nvPr/>
        </p:nvSpPr>
        <p:spPr>
          <a:xfrm>
            <a:off x="6599871" y="1513583"/>
            <a:ext cx="5020628" cy="209550"/>
          </a:xfrm>
          <a:prstGeom prst="rect">
            <a:avLst/>
          </a:prstGeom>
          <a:noFill/>
        </p:spPr>
        <p:txBody>
          <a:bodyPr wrap="square" lIns="0" tIns="0" rIns="0" bIns="0" anchor="t">
            <a:spAutoFit/>
          </a:bodyPr>
          <a:lstStyle/>
          <a:p>
            <a:pPr lvl="0" algn="l">
              <a:defRPr/>
            </a:pPr>
            <a:r>
              <a:rPr sz="1350" b="1" i="0" u="none">
                <a:solidFill>
                  <a:srgbClr val="0f172a"/>
                </a:solidFill>
                <a:latin typeface="Pretendard"/>
              </a:rPr>
              <a:t>토양 이화학적 특성과의 상관성</a:t>
            </a:r>
            <a:endParaRPr sz="1350" b="1" i="0" u="none">
              <a:solidFill>
                <a:srgbClr val="0f172a"/>
              </a:solidFill>
              <a:latin typeface="Pretendard"/>
            </a:endParaRPr>
          </a:p>
        </p:txBody>
      </p:sp>
      <p:sp>
        <p:nvSpPr>
          <p:cNvPr id="16" name="TextBox 15"/>
          <p:cNvSpPr txBox="1"/>
          <p:nvPr/>
        </p:nvSpPr>
        <p:spPr>
          <a:xfrm>
            <a:off x="1084897" y="1769865"/>
            <a:ext cx="4381500" cy="439935"/>
          </a:xfrm>
          <a:prstGeom prst="rect">
            <a:avLst/>
          </a:prstGeom>
          <a:noFill/>
        </p:spPr>
        <p:txBody>
          <a:bodyPr wrap="square" lIns="0" tIns="0" rIns="0" bIns="0" anchor="t">
            <a:spAutoFit/>
          </a:bodyPr>
          <a:lstStyle/>
          <a:p>
            <a:pPr lvl="0" algn="ctr">
              <a:lnSpc>
                <a:spcPts val="3465"/>
              </a:lnSpc>
              <a:defRPr/>
            </a:pPr>
            <a:r>
              <a:rPr sz="3150" b="0" i="0" u="none">
                <a:solidFill>
                  <a:srgbClr val="0284c7"/>
                </a:solidFill>
                <a:latin typeface="Pretendard ExtraBold"/>
              </a:rPr>
              <a:t>1.8 ×</a:t>
            </a:r>
            <a:endParaRPr sz="3150" b="0" i="0" u="none">
              <a:solidFill>
                <a:srgbClr val="0284c7"/>
              </a:solidFill>
              <a:latin typeface="Pretendard ExtraBold"/>
            </a:endParaRPr>
          </a:p>
        </p:txBody>
      </p:sp>
      <p:sp>
        <p:nvSpPr>
          <p:cNvPr id="17" name="TextBox 16"/>
          <p:cNvSpPr txBox="1"/>
          <p:nvPr/>
        </p:nvSpPr>
        <p:spPr>
          <a:xfrm>
            <a:off x="1084897" y="2266950"/>
            <a:ext cx="4381500" cy="161033"/>
          </a:xfrm>
          <a:prstGeom prst="rect">
            <a:avLst/>
          </a:prstGeom>
          <a:noFill/>
        </p:spPr>
        <p:txBody>
          <a:bodyPr wrap="square" lIns="0" tIns="0" rIns="0" bIns="0" anchor="t">
            <a:spAutoFit/>
          </a:bodyPr>
          <a:lstStyle/>
          <a:p>
            <a:pPr lvl="0" algn="ctr">
              <a:defRPr/>
            </a:pPr>
            <a:r>
              <a:rPr sz="1050" b="0" i="0" u="none">
                <a:solidFill>
                  <a:srgbClr val="64748b"/>
                </a:solidFill>
                <a:latin typeface="Pretendard SemiBold"/>
              </a:rPr>
              <a:t>공원/도로변 토양 바이오매스 (vs 도시농업)</a:t>
            </a:r>
            <a:endParaRPr sz="1050" b="0" i="0" u="none">
              <a:solidFill>
                <a:srgbClr val="64748b"/>
              </a:solidFill>
              <a:latin typeface="Pretendard SemiBold"/>
            </a:endParaRPr>
          </a:p>
        </p:txBody>
      </p:sp>
      <p:sp>
        <p:nvSpPr>
          <p:cNvPr id="18" name="TextBox 17"/>
          <p:cNvSpPr txBox="1"/>
          <p:nvPr/>
        </p:nvSpPr>
        <p:spPr>
          <a:xfrm>
            <a:off x="6742747" y="2046983"/>
            <a:ext cx="1596181" cy="180975"/>
          </a:xfrm>
          <a:prstGeom prst="rect">
            <a:avLst/>
          </a:prstGeom>
          <a:noFill/>
        </p:spPr>
        <p:txBody>
          <a:bodyPr wrap="square" lIns="0" tIns="0" rIns="0" bIns="0" anchor="t">
            <a:spAutoFit/>
          </a:bodyPr>
          <a:lstStyle/>
          <a:p>
            <a:pPr lvl="0" algn="l">
              <a:defRPr/>
            </a:pPr>
            <a:r>
              <a:rPr sz="1200" b="1" i="0" u="none">
                <a:solidFill>
                  <a:srgbClr val="0284c7"/>
                </a:solidFill>
                <a:latin typeface="Pretendard"/>
              </a:rPr>
              <a:t>Organic Carbon (OC):</a:t>
            </a:r>
            <a:endParaRPr sz="1200" b="1" i="0" u="none">
              <a:solidFill>
                <a:srgbClr val="0284c7"/>
              </a:solidFill>
              <a:latin typeface="Pretendard"/>
            </a:endParaRPr>
          </a:p>
        </p:txBody>
      </p:sp>
      <p:sp>
        <p:nvSpPr>
          <p:cNvPr id="19" name="TextBox 18"/>
          <p:cNvSpPr txBox="1"/>
          <p:nvPr/>
        </p:nvSpPr>
        <p:spPr>
          <a:xfrm>
            <a:off x="6742747" y="3132833"/>
            <a:ext cx="1774180" cy="180975"/>
          </a:xfrm>
          <a:prstGeom prst="rect">
            <a:avLst/>
          </a:prstGeom>
          <a:noFill/>
        </p:spPr>
        <p:txBody>
          <a:bodyPr wrap="square" lIns="0" tIns="0" rIns="0" bIns="0" anchor="t">
            <a:spAutoFit/>
          </a:bodyPr>
          <a:lstStyle/>
          <a:p>
            <a:pPr lvl="0" algn="l">
              <a:defRPr/>
            </a:pPr>
            <a:r>
              <a:rPr sz="1200" b="1" i="0" u="none">
                <a:solidFill>
                  <a:srgbClr val="0284c7"/>
                </a:solidFill>
                <a:latin typeface="Pretendard"/>
              </a:rPr>
              <a:t>C/N Ratio (탄소/질소 비):</a:t>
            </a:r>
            <a:endParaRPr sz="1200" b="1" i="0" u="none">
              <a:solidFill>
                <a:srgbClr val="0284c7"/>
              </a:solidFill>
              <a:latin typeface="Pretendard"/>
            </a:endParaRPr>
          </a:p>
        </p:txBody>
      </p:sp>
      <p:sp>
        <p:nvSpPr>
          <p:cNvPr id="20" name="TextBox 19"/>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Microbial Biomass Analysis</a:t>
            </a:r>
          </a:p>
        </p:txBody>
      </p:sp>
      <p:sp>
        <p:nvSpPr>
          <p:cNvPr id="21" name="Rectangle 20"/>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그림 21"/>
          <p:cNvPicPr>
            <a:picLocks noChangeAspect="1"/>
          </p:cNvPicPr>
          <p:nvPr/>
        </p:nvPicPr>
        <p:blipFill rotWithShape="1">
          <a:blip r:embed="rId12"/>
          <a:stretch>
            <a:fillRect/>
          </a:stretch>
        </p:blipFill>
        <p:spPr>
          <a:xfrm>
            <a:off x="4998369" y="6115858"/>
            <a:ext cx="2195260" cy="742142"/>
          </a:xfrm>
          <a:prstGeom prst="rect">
            <a:avLst/>
          </a:prstGeom>
        </p:spPr>
      </p:pic>
      <p:pic>
        <p:nvPicPr>
          <p:cNvPr id="24" name="그림 23"/>
          <p:cNvPicPr>
            <a:picLocks noChangeAspect="1"/>
          </p:cNvPicPr>
          <p:nvPr/>
        </p:nvPicPr>
        <p:blipFill rotWithShape="1">
          <a:blip r:embed="rId13"/>
          <a:stretch>
            <a:fillRect/>
          </a:stretch>
        </p:blipFill>
        <p:spPr>
          <a:xfrm>
            <a:off x="2285047" y="4077133"/>
            <a:ext cx="1948362" cy="2191375"/>
          </a:xfrm>
          <a:prstGeom prst="rect">
            <a:avLst/>
          </a:prstGeom>
        </p:spPr>
      </p:pic>
      <p:pic>
        <p:nvPicPr>
          <p:cNvPr id="25" name="그림 24"/>
          <p:cNvPicPr>
            <a:picLocks noChangeAspect="1"/>
          </p:cNvPicPr>
          <p:nvPr/>
        </p:nvPicPr>
        <p:blipFill rotWithShape="1">
          <a:blip r:embed="rId14"/>
          <a:stretch>
            <a:fillRect/>
          </a:stretch>
        </p:blipFill>
        <p:spPr>
          <a:xfrm rot="5400000">
            <a:off x="6845554" y="2086544"/>
            <a:ext cx="2194684" cy="6175862"/>
          </a:xfrm>
          <a:prstGeom prst="rect">
            <a:avLst/>
          </a:prstGeom>
        </p:spPr>
      </p:pic>
    </p:spTree>
  </p:cSld>
  <p:clrMapOvr>
    <a:masterClrMapping/>
  </p:clrMapOvr>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rotWithShape="1">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rotWithShape="1">
          <a:blip r:embed="rId4"/>
          <a:stretch>
            <a:fillRect/>
          </a:stretch>
        </p:blipFill>
        <p:spPr>
          <a:xfrm>
            <a:off x="571500" y="1442144"/>
            <a:ext cx="5334000" cy="2220962"/>
          </a:xfrm>
          <a:prstGeom prst="rect">
            <a:avLst/>
          </a:prstGeom>
        </p:spPr>
      </p:pic>
      <p:pic>
        <p:nvPicPr>
          <p:cNvPr id="4" name="Picture 3" descr="image.png"/>
          <p:cNvPicPr>
            <a:picLocks noChangeAspect="1"/>
          </p:cNvPicPr>
          <p:nvPr/>
        </p:nvPicPr>
        <p:blipFill rotWithShape="1">
          <a:blip r:embed="rId5"/>
          <a:stretch>
            <a:fillRect/>
          </a:stretch>
        </p:blipFill>
        <p:spPr>
          <a:xfrm>
            <a:off x="571500" y="3961571"/>
            <a:ext cx="5334000" cy="2220962"/>
          </a:xfrm>
          <a:prstGeom prst="rect">
            <a:avLst/>
          </a:prstGeom>
        </p:spPr>
      </p:pic>
      <p:pic>
        <p:nvPicPr>
          <p:cNvPr id="5" name="Picture 4" descr="image.png"/>
          <p:cNvPicPr>
            <a:picLocks noChangeAspect="1"/>
          </p:cNvPicPr>
          <p:nvPr/>
        </p:nvPicPr>
        <p:blipFill rotWithShape="1">
          <a:blip r:embed="rId6"/>
          <a:stretch>
            <a:fillRect/>
          </a:stretch>
        </p:blipFill>
        <p:spPr>
          <a:xfrm>
            <a:off x="847725" y="2118419"/>
            <a:ext cx="4781550" cy="542925"/>
          </a:xfrm>
          <a:prstGeom prst="rect">
            <a:avLst/>
          </a:prstGeom>
        </p:spPr>
      </p:pic>
      <p:pic>
        <p:nvPicPr>
          <p:cNvPr id="6" name="Picture 5" descr="image.png"/>
          <p:cNvPicPr>
            <a:picLocks noChangeAspect="1"/>
          </p:cNvPicPr>
          <p:nvPr/>
        </p:nvPicPr>
        <p:blipFill rotWithShape="1">
          <a:blip r:embed="rId7"/>
          <a:stretch>
            <a:fillRect/>
          </a:stretch>
        </p:blipFill>
        <p:spPr>
          <a:xfrm>
            <a:off x="847725" y="4714046"/>
            <a:ext cx="4781550" cy="542925"/>
          </a:xfrm>
          <a:prstGeom prst="rect">
            <a:avLst/>
          </a:prstGeom>
        </p:spPr>
      </p:pic>
      <p:pic>
        <p:nvPicPr>
          <p:cNvPr id="7" name="Picture 6" descr="image.png"/>
          <p:cNvPicPr>
            <a:picLocks noChangeAspect="1"/>
          </p:cNvPicPr>
          <p:nvPr/>
        </p:nvPicPr>
        <p:blipFill>
          <a:blip r:embed="rId8"/>
          <a:stretch>
            <a:fillRect/>
          </a:stretch>
        </p:blipFill>
        <p:spPr>
          <a:xfrm>
            <a:off x="9501336" y="238125"/>
            <a:ext cx="2119163" cy="247650"/>
          </a:xfrm>
          <a:prstGeom prst="rect">
            <a:avLst/>
          </a:prstGeom>
        </p:spPr>
      </p:pic>
      <p:pic>
        <p:nvPicPr>
          <p:cNvPr id="8" name="Picture 7" descr="image.png"/>
          <p:cNvPicPr>
            <a:picLocks noChangeAspect="1"/>
          </p:cNvPicPr>
          <p:nvPr/>
        </p:nvPicPr>
        <p:blipFill>
          <a:blip r:embed="rId9"/>
          <a:stretch>
            <a:fillRect/>
          </a:stretch>
        </p:blipFill>
        <p:spPr>
          <a:xfrm>
            <a:off x="571500" y="6419850"/>
            <a:ext cx="11049000" cy="247650"/>
          </a:xfrm>
          <a:prstGeom prst="rect">
            <a:avLst/>
          </a:prstGeom>
        </p:spPr>
      </p:pic>
      <p:pic>
        <p:nvPicPr>
          <p:cNvPr id="9" name="Picture 8" descr="image.png"/>
          <p:cNvPicPr>
            <a:picLocks noChangeAspect="1"/>
          </p:cNvPicPr>
          <p:nvPr/>
        </p:nvPicPr>
        <p:blipFill>
          <a:blip r:embed="rId10"/>
          <a:stretch>
            <a:fillRect/>
          </a:stretch>
        </p:blipFill>
        <p:spPr>
          <a:xfrm>
            <a:off x="571500" y="547687"/>
            <a:ext cx="202703" cy="266700"/>
          </a:xfrm>
          <a:prstGeom prst="rect">
            <a:avLst/>
          </a:prstGeom>
        </p:spPr>
      </p:pic>
      <p:sp>
        <p:nvSpPr>
          <p:cNvPr id="10" name="TextBox 9"/>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11" name="TextBox 10"/>
          <p:cNvSpPr txBox="1"/>
          <p:nvPr/>
        </p:nvSpPr>
        <p:spPr>
          <a:xfrm>
            <a:off x="11268819" y="6505575"/>
            <a:ext cx="351680" cy="161925"/>
          </a:xfrm>
          <a:prstGeom prst="rect">
            <a:avLst/>
          </a:prstGeom>
          <a:noFill/>
        </p:spPr>
        <p:txBody>
          <a:bodyPr wrap="square" lIns="0" rIns="0" tIns="0" bIns="0" anchor="t">
            <a:spAutoFit/>
          </a:bodyPr>
          <a:lstStyle/>
          <a:p>
            <a:pPr algn="l"/>
            <a:r>
              <a:rPr b="0" sz="900" i="0" u="none">
                <a:solidFill>
                  <a:srgbClr val="94A3B8"/>
                </a:solidFill>
                <a:latin typeface="Pretendard"/>
              </a:rPr>
              <a:t>Slide 7</a:t>
            </a:r>
          </a:p>
        </p:txBody>
      </p:sp>
      <p:sp>
        <p:nvSpPr>
          <p:cNvPr id="12" name="TextBox 11"/>
          <p:cNvSpPr txBox="1"/>
          <p:nvPr/>
        </p:nvSpPr>
        <p:spPr>
          <a:xfrm>
            <a:off x="847725" y="2794694"/>
            <a:ext cx="4781550" cy="643831"/>
          </a:xfrm>
          <a:prstGeom prst="rect">
            <a:avLst/>
          </a:prstGeom>
          <a:noFill/>
        </p:spPr>
        <p:txBody>
          <a:bodyPr wrap="square" lIns="0" tIns="0" rIns="0" bIns="0" anchor="t">
            <a:spAutoFit/>
          </a:bodyPr>
          <a:lstStyle/>
          <a:p>
            <a:pPr lvl="0" algn="l">
              <a:lnSpc>
                <a:spcPts val="1679"/>
              </a:lnSpc>
              <a:defRPr/>
            </a:pPr>
            <a:r>
              <a:rPr sz="1050" b="0" i="0" u="none">
                <a:solidFill>
                  <a:srgbClr val="334155"/>
                </a:solidFill>
                <a:latin typeface="Pretendard"/>
              </a:rPr>
              <a:t>공공 휴양지 토양에서 세균 풍부도가 비교적 낮게 나타남. 이는 안정화된 환경에서 특정 전공 미생물군이 우점함을 시사함. 주요 설명 인자: </a:t>
            </a:r>
            <a:r>
              <a:rPr sz="1050" b="1" i="0" u="none">
                <a:solidFill>
                  <a:srgbClr val="334155"/>
                </a:solidFill>
                <a:latin typeface="Pretendard"/>
              </a:rPr>
              <a:t>토량 질감(Texture) 및 토지 이용 방식</a:t>
            </a:r>
            <a:r>
              <a:rPr sz="1050" b="0" i="0" u="none">
                <a:solidFill>
                  <a:srgbClr val="334155"/>
                </a:solidFill>
                <a:latin typeface="Pretendard"/>
              </a:rPr>
              <a:t>.</a:t>
            </a:r>
            <a:endParaRPr sz="1050" b="0" i="0" u="none">
              <a:solidFill>
                <a:srgbClr val="334155"/>
              </a:solidFill>
              <a:latin typeface="Pretendard"/>
            </a:endParaRPr>
          </a:p>
        </p:txBody>
      </p:sp>
      <p:sp>
        <p:nvSpPr>
          <p:cNvPr id="13" name="TextBox 12"/>
          <p:cNvSpPr txBox="1"/>
          <p:nvPr/>
        </p:nvSpPr>
        <p:spPr>
          <a:xfrm>
            <a:off x="847725" y="5390321"/>
            <a:ext cx="4781550" cy="426541"/>
          </a:xfrm>
          <a:prstGeom prst="rect">
            <a:avLst/>
          </a:prstGeom>
          <a:noFill/>
        </p:spPr>
        <p:txBody>
          <a:bodyPr wrap="square" lIns="0" tIns="0" rIns="0" bIns="0" anchor="t">
            <a:spAutoFit/>
          </a:bodyPr>
          <a:lstStyle/>
          <a:p>
            <a:pPr lvl="0" algn="l">
              <a:lnSpc>
                <a:spcPts val="1679"/>
              </a:lnSpc>
              <a:defRPr/>
            </a:pPr>
            <a:r>
              <a:rPr sz="1050" b="0" i="0" u="none">
                <a:solidFill>
                  <a:srgbClr val="334155"/>
                </a:solidFill>
                <a:latin typeface="Pretendard"/>
              </a:rPr>
              <a:t>도시 경작지/텃밭 토양에서 진균 풍부도가 현저히 증가함. 농업 행위 및 다양한 유기물 투입이 기회주의적 진균군의 다양성을 유도함.</a:t>
            </a:r>
            <a:endParaRPr sz="1050" b="0" i="0" u="none">
              <a:solidFill>
                <a:srgbClr val="334155"/>
              </a:solidFill>
              <a:latin typeface="Pretendard"/>
            </a:endParaRPr>
          </a:p>
        </p:txBody>
      </p:sp>
      <p:pic>
        <p:nvPicPr>
          <p:cNvPr id="14" name="Picture 13" descr="image.png"/>
          <p:cNvPicPr>
            <a:picLocks noChangeAspect="1"/>
          </p:cNvPicPr>
          <p:nvPr/>
        </p:nvPicPr>
        <p:blipFill rotWithShape="1">
          <a:blip r:embed="rId11"/>
          <a:stretch>
            <a:fillRect/>
          </a:stretch>
        </p:blipFill>
        <p:spPr>
          <a:xfrm>
            <a:off x="847725" y="1718369"/>
            <a:ext cx="237083" cy="304800"/>
          </a:xfrm>
          <a:prstGeom prst="rect">
            <a:avLst/>
          </a:prstGeom>
        </p:spPr>
      </p:pic>
      <p:sp>
        <p:nvSpPr>
          <p:cNvPr id="15" name="TextBox 14"/>
          <p:cNvSpPr txBox="1"/>
          <p:nvPr/>
        </p:nvSpPr>
        <p:spPr>
          <a:xfrm>
            <a:off x="1199108" y="1889819"/>
            <a:ext cx="2918370" cy="177106"/>
          </a:xfrm>
          <a:prstGeom prst="rect">
            <a:avLst/>
          </a:prstGeom>
          <a:noFill/>
        </p:spPr>
        <p:txBody>
          <a:bodyPr wrap="square" lIns="0" tIns="0" rIns="0" bIns="0" anchor="t">
            <a:spAutoFit/>
          </a:bodyPr>
          <a:lstStyle/>
          <a:p>
            <a:pPr lvl="0" algn="l">
              <a:defRPr/>
            </a:pPr>
            <a:r>
              <a:rPr sz="1200" b="0" i="0" u="none">
                <a:solidFill>
                  <a:srgbClr val="64748b"/>
                </a:solidFill>
                <a:latin typeface="Pretendard"/>
              </a:rPr>
              <a:t>16S rRNA Amplicon Analysis</a:t>
            </a:r>
            <a:endParaRPr sz="1200" b="0" i="0" u="none">
              <a:solidFill>
                <a:srgbClr val="64748b"/>
              </a:solidFill>
              <a:latin typeface="Pretendard"/>
            </a:endParaRPr>
          </a:p>
        </p:txBody>
      </p:sp>
      <p:pic>
        <p:nvPicPr>
          <p:cNvPr id="16" name="Picture 15" descr="image.png"/>
          <p:cNvPicPr>
            <a:picLocks noChangeAspect="1"/>
          </p:cNvPicPr>
          <p:nvPr/>
        </p:nvPicPr>
        <p:blipFill rotWithShape="1">
          <a:blip r:embed="rId12"/>
          <a:stretch>
            <a:fillRect/>
          </a:stretch>
        </p:blipFill>
        <p:spPr>
          <a:xfrm>
            <a:off x="847725" y="4313996"/>
            <a:ext cx="237083" cy="304800"/>
          </a:xfrm>
          <a:prstGeom prst="rect">
            <a:avLst/>
          </a:prstGeom>
        </p:spPr>
      </p:pic>
      <p:sp>
        <p:nvSpPr>
          <p:cNvPr id="17" name="TextBox 16"/>
          <p:cNvSpPr txBox="1"/>
          <p:nvPr/>
        </p:nvSpPr>
        <p:spPr>
          <a:xfrm>
            <a:off x="1199108" y="4456871"/>
            <a:ext cx="2712987" cy="177106"/>
          </a:xfrm>
          <a:prstGeom prst="rect">
            <a:avLst/>
          </a:prstGeom>
          <a:noFill/>
        </p:spPr>
        <p:txBody>
          <a:bodyPr wrap="square" lIns="0" tIns="0" rIns="0" bIns="0" anchor="t">
            <a:spAutoFit/>
          </a:bodyPr>
          <a:lstStyle/>
          <a:p>
            <a:pPr lvl="0" algn="l">
              <a:defRPr/>
            </a:pPr>
            <a:r>
              <a:rPr sz="1200" b="0" i="0" u="none">
                <a:solidFill>
                  <a:srgbClr val="64748b"/>
                </a:solidFill>
                <a:latin typeface="Pretendard"/>
              </a:rPr>
              <a:t>ITS Amplicon Analysis</a:t>
            </a:r>
            <a:endParaRPr sz="1200" b="0" i="0" u="none">
              <a:solidFill>
                <a:srgbClr val="64748b"/>
              </a:solidFill>
              <a:latin typeface="Pretendard"/>
            </a:endParaRPr>
          </a:p>
        </p:txBody>
      </p:sp>
      <p:sp>
        <p:nvSpPr>
          <p:cNvPr id="18" name="TextBox 17"/>
          <p:cNvSpPr txBox="1"/>
          <p:nvPr/>
        </p:nvSpPr>
        <p:spPr>
          <a:xfrm>
            <a:off x="1199108" y="1632644"/>
            <a:ext cx="3064289" cy="224731"/>
          </a:xfrm>
          <a:prstGeom prst="rect">
            <a:avLst/>
          </a:prstGeom>
          <a:noFill/>
        </p:spPr>
        <p:txBody>
          <a:bodyPr wrap="square" lIns="0" tIns="0" rIns="0" bIns="0" anchor="t">
            <a:spAutoFit/>
          </a:bodyPr>
          <a:lstStyle/>
          <a:p>
            <a:pPr lvl="0" algn="l">
              <a:defRPr/>
            </a:pPr>
            <a:r>
              <a:rPr sz="1500" b="1" i="0" u="none">
                <a:solidFill>
                  <a:srgbClr val="0f172a"/>
                </a:solidFill>
                <a:latin typeface="Pretendard"/>
              </a:rPr>
              <a:t>세균 다형성 (Bacterial Richness)</a:t>
            </a:r>
            <a:endParaRPr sz="1500" b="1" i="0" u="none">
              <a:solidFill>
                <a:srgbClr val="0f172a"/>
              </a:solidFill>
              <a:latin typeface="Pretendard"/>
            </a:endParaRPr>
          </a:p>
        </p:txBody>
      </p:sp>
      <p:sp>
        <p:nvSpPr>
          <p:cNvPr id="19" name="TextBox 18"/>
          <p:cNvSpPr txBox="1"/>
          <p:nvPr/>
        </p:nvSpPr>
        <p:spPr>
          <a:xfrm>
            <a:off x="1199108" y="4228271"/>
            <a:ext cx="2848637" cy="224731"/>
          </a:xfrm>
          <a:prstGeom prst="rect">
            <a:avLst/>
          </a:prstGeom>
          <a:noFill/>
        </p:spPr>
        <p:txBody>
          <a:bodyPr wrap="square" lIns="0" tIns="0" rIns="0" bIns="0" anchor="t">
            <a:spAutoFit/>
          </a:bodyPr>
          <a:lstStyle/>
          <a:p>
            <a:pPr lvl="0" algn="l">
              <a:defRPr/>
            </a:pPr>
            <a:r>
              <a:rPr sz="1500" b="1" i="0" u="none">
                <a:solidFill>
                  <a:srgbClr val="0f172a"/>
                </a:solidFill>
                <a:latin typeface="Pretendard"/>
              </a:rPr>
              <a:t>진균 다형성 (Fungal Richness)</a:t>
            </a:r>
            <a:endParaRPr sz="1500" b="1" i="0" u="none">
              <a:solidFill>
                <a:srgbClr val="0f172a"/>
              </a:solidFill>
              <a:latin typeface="Pretendard"/>
            </a:endParaRPr>
          </a:p>
        </p:txBody>
      </p:sp>
      <p:sp>
        <p:nvSpPr>
          <p:cNvPr id="20" name="TextBox 19"/>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Microbial Diversity Patterns</a:t>
            </a:r>
          </a:p>
        </p:txBody>
      </p:sp>
      <p:sp>
        <p:nvSpPr>
          <p:cNvPr id="21" name="Rectangle 20"/>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그림 21"/>
          <p:cNvPicPr>
            <a:picLocks noChangeAspect="1"/>
          </p:cNvPicPr>
          <p:nvPr/>
        </p:nvPicPr>
        <p:blipFill rotWithShape="1">
          <a:blip r:embed="rId13"/>
          <a:stretch>
            <a:fillRect/>
          </a:stretch>
        </p:blipFill>
        <p:spPr>
          <a:xfrm>
            <a:off x="4998369" y="6115858"/>
            <a:ext cx="2195260" cy="742142"/>
          </a:xfrm>
          <a:prstGeom prst="rect">
            <a:avLst/>
          </a:prstGeom>
        </p:spPr>
      </p:pic>
      <p:pic>
        <p:nvPicPr>
          <p:cNvPr id="23" name="그림 22"/>
          <p:cNvPicPr>
            <a:picLocks noChangeAspect="1"/>
          </p:cNvPicPr>
          <p:nvPr/>
        </p:nvPicPr>
        <p:blipFill rotWithShape="1">
          <a:blip r:embed="rId14"/>
          <a:stretch>
            <a:fillRect/>
          </a:stretch>
        </p:blipFill>
        <p:spPr>
          <a:xfrm>
            <a:off x="6294105" y="2358958"/>
            <a:ext cx="5442811" cy="2519426"/>
          </a:xfrm>
          <a:prstGeom prst="rect">
            <a:avLst/>
          </a:prstGeom>
        </p:spPr>
      </p:pic>
      <p:sp>
        <p:nvSpPr>
          <p:cNvPr id="24" name="직사각형 23"/>
          <p:cNvSpPr/>
          <p:nvPr/>
        </p:nvSpPr>
        <p:spPr>
          <a:xfrm>
            <a:off x="6641042" y="2963333"/>
            <a:ext cx="762000" cy="2108718"/>
          </a:xfrm>
          <a:prstGeom prst="rect">
            <a:avLst/>
          </a:prstGeom>
          <a:noFill/>
          <a:ln w="28575">
            <a:solidFill>
              <a:srgbClr val="0000ff"/>
            </a:solidFill>
          </a:ln>
        </p:spPr>
        <p:style>
          <a:lnRef idx="1">
            <a:schemeClr val="accent1"/>
          </a:lnRef>
          <a:fillRef idx="3">
            <a:schemeClr val="accent1"/>
          </a:fillRef>
          <a:effectRef idx="2">
            <a:schemeClr val="accent1"/>
          </a:effectRef>
          <a:fontRef idx="minor">
            <a:schemeClr val="lt1"/>
          </a:fontRef>
        </p:style>
        <p:txBody>
          <a:bodyPr/>
          <a:p>
            <a:pPr lvl="0">
              <a:defRPr/>
            </a:pPr>
            <a:endParaRPr/>
          </a:p>
        </p:txBody>
      </p:sp>
      <p:sp>
        <p:nvSpPr>
          <p:cNvPr id="25" name="직사각형 24"/>
          <p:cNvSpPr/>
          <p:nvPr/>
        </p:nvSpPr>
        <p:spPr>
          <a:xfrm>
            <a:off x="10887818" y="2661344"/>
            <a:ext cx="849097" cy="2324164"/>
          </a:xfrm>
          <a:prstGeom prst="rect">
            <a:avLst/>
          </a:prstGeom>
          <a:noFill/>
          <a:ln w="28575">
            <a:solidFill>
              <a:srgbClr val="008000"/>
            </a:solidFill>
          </a:ln>
        </p:spPr>
        <p:style>
          <a:lnRef idx="1">
            <a:schemeClr val="accent1"/>
          </a:lnRef>
          <a:fillRef idx="3">
            <a:schemeClr val="accent1"/>
          </a:fillRef>
          <a:effectRef idx="2">
            <a:schemeClr val="accent1"/>
          </a:effectRef>
          <a:fontRef idx="minor">
            <a:schemeClr val="lt1"/>
          </a:fontRef>
        </p:style>
        <p:txBody>
          <a:bodyPr/>
          <a:lstStyle/>
          <a:p>
            <a:pPr lvl="0">
              <a:defRPr/>
            </a:pPr>
            <a:endParaRPr/>
          </a:p>
        </p:txBody>
      </p:sp>
    </p:spTree>
  </p:cSld>
  <p:clrMapOvr>
    <a:masterClrMapping/>
  </p:clrMapOvr>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3048000"/>
            <a:ext cx="5334000" cy="1533525"/>
          </a:xfrm>
          <a:prstGeom prst="rect">
            <a:avLst/>
          </a:prstGeom>
        </p:spPr>
      </p:pic>
      <p:pic>
        <p:nvPicPr>
          <p:cNvPr id="4" name="Picture 3" descr="image.png"/>
          <p:cNvPicPr>
            <a:picLocks noChangeAspect="1"/>
          </p:cNvPicPr>
          <p:nvPr/>
        </p:nvPicPr>
        <p:blipFill>
          <a:blip r:embed="rId5"/>
          <a:stretch>
            <a:fillRect/>
          </a:stretch>
        </p:blipFill>
        <p:spPr>
          <a:xfrm>
            <a:off x="6286500" y="2878633"/>
            <a:ext cx="5334000" cy="1872257"/>
          </a:xfrm>
          <a:prstGeom prst="rect">
            <a:avLst/>
          </a:prstGeom>
        </p:spPr>
      </p:pic>
      <p:pic>
        <p:nvPicPr>
          <p:cNvPr id="5" name="Picture 4" descr="image.png"/>
          <p:cNvPicPr>
            <a:picLocks noChangeAspect="1"/>
          </p:cNvPicPr>
          <p:nvPr/>
        </p:nvPicPr>
        <p:blipFill>
          <a:blip r:embed="rId6"/>
          <a:stretch>
            <a:fillRect/>
          </a:stretch>
        </p:blipFill>
        <p:spPr>
          <a:xfrm>
            <a:off x="9501336" y="238125"/>
            <a:ext cx="2119163" cy="247650"/>
          </a:xfrm>
          <a:prstGeom prst="rect">
            <a:avLst/>
          </a:prstGeom>
        </p:spPr>
      </p:pic>
      <p:pic>
        <p:nvPicPr>
          <p:cNvPr id="6" name="Picture 5" descr="image.png"/>
          <p:cNvPicPr>
            <a:picLocks noChangeAspect="1"/>
          </p:cNvPicPr>
          <p:nvPr/>
        </p:nvPicPr>
        <p:blipFill>
          <a:blip r:embed="rId7"/>
          <a:stretch>
            <a:fillRect/>
          </a:stretch>
        </p:blipFill>
        <p:spPr>
          <a:xfrm>
            <a:off x="571500" y="6419850"/>
            <a:ext cx="11049000" cy="247650"/>
          </a:xfrm>
          <a:prstGeom prst="rect">
            <a:avLst/>
          </a:prstGeom>
        </p:spPr>
      </p:pic>
      <p:pic>
        <p:nvPicPr>
          <p:cNvPr id="7" name="Picture 6" descr="image.png"/>
          <p:cNvPicPr>
            <a:picLocks noChangeAspect="1"/>
          </p:cNvPicPr>
          <p:nvPr/>
        </p:nvPicPr>
        <p:blipFill>
          <a:blip r:embed="rId8"/>
          <a:stretch>
            <a:fillRect/>
          </a:stretch>
        </p:blipFill>
        <p:spPr>
          <a:xfrm>
            <a:off x="571500" y="547687"/>
            <a:ext cx="202703" cy="266700"/>
          </a:xfrm>
          <a:prstGeom prst="rect">
            <a:avLst/>
          </a:prstGeom>
        </p:spPr>
      </p:pic>
      <p:sp>
        <p:nvSpPr>
          <p:cNvPr id="8" name="TextBox 7"/>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9" name="TextBox 8"/>
          <p:cNvSpPr txBox="1"/>
          <p:nvPr/>
        </p:nvSpPr>
        <p:spPr>
          <a:xfrm>
            <a:off x="11268819" y="6505575"/>
            <a:ext cx="351680" cy="161925"/>
          </a:xfrm>
          <a:prstGeom prst="rect">
            <a:avLst/>
          </a:prstGeom>
          <a:noFill/>
        </p:spPr>
        <p:txBody>
          <a:bodyPr wrap="square" lIns="0" rIns="0" tIns="0" bIns="0" anchor="t">
            <a:spAutoFit/>
          </a:bodyPr>
          <a:lstStyle/>
          <a:p>
            <a:pPr algn="l"/>
            <a:r>
              <a:rPr b="0" sz="900" i="0" u="none">
                <a:solidFill>
                  <a:srgbClr val="94A3B8"/>
                </a:solidFill>
                <a:latin typeface="Pretendard"/>
              </a:rPr>
              <a:t>Slide 8</a:t>
            </a:r>
          </a:p>
        </p:txBody>
      </p:sp>
      <p:sp>
        <p:nvSpPr>
          <p:cNvPr id="10" name="TextBox 9"/>
          <p:cNvSpPr txBox="1"/>
          <p:nvPr/>
        </p:nvSpPr>
        <p:spPr>
          <a:xfrm>
            <a:off x="571500" y="3048000"/>
            <a:ext cx="5600700" cy="238125"/>
          </a:xfrm>
          <a:prstGeom prst="rect">
            <a:avLst/>
          </a:prstGeom>
          <a:noFill/>
        </p:spPr>
        <p:txBody>
          <a:bodyPr wrap="square" lIns="0" rIns="0" tIns="0" bIns="0" anchor="t">
            <a:spAutoFit/>
          </a:bodyPr>
          <a:lstStyle/>
          <a:p>
            <a:pPr algn="l"/>
            <a:r>
              <a:rPr b="1" sz="1350" i="0" u="none">
                <a:solidFill>
                  <a:srgbClr val="0F172A"/>
                </a:solidFill>
                <a:latin typeface="Pretendard"/>
              </a:rPr>
              <a:t>모델별 분산 설명력 (% Variance Explained)</a:t>
            </a:r>
          </a:p>
        </p:txBody>
      </p:sp>
      <p:sp>
        <p:nvSpPr>
          <p:cNvPr id="11" name="TextBox 10"/>
          <p:cNvSpPr txBox="1"/>
          <p:nvPr/>
        </p:nvSpPr>
        <p:spPr>
          <a:xfrm>
            <a:off x="6562725" y="3154858"/>
            <a:ext cx="5020627" cy="238125"/>
          </a:xfrm>
          <a:prstGeom prst="rect">
            <a:avLst/>
          </a:prstGeom>
          <a:noFill/>
        </p:spPr>
        <p:txBody>
          <a:bodyPr wrap="square" lIns="133498" rIns="0" tIns="0" bIns="0" anchor="t">
            <a:spAutoFit/>
          </a:bodyPr>
          <a:lstStyle/>
          <a:p>
            <a:pPr algn="l"/>
            <a:r>
              <a:rPr b="1" sz="1350" i="0" u="none">
                <a:solidFill>
                  <a:srgbClr val="0284C7"/>
                </a:solidFill>
                <a:latin typeface="Pretendard"/>
              </a:rPr>
              <a:t>중금속 &amp; PAH 오염의 영향</a:t>
            </a:r>
          </a:p>
        </p:txBody>
      </p:sp>
      <p:sp>
        <p:nvSpPr>
          <p:cNvPr id="12" name="TextBox 11"/>
          <p:cNvSpPr txBox="1"/>
          <p:nvPr/>
        </p:nvSpPr>
        <p:spPr>
          <a:xfrm>
            <a:off x="6562725" y="3507283"/>
            <a:ext cx="4781550" cy="426541"/>
          </a:xfrm>
          <a:prstGeom prst="rect">
            <a:avLst/>
          </a:prstGeom>
          <a:noFill/>
        </p:spPr>
        <p:txBody>
          <a:bodyPr wrap="square" lIns="0" rIns="0" tIns="0" bIns="0" anchor="t">
            <a:spAutoFit/>
          </a:bodyPr>
          <a:lstStyle/>
          <a:p>
            <a:pPr algn="l">
              <a:lnSpc>
                <a:spcPts val="1679"/>
              </a:lnSpc>
            </a:pPr>
            <a:r>
              <a:rPr b="1" sz="1050" i="0" u="none">
                <a:solidFill>
                  <a:srgbClr val="334155"/>
                </a:solidFill>
                <a:latin typeface="Pretendard"/>
              </a:rPr>
              <a:t>반전 결과:</a:t>
            </a:r>
            <a:r>
              <a:rPr b="0" sz="1050" i="0" u="none">
                <a:solidFill>
                  <a:srgbClr val="334155"/>
                </a:solidFill>
                <a:latin typeface="Pretendard"/>
              </a:rPr>
              <a:t> 중금속(Metal Trace Elements) 및 다환방향족탄화수소(PAHs)는 미생물 군집 변동에 유의미한 영향력을 미치지 않음.</a:t>
            </a:r>
          </a:p>
        </p:txBody>
      </p:sp>
      <p:sp>
        <p:nvSpPr>
          <p:cNvPr id="13" name="TextBox 12"/>
          <p:cNvSpPr txBox="1"/>
          <p:nvPr/>
        </p:nvSpPr>
        <p:spPr>
          <a:xfrm>
            <a:off x="6562725" y="4048125"/>
            <a:ext cx="4781550" cy="426541"/>
          </a:xfrm>
          <a:prstGeom prst="rect">
            <a:avLst/>
          </a:prstGeom>
          <a:noFill/>
        </p:spPr>
        <p:txBody>
          <a:bodyPr wrap="square" lIns="0" rIns="0" tIns="0" bIns="0" anchor="t">
            <a:spAutoFit/>
          </a:bodyPr>
          <a:lstStyle/>
          <a:p>
            <a:pPr algn="l">
              <a:lnSpc>
                <a:spcPts val="1679"/>
              </a:lnSpc>
            </a:pPr>
            <a:r>
              <a:rPr b="1" sz="1050" i="0" u="none">
                <a:solidFill>
                  <a:srgbClr val="475569"/>
                </a:solidFill>
                <a:latin typeface="Pretendard"/>
              </a:rPr>
              <a:t>원인 분석:</a:t>
            </a:r>
            <a:r>
              <a:rPr b="0" sz="1050" i="0" u="none">
                <a:solidFill>
                  <a:srgbClr val="475569"/>
                </a:solidFill>
                <a:latin typeface="Pretendard"/>
              </a:rPr>
              <a:t> 디종(Dijon) 시 토양 내 해당 오염물질 농도가 미생물 생육 독성 역치보다 매우 낮은 수준(Low background level)이었기 때문으로 분석됨.</a:t>
            </a:r>
          </a:p>
        </p:txBody>
      </p:sp>
      <p:pic>
        <p:nvPicPr>
          <p:cNvPr id="14" name="Picture 13" descr="image.png"/>
          <p:cNvPicPr>
            <a:picLocks noChangeAspect="1"/>
          </p:cNvPicPr>
          <p:nvPr/>
        </p:nvPicPr>
        <p:blipFill>
          <a:blip r:embed="rId9"/>
          <a:stretch>
            <a:fillRect/>
          </a:stretch>
        </p:blipFill>
        <p:spPr>
          <a:xfrm>
            <a:off x="6562725" y="3192958"/>
            <a:ext cx="133498" cy="171450"/>
          </a:xfrm>
          <a:prstGeom prst="rect">
            <a:avLst/>
          </a:prstGeom>
        </p:spPr>
      </p:pic>
      <p:sp>
        <p:nvSpPr>
          <p:cNvPr id="15" name="TextBox 14"/>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Variance Partitioning</a:t>
            </a:r>
          </a:p>
        </p:txBody>
      </p:sp>
      <p:sp>
        <p:nvSpPr>
          <p:cNvPr id="16" name="Rectangle 15"/>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그림 16"/>
          <p:cNvPicPr>
            <a:picLocks noChangeAspect="1"/>
          </p:cNvPicPr>
          <p:nvPr/>
        </p:nvPicPr>
        <p:blipFill rotWithShape="1">
          <a:blip r:embed="rId10"/>
          <a:stretch>
            <a:fillRect/>
          </a:stretch>
        </p:blipFill>
        <p:spPr>
          <a:xfrm>
            <a:off x="4998369" y="6115858"/>
            <a:ext cx="2195260" cy="742142"/>
          </a:xfrm>
          <a:prstGeom prst="rect">
            <a:avLst/>
          </a:prstGeom>
        </p:spPr>
      </p:pic>
    </p:spTree>
  </p:cSld>
  <p:clrMapOvr>
    <a:masterClrMapping/>
  </p:clrMapOvr>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546151"/>
            <a:ext cx="5334000" cy="2537221"/>
          </a:xfrm>
          <a:prstGeom prst="rect">
            <a:avLst/>
          </a:prstGeom>
        </p:spPr>
      </p:pic>
      <p:pic>
        <p:nvPicPr>
          <p:cNvPr id="4" name="Picture 3" descr="image.png"/>
          <p:cNvPicPr>
            <a:picLocks noChangeAspect="1"/>
          </p:cNvPicPr>
          <p:nvPr/>
        </p:nvPicPr>
        <p:blipFill>
          <a:blip r:embed="rId5"/>
          <a:stretch>
            <a:fillRect/>
          </a:stretch>
        </p:blipFill>
        <p:spPr>
          <a:xfrm>
            <a:off x="6286500" y="2546151"/>
            <a:ext cx="5334000" cy="2537221"/>
          </a:xfrm>
          <a:prstGeom prst="rect">
            <a:avLst/>
          </a:prstGeom>
        </p:spPr>
      </p:pic>
      <p:pic>
        <p:nvPicPr>
          <p:cNvPr id="5" name="Picture 4" descr="image.png"/>
          <p:cNvPicPr>
            <a:picLocks noChangeAspect="1"/>
          </p:cNvPicPr>
          <p:nvPr/>
        </p:nvPicPr>
        <p:blipFill>
          <a:blip r:embed="rId6"/>
          <a:stretch>
            <a:fillRect/>
          </a:stretch>
        </p:blipFill>
        <p:spPr>
          <a:xfrm>
            <a:off x="847725" y="3193851"/>
            <a:ext cx="2344340" cy="257175"/>
          </a:xfrm>
          <a:prstGeom prst="rect">
            <a:avLst/>
          </a:prstGeom>
        </p:spPr>
      </p:pic>
      <p:pic>
        <p:nvPicPr>
          <p:cNvPr id="6" name="Picture 5" descr="image.png"/>
          <p:cNvPicPr>
            <a:picLocks noChangeAspect="1"/>
          </p:cNvPicPr>
          <p:nvPr/>
        </p:nvPicPr>
        <p:blipFill>
          <a:blip r:embed="rId7"/>
          <a:stretch>
            <a:fillRect/>
          </a:stretch>
        </p:blipFill>
        <p:spPr>
          <a:xfrm>
            <a:off x="6562725" y="3193851"/>
            <a:ext cx="2317402" cy="257175"/>
          </a:xfrm>
          <a:prstGeom prst="rect">
            <a:avLst/>
          </a:prstGeom>
        </p:spPr>
      </p:pic>
      <p:pic>
        <p:nvPicPr>
          <p:cNvPr id="7" name="Picture 6" descr="image.png"/>
          <p:cNvPicPr>
            <a:picLocks noChangeAspect="1"/>
          </p:cNvPicPr>
          <p:nvPr/>
        </p:nvPicPr>
        <p:blipFill>
          <a:blip r:embed="rId8"/>
          <a:stretch>
            <a:fillRect/>
          </a:stretch>
        </p:blipFill>
        <p:spPr>
          <a:xfrm>
            <a:off x="9501336" y="238125"/>
            <a:ext cx="2119163" cy="247650"/>
          </a:xfrm>
          <a:prstGeom prst="rect">
            <a:avLst/>
          </a:prstGeom>
        </p:spPr>
      </p:pic>
      <p:pic>
        <p:nvPicPr>
          <p:cNvPr id="8" name="Picture 7" descr="image.png"/>
          <p:cNvPicPr>
            <a:picLocks noChangeAspect="1"/>
          </p:cNvPicPr>
          <p:nvPr/>
        </p:nvPicPr>
        <p:blipFill>
          <a:blip r:embed="rId9"/>
          <a:stretch>
            <a:fillRect/>
          </a:stretch>
        </p:blipFill>
        <p:spPr>
          <a:xfrm>
            <a:off x="571500" y="6419850"/>
            <a:ext cx="11049000" cy="247650"/>
          </a:xfrm>
          <a:prstGeom prst="rect">
            <a:avLst/>
          </a:prstGeom>
        </p:spPr>
      </p:pic>
      <p:pic>
        <p:nvPicPr>
          <p:cNvPr id="9" name="Picture 8" descr="image.png"/>
          <p:cNvPicPr>
            <a:picLocks noChangeAspect="1"/>
          </p:cNvPicPr>
          <p:nvPr/>
        </p:nvPicPr>
        <p:blipFill>
          <a:blip r:embed="rId10"/>
          <a:stretch>
            <a:fillRect/>
          </a:stretch>
        </p:blipFill>
        <p:spPr>
          <a:xfrm>
            <a:off x="571500" y="547687"/>
            <a:ext cx="202703" cy="266700"/>
          </a:xfrm>
          <a:prstGeom prst="rect">
            <a:avLst/>
          </a:prstGeom>
        </p:spPr>
      </p:pic>
      <p:sp>
        <p:nvSpPr>
          <p:cNvPr id="10" name="TextBox 9"/>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11" name="TextBox 10"/>
          <p:cNvSpPr txBox="1"/>
          <p:nvPr/>
        </p:nvSpPr>
        <p:spPr>
          <a:xfrm>
            <a:off x="11268819" y="6505575"/>
            <a:ext cx="351680" cy="161925"/>
          </a:xfrm>
          <a:prstGeom prst="rect">
            <a:avLst/>
          </a:prstGeom>
          <a:noFill/>
        </p:spPr>
        <p:txBody>
          <a:bodyPr wrap="square" lIns="0" rIns="0" tIns="0" bIns="0" anchor="t">
            <a:spAutoFit/>
          </a:bodyPr>
          <a:lstStyle/>
          <a:p>
            <a:pPr algn="l"/>
            <a:r>
              <a:rPr b="0" sz="900" i="0" u="none">
                <a:solidFill>
                  <a:srgbClr val="94A3B8"/>
                </a:solidFill>
                <a:latin typeface="Pretendard"/>
              </a:rPr>
              <a:t>Slide 9</a:t>
            </a:r>
          </a:p>
        </p:txBody>
      </p:sp>
      <p:sp>
        <p:nvSpPr>
          <p:cNvPr id="12" name="TextBox 11"/>
          <p:cNvSpPr txBox="1"/>
          <p:nvPr/>
        </p:nvSpPr>
        <p:spPr>
          <a:xfrm>
            <a:off x="847725" y="2822376"/>
            <a:ext cx="5020627" cy="257175"/>
          </a:xfrm>
          <a:prstGeom prst="rect">
            <a:avLst/>
          </a:prstGeom>
          <a:noFill/>
        </p:spPr>
        <p:txBody>
          <a:bodyPr wrap="square" lIns="148232" rIns="0" tIns="0" bIns="0" anchor="t">
            <a:spAutoFit/>
          </a:bodyPr>
          <a:lstStyle/>
          <a:p>
            <a:pPr algn="l"/>
            <a:r>
              <a:rPr b="1" sz="1500" i="0" u="none">
                <a:solidFill>
                  <a:srgbClr val="0284C7"/>
                </a:solidFill>
                <a:latin typeface="Pretendard"/>
              </a:rPr>
              <a:t>Public Leisure / Park</a:t>
            </a:r>
          </a:p>
        </p:txBody>
      </p:sp>
      <p:sp>
        <p:nvSpPr>
          <p:cNvPr id="13" name="TextBox 12"/>
          <p:cNvSpPr txBox="1"/>
          <p:nvPr/>
        </p:nvSpPr>
        <p:spPr>
          <a:xfrm>
            <a:off x="6562725" y="2822376"/>
            <a:ext cx="5020627" cy="257175"/>
          </a:xfrm>
          <a:prstGeom prst="rect">
            <a:avLst/>
          </a:prstGeom>
          <a:noFill/>
        </p:spPr>
        <p:txBody>
          <a:bodyPr wrap="square" lIns="148232" rIns="0" tIns="0" bIns="0" anchor="t">
            <a:spAutoFit/>
          </a:bodyPr>
          <a:lstStyle/>
          <a:p>
            <a:pPr algn="l"/>
            <a:r>
              <a:rPr b="1" sz="1500" i="0" u="none">
                <a:solidFill>
                  <a:srgbClr val="059669"/>
                </a:solidFill>
                <a:latin typeface="Pretendard"/>
              </a:rPr>
              <a:t>Urban Agriculture</a:t>
            </a:r>
          </a:p>
        </p:txBody>
      </p:sp>
      <p:pic>
        <p:nvPicPr>
          <p:cNvPr id="14" name="Picture 13" descr="image.png"/>
          <p:cNvPicPr>
            <a:picLocks noChangeAspect="1"/>
          </p:cNvPicPr>
          <p:nvPr/>
        </p:nvPicPr>
        <p:blipFill>
          <a:blip r:embed="rId11"/>
          <a:stretch>
            <a:fillRect/>
          </a:stretch>
        </p:blipFill>
        <p:spPr>
          <a:xfrm>
            <a:off x="847725" y="2860476"/>
            <a:ext cx="148232" cy="190500"/>
          </a:xfrm>
          <a:prstGeom prst="rect">
            <a:avLst/>
          </a:prstGeom>
        </p:spPr>
      </p:pic>
      <p:sp>
        <p:nvSpPr>
          <p:cNvPr id="15" name="TextBox 14"/>
          <p:cNvSpPr txBox="1"/>
          <p:nvPr/>
        </p:nvSpPr>
        <p:spPr>
          <a:xfrm>
            <a:off x="1114425" y="3565326"/>
            <a:ext cx="4514850" cy="487560"/>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전문화된 미생물군 (Specialized Groups):</a:t>
            </a:r>
            <a:r>
              <a:rPr b="0" sz="1200" i="0" u="none">
                <a:solidFill>
                  <a:srgbClr val="334155"/>
                </a:solidFill>
                <a:latin typeface="Pretendard"/>
              </a:rPr>
              <a:t> 영양 공급이 안정적이며 물리적 교란이 적어 특정 분류군이 경쟁 우위 점유.</a:t>
            </a:r>
          </a:p>
        </p:txBody>
      </p:sp>
      <p:sp>
        <p:nvSpPr>
          <p:cNvPr id="16" name="TextBox 15"/>
          <p:cNvSpPr txBox="1"/>
          <p:nvPr/>
        </p:nvSpPr>
        <p:spPr>
          <a:xfrm>
            <a:off x="1114425" y="4186237"/>
            <a:ext cx="4514850" cy="487560"/>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식물 공생균 발달:</a:t>
            </a:r>
            <a:r>
              <a:rPr b="0" sz="1200" i="0" u="none">
                <a:solidFill>
                  <a:srgbClr val="334155"/>
                </a:solidFill>
                <a:latin typeface="Pretendard"/>
              </a:rPr>
              <a:t> 외균근(Ectomycorrhizal fungi) 등 식물과의 공생 관계 군집 촉진.</a:t>
            </a:r>
          </a:p>
        </p:txBody>
      </p:sp>
      <p:pic>
        <p:nvPicPr>
          <p:cNvPr id="17" name="Picture 16" descr="image.png"/>
          <p:cNvPicPr>
            <a:picLocks noChangeAspect="1"/>
          </p:cNvPicPr>
          <p:nvPr/>
        </p:nvPicPr>
        <p:blipFill>
          <a:blip r:embed="rId12"/>
          <a:stretch>
            <a:fillRect/>
          </a:stretch>
        </p:blipFill>
        <p:spPr>
          <a:xfrm>
            <a:off x="6562725" y="2860476"/>
            <a:ext cx="148232" cy="190500"/>
          </a:xfrm>
          <a:prstGeom prst="rect">
            <a:avLst/>
          </a:prstGeom>
        </p:spPr>
      </p:pic>
      <p:sp>
        <p:nvSpPr>
          <p:cNvPr id="18" name="TextBox 17"/>
          <p:cNvSpPr txBox="1"/>
          <p:nvPr/>
        </p:nvSpPr>
        <p:spPr>
          <a:xfrm>
            <a:off x="6829425" y="3565326"/>
            <a:ext cx="4514850" cy="487560"/>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기회주의 미생물군 (Opportunistic Populations):</a:t>
            </a:r>
            <a:r>
              <a:rPr b="0" sz="1200" i="0" u="none">
                <a:solidFill>
                  <a:srgbClr val="334155"/>
                </a:solidFill>
                <a:latin typeface="Pretendard"/>
              </a:rPr>
              <a:t> 주기적인 경운 및 비료 투입 스트레스에 신속히 적응하는 균군 증식.</a:t>
            </a:r>
          </a:p>
        </p:txBody>
      </p:sp>
      <p:sp>
        <p:nvSpPr>
          <p:cNvPr id="19" name="TextBox 18"/>
          <p:cNvSpPr txBox="1"/>
          <p:nvPr/>
        </p:nvSpPr>
        <p:spPr>
          <a:xfrm>
            <a:off x="6829425" y="4186237"/>
            <a:ext cx="4514850" cy="487560"/>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높은 회복력(Resilience):</a:t>
            </a:r>
            <a:r>
              <a:rPr b="0" sz="1200" i="0" u="none">
                <a:solidFill>
                  <a:srgbClr val="334155"/>
                </a:solidFill>
                <a:latin typeface="Pretendard"/>
              </a:rPr>
              <a:t> 인위적 환경 변화에 대한 미생물 군집 재편 능력이 뛰어남.</a:t>
            </a:r>
          </a:p>
        </p:txBody>
      </p:sp>
      <p:pic>
        <p:nvPicPr>
          <p:cNvPr id="20" name="Picture 19" descr="image.png"/>
          <p:cNvPicPr>
            <a:picLocks noChangeAspect="1"/>
          </p:cNvPicPr>
          <p:nvPr/>
        </p:nvPicPr>
        <p:blipFill>
          <a:blip r:embed="rId13"/>
          <a:stretch>
            <a:fillRect/>
          </a:stretch>
        </p:blipFill>
        <p:spPr>
          <a:xfrm>
            <a:off x="847725" y="3593901"/>
            <a:ext cx="118616" cy="171450"/>
          </a:xfrm>
          <a:prstGeom prst="rect">
            <a:avLst/>
          </a:prstGeom>
        </p:spPr>
      </p:pic>
      <p:pic>
        <p:nvPicPr>
          <p:cNvPr id="21" name="Picture 20" descr="image.png"/>
          <p:cNvPicPr>
            <a:picLocks noChangeAspect="1"/>
          </p:cNvPicPr>
          <p:nvPr/>
        </p:nvPicPr>
        <p:blipFill>
          <a:blip r:embed="rId14"/>
          <a:stretch>
            <a:fillRect/>
          </a:stretch>
        </p:blipFill>
        <p:spPr>
          <a:xfrm>
            <a:off x="847725" y="4214812"/>
            <a:ext cx="118616" cy="171450"/>
          </a:xfrm>
          <a:prstGeom prst="rect">
            <a:avLst/>
          </a:prstGeom>
        </p:spPr>
      </p:pic>
      <p:pic>
        <p:nvPicPr>
          <p:cNvPr id="22" name="Picture 21" descr="image.png"/>
          <p:cNvPicPr>
            <a:picLocks noChangeAspect="1"/>
          </p:cNvPicPr>
          <p:nvPr/>
        </p:nvPicPr>
        <p:blipFill>
          <a:blip r:embed="rId15"/>
          <a:stretch>
            <a:fillRect/>
          </a:stretch>
        </p:blipFill>
        <p:spPr>
          <a:xfrm>
            <a:off x="6562725" y="3593901"/>
            <a:ext cx="118616" cy="171450"/>
          </a:xfrm>
          <a:prstGeom prst="rect">
            <a:avLst/>
          </a:prstGeom>
        </p:spPr>
      </p:pic>
      <p:pic>
        <p:nvPicPr>
          <p:cNvPr id="23" name="Picture 22" descr="image.png"/>
          <p:cNvPicPr>
            <a:picLocks noChangeAspect="1"/>
          </p:cNvPicPr>
          <p:nvPr/>
        </p:nvPicPr>
        <p:blipFill>
          <a:blip r:embed="rId16"/>
          <a:stretch>
            <a:fillRect/>
          </a:stretch>
        </p:blipFill>
        <p:spPr>
          <a:xfrm>
            <a:off x="6562725" y="4214812"/>
            <a:ext cx="118616" cy="171450"/>
          </a:xfrm>
          <a:prstGeom prst="rect">
            <a:avLst/>
          </a:prstGeom>
        </p:spPr>
      </p:pic>
      <p:sp>
        <p:nvSpPr>
          <p:cNvPr id="24" name="TextBox 23"/>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Ecological Strategies</a:t>
            </a:r>
          </a:p>
        </p:txBody>
      </p:sp>
      <p:sp>
        <p:nvSpPr>
          <p:cNvPr id="25" name="Rectangle 24"/>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그림 25"/>
          <p:cNvPicPr>
            <a:picLocks noChangeAspect="1"/>
          </p:cNvPicPr>
          <p:nvPr/>
        </p:nvPicPr>
        <p:blipFill rotWithShape="1">
          <a:blip r:embed="rId17"/>
          <a:stretch>
            <a:fillRect/>
          </a:stretch>
        </p:blipFill>
        <p:spPr>
          <a:xfrm>
            <a:off x="4998369" y="6115858"/>
            <a:ext cx="2195260" cy="742142"/>
          </a:xfrm>
          <a:prstGeom prst="rect">
            <a:avLst/>
          </a:prstGeom>
        </p:spPr>
      </p:pic>
    </p:spTree>
  </p:cSld>
  <p:clrMapOvr>
    <a:masterClrMapping/>
  </p:clrMapOvr>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619523"/>
            <a:ext cx="5334000" cy="2390477"/>
          </a:xfrm>
          <a:prstGeom prst="rect">
            <a:avLst/>
          </a:prstGeom>
        </p:spPr>
      </p:pic>
      <p:pic>
        <p:nvPicPr>
          <p:cNvPr id="4" name="Picture 3" descr="image.png"/>
          <p:cNvPicPr>
            <a:picLocks noChangeAspect="1"/>
          </p:cNvPicPr>
          <p:nvPr/>
        </p:nvPicPr>
        <p:blipFill>
          <a:blip r:embed="rId5"/>
          <a:stretch>
            <a:fillRect/>
          </a:stretch>
        </p:blipFill>
        <p:spPr>
          <a:xfrm>
            <a:off x="6286500" y="2619523"/>
            <a:ext cx="5334000" cy="2390477"/>
          </a:xfrm>
          <a:prstGeom prst="rect">
            <a:avLst/>
          </a:prstGeom>
        </p:spPr>
      </p:pic>
      <p:pic>
        <p:nvPicPr>
          <p:cNvPr id="5" name="Picture 4" descr="image.png"/>
          <p:cNvPicPr>
            <a:picLocks noChangeAspect="1"/>
          </p:cNvPicPr>
          <p:nvPr/>
        </p:nvPicPr>
        <p:blipFill>
          <a:blip r:embed="rId6"/>
          <a:stretch>
            <a:fillRect/>
          </a:stretch>
        </p:blipFill>
        <p:spPr>
          <a:xfrm>
            <a:off x="9501336" y="238125"/>
            <a:ext cx="2119163" cy="247650"/>
          </a:xfrm>
          <a:prstGeom prst="rect">
            <a:avLst/>
          </a:prstGeom>
        </p:spPr>
      </p:pic>
      <p:pic>
        <p:nvPicPr>
          <p:cNvPr id="6" name="Picture 5" descr="image.png"/>
          <p:cNvPicPr>
            <a:picLocks noChangeAspect="1"/>
          </p:cNvPicPr>
          <p:nvPr/>
        </p:nvPicPr>
        <p:blipFill>
          <a:blip r:embed="rId7"/>
          <a:stretch>
            <a:fillRect/>
          </a:stretch>
        </p:blipFill>
        <p:spPr>
          <a:xfrm>
            <a:off x="571500" y="6419850"/>
            <a:ext cx="11049000" cy="247650"/>
          </a:xfrm>
          <a:prstGeom prst="rect">
            <a:avLst/>
          </a:prstGeom>
        </p:spPr>
      </p:pic>
      <p:pic>
        <p:nvPicPr>
          <p:cNvPr id="7" name="Picture 6" descr="image.png"/>
          <p:cNvPicPr>
            <a:picLocks noChangeAspect="1"/>
          </p:cNvPicPr>
          <p:nvPr/>
        </p:nvPicPr>
        <p:blipFill>
          <a:blip r:embed="rId8"/>
          <a:stretch>
            <a:fillRect/>
          </a:stretch>
        </p:blipFill>
        <p:spPr>
          <a:xfrm>
            <a:off x="571500" y="547687"/>
            <a:ext cx="202703" cy="266700"/>
          </a:xfrm>
          <a:prstGeom prst="rect">
            <a:avLst/>
          </a:prstGeom>
        </p:spPr>
      </p:pic>
      <p:sp>
        <p:nvSpPr>
          <p:cNvPr id="8" name="TextBox 7"/>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9" name="TextBox 8"/>
          <p:cNvSpPr txBox="1"/>
          <p:nvPr/>
        </p:nvSpPr>
        <p:spPr>
          <a:xfrm>
            <a:off x="11203483" y="6505575"/>
            <a:ext cx="417016" cy="161925"/>
          </a:xfrm>
          <a:prstGeom prst="rect">
            <a:avLst/>
          </a:prstGeom>
          <a:noFill/>
        </p:spPr>
        <p:txBody>
          <a:bodyPr wrap="square" lIns="0" rIns="0" tIns="0" bIns="0" anchor="t">
            <a:spAutoFit/>
          </a:bodyPr>
          <a:lstStyle/>
          <a:p>
            <a:pPr algn="l"/>
            <a:r>
              <a:rPr b="0" sz="900" i="0" u="none">
                <a:solidFill>
                  <a:srgbClr val="94A3B8"/>
                </a:solidFill>
                <a:latin typeface="Pretendard"/>
              </a:rPr>
              <a:t>Slide 10</a:t>
            </a:r>
          </a:p>
        </p:txBody>
      </p:sp>
      <p:sp>
        <p:nvSpPr>
          <p:cNvPr id="10" name="TextBox 9"/>
          <p:cNvSpPr txBox="1"/>
          <p:nvPr/>
        </p:nvSpPr>
        <p:spPr>
          <a:xfrm>
            <a:off x="847725" y="2895748"/>
            <a:ext cx="5020627" cy="238125"/>
          </a:xfrm>
          <a:prstGeom prst="rect">
            <a:avLst/>
          </a:prstGeom>
          <a:noFill/>
        </p:spPr>
        <p:txBody>
          <a:bodyPr wrap="square" lIns="133498" rIns="0" tIns="0" bIns="0" anchor="t">
            <a:spAutoFit/>
          </a:bodyPr>
          <a:lstStyle/>
          <a:p>
            <a:pPr algn="l"/>
            <a:r>
              <a:rPr b="1" sz="1350" i="0" u="none">
                <a:solidFill>
                  <a:srgbClr val="047857"/>
                </a:solidFill>
                <a:latin typeface="Pretendard"/>
              </a:rPr>
              <a:t>논문의 장점 &amp; 강점</a:t>
            </a:r>
          </a:p>
        </p:txBody>
      </p:sp>
      <p:sp>
        <p:nvSpPr>
          <p:cNvPr id="11" name="TextBox 10"/>
          <p:cNvSpPr txBox="1"/>
          <p:nvPr/>
        </p:nvSpPr>
        <p:spPr>
          <a:xfrm>
            <a:off x="6562725" y="2895748"/>
            <a:ext cx="5020627" cy="238125"/>
          </a:xfrm>
          <a:prstGeom prst="rect">
            <a:avLst/>
          </a:prstGeom>
          <a:noFill/>
        </p:spPr>
        <p:txBody>
          <a:bodyPr wrap="square" lIns="133498" rIns="0" tIns="0" bIns="0" anchor="t">
            <a:spAutoFit/>
          </a:bodyPr>
          <a:lstStyle/>
          <a:p>
            <a:pPr algn="l"/>
            <a:r>
              <a:rPr b="1" sz="1350" i="0" u="none">
                <a:solidFill>
                  <a:srgbClr val="C53030"/>
                </a:solidFill>
                <a:latin typeface="Pretendard"/>
              </a:rPr>
              <a:t>연구의 한계점 (Limitations)</a:t>
            </a:r>
          </a:p>
        </p:txBody>
      </p:sp>
      <p:pic>
        <p:nvPicPr>
          <p:cNvPr id="12" name="Picture 11" descr="image.png"/>
          <p:cNvPicPr>
            <a:picLocks noChangeAspect="1"/>
          </p:cNvPicPr>
          <p:nvPr/>
        </p:nvPicPr>
        <p:blipFill>
          <a:blip r:embed="rId9"/>
          <a:stretch>
            <a:fillRect/>
          </a:stretch>
        </p:blipFill>
        <p:spPr>
          <a:xfrm>
            <a:off x="847725" y="2933848"/>
            <a:ext cx="133498" cy="171450"/>
          </a:xfrm>
          <a:prstGeom prst="rect">
            <a:avLst/>
          </a:prstGeom>
        </p:spPr>
      </p:pic>
      <p:sp>
        <p:nvSpPr>
          <p:cNvPr id="13" name="TextBox 12"/>
          <p:cNvSpPr txBox="1"/>
          <p:nvPr/>
        </p:nvSpPr>
        <p:spPr>
          <a:xfrm>
            <a:off x="1114425" y="3248173"/>
            <a:ext cx="4514850" cy="487560"/>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통합적 분석 프레임워크:</a:t>
            </a:r>
            <a:r>
              <a:rPr b="0" sz="1200" i="0" u="none">
                <a:solidFill>
                  <a:srgbClr val="334155"/>
                </a:solidFill>
                <a:latin typeface="Pretendard"/>
              </a:rPr>
              <a:t> 단순 세균 분석을 넘어 고균, 진균 및 토양 이화학물질(C/N, 중금속, PAH)을 일체화하여 다각도로 분석함.</a:t>
            </a:r>
          </a:p>
        </p:txBody>
      </p:sp>
      <p:sp>
        <p:nvSpPr>
          <p:cNvPr id="14" name="TextBox 13"/>
          <p:cNvSpPr txBox="1"/>
          <p:nvPr/>
        </p:nvSpPr>
        <p:spPr>
          <a:xfrm>
            <a:off x="1114425" y="3869084"/>
            <a:ext cx="4514850" cy="487560"/>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실증적 데이터 제공:</a:t>
            </a:r>
            <a:r>
              <a:rPr b="0" sz="1200" i="0" u="none">
                <a:solidFill>
                  <a:srgbClr val="334155"/>
                </a:solidFill>
                <a:latin typeface="Pretendard"/>
              </a:rPr>
              <a:t> 디종 시의 세부 토지 이용 인덱스와 미생물 NGS 데이터를 연계하여 높은 통계적 설명력 구축.</a:t>
            </a:r>
          </a:p>
        </p:txBody>
      </p:sp>
      <p:pic>
        <p:nvPicPr>
          <p:cNvPr id="15" name="Picture 14" descr="image.png"/>
          <p:cNvPicPr>
            <a:picLocks noChangeAspect="1"/>
          </p:cNvPicPr>
          <p:nvPr/>
        </p:nvPicPr>
        <p:blipFill>
          <a:blip r:embed="rId10"/>
          <a:stretch>
            <a:fillRect/>
          </a:stretch>
        </p:blipFill>
        <p:spPr>
          <a:xfrm>
            <a:off x="6562725" y="2933848"/>
            <a:ext cx="133498" cy="171450"/>
          </a:xfrm>
          <a:prstGeom prst="rect">
            <a:avLst/>
          </a:prstGeom>
        </p:spPr>
      </p:pic>
      <p:sp>
        <p:nvSpPr>
          <p:cNvPr id="16" name="TextBox 15"/>
          <p:cNvSpPr txBox="1"/>
          <p:nvPr/>
        </p:nvSpPr>
        <p:spPr>
          <a:xfrm>
            <a:off x="6829425" y="3248173"/>
            <a:ext cx="4514850" cy="487560"/>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낮은 오염도 배경:</a:t>
            </a:r>
            <a:r>
              <a:rPr b="0" sz="1200" i="0" u="none">
                <a:solidFill>
                  <a:srgbClr val="334155"/>
                </a:solidFill>
                <a:latin typeface="Pretendard"/>
              </a:rPr>
              <a:t> 중소도시(Dijon) 특성상 고도 오염 대도시 도로변의 중금속/유기오염물질 영향을 일반화하기에는 제한적임.</a:t>
            </a:r>
          </a:p>
        </p:txBody>
      </p:sp>
      <p:sp>
        <p:nvSpPr>
          <p:cNvPr id="17" name="TextBox 16"/>
          <p:cNvSpPr txBox="1"/>
          <p:nvPr/>
        </p:nvSpPr>
        <p:spPr>
          <a:xfrm>
            <a:off x="6829425" y="3869084"/>
            <a:ext cx="4514850" cy="731341"/>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기능 유전자 미측정:</a:t>
            </a:r>
            <a:r>
              <a:rPr b="0" sz="1200" i="0" u="none">
                <a:solidFill>
                  <a:srgbClr val="334155"/>
                </a:solidFill>
                <a:latin typeface="Pretendard"/>
              </a:rPr>
              <a:t> 메타게놈 Taxonomic profile 중심이며, 실제 오염 분해 관련 기능 유전자(Metagenomics/Transcriptomics) 직접 확인은 미흡함.</a:t>
            </a:r>
          </a:p>
        </p:txBody>
      </p:sp>
      <p:pic>
        <p:nvPicPr>
          <p:cNvPr id="18" name="Picture 17" descr="image.png"/>
          <p:cNvPicPr>
            <a:picLocks noChangeAspect="1"/>
          </p:cNvPicPr>
          <p:nvPr/>
        </p:nvPicPr>
        <p:blipFill>
          <a:blip r:embed="rId11"/>
          <a:stretch>
            <a:fillRect/>
          </a:stretch>
        </p:blipFill>
        <p:spPr>
          <a:xfrm>
            <a:off x="847725" y="3276748"/>
            <a:ext cx="118616" cy="171450"/>
          </a:xfrm>
          <a:prstGeom prst="rect">
            <a:avLst/>
          </a:prstGeom>
        </p:spPr>
      </p:pic>
      <p:pic>
        <p:nvPicPr>
          <p:cNvPr id="19" name="Picture 18" descr="image.png"/>
          <p:cNvPicPr>
            <a:picLocks noChangeAspect="1"/>
          </p:cNvPicPr>
          <p:nvPr/>
        </p:nvPicPr>
        <p:blipFill>
          <a:blip r:embed="rId12"/>
          <a:stretch>
            <a:fillRect/>
          </a:stretch>
        </p:blipFill>
        <p:spPr>
          <a:xfrm>
            <a:off x="847725" y="3897659"/>
            <a:ext cx="118616" cy="171450"/>
          </a:xfrm>
          <a:prstGeom prst="rect">
            <a:avLst/>
          </a:prstGeom>
        </p:spPr>
      </p:pic>
      <p:pic>
        <p:nvPicPr>
          <p:cNvPr id="20" name="Picture 19" descr="image.png"/>
          <p:cNvPicPr>
            <a:picLocks noChangeAspect="1"/>
          </p:cNvPicPr>
          <p:nvPr/>
        </p:nvPicPr>
        <p:blipFill>
          <a:blip r:embed="rId13"/>
          <a:stretch>
            <a:fillRect/>
          </a:stretch>
        </p:blipFill>
        <p:spPr>
          <a:xfrm>
            <a:off x="6562725" y="3276748"/>
            <a:ext cx="118616" cy="171450"/>
          </a:xfrm>
          <a:prstGeom prst="rect">
            <a:avLst/>
          </a:prstGeom>
        </p:spPr>
      </p:pic>
      <p:pic>
        <p:nvPicPr>
          <p:cNvPr id="21" name="Picture 20" descr="image.png"/>
          <p:cNvPicPr>
            <a:picLocks noChangeAspect="1"/>
          </p:cNvPicPr>
          <p:nvPr/>
        </p:nvPicPr>
        <p:blipFill>
          <a:blip r:embed="rId14"/>
          <a:stretch>
            <a:fillRect/>
          </a:stretch>
        </p:blipFill>
        <p:spPr>
          <a:xfrm>
            <a:off x="6562725" y="3897659"/>
            <a:ext cx="118616" cy="171450"/>
          </a:xfrm>
          <a:prstGeom prst="rect">
            <a:avLst/>
          </a:prstGeom>
        </p:spPr>
      </p:pic>
      <p:sp>
        <p:nvSpPr>
          <p:cNvPr id="22" name="TextBox 21"/>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Critical Discussion</a:t>
            </a:r>
          </a:p>
        </p:txBody>
      </p:sp>
      <p:sp>
        <p:nvSpPr>
          <p:cNvPr id="23" name="Rectangle 22"/>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그림 23"/>
          <p:cNvPicPr>
            <a:picLocks noChangeAspect="1"/>
          </p:cNvPicPr>
          <p:nvPr/>
        </p:nvPicPr>
        <p:blipFill rotWithShape="1">
          <a:blip r:embed="rId15"/>
          <a:stretch>
            <a:fillRect/>
          </a:stretch>
        </p:blipFill>
        <p:spPr>
          <a:xfrm>
            <a:off x="4998369" y="6115858"/>
            <a:ext cx="2195260" cy="742142"/>
          </a:xfrm>
          <a:prstGeom prst="rect">
            <a:avLst/>
          </a:prstGeom>
        </p:spPr>
      </p:pic>
    </p:spTree>
  </p:cSld>
  <p:clrMapOvr>
    <a:masterClrMapping/>
  </p:clrMapOvr>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4"/>
          <a:stretch>
            <a:fillRect/>
          </a:stretch>
        </p:blipFill>
        <p:spPr>
          <a:xfrm>
            <a:off x="9501336" y="238125"/>
            <a:ext cx="2119163" cy="247650"/>
          </a:xfrm>
          <a:prstGeom prst="rect">
            <a:avLst/>
          </a:prstGeom>
        </p:spPr>
      </p:pic>
      <p:pic>
        <p:nvPicPr>
          <p:cNvPr id="5" name="Picture 4" descr="image.png"/>
          <p:cNvPicPr>
            <a:picLocks noChangeAspect="1"/>
          </p:cNvPicPr>
          <p:nvPr/>
        </p:nvPicPr>
        <p:blipFill>
          <a:blip r:embed="rId5"/>
          <a:stretch>
            <a:fillRect/>
          </a:stretch>
        </p:blipFill>
        <p:spPr>
          <a:xfrm>
            <a:off x="571500" y="6419850"/>
            <a:ext cx="11049000" cy="247650"/>
          </a:xfrm>
          <a:prstGeom prst="rect">
            <a:avLst/>
          </a:prstGeom>
        </p:spPr>
      </p:pic>
      <p:pic>
        <p:nvPicPr>
          <p:cNvPr id="6" name="Picture 5" descr="image.png"/>
          <p:cNvPicPr>
            <a:picLocks noChangeAspect="1"/>
          </p:cNvPicPr>
          <p:nvPr/>
        </p:nvPicPr>
        <p:blipFill>
          <a:blip r:embed="rId6"/>
          <a:stretch>
            <a:fillRect/>
          </a:stretch>
        </p:blipFill>
        <p:spPr>
          <a:xfrm>
            <a:off x="571500" y="547687"/>
            <a:ext cx="202703" cy="266700"/>
          </a:xfrm>
          <a:prstGeom prst="rect">
            <a:avLst/>
          </a:prstGeom>
        </p:spPr>
      </p:pic>
      <p:sp>
        <p:nvSpPr>
          <p:cNvPr id="7" name="TextBox 6"/>
          <p:cNvSpPr txBox="1"/>
          <p:nvPr/>
        </p:nvSpPr>
        <p:spPr>
          <a:xfrm>
            <a:off x="571500" y="6505575"/>
            <a:ext cx="1570583" cy="161925"/>
          </a:xfrm>
          <a:prstGeom prst="rect">
            <a:avLst/>
          </a:prstGeom>
          <a:noFill/>
        </p:spPr>
        <p:txBody>
          <a:bodyPr wrap="square" lIns="0" rIns="0" tIns="0" bIns="0" anchor="t">
            <a:spAutoFit/>
          </a:bodyPr>
          <a:lstStyle/>
          <a:p>
            <a:pPr algn="l"/>
            <a:r>
              <a:rPr b="0" sz="900" i="0" u="none">
                <a:solidFill>
                  <a:srgbClr val="94A3B8"/>
                </a:solidFill>
                <a:latin typeface="Pretendard"/>
              </a:rPr>
              <a:t>Journal Meeting Presentation</a:t>
            </a:r>
          </a:p>
        </p:txBody>
      </p:sp>
      <p:sp>
        <p:nvSpPr>
          <p:cNvPr id="8" name="TextBox 7"/>
          <p:cNvSpPr txBox="1"/>
          <p:nvPr/>
        </p:nvSpPr>
        <p:spPr>
          <a:xfrm>
            <a:off x="11203483" y="6505575"/>
            <a:ext cx="417016" cy="161925"/>
          </a:xfrm>
          <a:prstGeom prst="rect">
            <a:avLst/>
          </a:prstGeom>
          <a:noFill/>
        </p:spPr>
        <p:txBody>
          <a:bodyPr wrap="square" lIns="0" rIns="0" tIns="0" bIns="0" anchor="t">
            <a:spAutoFit/>
          </a:bodyPr>
          <a:lstStyle/>
          <a:p>
            <a:pPr algn="l"/>
            <a:r>
              <a:rPr b="0" sz="900" i="0" u="none">
                <a:solidFill>
                  <a:srgbClr val="94A3B8"/>
                </a:solidFill>
                <a:latin typeface="Pretendard"/>
              </a:rPr>
              <a:t>Slide 11</a:t>
            </a:r>
          </a:p>
        </p:txBody>
      </p:sp>
      <p:sp>
        <p:nvSpPr>
          <p:cNvPr id="9" name="TextBox 8"/>
          <p:cNvSpPr txBox="1"/>
          <p:nvPr/>
        </p:nvSpPr>
        <p:spPr>
          <a:xfrm>
            <a:off x="571500" y="2721471"/>
            <a:ext cx="5600700" cy="304800"/>
          </a:xfrm>
          <a:prstGeom prst="rect">
            <a:avLst/>
          </a:prstGeom>
          <a:noFill/>
        </p:spPr>
        <p:txBody>
          <a:bodyPr wrap="square" lIns="0" rIns="0" tIns="0" bIns="0" anchor="t">
            <a:spAutoFit/>
          </a:bodyPr>
          <a:lstStyle/>
          <a:p>
            <a:pPr algn="l"/>
            <a:r>
              <a:rPr b="1" sz="1650" i="0" u="none">
                <a:solidFill>
                  <a:srgbClr val="0284C7"/>
                </a:solidFill>
                <a:latin typeface="Pretendard"/>
              </a:rPr>
              <a:t>도시 계획 및 생태계 관리적 시사점</a:t>
            </a:r>
          </a:p>
        </p:txBody>
      </p:sp>
      <p:sp>
        <p:nvSpPr>
          <p:cNvPr id="10" name="TextBox 9"/>
          <p:cNvSpPr txBox="1"/>
          <p:nvPr/>
        </p:nvSpPr>
        <p:spPr>
          <a:xfrm>
            <a:off x="838200" y="3178671"/>
            <a:ext cx="5067300" cy="731341"/>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토량 내 유기물 관리의 중요성:</a:t>
            </a:r>
            <a:r>
              <a:t>
</a:t>
            </a:r>
            <a:r>
              <a:rPr b="0" sz="1200" i="0" u="none">
                <a:solidFill>
                  <a:srgbClr val="334155"/>
                </a:solidFill>
                <a:latin typeface="Pretendard"/>
              </a:rPr>
              <a:t> 도시 토양 미생물 바이오매스 및 건강도 유지를 위해 지상부 유기 탄소(OC) 공급 및 C/N 비율 보강 정책 필요.</a:t>
            </a:r>
          </a:p>
        </p:txBody>
      </p:sp>
      <p:sp>
        <p:nvSpPr>
          <p:cNvPr id="11" name="TextBox 10"/>
          <p:cNvSpPr txBox="1"/>
          <p:nvPr/>
        </p:nvSpPr>
        <p:spPr>
          <a:xfrm>
            <a:off x="838200" y="4043362"/>
            <a:ext cx="5067300" cy="731341"/>
          </a:xfrm>
          <a:prstGeom prst="rect">
            <a:avLst/>
          </a:prstGeom>
          <a:noFill/>
        </p:spPr>
        <p:txBody>
          <a:bodyPr wrap="square" lIns="0" rIns="0" tIns="0" bIns="0" anchor="t">
            <a:spAutoFit/>
          </a:bodyPr>
          <a:lstStyle/>
          <a:p>
            <a:pPr algn="l">
              <a:lnSpc>
                <a:spcPts val="1920"/>
              </a:lnSpc>
            </a:pPr>
            <a:r>
              <a:rPr b="1" sz="1200" i="0" u="none">
                <a:solidFill>
                  <a:srgbClr val="334155"/>
                </a:solidFill>
                <a:latin typeface="Pretendard"/>
              </a:rPr>
              <a:t>지속가능한 도시 토지 이용:</a:t>
            </a:r>
            <a:r>
              <a:t>
</a:t>
            </a:r>
            <a:r>
              <a:rPr b="0" sz="1200" i="0" u="none">
                <a:solidFill>
                  <a:srgbClr val="334155"/>
                </a:solidFill>
                <a:latin typeface="Pretendard"/>
              </a:rPr>
              <a:t> 도시 계획가(Urban planners)가 토지 관리 방식을 조절함으로써 도시 토양 미생물 다양성 및 생태계 서비스를 제어할 수 있음을 증명.</a:t>
            </a:r>
          </a:p>
        </p:txBody>
      </p:sp>
      <p:pic>
        <p:nvPicPr>
          <p:cNvPr id="13" name="Picture 12" descr="image.png"/>
          <p:cNvPicPr>
            <a:picLocks noChangeAspect="1"/>
          </p:cNvPicPr>
          <p:nvPr/>
        </p:nvPicPr>
        <p:blipFill>
          <a:blip r:embed="rId7"/>
          <a:stretch>
            <a:fillRect/>
          </a:stretch>
        </p:blipFill>
        <p:spPr>
          <a:xfrm>
            <a:off x="571500" y="3207246"/>
            <a:ext cx="118616" cy="171450"/>
          </a:xfrm>
          <a:prstGeom prst="rect">
            <a:avLst/>
          </a:prstGeom>
        </p:spPr>
      </p:pic>
      <p:pic>
        <p:nvPicPr>
          <p:cNvPr id="14" name="Picture 13" descr="image.png"/>
          <p:cNvPicPr>
            <a:picLocks noChangeAspect="1"/>
          </p:cNvPicPr>
          <p:nvPr/>
        </p:nvPicPr>
        <p:blipFill>
          <a:blip r:embed="rId8"/>
          <a:stretch>
            <a:fillRect/>
          </a:stretch>
        </p:blipFill>
        <p:spPr>
          <a:xfrm>
            <a:off x="571500" y="4071937"/>
            <a:ext cx="118616" cy="171450"/>
          </a:xfrm>
          <a:prstGeom prst="rect">
            <a:avLst/>
          </a:prstGeom>
        </p:spPr>
      </p:pic>
      <p:sp>
        <p:nvSpPr>
          <p:cNvPr id="15" name="TextBox 14"/>
          <p:cNvSpPr txBox="1"/>
          <p:nvPr/>
        </p:nvSpPr>
        <p:spPr>
          <a:xfrm>
            <a:off x="888503" y="476250"/>
            <a:ext cx="11268595" cy="428625"/>
          </a:xfrm>
          <a:prstGeom prst="rect">
            <a:avLst/>
          </a:prstGeom>
          <a:noFill/>
        </p:spPr>
        <p:txBody>
          <a:bodyPr wrap="square" lIns="0" rIns="0" tIns="0" bIns="0" anchor="ctr">
            <a:spAutoFit/>
          </a:bodyPr>
          <a:lstStyle/>
          <a:p>
            <a:pPr algn="l"/>
            <a:r>
              <a:rPr b="1" sz="2400" i="0" u="none">
                <a:solidFill>
                  <a:srgbClr val="0F172A"/>
                </a:solidFill>
                <a:latin typeface="Pretendard"/>
              </a:rPr>
              <a:t>Conclusion &amp; Future Impact</a:t>
            </a:r>
          </a:p>
        </p:txBody>
      </p:sp>
      <p:sp>
        <p:nvSpPr>
          <p:cNvPr id="16" name="Rectangle 15"/>
          <p:cNvSpPr/>
          <p:nvPr/>
        </p:nvSpPr>
        <p:spPr>
          <a:xfrm>
            <a:off x="571500" y="1000125"/>
            <a:ext cx="1104900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그림 16"/>
          <p:cNvPicPr>
            <a:picLocks noChangeAspect="1"/>
          </p:cNvPicPr>
          <p:nvPr/>
        </p:nvPicPr>
        <p:blipFill rotWithShape="1">
          <a:blip r:embed="rId9"/>
          <a:stretch>
            <a:fillRect/>
          </a:stretch>
        </p:blipFill>
        <p:spPr>
          <a:xfrm>
            <a:off x="4998369" y="6115858"/>
            <a:ext cx="2195260" cy="742142"/>
          </a:xfrm>
          <a:prstGeom prst="rect">
            <a:avLst/>
          </a:prstGeom>
        </p:spPr>
      </p:pic>
      <p:pic>
        <p:nvPicPr>
          <p:cNvPr id="18" name="그림 17"/>
          <p:cNvPicPr>
            <a:picLocks noChangeAspect="1"/>
          </p:cNvPicPr>
          <p:nvPr/>
        </p:nvPicPr>
        <p:blipFill rotWithShape="1">
          <a:blip r:embed="rId10"/>
          <a:stretch>
            <a:fillRect/>
          </a:stretch>
        </p:blipFill>
        <p:spPr>
          <a:xfrm>
            <a:off x="6522800" y="1972918"/>
            <a:ext cx="5108512" cy="3142845"/>
          </a:xfrm>
          <a:prstGeom prst="roundRect">
            <a:avLst>
              <a:gd name="adj" fmla="val 4687"/>
            </a:avLst>
          </a:prstGeom>
        </p:spPr>
      </p:pic>
    </p:spTree>
  </p:cSld>
  <p:clrMapOvr>
    <a:masterClrMapping/>
  </p:clrMapOvr>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4"/>
          <a:stretch>
            <a:fillRect/>
          </a:stretch>
        </p:blipFill>
        <p:spPr>
          <a:xfrm>
            <a:off x="5858767" y="1995487"/>
            <a:ext cx="474166" cy="609600"/>
          </a:xfrm>
          <a:prstGeom prst="rect">
            <a:avLst/>
          </a:prstGeom>
        </p:spPr>
      </p:pic>
      <p:sp>
        <p:nvSpPr>
          <p:cNvPr id="5" name="TextBox 4"/>
          <p:cNvSpPr txBox="1"/>
          <p:nvPr/>
        </p:nvSpPr>
        <p:spPr>
          <a:xfrm>
            <a:off x="3916668" y="2833687"/>
            <a:ext cx="4358513" cy="619125"/>
          </a:xfrm>
          <a:prstGeom prst="rect">
            <a:avLst/>
          </a:prstGeom>
          <a:noFill/>
        </p:spPr>
        <p:txBody>
          <a:bodyPr wrap="square" lIns="0" rIns="0" tIns="0" bIns="0" anchor="t">
            <a:spAutoFit/>
          </a:bodyPr>
          <a:lstStyle/>
          <a:p>
            <a:pPr algn="ctr"/>
            <a:r>
              <a:rPr b="1" sz="3600" i="0" u="none">
                <a:solidFill>
                  <a:srgbClr val="0F172A"/>
                </a:solidFill>
                <a:latin typeface="Pretendard"/>
              </a:rPr>
              <a:t>Q &amp; A</a:t>
            </a:r>
          </a:p>
        </p:txBody>
      </p:sp>
      <p:sp>
        <p:nvSpPr>
          <p:cNvPr id="6" name="TextBox 5"/>
          <p:cNvSpPr txBox="1"/>
          <p:nvPr/>
        </p:nvSpPr>
        <p:spPr>
          <a:xfrm>
            <a:off x="4020442" y="3605212"/>
            <a:ext cx="4150965" cy="609600"/>
          </a:xfrm>
          <a:prstGeom prst="rect">
            <a:avLst/>
          </a:prstGeom>
          <a:noFill/>
        </p:spPr>
        <p:txBody>
          <a:bodyPr wrap="square" lIns="0" tIns="0" rIns="0" bIns="0" anchor="t">
            <a:spAutoFit/>
          </a:bodyPr>
          <a:lstStyle/>
          <a:p>
            <a:pPr lvl="0" algn="ctr">
              <a:lnSpc>
                <a:spcPts val="2400"/>
              </a:lnSpc>
              <a:defRPr/>
            </a:pPr>
            <a:r>
              <a:rPr sz="1500" b="0" i="0" u="none">
                <a:solidFill>
                  <a:srgbClr val="64748b"/>
                </a:solidFill>
                <a:latin typeface="Pretendard"/>
              </a:rPr>
              <a:t>경청해 주셔서 감사합니다.</a:t>
            </a:r>
            <a:endParaRPr sz="1500" b="0" i="0" u="none">
              <a:solidFill>
                <a:srgbClr val="64748b"/>
              </a:solidFill>
              <a:latin typeface="Pretendard"/>
            </a:endParaRPr>
          </a:p>
          <a:p>
            <a:pPr lvl="0" algn="ctr">
              <a:lnSpc>
                <a:spcPts val="2400"/>
              </a:lnSpc>
              <a:defRPr/>
            </a:pPr>
            <a:r>
              <a:rPr sz="1500" b="0" i="0" u="none">
                <a:solidFill>
                  <a:srgbClr val="64748b"/>
                </a:solidFill>
                <a:latin typeface="Pretendard"/>
              </a:rPr>
              <a:t> </a:t>
            </a:r>
            <a:endParaRPr sz="1500" b="0" i="0" u="none">
              <a:solidFill>
                <a:srgbClr val="64748b"/>
              </a:solidFill>
              <a:latin typeface="Pretendard"/>
            </a:endParaRPr>
          </a:p>
        </p:txBody>
      </p:sp>
      <p:sp>
        <p:nvSpPr>
          <p:cNvPr id="7" name="가로 글상자 6"/>
          <p:cNvSpPr txBox="1"/>
          <p:nvPr/>
        </p:nvSpPr>
        <p:spPr>
          <a:xfrm>
            <a:off x="4020442" y="4376737"/>
            <a:ext cx="4150965" cy="342900"/>
          </a:xfrm>
          <a:prstGeom prst="rect">
            <a:avLst/>
          </a:prstGeom>
        </p:spPr>
        <p:txBody>
          <a:bodyPr wrap="square"/>
          <a:p>
            <a:pPr lvl="0" algn="ctr">
              <a:defRPr/>
            </a:pPr>
            <a:r>
              <a:rPr lang="en-US" altLang="ko-KR" sz="1600">
                <a:latin typeface="맑은 고딕"/>
              </a:rPr>
              <a:t>Microbiome team 1(Soil)</a:t>
            </a:r>
            <a:endParaRPr lang="en-US" altLang="ko-KR" sz="1600">
              <a:latin typeface="맑은 고딕"/>
            </a:endParaRPr>
          </a:p>
        </p:txBody>
      </p:sp>
      <p:pic>
        <p:nvPicPr>
          <p:cNvPr id="9" name="그림 8"/>
          <p:cNvPicPr>
            <a:picLocks noChangeAspect="1"/>
          </p:cNvPicPr>
          <p:nvPr/>
        </p:nvPicPr>
        <p:blipFill rotWithShape="1">
          <a:blip r:embed="rId5"/>
          <a:stretch>
            <a:fillRect/>
          </a:stretch>
        </p:blipFill>
        <p:spPr>
          <a:xfrm>
            <a:off x="42420" y="6318217"/>
            <a:ext cx="2651431" cy="511207"/>
          </a:xfrm>
          <a:prstGeom prst="rect">
            <a:avLst/>
          </a:prstGeom>
        </p:spPr>
      </p:pic>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4a45ff"/>
      </a:hlink>
      <a:folHlink>
        <a:srgbClr val="be27bb"/>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726</ep:Words>
  <ep:PresentationFormat>On-screen Show (4:3)</ep:PresentationFormat>
  <ep:Paragraphs>137</ep:Paragraphs>
  <ep:Slides>12</ep:Slides>
  <ep:Notes>12</ep:Notes>
  <ep:TotalTime>0</ep:TotalTime>
  <ep:HiddenSlides>0</ep:HiddenSlides>
  <ep:MMClips>0</ep:MMClips>
  <ep:HeadingPairs>
    <vt:vector size="4" baseType="variant">
      <vt:variant>
        <vt:lpstr>테마</vt:lpstr>
      </vt:variant>
      <vt:variant>
        <vt:i4>1</vt:i4>
      </vt:variant>
      <vt:variant>
        <vt:lpstr>슬라이드 제목</vt:lpstr>
      </vt:variant>
      <vt:variant>
        <vt:i4>12</vt:i4>
      </vt:variant>
    </vt:vector>
  </ep:HeadingPairs>
  <ep:TitlesOfParts>
    <vt:vector size="13"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2013-01-27T09:14:16.000</dcterms:created>
  <dc:description>generated using python-pptx</dc:description>
  <cp:lastModifiedBy>jimin</cp:lastModifiedBy>
  <dcterms:modified xsi:type="dcterms:W3CDTF">2026-09-03T04:35:20.012</dcterms:modified>
  <cp:revision>32</cp:revision>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