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2" r:id="rId8"/>
    <p:sldId id="261" r:id="rId9"/>
    <p:sldId id="265" r:id="rId10"/>
    <p:sldId id="289" r:id="rId11"/>
    <p:sldId id="263" r:id="rId12"/>
    <p:sldId id="268" r:id="rId13"/>
    <p:sldId id="269" r:id="rId14"/>
    <p:sldId id="264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834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7743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13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Relationship Id="rId7" Type="http://schemas.openxmlformats.org/officeDocument/2006/relationships/image" Target="../media/image1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7.png"  /><Relationship Id="rId7" Type="http://schemas.openxmlformats.org/officeDocument/2006/relationships/image" Target="../media/image1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828800"/>
            <a:ext cx="5943600" cy="59436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2011680" y="4754880"/>
            <a:ext cx="4206240" cy="420624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 b="1" kern="0" spc="20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microbiom</a:t>
            </a:r>
            <a:r>
              <a:rPr lang="en-US" altLang="ko-KR" sz="1300" b="1" kern="0" spc="20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e</a:t>
            </a:r>
            <a:r>
              <a:rPr lang="en-US" sz="1300" b="1" kern="0" spc="20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-team-1</a:t>
            </a:r>
            <a:endParaRPr lang="en-US" sz="1300" b="1" kern="0" spc="200">
              <a:solidFill>
                <a:srgbClr val="2b4a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수도권 도로변·공원 토양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세균 군집 비교와 AI 기반 배양 최적화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16S rRNA gene amplicon sequencing &amp; METIS active learning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760720"/>
            <a:ext cx="10515600" cy="0"/>
          </a:xfrm>
          <a:prstGeom prst="line">
            <a:avLst/>
          </a:prstGeom>
          <a:noFill/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5897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1. 도입   ·   Part 3. AI 스케일업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7724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9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서론</a:t>
            </a:r>
            <a:endParaRPr lang="ko-KR" altLang="en-US" sz="190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Background, 선행연구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583680" y="219456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718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3832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채취·시퀀싱 방법론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스케일업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METIS 배양 최적화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069080"/>
            <a:ext cx="5349240" cy="1828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83680" y="434340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04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55321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및 시사점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50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서론</a:t>
            </a:r>
            <a:endParaRPr lang="ko-KR" altLang="en-US" sz="500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500" i="1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연구</a:t>
            </a:r>
            <a:r>
              <a:rPr lang="en-US" sz="1500" i="1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배경 및 선행연구 — 수도권 도로변·공원 토양 세균 군집 비교</a:t>
            </a:r>
            <a:endParaRPr lang="en-US" sz="1500" i="1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마이크로바이옴, 그리고 인체-환경의 연결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마이크로바이옴이란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67128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lvl="0" indent="0">
              <a:lnSpc>
                <a:spcPct val="130000"/>
              </a:lnSpc>
              <a:buNone/>
              <a:defRPr/>
            </a:pPr>
            <a:r>
              <a:rPr lang="ko-KR" altLang="en-US" sz="125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특정 환경에 서식하는 미생물군 및 유전·기능 정보를 포괄하며, 장·피부·구강·호흡기뿐만 아니라 토양·물·공기 등 다양한 환경에 형성됨.</a:t>
            </a:r>
            <a:endParaRPr lang="ko-KR" altLang="en-US" sz="125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5409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사람도 부위별로 다르다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65576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건강한 개인 간에도 신체 부위별 미생물 군집의 조성·다양성이 크게 다르며, 숙주의 생리·건강과 밀접하게 연관됨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Human Microbiome Project Consortium, Nature, 2012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56285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562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5354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연구 </a:t>
            </a:r>
            <a:r>
              <a:rPr lang="ko-KR" altLang="en-US" sz="15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패러다임</a:t>
            </a:r>
            <a:r>
              <a:rPr lang="en-US" sz="15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의 확장</a:t>
            </a:r>
            <a:endParaRPr lang="en-US" sz="155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280160" y="4946904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인체 내부 미생물 군집의 독립적 분석을 넘어, '주변 환경 ↔ 인체' 간 미생물 노출과 교환을 이해하려는 방향으로 최근 연구가 확장되는 중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1-1  MICROBIOME CONCEPT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노출이 인체 마이크로바이옴을 바꾼다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96012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22960" y="533095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미생물이 인체에 장기 정착한다는 뜻은 아니지만, 주변 환경의 미생물 조성이 인체가 접하는 노출 패턴에 영향을 준다는 것을 시사함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pic>
        <p:nvPicPr>
          <p:cNvPr id="29" name="Picture 2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" y="1471612"/>
            <a:ext cx="3505200" cy="3506703"/>
          </a:xfrm>
          <a:prstGeom prst="rect">
            <a:avLst/>
          </a:prstGeom>
        </p:spPr>
      </p:pic>
      <p:pic>
        <p:nvPicPr>
          <p:cNvPr id="30" name="Picture 3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343400" y="1471612"/>
            <a:ext cx="3505200" cy="3506703"/>
          </a:xfrm>
          <a:prstGeom prst="rect">
            <a:avLst/>
          </a:prstGeom>
        </p:spPr>
      </p:pic>
      <p:pic>
        <p:nvPicPr>
          <p:cNvPr id="31" name="Picture 4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115300" y="1471612"/>
            <a:ext cx="3505200" cy="3506703"/>
          </a:xfrm>
          <a:prstGeom prst="rect">
            <a:avLst/>
          </a:prstGeom>
        </p:spPr>
      </p:pic>
      <p:sp>
        <p:nvSpPr>
          <p:cNvPr id="32" name="TextBox 5"/>
          <p:cNvSpPr txBox="1"/>
          <p:nvPr/>
        </p:nvSpPr>
        <p:spPr>
          <a:xfrm>
            <a:off x="847725" y="2262187"/>
            <a:ext cx="2952750" cy="242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650" b="1" i="0" u="none">
                <a:solidFill>
                  <a:srgbClr val="0f172a"/>
                </a:solidFill>
                <a:latin typeface="Noto Sans KR"/>
              </a:rPr>
              <a:t>피부 → 토양</a:t>
            </a:r>
            <a:endParaRPr sz="16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3" name="TextBox 6"/>
          <p:cNvSpPr txBox="1"/>
          <p:nvPr/>
        </p:nvSpPr>
        <p:spPr>
          <a:xfrm>
            <a:off x="847725" y="2719387"/>
            <a:ext cx="2952750" cy="719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920"/>
              </a:lnSpc>
              <a:defRPr/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인간은 토양·식생과의 직접 접촉, 공기·먼지 흡입을 통해 환경 미생물에 지속적으로 노출</a:t>
            </a:r>
            <a:r>
              <a:rPr lang="ko-KR" altLang="en-US" sz="1200" b="0" i="0" u="none">
                <a:solidFill>
                  <a:srgbClr val="334155"/>
                </a:solidFill>
                <a:latin typeface="Noto Sans KR"/>
              </a:rPr>
              <a:t>됨</a:t>
            </a:r>
            <a:r>
              <a:rPr lang="en-US" altLang="ko-KR" sz="1200" b="0" i="0" u="none">
                <a:solidFill>
                  <a:srgbClr val="334155"/>
                </a:solidFill>
                <a:latin typeface="Noto Sans KR"/>
              </a:rPr>
              <a:t>.</a:t>
            </a:r>
            <a:endParaRPr lang="en-US" altLang="ko-KR" sz="1200" b="0" i="0" u="none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34" name="TextBox 7"/>
          <p:cNvSpPr txBox="1"/>
          <p:nvPr/>
        </p:nvSpPr>
        <p:spPr>
          <a:xfrm>
            <a:off x="847725" y="4691062"/>
            <a:ext cx="2952750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050" b="0" i="1" u="none">
                <a:solidFill>
                  <a:srgbClr val="64748b"/>
                </a:solidFill>
                <a:latin typeface="Plus Jakarta Sans"/>
              </a:rPr>
              <a:t> Selway et al., Environ. Int., 2020 </a:t>
            </a:r>
            <a:endParaRPr sz="1050" b="0" i="1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4619625" y="2262187"/>
            <a:ext cx="2952750" cy="242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650" b="1" i="0" u="none">
                <a:solidFill>
                  <a:srgbClr val="0f172a"/>
                </a:solidFill>
                <a:latin typeface="Noto Sans KR"/>
              </a:rPr>
              <a:t>코 → 대기</a:t>
            </a:r>
            <a:endParaRPr sz="16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6" name="TextBox 9"/>
          <p:cNvSpPr txBox="1"/>
          <p:nvPr/>
        </p:nvSpPr>
        <p:spPr>
          <a:xfrm>
            <a:off x="4619625" y="2719387"/>
            <a:ext cx="2952750" cy="642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687"/>
              </a:lnSpc>
              <a:defRPr/>
            </a:pPr>
            <a:r>
              <a:rPr lang="ko-KR" altLang="en-US" sz="1200" b="0" i="0" u="none">
                <a:solidFill>
                  <a:srgbClr val="475569"/>
                </a:solidFill>
                <a:latin typeface="Noto Sans KR"/>
              </a:rPr>
              <a:t>동일 노출 후, 비강(코) 마이크로바이옴은 대기 마이크로바이옴과, 피부는 토양 마이크로바이옴과 더 유사해짐.</a:t>
            </a:r>
            <a:endParaRPr lang="ko-KR" altLang="en-US" sz="12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7" name="TextBox 10"/>
          <p:cNvSpPr txBox="1"/>
          <p:nvPr/>
        </p:nvSpPr>
        <p:spPr>
          <a:xfrm>
            <a:off x="4619625" y="4691062"/>
            <a:ext cx="2952750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050" b="0" i="1" u="none">
                <a:solidFill>
                  <a:srgbClr val="64748b"/>
                </a:solidFill>
                <a:latin typeface="Plus Jakarta Sans"/>
              </a:rPr>
              <a:t> Selway et al., Environ. Int., 2020 </a:t>
            </a:r>
            <a:endParaRPr sz="1050" b="0" i="1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38" name="TextBox 11"/>
          <p:cNvSpPr txBox="1"/>
          <p:nvPr/>
        </p:nvSpPr>
        <p:spPr>
          <a:xfrm>
            <a:off x="8391525" y="2262187"/>
            <a:ext cx="2952750" cy="242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650" b="1" i="0" u="none">
                <a:solidFill>
                  <a:srgbClr val="0f172a"/>
                </a:solidFill>
                <a:latin typeface="Noto Sans KR"/>
              </a:rPr>
              <a:t>장·피부 다양성 변화</a:t>
            </a:r>
            <a:endParaRPr sz="16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9" name="TextBox 12"/>
          <p:cNvSpPr txBox="1"/>
          <p:nvPr/>
        </p:nvSpPr>
        <p:spPr>
          <a:xfrm>
            <a:off x="8391525" y="2719387"/>
            <a:ext cx="2952750" cy="6429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687"/>
              </a:lnSpc>
              <a:defRPr/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토양은 생태계 기능 유지 및 영양염 순환을 주도하며, </a:t>
            </a:r>
            <a:r>
              <a:rPr lang="ko-KR" altLang="en-US" sz="1200" b="0" i="0" u="none">
                <a:solidFill>
                  <a:srgbClr val="334155"/>
                </a:solidFill>
                <a:latin typeface="Noto Sans KR"/>
              </a:rPr>
              <a:t>녹지 노출을 통해 인체 장·피부 미생물의 다양성 및 군집 조성 변화와 연관됨</a:t>
            </a:r>
            <a:r>
              <a:rPr lang="en-US" altLang="ko-KR" sz="1200" b="0" i="0" u="none">
                <a:solidFill>
                  <a:srgbClr val="334155"/>
                </a:solidFill>
                <a:latin typeface="Noto Sans KR"/>
              </a:rPr>
              <a:t>.</a:t>
            </a:r>
            <a:endParaRPr lang="en-US" altLang="ko-KR" sz="1200" b="0" i="0" u="none">
              <a:solidFill>
                <a:srgbClr val="334155"/>
              </a:solidFill>
              <a:latin typeface="Noto Sans KR"/>
            </a:endParaRPr>
          </a:p>
        </p:txBody>
      </p:sp>
      <p:sp>
        <p:nvSpPr>
          <p:cNvPr id="40" name="TextBox 13"/>
          <p:cNvSpPr txBox="1"/>
          <p:nvPr/>
        </p:nvSpPr>
        <p:spPr>
          <a:xfrm>
            <a:off x="8391525" y="4691062"/>
            <a:ext cx="2952750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050" b="0" i="1" u="none">
                <a:solidFill>
                  <a:srgbClr val="64748b"/>
                </a:solidFill>
                <a:latin typeface="Plus Jakarta Sans"/>
              </a:rPr>
              <a:t> Zhang et al., Environ. Int., 2024 </a:t>
            </a:r>
            <a:endParaRPr sz="1050" b="0" i="1" u="none">
              <a:solidFill>
                <a:srgbClr val="64748b"/>
              </a:solidFill>
              <a:latin typeface="Plus Jakarta Sans"/>
            </a:endParaRPr>
          </a:p>
        </p:txBody>
      </p:sp>
      <p:pic>
        <p:nvPicPr>
          <p:cNvPr id="41" name="Picture 14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47725" y="1804987"/>
            <a:ext cx="209550" cy="209550"/>
          </a:xfrm>
          <a:prstGeom prst="rect">
            <a:avLst/>
          </a:prstGeom>
        </p:spPr>
      </p:pic>
      <p:sp>
        <p:nvSpPr>
          <p:cNvPr id="42" name="TextBox 15"/>
          <p:cNvSpPr txBox="1"/>
          <p:nvPr/>
        </p:nvSpPr>
        <p:spPr>
          <a:xfrm>
            <a:off x="1152525" y="1785937"/>
            <a:ext cx="1680210" cy="204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환경 미생물 노출 경로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pic>
        <p:nvPicPr>
          <p:cNvPr id="43" name="Picture 16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19625" y="1804987"/>
            <a:ext cx="180975" cy="209550"/>
          </a:xfrm>
          <a:prstGeom prst="rect">
            <a:avLst/>
          </a:prstGeom>
        </p:spPr>
      </p:pic>
      <p:sp>
        <p:nvSpPr>
          <p:cNvPr id="44" name="TextBox 17"/>
          <p:cNvSpPr txBox="1"/>
          <p:nvPr/>
        </p:nvSpPr>
        <p:spPr>
          <a:xfrm>
            <a:off x="4895850" y="1785937"/>
            <a:ext cx="2290286" cy="204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도시 녹지 노출 및 미생물 변화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pic>
        <p:nvPicPr>
          <p:cNvPr id="45" name="Picture 18" descr="image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91525" y="1804987"/>
            <a:ext cx="209550" cy="209550"/>
          </a:xfrm>
          <a:prstGeom prst="rect">
            <a:avLst/>
          </a:prstGeom>
        </p:spPr>
      </p:pic>
      <p:sp>
        <p:nvSpPr>
          <p:cNvPr id="46" name="TextBox 19"/>
          <p:cNvSpPr txBox="1"/>
          <p:nvPr/>
        </p:nvSpPr>
        <p:spPr>
          <a:xfrm>
            <a:off x="8696325" y="1785937"/>
            <a:ext cx="1970246" cy="2047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핵심 공급원으로서의 토양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88980" y="2770584"/>
            <a:ext cx="5397071" cy="1208807"/>
          </a:xfrm>
          <a:prstGeom prst="rect">
            <a:avLst/>
          </a:prstGeom>
        </p:spPr>
      </p:pic>
      <p:pic>
        <p:nvPicPr>
          <p:cNvPr id="27" name="Picture 1" descr="image.png"/>
          <p:cNvPicPr>
            <a:picLocks noChangeAspect="1"/>
          </p:cNvPicPr>
          <p:nvPr/>
        </p:nvPicPr>
        <p:blipFill rotWithShape="1">
          <a:blip r:embed="rId4"/>
          <a:srcRect t="29040" r="50000" b="36870"/>
          <a:stretch>
            <a:fillRect/>
          </a:stretch>
        </p:blipFill>
        <p:spPr>
          <a:xfrm>
            <a:off x="0" y="2182091"/>
            <a:ext cx="6096000" cy="2337955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1-2  RESEARCH GAP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2800" b="1">
                <a:solidFill>
                  <a:schemeClr val="dk1"/>
                </a:solidFill>
                <a:latin typeface="Pretendard"/>
                <a:ea typeface="Pretendard"/>
                <a:cs typeface="Pretendard"/>
              </a:rPr>
              <a:t>도시 토양</a:t>
            </a:r>
            <a:r>
              <a:rPr lang="ko-KR" alt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 특성 </a:t>
            </a:r>
            <a:r>
              <a:rPr lang="en-US" altLang="ko-KR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도로변 vs 공원</a:t>
            </a:r>
            <a:r>
              <a:rPr lang="en-US" altLang="ko-KR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altLang="ko-KR" sz="280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8" name="Picture 4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2407443"/>
            <a:ext cx="148232" cy="190500"/>
          </a:xfrm>
          <a:prstGeom prst="rect">
            <a:avLst/>
          </a:prstGeom>
        </p:spPr>
      </p:pic>
      <p:pic>
        <p:nvPicPr>
          <p:cNvPr id="29" name="Picture 5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0100" y="3617118"/>
            <a:ext cx="148232" cy="190500"/>
          </a:xfrm>
          <a:prstGeom prst="rect">
            <a:avLst/>
          </a:prstGeom>
        </p:spPr>
      </p:pic>
      <p:pic>
        <p:nvPicPr>
          <p:cNvPr id="30" name="Picture 6" descr="image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27313" y="3008300"/>
            <a:ext cx="148232" cy="190500"/>
          </a:xfrm>
          <a:prstGeom prst="rect">
            <a:avLst/>
          </a:prstGeom>
        </p:spPr>
      </p:pic>
      <p:sp>
        <p:nvSpPr>
          <p:cNvPr id="31" name="TextBox 7"/>
          <p:cNvSpPr txBox="1"/>
          <p:nvPr/>
        </p:nvSpPr>
        <p:spPr>
          <a:xfrm>
            <a:off x="1100732" y="2378868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도로변 토양 (Roadside Soil)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1100732" y="2645568"/>
            <a:ext cx="4614267" cy="602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차량 배기가스 및 도로 먼지 유래 중금속, 석유계 탄화수소, 다환방향족탄화수소(PAHs) 축적 → 세균 및 진균의 다양성 및 군집 구조 변형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3" name="TextBox 9"/>
          <p:cNvSpPr txBox="1"/>
          <p:nvPr/>
        </p:nvSpPr>
        <p:spPr>
          <a:xfrm>
            <a:off x="1100732" y="3588543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공원 토양 (Park Soil)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100732" y="3855243"/>
            <a:ext cx="4614267" cy="40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식생 조성 및 녹지 관리에 영향을 받는 도시 토양으로, 도로변 토양과 상이한 환경적 선택 압력(Environmental Selective Pressures) 작용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5" name="TextBox 11"/>
          <p:cNvSpPr txBox="1"/>
          <p:nvPr/>
        </p:nvSpPr>
        <p:spPr>
          <a:xfrm>
            <a:off x="7127945" y="2979725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수도권 토양 마이크로바이옴 비교 목적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6" name="TextBox 12"/>
          <p:cNvSpPr txBox="1"/>
          <p:nvPr/>
        </p:nvSpPr>
        <p:spPr>
          <a:xfrm>
            <a:off x="7127944" y="3246425"/>
            <a:ext cx="4614268" cy="40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토지 이용 형태 및 인위적 교란에 따른 토양 미생물 다양성 차이를 규명하고, 도시 주민이 접하는 환경 미생물의 공간적 차이를 이해.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37" name="오른쪽 화살표 36"/>
          <p:cNvSpPr/>
          <p:nvPr/>
        </p:nvSpPr>
        <p:spPr>
          <a:xfrm>
            <a:off x="6038850" y="3048053"/>
            <a:ext cx="398318" cy="609546"/>
          </a:xfrm>
          <a:prstGeom prst="rightArrow">
            <a:avLst>
              <a:gd name="adj1" fmla="val 50000"/>
              <a:gd name="adj2" fmla="val 50000"/>
            </a:avLst>
          </a:prstGeom>
          <a:gradFill flip="xy" rotWithShape="1">
            <a:gsLst>
              <a:gs pos="0">
                <a:schemeClr val="accent1">
                  <a:tint val="70000"/>
                  <a:satMod val="170000"/>
                </a:schemeClr>
              </a:gs>
              <a:gs pos="100000">
                <a:schemeClr val="accent1">
                  <a:tint val="20000"/>
                  <a:satMod val="1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1-2  RESEARCH GAP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도시 토양, 아직 덜 알려진 영역</a:t>
            </a:r>
            <a:r>
              <a:rPr lang="ko-KR" alt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과 한계</a:t>
            </a:r>
            <a:endParaRPr lang="ko-KR" altLang="en-US" sz="280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3855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63855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2b4aff"/>
                </a:solidFill>
              </a:rPr>
              <a:t>✓</a:t>
            </a:r>
            <a:endParaRPr lang="en-US" sz="2000"/>
          </a:p>
        </p:txBody>
      </p:sp>
      <p:sp>
        <p:nvSpPr>
          <p:cNvPr id="6" name="Text 4"/>
          <p:cNvSpPr txBox="1"/>
          <p:nvPr/>
        </p:nvSpPr>
        <p:spPr>
          <a:xfrm>
            <a:off x="1049655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토양의 역할</a:t>
            </a:r>
            <a:endParaRPr lang="en-US" sz="1600"/>
          </a:p>
        </p:txBody>
      </p:sp>
      <p:sp>
        <p:nvSpPr>
          <p:cNvPr id="7" name="Text 5"/>
          <p:cNvSpPr txBox="1"/>
          <p:nvPr/>
        </p:nvSpPr>
        <p:spPr>
          <a:xfrm>
            <a:off x="1049654" y="2286000"/>
            <a:ext cx="4482639" cy="1828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35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생태계 기능·영양염류 순환의 </a:t>
            </a:r>
            <a:r>
              <a:rPr lang="en-US"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핵심 환경 요소</a:t>
            </a:r>
            <a:endParaRPr lang="en-US" sz="1350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  <a:p>
            <a:pPr marL="342900" lvl="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도시에서는 미기후 조절, 탄소 격리, 우수(빗물) 관리 등 부가적 역할까지 수행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6120765" y="1828800"/>
            <a:ext cx="502920" cy="50292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120765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2b4aff"/>
                </a:solidFill>
              </a:rPr>
              <a:t>✕</a:t>
            </a:r>
            <a:endParaRPr lang="en-US" sz="2000"/>
          </a:p>
        </p:txBody>
      </p:sp>
      <p:sp>
        <p:nvSpPr>
          <p:cNvPr id="10" name="Text 8"/>
          <p:cNvSpPr txBox="1"/>
          <p:nvPr/>
        </p:nvSpPr>
        <p:spPr>
          <a:xfrm>
            <a:off x="6806565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6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그러나 남은 공백</a:t>
            </a:r>
            <a:endParaRPr lang="en-US" sz="1600"/>
          </a:p>
        </p:txBody>
      </p:sp>
      <p:sp>
        <p:nvSpPr>
          <p:cNvPr id="11" name="Text 9"/>
          <p:cNvSpPr txBox="1"/>
          <p:nvPr/>
        </p:nvSpPr>
        <p:spPr>
          <a:xfrm>
            <a:off x="6806565" y="228600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lang="en-US" sz="135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도시 토양 미생물 연구는 상대적으로 </a:t>
            </a:r>
            <a:r>
              <a:rPr lang="en-US" sz="1350" b="1">
                <a:solidFill>
                  <a:srgbClr val="0000ff"/>
                </a:solidFill>
                <a:latin typeface="Pretendard"/>
                <a:ea typeface="Pretendard"/>
                <a:cs typeface="Pretendard"/>
              </a:rPr>
              <a:t>산발적</a:t>
            </a:r>
            <a:endParaRPr lang="en-US" sz="1350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  <a:p>
            <a:pPr marL="342900" lvl="0" indent="-342900">
              <a:lnSpc>
                <a:spcPct val="135000"/>
              </a:lnSpc>
              <a:buSzPct val="100000"/>
              <a:buChar char="•"/>
              <a:defRPr/>
            </a:pPr>
            <a:r>
              <a:rPr lang="en-US" sz="135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대부분 거시적(macro) 수준의 생태계 서비스에 초점 — 세균 군집의 </a:t>
            </a:r>
            <a:r>
              <a:rPr lang="en-US" sz="135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구조적 복잡성·기능적 잠재력은 </a:t>
            </a:r>
            <a:r>
              <a:rPr lang="en-US" sz="1350" b="1">
                <a:solidFill>
                  <a:srgbClr val="0000ff"/>
                </a:solidFill>
                <a:latin typeface="Pretendard"/>
                <a:ea typeface="Pretendard"/>
                <a:cs typeface="Pretendard"/>
              </a:rPr>
              <a:t>저평가</a:t>
            </a:r>
            <a:endParaRPr lang="en-US" sz="1350" b="1">
              <a:solidFill>
                <a:srgbClr val="0000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806565" y="35128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 i="1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Whitehead et al., Front. Microbiol., 2022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6577253" y="3891049"/>
            <a:ext cx="5399290" cy="831445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744893" y="4006215"/>
            <a:ext cx="5086934" cy="57427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 b="1">
                <a:solidFill>
                  <a:srgbClr val="1e36c4"/>
                </a:solidFill>
                <a:latin typeface="Pretendard"/>
                <a:ea typeface="Pretendard"/>
                <a:cs typeface="Pretendard"/>
              </a:rPr>
              <a:t>→ 인위적 교란이 심한 도시 토양의 세균 군집은 구조·기능 모두 충분히 규명되지 않은 상태</a:t>
            </a:r>
            <a:endParaRPr lang="en-US" sz="130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7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18" name="Picture 3" descr="image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49655" y="5379892"/>
            <a:ext cx="10044546" cy="750423"/>
          </a:xfrm>
          <a:prstGeom prst="rect">
            <a:avLst/>
          </a:prstGeom>
        </p:spPr>
      </p:pic>
      <p:sp>
        <p:nvSpPr>
          <p:cNvPr id="19" name="TextBox 7"/>
          <p:cNvSpPr txBox="1"/>
          <p:nvPr/>
        </p:nvSpPr>
        <p:spPr>
          <a:xfrm>
            <a:off x="1211580" y="5541817"/>
            <a:ext cx="9001992" cy="401783"/>
          </a:xfrm>
          <a:prstGeom prst="rect">
            <a:avLst/>
          </a:prstGeom>
          <a:noFill/>
        </p:spPr>
        <p:txBody>
          <a:bodyPr wrap="square" lIns="103733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300" b="1" i="0" u="none">
                <a:solidFill>
                  <a:srgbClr val="0369a1"/>
                </a:solidFill>
                <a:latin typeface="Noto Sans KR"/>
              </a:rPr>
              <a:t>주요 제약 요인:</a:t>
            </a:r>
            <a:r>
              <a:rPr sz="1300" b="0" i="0" u="none">
                <a:solidFill>
                  <a:srgbClr val="0369a1"/>
                </a:solidFill>
                <a:latin typeface="Noto Sans KR Medium"/>
              </a:rPr>
              <a:t> 높은 생물학적 복잡성 (Biological Complexity), 방대한 조합 탐색 공간 (Vast Search Space), 막대한 시간 및 자원 소모.</a:t>
            </a:r>
            <a:endParaRPr sz="1300" b="0" i="0" u="none">
              <a:solidFill>
                <a:srgbClr val="0369a1"/>
              </a:solidFill>
              <a:latin typeface="Noto Sans KR Medium"/>
            </a:endParaRPr>
          </a:p>
        </p:txBody>
      </p:sp>
      <p:pic>
        <p:nvPicPr>
          <p:cNvPr id="20" name="Picture 12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11580" y="5579917"/>
            <a:ext cx="103733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1-</a:t>
            </a:r>
            <a:r>
              <a:rPr lang="en-US" altLang="ko-KR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  METHOD PREVIEW</a:t>
            </a:r>
            <a:endParaRPr lang="en-US" sz="1100" b="1" kern="0" spc="150">
              <a:solidFill>
                <a:srgbClr val="2b4a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비교 — NGS 기반 16S rRNA 분석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2446CB"/>
                </a:solidFill>
                <a:latin typeface="Pretendard"/>
              </a:rPr>
              <a:t>NGS = 시퀀싱 기술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수백만 개의 DNA 조각을 동시에 병렬로 읽어내는 고속·대량 시퀀싱 기술</a:t>
            </a:r>
            <a:endParaRPr lang="en-US" sz="13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sz="1350">
                <a:solidFill>
                  <a:srgbClr val="1F1F1F"/>
                </a:solidFill>
                <a:latin typeface="Pretendard"/>
              </a:rPr>
              <a:t>본 연구는 Illumina NGS를 이용해 32개 토양 시료의 16S 서열을 대량 분석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solidFill>
            <a:srgbClr val="FAFAFC"/>
          </a:solidFill>
          <a:ln w="12700">
            <a:solidFill>
              <a:srgbClr val="E3E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8745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1F1F1F"/>
                </a:solidFill>
                <a:latin typeface="Pretendard"/>
              </a:rPr>
              <a:t>16S amplicon = 분석 전략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6537960" y="237744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sz="1350">
                <a:solidFill>
                  <a:srgbClr val="1f1f1f"/>
                </a:solidFill>
                <a:latin typeface="Pretendard"/>
              </a:rPr>
              <a:t>개별 미생물의 WGS나 토양 DNA 전체를 읽는 shotgun metagenomics가 아님</a:t>
            </a:r>
            <a:endParaRPr sz="1350">
              <a:solidFill>
                <a:srgbClr val="1f1f1f"/>
              </a:solidFill>
              <a:latin typeface="Pretendard"/>
            </a:endParaRPr>
          </a:p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sz="1350">
                <a:solidFill>
                  <a:srgbClr val="1f1f1f"/>
                </a:solidFill>
                <a:latin typeface="Pretendard"/>
              </a:rPr>
              <a:t>세균에서 널리 보존된 16S rRNA 유전자의 V4 영역을 PCR로 증폭하는 </a:t>
            </a:r>
            <a:r>
              <a:rPr lang="en-US" altLang="ko-KR" sz="1350">
                <a:solidFill>
                  <a:srgbClr val="1f1f1f"/>
                </a:solidFill>
                <a:latin typeface="Pretendard"/>
              </a:rPr>
              <a:t>Amplicon sequencing</a:t>
            </a:r>
            <a:endParaRPr lang="en-US" altLang="ko-KR" sz="1350">
              <a:solidFill>
                <a:srgbClr val="1f1f1f"/>
              </a:solidFill>
              <a:latin typeface="Pretendard"/>
            </a:endParaRPr>
          </a:p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sz="1350">
                <a:solidFill>
                  <a:srgbClr val="1f1f1f"/>
                </a:solidFill>
                <a:latin typeface="Pretendard"/>
              </a:rPr>
              <a:t>시료별 고유 index를 부착해 함께 시퀀싱한 뒤 시료별로 분리(demultiplexing)</a:t>
            </a:r>
            <a:endParaRPr sz="1350">
              <a:solidFill>
                <a:srgbClr val="1f1f1f"/>
              </a:solidFill>
              <a:latin typeface="Pretendard"/>
            </a:endParaRPr>
          </a:p>
          <a:p>
            <a:pPr marL="342900" lvl="0" indent="-342900">
              <a:lnSpc>
                <a:spcPct val="135000"/>
              </a:lnSpc>
              <a:spcAft>
                <a:spcPts val="1000"/>
              </a:spcAft>
              <a:buSzPct val="100000"/>
              <a:buChar char="•"/>
              <a:defRPr/>
            </a:pPr>
            <a:r>
              <a:rPr sz="1350">
                <a:solidFill>
                  <a:srgbClr val="1f1f1f"/>
                </a:solidFill>
                <a:latin typeface="Pretendard"/>
              </a:rPr>
              <a:t>배양 없이 세균 군집의 구성과 시료 간 차이를 비교 가능</a:t>
            </a:r>
            <a:endParaRPr sz="1350">
              <a:solidFill>
                <a:srgbClr val="1f1f1f"/>
              </a:solidFill>
              <a:latin typeface="Pretendard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8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1-</a:t>
            </a:r>
            <a:r>
              <a:rPr lang="en-US" altLang="ko-KR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  METHOD PREVIEW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2800" b="1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NGS 및 능동 머신러닝(METIS) 융합</a:t>
            </a:r>
            <a:endParaRPr lang="ko-KR" altLang="en-US" sz="2800" b="1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9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#UrbanSoilMicrobiome</a:t>
            </a:r>
            <a:endParaRPr lang="en-US" sz="900"/>
          </a:p>
        </p:txBody>
      </p:sp>
      <p:sp>
        <p:nvSpPr>
          <p:cNvPr id="16" name="Text 1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2026</a:t>
            </a:r>
            <a:endParaRPr lang="en-US" sz="900"/>
          </a:p>
        </p:txBody>
      </p:sp>
      <p:sp>
        <p:nvSpPr>
          <p:cNvPr id="17" name="Text 15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9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21" name="Picture 1" descr="image.png"/>
          <p:cNvPicPr>
            <a:picLocks noChangeAspect="1"/>
          </p:cNvPicPr>
          <p:nvPr/>
        </p:nvPicPr>
        <p:blipFill rotWithShape="1">
          <a:blip r:embed="rId3"/>
          <a:srcRect t="27270" r="49670" b="16790"/>
          <a:stretch>
            <a:fillRect/>
          </a:stretch>
        </p:blipFill>
        <p:spPr>
          <a:xfrm>
            <a:off x="0" y="1870017"/>
            <a:ext cx="6721620" cy="4202060"/>
          </a:xfrm>
          <a:prstGeom prst="rect">
            <a:avLst/>
          </a:prstGeom>
        </p:spPr>
      </p:pic>
      <p:pic>
        <p:nvPicPr>
          <p:cNvPr id="22" name="Picture 4" descr="image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0100" y="2274093"/>
            <a:ext cx="148232" cy="190500"/>
          </a:xfrm>
          <a:prstGeom prst="rect">
            <a:avLst/>
          </a:prstGeom>
        </p:spPr>
      </p:pic>
      <p:pic>
        <p:nvPicPr>
          <p:cNvPr id="23" name="Picture 5" descr="image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100" y="3550443"/>
            <a:ext cx="148232" cy="190500"/>
          </a:xfrm>
          <a:prstGeom prst="rect">
            <a:avLst/>
          </a:prstGeom>
        </p:spPr>
      </p:pic>
      <p:pic>
        <p:nvPicPr>
          <p:cNvPr id="24" name="Picture 6" descr="image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0100" y="4798218"/>
            <a:ext cx="148232" cy="190500"/>
          </a:xfrm>
          <a:prstGeom prst="rect">
            <a:avLst/>
          </a:prstGeom>
        </p:spPr>
      </p:pic>
      <p:sp>
        <p:nvSpPr>
          <p:cNvPr id="25" name="TextBox 7"/>
          <p:cNvSpPr txBox="1"/>
          <p:nvPr/>
        </p:nvSpPr>
        <p:spPr>
          <a:xfrm>
            <a:off x="1100732" y="2245518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NGS 분석 기반 타깃 미생물 발굴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6" name="TextBox 8"/>
          <p:cNvSpPr txBox="1"/>
          <p:nvPr/>
        </p:nvSpPr>
        <p:spPr>
          <a:xfrm>
            <a:off x="1100732" y="2540793"/>
            <a:ext cx="5402243" cy="40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NGS 프로파일링으로 복원 능력이 우수한 타깃 미생물을 규명하나, 스케일업을 위한 다변수 배양 조건 최적화는 기존 반응표면분석법(RSM)으로 한계 존재.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27" name="TextBox 9"/>
          <p:cNvSpPr txBox="1"/>
          <p:nvPr/>
        </p:nvSpPr>
        <p:spPr>
          <a:xfrm>
            <a:off x="1100732" y="3521868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METIS 프레임워크 (Active Machine Learning)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8" name="TextBox 10"/>
          <p:cNvSpPr txBox="1"/>
          <p:nvPr/>
        </p:nvSpPr>
        <p:spPr>
          <a:xfrm>
            <a:off x="1100732" y="3807618"/>
            <a:ext cx="5402243" cy="40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생장 성능을 반복 예측하고 최소 실험 횟수로 최적 배양 조건(탄소원, pH, 미량영양소 등)을 능동 샘플링하는 데이터 기반 최적화 기법 (Pandi et al., 2022).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29" name="TextBox 11"/>
          <p:cNvSpPr txBox="1"/>
          <p:nvPr/>
        </p:nvSpPr>
        <p:spPr>
          <a:xfrm>
            <a:off x="1100732" y="4769643"/>
            <a:ext cx="4844980" cy="202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defRPr/>
            </a:pPr>
            <a:r>
              <a:rPr sz="1350" b="1" i="0" u="none">
                <a:solidFill>
                  <a:srgbClr val="0f172a"/>
                </a:solidFill>
                <a:latin typeface="Noto Sans KR"/>
              </a:rPr>
              <a:t>기술 융합을 통한 도시 토양 복원 실용화</a:t>
            </a:r>
            <a:endParaRPr sz="1350" b="1" i="0" u="none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30" name="TextBox 12"/>
          <p:cNvSpPr txBox="1"/>
          <p:nvPr/>
        </p:nvSpPr>
        <p:spPr>
          <a:xfrm>
            <a:off x="1100732" y="5055393"/>
            <a:ext cx="5402243" cy="40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575"/>
              </a:lnSpc>
              <a:defRPr/>
            </a:pPr>
            <a:r>
              <a:rPr sz="1100" b="0" i="0" u="none">
                <a:solidFill>
                  <a:srgbClr val="475569"/>
                </a:solidFill>
                <a:latin typeface="Noto Sans KR"/>
              </a:rPr>
              <a:t>NGS 커뮤니티 프로파일링과 METIS 기반 배양 최적화의 결합을 통해, 마이크로바이옴 발굴부터 실질적인 도시 토양 복원 바이오프로세스까지의 격차 해소.</a:t>
            </a:r>
            <a:endParaRPr sz="1100" b="0" i="0" u="none">
              <a:solidFill>
                <a:srgbClr val="475569"/>
              </a:solidFill>
              <a:latin typeface="Noto Sans KR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602395" y="2440979"/>
            <a:ext cx="5307541" cy="298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2015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1-</a:t>
            </a:r>
            <a:r>
              <a:rPr lang="en-US" altLang="ko-KR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en-US" sz="1100" b="1" kern="0" spc="150">
                <a:solidFill>
                  <a:srgbClr val="2b4aff"/>
                </a:solidFill>
                <a:latin typeface="Pretendard SemiBold"/>
                <a:ea typeface="Pretendard SemiBold"/>
                <a:cs typeface="Pretendard SemiBold"/>
              </a:rPr>
              <a:t>  RESEARCH QUESTIONS</a:t>
            </a:r>
            <a:endParaRPr lang="en-US" sz="1100" b="1" kern="0" spc="150">
              <a:solidFill>
                <a:srgbClr val="2b4a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그래서, 이 연구가 답하려는 질문은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764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도로변과 공원 토양의 세균 군집은 서로 다른가?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2219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토지이용에 따른 인위적 교란이 실제로 군집 조성·다양성 차이를 만드는지 확인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1363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환경을 구분할 수 있는 세균 분류군이 존재하는가?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5935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환경 모니터링 지표로 활용 가능한 후보 분류군 탐색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solidFill>
            <a:srgbClr val="2B4A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4526280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Q3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 가능한 유용 자원을 확보하고 최적화할 수 있는가?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96519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분리주를 실제로 확보하고, AI 기반 배양 최적화로 실용화 가능성 검토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10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1005840"/>
            <a:ext cx="50292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0" b="1" dirty="0">
                <a:solidFill>
                  <a:srgbClr val="F1F3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PART 02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80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샘플링</a:t>
            </a:r>
            <a:endParaRPr lang="en-US" sz="5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채취 및 시퀀싱 방법론 (팀원 파트)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12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B4AFF"/>
                </a:solidFill>
                <a:latin typeface="Pretendard SemiBold"/>
              </a:rPr>
              <a:t>2-1  STUDY AREA &amp;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868680"/>
            <a:ext cx="777240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A1A1A"/>
                </a:solidFill>
                <a:latin typeface="Pretendard"/>
              </a:rPr>
              <a:t>연구지역 및 샘플링 설계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096512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44383" y="1673352"/>
            <a:ext cx="3346704" cy="1078992"/>
          </a:xfrm>
          <a:prstGeom prst="roundRect">
            <a:avLst/>
          </a:prstGeom>
          <a:solidFill>
            <a:srgbClr val="EE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04672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연구지역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5024" y="2176272"/>
            <a:ext cx="2331720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defRPr/>
            </a:pPr>
            <a:r>
              <a:rPr sz="1500" b="0">
                <a:solidFill>
                  <a:srgbClr val="1a1a1a"/>
                </a:solidFill>
                <a:latin typeface="Pretendard"/>
              </a:rPr>
              <a:t>서울·경기 수도권</a:t>
            </a:r>
            <a:endParaRPr sz="1500" b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352544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채취 기간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6" y="2176272"/>
            <a:ext cx="2331720" cy="224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defRPr/>
            </a:pPr>
            <a:r>
              <a:rPr sz="1500" b="0">
                <a:solidFill>
                  <a:srgbClr val="1a1a1a"/>
                </a:solidFill>
                <a:latin typeface="Pretendard"/>
              </a:rPr>
              <a:t>2026.07.18 </a:t>
            </a:r>
            <a:r>
              <a:rPr lang="en-US" altLang="ko-KR" sz="1500" b="0">
                <a:solidFill>
                  <a:srgbClr val="1a1a1a"/>
                </a:solidFill>
                <a:latin typeface="Pretendard"/>
              </a:rPr>
              <a:t>~ </a:t>
            </a:r>
            <a:r>
              <a:rPr sz="1500" b="0">
                <a:solidFill>
                  <a:srgbClr val="1a1a1a"/>
                </a:solidFill>
                <a:latin typeface="Pretendard"/>
              </a:rPr>
              <a:t>20</a:t>
            </a:r>
            <a:r>
              <a:rPr lang="en-US" altLang="ko-KR" sz="1500" b="0">
                <a:solidFill>
                  <a:srgbClr val="1a1a1a"/>
                </a:solidFill>
                <a:latin typeface="Pretendard"/>
              </a:rPr>
              <a:t>.</a:t>
            </a:r>
            <a:endParaRPr lang="en-US" altLang="ko-KR" sz="1500" b="0">
              <a:solidFill>
                <a:srgbClr val="1a1a1a"/>
              </a:solidFill>
              <a:latin typeface="Pretendard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900415" y="1901952"/>
            <a:ext cx="402336" cy="402336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retendard SemiBold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7" y="1837944"/>
            <a:ext cx="228600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6C4"/>
                </a:solidFill>
                <a:latin typeface="Pretendard"/>
              </a:rPr>
              <a:t>비교 설계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7" y="2148840"/>
            <a:ext cx="23317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 SemiBold"/>
              </a:rPr>
              <a:t>Roadside vs Park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7" y="2432304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5A5A"/>
                </a:solidFill>
                <a:latin typeface="Pretendard"/>
              </a:rPr>
              <a:t>총 32개 토양 시료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2990088"/>
            <a:ext cx="11091672" cy="2267712"/>
          </a:xfrm>
          <a:prstGeom prst="rect">
            <a:avLst/>
          </a:prstGeom>
          <a:solidFill>
            <a:srgbClr val="F7F8FD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319125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B4AFF"/>
                </a:solidFill>
                <a:latin typeface="Pretendard SemiBold"/>
              </a:rPr>
              <a:t>SAMPLING FRAMEWORK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3611880"/>
            <a:ext cx="48920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" y="3822192"/>
            <a:ext cx="438912" cy="438912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27632" y="3776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6C4"/>
                </a:solidFill>
                <a:latin typeface="Pretendard SemiBold"/>
              </a:rPr>
              <a:t>도로변  |  Roadside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7632" y="41788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Pretendard"/>
              </a:rPr>
              <a:t>주요 간선도로 연석 1 m 이내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448056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Pretendard"/>
              </a:rPr>
              <a:t>교통·도로 관련 인위적 교란에 직접 노출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2432" y="3995928"/>
            <a:ext cx="69494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B4AFF"/>
                </a:solidFill>
                <a:latin typeface="Pretendard SemiBold"/>
              </a:rPr>
              <a:t>VS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2472" y="4453128"/>
            <a:ext cx="10972" cy="548640"/>
          </a:xfrm>
          <a:prstGeom prst="rect">
            <a:avLst/>
          </a:prstGeom>
          <a:solidFill>
            <a:srgbClr val="D9D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73952" y="3611880"/>
            <a:ext cx="489204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6702552" y="3822192"/>
            <a:ext cx="438912" cy="438912"/>
          </a:xfrm>
          <a:prstGeom prst="ellipse">
            <a:avLst/>
          </a:prstGeom>
          <a:solidFill>
            <a:srgbClr val="2B4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 SemiBold"/>
              </a:rPr>
              <a:t>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8624" y="377647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E36C4"/>
                </a:solidFill>
                <a:latin typeface="Pretendard SemiBold"/>
              </a:rPr>
              <a:t>공원  |  Park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8624" y="4178808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A1A1A"/>
                </a:solidFill>
                <a:latin typeface="Pretendard"/>
              </a:rPr>
              <a:t>차량 직접 노출이 최소화된 지정 녹지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78624" y="4480560"/>
            <a:ext cx="374903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5A5A"/>
                </a:solidFill>
                <a:latin typeface="Pretendard"/>
              </a:rPr>
              <a:t>식생·녹지 관리의 영향을 받는 도시 토양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5413248"/>
            <a:ext cx="11091672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22960" y="5559552"/>
            <a:ext cx="10561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FFFFFF"/>
                </a:solidFill>
                <a:latin typeface="Pretendard"/>
              </a:rPr>
              <a:t>토지이용 유형(Roadside vs Park)을 기준으로 수도권 도시 토양의 세균 군집을 비교</a:t>
            </a:r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lvl="0" algn="l">
              <a:spcBef>
                <a:spcPts val="0"/>
              </a:spcBef>
              <a:spcAft>
                <a:spcPts val="0"/>
              </a:spcAft>
              <a:defRPr/>
            </a:pPr>
            <a:r>
              <a:rPr sz="1100" b="1">
                <a:solidFill>
                  <a:srgbClr val="2b4aff"/>
                </a:solidFill>
                <a:latin typeface="Pretendard SemiBold"/>
              </a:rPr>
              <a:t>2-1  STUDY AREA &amp; DESIGN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채취 지점 — 서울·경기 6개 지역</a:t>
            </a:r>
            <a:endParaRPr lang="en-US" sz="2800" dirty="0"/>
          </a:p>
        </p:txBody>
      </p:sp>
      <p:pic>
        <p:nvPicPr>
          <p:cNvPr id="4" name="Image 0" descr="/home/claude/ppt/assets/sampl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1417320"/>
            <a:ext cx="6492240" cy="48737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13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2-2  SOIL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채취 프로토콜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1051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무작위로 선정된 도로변·공원 구역에서 표토층(2–5cm 깊이) 시료 채취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라텍스 장갑 착용, 지표 이물질 제거 후 복합시료(composite sample)로 채취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4930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멸균 용기에 밀봉해 </a:t>
            </a:r>
            <a:r>
              <a:rPr lang="ko-KR" altLang="en-US"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냉동 후 </a:t>
            </a:r>
            <a:r>
              <a:rPr lang="en-US" sz="1400">
                <a:solidFill>
                  <a:srgbClr val="1a1a1a"/>
                </a:solidFill>
                <a:latin typeface="Pretendard"/>
                <a:ea typeface="Pretendard"/>
                <a:cs typeface="Pretendard"/>
              </a:rPr>
              <a:t>아이스박스로 이송</a:t>
            </a:r>
            <a:endParaRPr lang="en-US" sz="1400">
              <a:solidFill>
                <a:srgbClr val="1a1a1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334256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배양용 분취시료는 24시간 내 처리(–20°C 보관), 메타지놈 DNA 추출용 시료는 –80°C 보관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EEF1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4A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17550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시료 간 오염 방지를 위해 채취 도구는 매회 96% 에탄올로 세척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#UrbanSoilMicrobiome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5A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3840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altLang="ko-KR" sz="1100">
                <a:solidFill>
                  <a:srgbClr val="5a5a5a"/>
                </a:solidFill>
                <a:latin typeface="Pretendard"/>
                <a:ea typeface="Pretendard"/>
                <a:cs typeface="Pretendard"/>
              </a:rPr>
              <a:t>14</a:t>
            </a:r>
            <a:endParaRPr lang="en-US" altLang="ko-KR" sz="1100">
              <a:solidFill>
                <a:srgbClr val="5a5a5a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841</ep:Words>
  <ep:PresentationFormat>와이드스크린</ep:PresentationFormat>
  <ep:Paragraphs>216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2026-09-06T11:22:17.000</dcterms:created>
  <dc:creator>PptxGenJS</dc:creator>
  <cp:lastModifiedBy>jimin</cp:lastModifiedBy>
  <dcterms:modified xsi:type="dcterms:W3CDTF">2026-09-08T07:33:21.882</dcterms:modified>
  <cp:revision>17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