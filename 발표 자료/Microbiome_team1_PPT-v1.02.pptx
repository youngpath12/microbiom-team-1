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8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77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세균 군집 비교와 AI 기반 배양 최적화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gene amplicon sequencing &amp; METIS active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76072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1. 도입   ·   Part 3. AI 스케일업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Background, 선행연구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채취·시퀀싱 방법론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배양 최적화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8368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 및 선행연구 — 수도권 도로변·공원 토양 세균 군집 비교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마이크로바이옴, 그리고 인체-환경의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마이크로바이옴이란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서식지에 존재하는 미생물 군집과 그 유전·기능 정보. 인체(장, 피부, 구강, 호흡기)뿐 아니라 토양·물·대기 등 다양한 환경에서 형성됨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54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사람도 부위별로 다르다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6557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개인 간에도 신체 부위별 미생물 군집의 조성·다양성이 크게 다르며, 숙주의 생리·건강과 밀접하게 연관됨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Microbiome Project Consortium, Nature, 2012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354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흐름의 확장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9469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인체 내부 미생물 군집의 독립적 분석을 넘어, '주변 환경 ↔ 인체' 간 미생물 노출과 교환을 이해하려는 방향으로 최근 연구가 확장되는 중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노출이 인체 마이크로바이옴을 바꾼다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피부 → 토양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녹지 노출 후, 피부 마이크로바이옴이 토양 마이크로바이옴과 더 유사해짐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 → 대기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노출 후, 비강(코) 마이크로바이옴은 대기 마이크로바이옴과 더 유사해짐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Selway et al., Environ. Int., 2020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3246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060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장·피부 다양성 변화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1546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체계적 문헌고찰: 녹지 노출이 인체 장·피부 미생물의 다양성·군집 조성 변화와 연관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34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Environ. Int.,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미생물이 인체에 장기 정착한다는 뜻은 아니지만, 주변 환경의 미생물 조성이 인체가 접하는 노출 패턴에 영향을 준다는 것을 시사함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토양, 아직 덜 알려진 영역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토양의 역할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 기능·영양염류 순환의 핵심 환경 요소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도시에서는 미기후 조절, 탄소 격리, 우수(빗물) 관리 등 부가적 역할까지 수행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남은 공백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도시 토양 미생물 연구는 상대적으로 산발적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 거시적(macro) 수준의 생태계 서비스에 초점 — 세균 군집의 구조적 복잡성·기능적 잠재력은 저평가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인위적 교란이 심한 도시 토양의 세균 군집은 구조·기능 모두 충분히 규명되지 않은 상태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vs 공원: 토지이용에 따른 차이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5661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 토양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배출·도로 비산먼지 유래 중금속, 석유계 탄화수소, 다환방향족탄화수소(PAHs)에 노출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장기적인 교통 관련 오염이 세균·진균 다양성 및 군집 구조를 변화시킬 수 있음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Whitehead et al., Front. Microbiol., 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5661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공원 토양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식생 및 녹지 관리(관수, 시비, 예초 등)의 영향을 받는 토양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도로변과는 다른 환경적 선택압(selective pressure)에 노출됨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C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Zhang et al., PeerJ, 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5595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두 환경 비교로 도시 토지이용·인위적 교란이 만드는 미생물 다양성 차이와, 도시민이 접하는 환경 미생물의 공간적 차이를 파악 가능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1-3  RESEARCH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그래서, 이 연구가 답하려는 질문은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토지이용에 따른 인위적 교란이 실제로 군집 조성·다양성 차이를 만드는지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363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935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모니터링 지표로 활용 가능한 후보 분류군 탐색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651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분리주를 실제로 확보하고, AI 기반 배양 최적화로 실용화 가능성 검토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채취 지점 — 서울·경기 6개 지역</a:t>
            </a:r>
            <a:endParaRPr lang="en-US" sz="2800" dirty="0"/>
          </a:p>
        </p:txBody>
      </p:sp>
      <p:pic>
        <p:nvPicPr>
          <p:cNvPr id="4" name="Image 0" descr="/home/claude/ppt/assets/sampl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17320"/>
            <a:ext cx="6492240" cy="4873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비교했나 — NGS 기반 16S rRNA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2446CB"/>
                </a:solidFill>
                <a:latin typeface="Pretendard"/>
              </a:rPr>
              <a:t>NGS = 시퀀싱 기술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수백만 개의 DNA 조각을 동시에 병렬로 읽어내는 고속·대량 시퀀싱 기술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본 연구는 Illumina NGS를 이용해 32개 토양 시료의 16S 서열을 대량 분석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1F1F1F"/>
                </a:solidFill>
                <a:latin typeface="Pretendard"/>
              </a:rPr>
              <a:t>16S amplicon = 분석 전략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개별 미생물의 WGS나 토양 DNA 전체를 읽는 shotgun metagenomics가 아님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세균에서 널리 보존된 16S rRNA 유전자의 V4 영역을 PCR로 증폭하는 앰플리콘 시퀀싱</a:t>
            </a:r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시료별 고유 index를 부착해 함께 시퀀싱한 뒤 시료별로 분리(demultiplexing)</a:t>
            </a:r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배양 없이 세균 군집의 구성과 시료 간 차이를 비교 가능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1-4  METHOD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머신러닝, 그중에서도 능동학습이란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머신러닝(Machine Learning)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데이터로부터 패턴을 학습해 예측·분류를 수행하는 알고리즘. 사람이 규칙을 일일이 정하지 않아도 데이터 안의 관계를 스스로 찾아냄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815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능동학습(Active Learning)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930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모든 경우의 수를 다 시도하는 대신, 모델이 '다음에 무엇을 시도하면 가장 많이 배울 수 있는지'를 스스로 판단해 다음 실험을 추천하는 방식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074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연구에서는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81888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METIS라는 능동학습 프레임워크를 이용해, 배양 가능한 분리주의 배지 조성을 최소한의 실험만으로 최적화 — 자세한 과정은 Part 3에서 다룸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1-5  FROM DISCOVERY TO APPLICATION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목적, 그리고 AI 스케일업으로의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군집 발굴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NGS로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세균 군집 비교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활용의 과제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생물학적 정화·환경복원 활용엔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조성·대사조건 정밀 최적화 필요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시행착오식 스크리닝은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복잡성·탐색공간·자원 제약이 큼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7432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28600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2996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6060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METIS로 극복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063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능동학습 기반 AI로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실험으로 배양조건 최적화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3. AI 스케일업 (METIS 기반 배양조건 최적화 상세)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및 시퀀싱 방법론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100" dirty="0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4AFF"/>
                </a:solidFill>
                <a:latin typeface="Pretendard SemiBold"/>
              </a:rPr>
              <a:t>2-1  STUDY AREA &amp;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868680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Pretendard"/>
              </a:rPr>
              <a:t>연구지역 및 샘플링 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096512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44383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연구지역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2176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서울·경기 수도권 6개 지역</a:t>
            </a:r>
          </a:p>
        </p:txBody>
      </p:sp>
      <p:sp>
        <p:nvSpPr>
          <p:cNvPr id="29" name="Oval 28"/>
          <p:cNvSpPr/>
          <p:nvPr/>
        </p:nvSpPr>
        <p:spPr>
          <a:xfrm>
            <a:off x="4352544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채취 기간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6" y="2176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Pretendard"/>
              </a:rPr>
              <a:t>2026.07.18 – 07.20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219456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Pretendard"/>
              </a:rPr>
              <a:t>3일간</a:t>
            </a:r>
          </a:p>
        </p:txBody>
      </p:sp>
      <p:sp>
        <p:nvSpPr>
          <p:cNvPr id="33" name="Oval 32"/>
          <p:cNvSpPr/>
          <p:nvPr/>
        </p:nvSpPr>
        <p:spPr>
          <a:xfrm>
            <a:off x="7900415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비교 설계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214884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 SemiBold"/>
              </a:rPr>
              <a:t>Roadside vs Park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243230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Pretendard"/>
              </a:rPr>
              <a:t>총 32개 토양 시료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990088"/>
            <a:ext cx="11091672" cy="2267712"/>
          </a:xfrm>
          <a:prstGeom prst="rect">
            <a:avLst/>
          </a:prstGeom>
          <a:solidFill>
            <a:srgbClr val="F7F8FD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319125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4AFF"/>
                </a:solidFill>
                <a:latin typeface="Pretendard SemiBold"/>
              </a:rPr>
              <a:t>SAMPLING FRAMEWORK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3611880"/>
            <a:ext cx="48920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" y="3822192"/>
            <a:ext cx="438912" cy="438912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7632" y="3776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6C4"/>
                </a:solidFill>
                <a:latin typeface="Pretendard SemiBold"/>
              </a:rPr>
              <a:t>도로변  |  Roadside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41788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Pretendard"/>
              </a:rPr>
              <a:t>주요 간선도로 연석 1 m 이내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448056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Pretendard"/>
              </a:rPr>
              <a:t>교통·도로 관련 인위적 교란에 직접 노출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2432" y="3995928"/>
            <a:ext cx="6949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4AFF"/>
                </a:solidFill>
                <a:latin typeface="Pretendard SemiBold"/>
              </a:rPr>
              <a:t>VS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2472" y="4453128"/>
            <a:ext cx="10972" cy="548640"/>
          </a:xfrm>
          <a:prstGeom prst="rect">
            <a:avLst/>
          </a:prstGeom>
          <a:solidFill>
            <a:srgbClr val="D9D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73952" y="3611880"/>
            <a:ext cx="48920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702552" y="3822192"/>
            <a:ext cx="438912" cy="438912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3776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6C4"/>
                </a:solidFill>
                <a:latin typeface="Pretendard SemiBold"/>
              </a:rPr>
              <a:t>공원  |  Park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41788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Pretendard"/>
              </a:rPr>
              <a:t>차량 직접 노출이 최소화된 지정 녹지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448056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Pretendard"/>
              </a:rPr>
              <a:t>식생·녹지 관리의 영향을 받는 도시 토양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413248"/>
            <a:ext cx="11091672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5559552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FFFF"/>
                </a:solidFill>
                <a:latin typeface="Pretendard"/>
              </a:rPr>
              <a:t>토지이용 유형(Roadside vs Park)을 기준으로 수도권 도시 토양의 세균 군집을 비교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2-2  SOIL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채취 프로토콜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105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무작위로 선정된 도로변·공원 구역에서 표토층(2–5cm 깊이) 시료 채취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라텍스 장갑 착용, 지표 이물질 제거 후 복합시료(composite sample)로 채취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930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멸균 용기에 밀봉해 아이스박스로 냉장 이송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342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배양용 분취시료는 24시간 내 처리(–20°C 보관), 메타지놈 DNA 추출용 시료는 –80°C 보관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간 오염 방지를 위해 채취 도구는 매회 96% 에탄올로 세척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2-3  DNA EXTRACTION &amp; SEQUENCING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 및 16S rRNA 시퀀싱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DNA 추출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DNeasy PowerSoil Pro Kit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(Qiagen)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PCR 증폭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515F/806R 프라이머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V4 영역 (~292bp)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210312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Index 부착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시료별 고유 index로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시료 동시 시퀀싱 준비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30632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2103120"/>
            <a:ext cx="2514600" cy="23774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30428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92608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3337560"/>
            <a:ext cx="211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Illumina 플랫폼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싱글</a:t>
            </a:r>
            <a:r>
              <a:rPr lang="en-US" sz="1150" dirty="0" err="1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엔드</a:t>
            </a: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시퀀싱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498079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B4AFF"/>
                </a:solidFill>
                <a:latin typeface="Pretendard SemiBold"/>
              </a:rPr>
              <a:t>2-4  CULTURE &amp; ISOLATION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60704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/>
              </a:rPr>
              <a:t>샘플링에서 배양 분리까지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Pretendard"/>
              </a:rPr>
              <a:t>#UrbanSoilMicrobiome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Pretendard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Pretendard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720840" cy="4553712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8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ulture_phot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52" y="1921164"/>
            <a:ext cx="6143466" cy="36841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0752" y="5705856"/>
            <a:ext cx="639165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0" i="0" dirty="0" err="1">
                <a:solidFill>
                  <a:srgbClr val="5A5A5A"/>
                </a:solidFill>
                <a:latin typeface="Pretendard"/>
              </a:rPr>
              <a:t>팀원별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대표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토양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시료로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stock을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만들고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MRS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Agar와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Nutrient </a:t>
            </a:r>
            <a:r>
              <a:rPr sz="1000" b="0" i="0" dirty="0" err="1">
                <a:solidFill>
                  <a:srgbClr val="5A5A5A"/>
                </a:solidFill>
                <a:latin typeface="Pretendard"/>
              </a:rPr>
              <a:t>Agar에</a:t>
            </a:r>
            <a:r>
              <a:rPr sz="1000" b="0" i="0" dirty="0">
                <a:solidFill>
                  <a:srgbClr val="5A5A5A"/>
                </a:solidFill>
                <a:latin typeface="Pretendard"/>
              </a:rPr>
              <a:t> streaking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627632"/>
            <a:ext cx="4069080" cy="1170432"/>
          </a:xfrm>
          <a:prstGeom prst="roundRect">
            <a:avLst/>
          </a:prstGeom>
          <a:solidFill>
            <a:srgbClr val="F2F4FF"/>
          </a:solidFill>
          <a:ln w="12700">
            <a:solidFill>
              <a:srgbClr val="D8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1755648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4AFF"/>
                </a:solidFill>
                <a:latin typeface="Pretendard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039112"/>
            <a:ext cx="373989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Pretendard"/>
              </a:rPr>
              <a:t>대표 시료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414016"/>
            <a:ext cx="3739896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Pretendard"/>
              </a:rPr>
              <a:t>각 팀원이 자신이 채취한 토양 시료 중 1개를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962656"/>
            <a:ext cx="4069080" cy="1170432"/>
          </a:xfrm>
          <a:prstGeom prst="roundRect">
            <a:avLst/>
          </a:prstGeom>
          <a:solidFill>
            <a:srgbClr val="F2F4FF"/>
          </a:solidFill>
          <a:ln w="12700">
            <a:solidFill>
              <a:srgbClr val="D8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3090672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4AFF"/>
                </a:solidFill>
                <a:latin typeface="Pretendard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374136"/>
            <a:ext cx="373989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Pretendard"/>
              </a:rPr>
              <a:t>Stock 제작 및 streaking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749040"/>
            <a:ext cx="2523127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E6E6E"/>
                </a:solidFill>
                <a:latin typeface="Pretendard"/>
              </a:rPr>
              <a:t>선택한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시료로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stock을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제작하고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endParaRPr lang="en-US" sz="1100" b="0" i="0" dirty="0">
              <a:solidFill>
                <a:srgbClr val="6E6E6E"/>
              </a:solidFill>
              <a:latin typeface="Pretendard"/>
            </a:endParaRPr>
          </a:p>
          <a:p>
            <a:pPr algn="l"/>
            <a:r>
              <a:rPr sz="1100" b="0" i="0" dirty="0">
                <a:solidFill>
                  <a:srgbClr val="6E6E6E"/>
                </a:solidFill>
                <a:latin typeface="Pretendard"/>
              </a:rPr>
              <a:t>MRS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Agar와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Nutrient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Agar에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각각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streaking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297680"/>
            <a:ext cx="4069080" cy="1170432"/>
          </a:xfrm>
          <a:prstGeom prst="roundRect">
            <a:avLst/>
          </a:prstGeom>
          <a:solidFill>
            <a:srgbClr val="F2F4FF"/>
          </a:solidFill>
          <a:ln w="12700">
            <a:solidFill>
              <a:srgbClr val="D8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4425696"/>
            <a:ext cx="5029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4AFF"/>
                </a:solidFill>
                <a:latin typeface="Pretendard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709160"/>
            <a:ext cx="3739896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Pretendard"/>
              </a:rPr>
              <a:t>배양 및 분리주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5084064"/>
            <a:ext cx="3178755" cy="3385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dirty="0" err="1">
                <a:solidFill>
                  <a:srgbClr val="6E6E6E"/>
                </a:solidFill>
                <a:latin typeface="Pretendard"/>
              </a:rPr>
              <a:t>준비한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plate와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stock을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교수님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연구실에서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배양하여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endParaRPr lang="en-US" sz="1100" b="0" i="0" dirty="0">
              <a:solidFill>
                <a:srgbClr val="6E6E6E"/>
              </a:solidFill>
              <a:latin typeface="Pretendard"/>
            </a:endParaRPr>
          </a:p>
          <a:p>
            <a:pPr algn="l"/>
            <a:r>
              <a:rPr sz="1100" b="0" i="0" dirty="0" err="1">
                <a:solidFill>
                  <a:srgbClr val="6E6E6E"/>
                </a:solidFill>
                <a:latin typeface="Pretendard"/>
              </a:rPr>
              <a:t>후속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동정용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분리주를</a:t>
            </a:r>
            <a:r>
              <a:rPr sz="1100" b="0" i="0" dirty="0">
                <a:solidFill>
                  <a:srgbClr val="6E6E6E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E6E6E"/>
                </a:solidFill>
                <a:latin typeface="Pretendard"/>
              </a:rPr>
              <a:t>확보</a:t>
            </a:r>
            <a:endParaRPr sz="1100" b="0" i="0" dirty="0">
              <a:solidFill>
                <a:srgbClr val="6E6E6E"/>
              </a:solidFill>
              <a:latin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543800" y="5605272"/>
            <a:ext cx="4069080" cy="548640"/>
          </a:xfrm>
          <a:prstGeom prst="roundRect">
            <a:avLst/>
          </a:prstGeom>
          <a:solidFill>
            <a:srgbClr val="EEF1FF"/>
          </a:solidFill>
          <a:ln>
            <a:solidFill>
              <a:srgbClr val="EE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80" y="5779468"/>
            <a:ext cx="37033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2B4AFF"/>
                </a:solidFill>
                <a:latin typeface="Pretendard"/>
              </a:rPr>
              <a:t>NGS의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군집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분석과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별도로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,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실제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배양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가능한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균주를</a:t>
            </a:r>
            <a:r>
              <a:rPr sz="1100" b="1" i="0" dirty="0">
                <a:solidFill>
                  <a:srgbClr val="2B4AFF"/>
                </a:solidFill>
                <a:latin typeface="Pretendard"/>
              </a:rPr>
              <a:t> </a:t>
            </a:r>
            <a:r>
              <a:rPr sz="1100" b="1" i="0" dirty="0" err="1">
                <a:solidFill>
                  <a:srgbClr val="2B4AFF"/>
                </a:solidFill>
                <a:latin typeface="Pretendard"/>
              </a:rPr>
              <a:t>확보</a:t>
            </a:r>
            <a:endParaRPr sz="1100" b="1" i="0" dirty="0">
              <a:solidFill>
                <a:srgbClr val="2B4A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7498079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B4AFF"/>
                </a:solidFill>
                <a:latin typeface="Pretendard SemiBold"/>
              </a:rPr>
              <a:t>2-5  STRAIN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607040" cy="731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Pretendard"/>
              </a:rPr>
              <a:t>16S rRNA 기반 분리주 동정과 후보 균주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Pretendard"/>
              </a:rPr>
              <a:t>#UrbanSoilMicrobiome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Pretendard"/>
              </a:rP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Pretendard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931920" cy="4498848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D8D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39a5009b-00ea-44b4-927d-c20c584ede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409" y="1700784"/>
            <a:ext cx="2037837" cy="4242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3480" y="1645920"/>
            <a:ext cx="19202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Pretendard"/>
              </a:rPr>
              <a:t>동정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103120"/>
            <a:ext cx="6263640" cy="530352"/>
          </a:xfrm>
          <a:prstGeom prst="roundRect">
            <a:avLst/>
          </a:prstGeom>
          <a:solidFill>
            <a:srgbClr val="F8F9FF"/>
          </a:solidFill>
          <a:ln>
            <a:solidFill>
              <a:srgbClr val="F8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84648" y="2203703"/>
            <a:ext cx="2560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B4AFF"/>
                </a:solidFill>
                <a:latin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2194560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Pretendard"/>
              </a:rPr>
              <a:t>MRS Agar와 Nutrient Agar에서 여러 분리주가 동정됨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761488"/>
            <a:ext cx="6263640" cy="530352"/>
          </a:xfrm>
          <a:prstGeom prst="roundRect">
            <a:avLst/>
          </a:prstGeom>
          <a:solidFill>
            <a:srgbClr val="F8F9FF"/>
          </a:solidFill>
          <a:ln>
            <a:solidFill>
              <a:srgbClr val="F8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4648" y="2862072"/>
            <a:ext cx="2560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B4AFF"/>
                </a:solidFill>
                <a:latin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4688" y="2852928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Pretendard"/>
              </a:rPr>
              <a:t>Bacillus, Paenibacillus, Mycoplana 등 다양한 세균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547872"/>
            <a:ext cx="6263640" cy="1517904"/>
          </a:xfrm>
          <a:prstGeom prst="roundRect">
            <a:avLst/>
          </a:prstGeom>
          <a:solidFill>
            <a:srgbClr val="EEF1FF"/>
          </a:solidFill>
          <a:ln w="15240">
            <a:solidFill>
              <a:srgbClr val="2B4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30368" y="3749039"/>
            <a:ext cx="25603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B4AFF"/>
                </a:solidFill>
                <a:latin typeface="Pretendard SemiBold"/>
              </a:rPr>
              <a:t>후속 배양 최적화 후보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4096512"/>
            <a:ext cx="4206240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1">
                <a:solidFill>
                  <a:srgbClr val="1A1A1A"/>
                </a:solidFill>
                <a:latin typeface="Pretendard"/>
              </a:rPr>
              <a:t>Priestia megaterium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4544568"/>
            <a:ext cx="539496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Pretendard"/>
              </a:rPr>
              <a:t>HIY2  ·  strain DSM 32     |     JYR2  ·  strain IS4_1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5321808"/>
            <a:ext cx="3246120" cy="530352"/>
          </a:xfrm>
          <a:prstGeom prst="roundRect">
            <a:avLst/>
          </a:prstGeom>
          <a:solidFill>
            <a:srgbClr val="EEF1FF"/>
          </a:solidFill>
          <a:ln>
            <a:solidFill>
              <a:srgbClr val="EE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5431536"/>
            <a:ext cx="28803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B4AFF"/>
                </a:solidFill>
                <a:latin typeface="Pretendard SemiBold"/>
              </a:rPr>
              <a:t>→  배양조건 최적화로 연결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기반 배지 조성 최적화 — Priestia megaterium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3-1  BACKGROUND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AI 기반 배양 최적화인가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방식의 한계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조성 최적화는 전통적으로 소모적인 시행착오(trial-and-error) 스크리닝에 의존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성분 4개(Peptone, Meat, Yeast, Glucose)의 조합 가능 경우의 수는 매우 방대함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시간·자원으로는 최적 조합을 다 시험해볼 수 없음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 접근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소수의 초기 실험 결과로 모델을 학습시켜, 다음에 시도할 가치가 가장 큰 조합을 예측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실험(exploitation)과 탐색(exploration)의 균형을 통해 최소 실험으로 최적화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유전자·대사 네트워크 최적화용으로 개발된 프레임워크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Pandi et al., Nat. Commun., 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68680" y="5074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균주: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50749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1E36C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Priestia megaterium</a:t>
            </a:r>
            <a:endParaRPr lang="en-US" sz="1600" dirty="0"/>
          </a:p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도로변(HIY2, strain DSM 32)과 공원(JYR2, strain IS4_1) 토양 양쪽에서 독립적으로 분리 — 도시 환경 전반에 적응한 균주로 해석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3-2  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49808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스크리닝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조합 12개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후 OD600 측정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19272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학습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XGBoost × 20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앙상블 (RandomizedSearchCV)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89904" y="1828800"/>
            <a:ext cx="2514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91072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 분석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91072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Importance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Nonlinear Interaction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622792" y="26746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0536" y="1828800"/>
            <a:ext cx="2514600" cy="2148840"/>
          </a:xfrm>
          <a:prstGeom prst="rect">
            <a:avLst/>
          </a:prstGeom>
          <a:solidFill>
            <a:srgbClr val="2B4A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061704" y="201168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C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061704" y="2578608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61704" y="2971800"/>
            <a:ext cx="211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3E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 추천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11064240" cy="21031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초기 배지 조합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16052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모델 앙상블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배지 성분 변수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68680" y="5212080"/>
            <a:ext cx="10424160" cy="0"/>
          </a:xfrm>
          <a:prstGeom prst="line">
            <a:avLst/>
          </a:prstGeom>
          <a:noFill/>
          <a:ln w="12700">
            <a:solidFill>
              <a:srgbClr val="D7DC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86868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배지 변수: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 (1–20 g/L), Meat extract (0–16), Yeast extract (0–8), Glucose (1–400)      </a:t>
            </a:r>
            <a:r>
              <a:rPr lang="en-US" sz="12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하이퍼파라미터 탐색: </a:t>
            </a: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RandomizedSearchCV 200회 × 4-fold CV → 상위 20개로 앙상블 구성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배지 성분이 가장 중요한가</a:t>
            </a:r>
            <a:endParaRPr lang="en-US" sz="2800" dirty="0"/>
          </a:p>
        </p:txBody>
      </p:sp>
      <p:pic>
        <p:nvPicPr>
          <p:cNvPr id="4" name="Image 0" descr="/home/claude/ppt/assets/feature_importance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694944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600200"/>
            <a:ext cx="402336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7909560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1위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37744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생장 수율(OD600)에 가장 큰 영향을 미치는 성분으로 확인됨 (중요도 0.45)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Meat extract(0.30) &gt; Peptone(0.17) &gt; Glucose(0.08) 순으로 이어짐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20개 모델 앙상블의 평균 ± 표준편차로 산출 — 단일 모델의 우연한 편향을 완화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01b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원자료 분포로 다시 확인하기</a:t>
            </a:r>
            <a:endParaRPr lang="en-US" sz="2800" dirty="0"/>
          </a:p>
        </p:txBody>
      </p:sp>
      <p:pic>
        <p:nvPicPr>
          <p:cNvPr id="4" name="Image 0" descr="/home/claude/ppt/assets/yield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3017520" cy="3840480"/>
          </a:xfrm>
          <a:prstGeom prst="rect">
            <a:avLst/>
          </a:prstGeom>
        </p:spPr>
      </p:pic>
      <p:pic>
        <p:nvPicPr>
          <p:cNvPr id="5" name="Image 1" descr="/home/claude/ppt/assets/metabolit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54480"/>
            <a:ext cx="6309360" cy="4983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49840" y="1554480"/>
            <a:ext cx="1554480" cy="48463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0287000" y="1737360"/>
            <a:ext cx="1280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실측 yield는 0.57~0.88 범위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패널에서 낮은 농도일 때 높은 yield가 몰려있음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배지 조성</a:t>
            </a:r>
            <a:endParaRPr lang="en-US" sz="2800" dirty="0"/>
          </a:p>
        </p:txBody>
      </p:sp>
      <p:pic>
        <p:nvPicPr>
          <p:cNvPr id="4" name="Image 0" descr="/home/claude/ppt/assets/predicted_vs_ob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206240" cy="352044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00200"/>
          <a:ext cx="6766560" cy="1463040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Peptone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Meat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Yeast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Glucose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yield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10.24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9.92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10.88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10.0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0.856</a:t>
                      </a:r>
                      <a:endParaRPr lang="en-US" sz="12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92040" y="3246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조건: Yeast 낮음(0.16–0.40) + Meat 중간 + Peptone 낮음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4892040" y="3794760"/>
            <a:ext cx="6766560" cy="2194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16636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 포인트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166360" y="43891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최댓값(0.856)이 실측 최고값(0.879)을 넘지 못함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모델이 아직 실측치를 뛰어넘는 확신을 갖지 못한 것으로 해석</a:t>
            </a:r>
            <a:endParaRPr lang="en-US" sz="12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라운드로 데이터가 쌓이면 개선 여지가 있음 (향후 연구 방향)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3-3  RESULT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성분 간 비선형 상호작용</a:t>
            </a:r>
            <a:endParaRPr lang="en-US" sz="2800" dirty="0"/>
          </a:p>
        </p:txBody>
      </p:sp>
      <p:pic>
        <p:nvPicPr>
          <p:cNvPr id="4" name="Image 0" descr="/home/claude/ppt/assets/interaction_heatmap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484632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600200"/>
            <a:ext cx="5577840" cy="443484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3550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Peptone의 숨은 역할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 중요도는 낮음 (17%, 4개 중 3위)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Glucose(+0.128), Yeast(+0.123)와의 상호작용은 4개 조합 중 가장 강함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Peptone의 효과는 독립적이지 않고, Glucose·Yeast 농도에 따라 달라지는 맥락 의존적 특성</a:t>
            </a:r>
            <a:endParaRPr lang="en-US" sz="13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변수 중요도만 봤다면 놓쳤을 심화 인사이트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3-4  LIMITATIONS &amp;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수의 한계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12개로 적어, K-Most-Informative 등 일부 분석은 신뢰도가 낮음 (참고용으로만 취급)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실측을 못 넘은 예측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예측 최적값(0.856)이 실측 최고값(0.879)에 못 미침 — 추가 라운드 데이터로 개선 여지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196596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라운드 제안됨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learning이 제안한 4개 조합 확보 — 시간 제약으로 습식 실험은 미실행, 향후 연구로 제안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3-5  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 —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745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Yeast extract가 배양 수율을 좌우하는 가장 중요한 변수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546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조성은 Yeast를 낮게 — 실측 최고값과 방향 일치, 다만 절대값은 아직 못 넘음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064240" cy="1051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94360" cy="59436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4348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Peptone은 단독으로는 약하지만 Glucose·Yeast와의 상호작용에서 숨은 역할 확인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다음: Part 4. 결론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4-1  BACK TO THE QUESTIONS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도입에서 던진 질문에 답하면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차이는 확인되지 않음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273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73075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 — 확정적이진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800600"/>
            <a:ext cx="960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7823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52395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4A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</a:t>
            </a: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Priestia megaterium 확보 + METIS로 배양조건 최적화, Yeast extract가 핵심 변수로 확인됨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4-2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6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NGS 군집 비교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도로변(n=16)·공원(n=16) 토양 32개 시료의 16S rRNA 군집 비교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다중검정 보정 후 통계적으로 유의한 분류군 차이는 확인되지 않음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일부 분류군에서 시사적 경향(q=0.06–0.29) 확인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AI 스케일업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분리된 Priestia megaterium 대상 배양조건 최적화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능동학습으로 Yeast extract가 핵심 변수임을 확인 (중요도 0.45)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0F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최적 조성 및 다음 라운드 추천 조합까지 도출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4-3  SIGNIFICANCE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결론 및 의의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최초 시도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군집을 직접 비교한 국내 연구는 아직 보고된 바 없음 — 학술적 공백을 메우는 파일럿 연구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17296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예비적·탐색적 위치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8444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통계적으로 강력한 발견을 제시하는 논문이 아니라, 국내 미개척 주제(NGS 비교)를 국제적으로 활발한 방법론(AI 능동학습)과 결합해 시연한 연구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4AF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5902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실용적 확장 가능성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0176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도로변·공원 양쪽에서 재현적으로 검출된 Priestia megaterium은 비료·바이오시멘트 등 후속 응용 연구의 기초 자원이 될 수 있음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4-4  LIMITATIONS &amp; FUTURE 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및 향후 연구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 및 변수의 한계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토양 32개·배양조건 12개로 표본이 제한적. 토양 물리화학적 변수(pH, 유기탄소 등) 미측정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6177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검증이 더 필요한 후보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Gemmatimonadota 등 NGS 후보 분류군, K-Most-Informative 분석은 추가 표본으로 재검증 필요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blurRad="63500" dist="25400" dir="5400000" algn="bl" rotWithShape="0">
              <a:srgbClr val="1A1A1A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12480" y="2057400"/>
            <a:ext cx="457200" cy="457200"/>
          </a:xfrm>
          <a:prstGeom prst="ellipse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412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3라운드 습식실험, 물리화학 변수 측정, 분리주의 인산가용화능 등 기능적 특성 검증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 세균 군집 비교와 AI 기반 배양 최적화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microbiom-team-1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2331</Words>
  <Application>Microsoft Office PowerPoint</Application>
  <PresentationFormat>와이드스크린</PresentationFormat>
  <Paragraphs>506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Pretendard</vt:lpstr>
      <vt:lpstr>Pretendard SemiBold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정관 함</cp:lastModifiedBy>
  <cp:revision>4</cp:revision>
  <dcterms:created xsi:type="dcterms:W3CDTF">2026-09-06T11:22:17Z</dcterms:created>
  <dcterms:modified xsi:type="dcterms:W3CDTF">2026-09-07T18:33:26Z</dcterms:modified>
</cp:coreProperties>
</file>