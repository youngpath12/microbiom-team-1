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8288000" cy="10287000"/>
  <p:notesSz cx="6858000" cy="9144000"/>
  <p:embeddedFontLst>
    <p:embeddedFont>
      <p:font typeface="프리텐다드" panose="020B0600000101010101" charset="-127"/>
      <p:regular r:id="rId35"/>
    </p:embeddedFont>
    <p:embeddedFont>
      <p:font typeface="프리텐다드 Bold" panose="020B0600000101010101" charset="-127"/>
      <p:regular r:id="rId36"/>
    </p:embeddedFont>
    <p:embeddedFont>
      <p:font typeface="프리텐다드 Medium" panose="020B0600000101010101" charset="-127"/>
      <p:regular r:id="rId37"/>
    </p:embeddedFont>
    <p:embeddedFont>
      <p:font typeface="Calibri (MS) Bold" panose="020B0600000101010101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360311-6D28-4C66-8F93-73978BF99437}" v="26" dt="2026-09-10T05:40:39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6518" autoAdjust="0"/>
  </p:normalViewPr>
  <p:slideViewPr>
    <p:cSldViewPr>
      <p:cViewPr>
        <p:scale>
          <a:sx n="50" d="100"/>
          <a:sy n="50" d="100"/>
        </p:scale>
        <p:origin x="946" y="-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관 함" userId="8509c021bc61990b" providerId="LiveId" clId="{AC9CB4A8-4F96-497B-B902-3710E37C276C}"/>
    <pc:docChg chg="undo custSel delSld modSld">
      <pc:chgData name="정관 함" userId="8509c021bc61990b" providerId="LiveId" clId="{AC9CB4A8-4F96-497B-B902-3710E37C276C}" dt="2026-09-10T05:50:04.092" v="1131" actId="403"/>
      <pc:docMkLst>
        <pc:docMk/>
      </pc:docMkLst>
      <pc:sldChg chg="addSp delSp modSp mod modNotesTx">
        <pc:chgData name="정관 함" userId="8509c021bc61990b" providerId="LiveId" clId="{AC9CB4A8-4F96-497B-B902-3710E37C276C}" dt="2026-09-10T04:40:07.736" v="512" actId="1076"/>
        <pc:sldMkLst>
          <pc:docMk/>
          <pc:sldMk cId="0" sldId="256"/>
        </pc:sldMkLst>
        <pc:spChg chg="del mod topLvl">
          <ac:chgData name="정관 함" userId="8509c021bc61990b" providerId="LiveId" clId="{AC9CB4A8-4F96-497B-B902-3710E37C276C}" dt="2026-09-10T04:39:46.800" v="508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정관 함" userId="8509c021bc61990b" providerId="LiveId" clId="{AC9CB4A8-4F96-497B-B902-3710E37C276C}" dt="2026-09-10T04:40:07.736" v="512" actId="1076"/>
          <ac:spMkLst>
            <pc:docMk/>
            <pc:sldMk cId="0" sldId="256"/>
            <ac:spMk id="16" creationId="{00000000-0000-0000-0000-000000000000}"/>
          </ac:spMkLst>
        </pc:spChg>
        <pc:grpChg chg="del">
          <ac:chgData name="정관 함" userId="8509c021bc61990b" providerId="LiveId" clId="{AC9CB4A8-4F96-497B-B902-3710E37C276C}" dt="2026-09-10T04:38:48.518" v="502" actId="165"/>
          <ac:grpSpMkLst>
            <pc:docMk/>
            <pc:sldMk cId="0" sldId="256"/>
            <ac:grpSpMk id="2" creationId="{00000000-0000-0000-0000-000000000000}"/>
          </ac:grpSpMkLst>
        </pc:grpChg>
        <pc:picChg chg="add mod">
          <ac:chgData name="정관 함" userId="8509c021bc61990b" providerId="LiveId" clId="{AC9CB4A8-4F96-497B-B902-3710E37C276C}" dt="2026-09-10T04:39:44.179" v="507" actId="14100"/>
          <ac:picMkLst>
            <pc:docMk/>
            <pc:sldMk cId="0" sldId="256"/>
            <ac:picMk id="20" creationId="{CD58E2B4-8FCD-13FB-76E2-2706D3D2469C}"/>
          </ac:picMkLst>
        </pc:picChg>
      </pc:sldChg>
      <pc:sldChg chg="delSp modSp mod modNotes">
        <pc:chgData name="정관 함" userId="8509c021bc61990b" providerId="LiveId" clId="{AC9CB4A8-4F96-497B-B902-3710E37C276C}" dt="2026-09-10T04:48:02.215" v="514" actId="20577"/>
        <pc:sldMkLst>
          <pc:docMk/>
          <pc:sldMk cId="0" sldId="257"/>
        </pc:sldMkLst>
        <pc:spChg chg="mod">
          <ac:chgData name="정관 함" userId="8509c021bc61990b" providerId="LiveId" clId="{AC9CB4A8-4F96-497B-B902-3710E37C276C}" dt="2026-09-10T04:48:02.215" v="514" actId="20577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정관 함" userId="8509c021bc61990b" providerId="LiveId" clId="{AC9CB4A8-4F96-497B-B902-3710E37C276C}" dt="2026-09-10T04:31:16.650" v="496" actId="478"/>
          <ac:spMkLst>
            <pc:docMk/>
            <pc:sldMk cId="0" sldId="257"/>
            <ac:spMk id="55" creationId="{2EB64EAE-7D37-564B-1FC4-5876C9E5AABC}"/>
          </ac:spMkLst>
        </pc:spChg>
      </pc:sldChg>
      <pc:sldChg chg="modNotes">
        <pc:chgData name="정관 함" userId="8509c021bc61990b" providerId="LiveId" clId="{AC9CB4A8-4F96-497B-B902-3710E37C276C}" dt="2026-09-10T04:28:35.063" v="494"/>
        <pc:sldMkLst>
          <pc:docMk/>
          <pc:sldMk cId="0" sldId="258"/>
        </pc:sldMkLst>
      </pc:sldChg>
      <pc:sldChg chg="del modNotesTx">
        <pc:chgData name="정관 함" userId="8509c021bc61990b" providerId="LiveId" clId="{AC9CB4A8-4F96-497B-B902-3710E37C276C}" dt="2026-09-10T03:29:35.940" v="489" actId="47"/>
        <pc:sldMkLst>
          <pc:docMk/>
          <pc:sldMk cId="0" sldId="259"/>
        </pc:sldMkLst>
      </pc:sldChg>
      <pc:sldChg chg="addSp delSp modSp mod modNotesTx">
        <pc:chgData name="정관 함" userId="8509c021bc61990b" providerId="LiveId" clId="{AC9CB4A8-4F96-497B-B902-3710E37C276C}" dt="2026-09-10T05:27:41.978" v="854" actId="20577"/>
        <pc:sldMkLst>
          <pc:docMk/>
          <pc:sldMk cId="0" sldId="260"/>
        </pc:sldMkLst>
        <pc:spChg chg="mod">
          <ac:chgData name="정관 함" userId="8509c021bc61990b" providerId="LiveId" clId="{AC9CB4A8-4F96-497B-B902-3710E37C276C}" dt="2026-09-10T04:48:10.913" v="518" actId="20577"/>
          <ac:spMkLst>
            <pc:docMk/>
            <pc:sldMk cId="0" sldId="260"/>
            <ac:spMk id="10" creationId="{00000000-0000-0000-0000-000000000000}"/>
          </ac:spMkLst>
        </pc:spChg>
        <pc:spChg chg="del">
          <ac:chgData name="정관 함" userId="8509c021bc61990b" providerId="LiveId" clId="{AC9CB4A8-4F96-497B-B902-3710E37C276C}" dt="2026-09-10T02:24:27.167" v="249" actId="478"/>
          <ac:spMkLst>
            <pc:docMk/>
            <pc:sldMk cId="0" sldId="260"/>
            <ac:spMk id="35" creationId="{00000000-0000-0000-0000-000000000000}"/>
          </ac:spMkLst>
        </pc:spChg>
        <pc:spChg chg="mod">
          <ac:chgData name="정관 함" userId="8509c021bc61990b" providerId="LiveId" clId="{AC9CB4A8-4F96-497B-B902-3710E37C276C}" dt="2026-09-10T04:28:34.575" v="493" actId="1076"/>
          <ac:spMkLst>
            <pc:docMk/>
            <pc:sldMk cId="0" sldId="260"/>
            <ac:spMk id="35" creationId="{EC6675CE-41B4-2885-E9F9-2AFEB9AD13DB}"/>
          </ac:spMkLst>
        </pc:spChg>
        <pc:spChg chg="del">
          <ac:chgData name="정관 함" userId="8509c021bc61990b" providerId="LiveId" clId="{AC9CB4A8-4F96-497B-B902-3710E37C276C}" dt="2026-09-10T02:24:34.861" v="251" actId="478"/>
          <ac:spMkLst>
            <pc:docMk/>
            <pc:sldMk cId="0" sldId="260"/>
            <ac:spMk id="36" creationId="{00000000-0000-0000-0000-000000000000}"/>
          </ac:spMkLst>
        </pc:spChg>
        <pc:spChg chg="del">
          <ac:chgData name="정관 함" userId="8509c021bc61990b" providerId="LiveId" clId="{AC9CB4A8-4F96-497B-B902-3710E37C276C}" dt="2026-09-10T02:24:12.993" v="247" actId="478"/>
          <ac:spMkLst>
            <pc:docMk/>
            <pc:sldMk cId="0" sldId="260"/>
            <ac:spMk id="37" creationId="{00000000-0000-0000-0000-000000000000}"/>
          </ac:spMkLst>
        </pc:spChg>
        <pc:spChg chg="add">
          <ac:chgData name="정관 함" userId="8509c021bc61990b" providerId="LiveId" clId="{AC9CB4A8-4F96-497B-B902-3710E37C276C}" dt="2026-09-10T02:24:14.389" v="248" actId="22"/>
          <ac:spMkLst>
            <pc:docMk/>
            <pc:sldMk cId="0" sldId="260"/>
            <ac:spMk id="58" creationId="{41491123-4686-1440-8D63-4A285CFEA3FD}"/>
          </ac:spMkLst>
        </pc:spChg>
        <pc:spChg chg="add">
          <ac:chgData name="정관 함" userId="8509c021bc61990b" providerId="LiveId" clId="{AC9CB4A8-4F96-497B-B902-3710E37C276C}" dt="2026-09-10T02:24:14.389" v="248" actId="22"/>
          <ac:spMkLst>
            <pc:docMk/>
            <pc:sldMk cId="0" sldId="260"/>
            <ac:spMk id="60" creationId="{BFB38CCA-7021-3EF1-5B8E-3B2BB362BCED}"/>
          </ac:spMkLst>
        </pc:spChg>
        <pc:spChg chg="add">
          <ac:chgData name="정관 함" userId="8509c021bc61990b" providerId="LiveId" clId="{AC9CB4A8-4F96-497B-B902-3710E37C276C}" dt="2026-09-10T02:24:14.389" v="248" actId="22"/>
          <ac:spMkLst>
            <pc:docMk/>
            <pc:sldMk cId="0" sldId="260"/>
            <ac:spMk id="62" creationId="{6A28BED4-045C-3B71-DFAA-71FEFECE0BA1}"/>
          </ac:spMkLst>
        </pc:spChg>
        <pc:spChg chg="add">
          <ac:chgData name="정관 함" userId="8509c021bc61990b" providerId="LiveId" clId="{AC9CB4A8-4F96-497B-B902-3710E37C276C}" dt="2026-09-10T02:24:27.632" v="250" actId="22"/>
          <ac:spMkLst>
            <pc:docMk/>
            <pc:sldMk cId="0" sldId="260"/>
            <ac:spMk id="64" creationId="{FC835A0E-D5DD-65A2-513B-12E9973A18D0}"/>
          </ac:spMkLst>
        </pc:spChg>
        <pc:spChg chg="add">
          <ac:chgData name="정관 함" userId="8509c021bc61990b" providerId="LiveId" clId="{AC9CB4A8-4F96-497B-B902-3710E37C276C}" dt="2026-09-10T02:24:35.351" v="252" actId="22"/>
          <ac:spMkLst>
            <pc:docMk/>
            <pc:sldMk cId="0" sldId="260"/>
            <ac:spMk id="66" creationId="{1D185656-590D-B173-14C6-E03EDA616EFF}"/>
          </ac:spMkLst>
        </pc:spChg>
        <pc:spChg chg="add mod">
          <ac:chgData name="정관 함" userId="8509c021bc61990b" providerId="LiveId" clId="{AC9CB4A8-4F96-497B-B902-3710E37C276C}" dt="2026-09-10T02:24:43.082" v="254" actId="767"/>
          <ac:spMkLst>
            <pc:docMk/>
            <pc:sldMk cId="0" sldId="260"/>
            <ac:spMk id="67" creationId="{D9BCE8B5-D7F2-4387-FDDE-448B4138DAE2}"/>
          </ac:spMkLst>
        </pc:spChg>
        <pc:grpChg chg="mod">
          <ac:chgData name="정관 함" userId="8509c021bc61990b" providerId="LiveId" clId="{AC9CB4A8-4F96-497B-B902-3710E37C276C}" dt="2026-09-10T04:28:25.504" v="491" actId="1076"/>
          <ac:grpSpMkLst>
            <pc:docMk/>
            <pc:sldMk cId="0" sldId="260"/>
            <ac:grpSpMk id="13" creationId="{00000000-0000-0000-0000-000000000000}"/>
          </ac:grpSpMkLst>
        </pc:grpChg>
      </pc:sldChg>
      <pc:sldChg chg="addSp delSp modSp mod modNotesTx">
        <pc:chgData name="정관 함" userId="8509c021bc61990b" providerId="LiveId" clId="{AC9CB4A8-4F96-497B-B902-3710E37C276C}" dt="2026-09-10T05:29:06.606" v="867" actId="20577"/>
        <pc:sldMkLst>
          <pc:docMk/>
          <pc:sldMk cId="0" sldId="261"/>
        </pc:sldMkLst>
        <pc:spChg chg="mod">
          <ac:chgData name="정관 함" userId="8509c021bc61990b" providerId="LiveId" clId="{AC9CB4A8-4F96-497B-B902-3710E37C276C}" dt="2026-09-10T04:48:16.985" v="522" actId="20577"/>
          <ac:spMkLst>
            <pc:docMk/>
            <pc:sldMk cId="0" sldId="261"/>
            <ac:spMk id="10" creationId="{00000000-0000-0000-0000-000000000000}"/>
          </ac:spMkLst>
        </pc:spChg>
        <pc:spChg chg="del mod">
          <ac:chgData name="정관 함" userId="8509c021bc61990b" providerId="LiveId" clId="{AC9CB4A8-4F96-497B-B902-3710E37C276C}" dt="2026-09-10T02:15:55.475" v="243" actId="478"/>
          <ac:spMkLst>
            <pc:docMk/>
            <pc:sldMk cId="0" sldId="261"/>
            <ac:spMk id="27" creationId="{00000000-0000-0000-0000-000000000000}"/>
          </ac:spMkLst>
        </pc:spChg>
        <pc:spChg chg="del">
          <ac:chgData name="정관 함" userId="8509c021bc61990b" providerId="LiveId" clId="{AC9CB4A8-4F96-497B-B902-3710E37C276C}" dt="2026-09-10T02:16:14.598" v="245" actId="478"/>
          <ac:spMkLst>
            <pc:docMk/>
            <pc:sldMk cId="0" sldId="261"/>
            <ac:spMk id="34" creationId="{00000000-0000-0000-0000-000000000000}"/>
          </ac:spMkLst>
        </pc:spChg>
        <pc:spChg chg="add del">
          <ac:chgData name="정관 함" userId="8509c021bc61990b" providerId="LiveId" clId="{AC9CB4A8-4F96-497B-B902-3710E37C276C}" dt="2026-09-10T02:15:52.683" v="242" actId="22"/>
          <ac:spMkLst>
            <pc:docMk/>
            <pc:sldMk cId="0" sldId="261"/>
            <ac:spMk id="37" creationId="{C0A31BC6-0A3E-6824-4DB0-0F44D7F2FD2A}"/>
          </ac:spMkLst>
        </pc:spChg>
        <pc:spChg chg="add">
          <ac:chgData name="정관 함" userId="8509c021bc61990b" providerId="LiveId" clId="{AC9CB4A8-4F96-497B-B902-3710E37C276C}" dt="2026-09-10T02:15:56.375" v="244" actId="22"/>
          <ac:spMkLst>
            <pc:docMk/>
            <pc:sldMk cId="0" sldId="261"/>
            <ac:spMk id="39" creationId="{9177FF8B-EE5E-C530-DD8E-A34920C13C5D}"/>
          </ac:spMkLst>
        </pc:spChg>
        <pc:spChg chg="add">
          <ac:chgData name="정관 함" userId="8509c021bc61990b" providerId="LiveId" clId="{AC9CB4A8-4F96-497B-B902-3710E37C276C}" dt="2026-09-10T02:16:14.966" v="246" actId="22"/>
          <ac:spMkLst>
            <pc:docMk/>
            <pc:sldMk cId="0" sldId="261"/>
            <ac:spMk id="41" creationId="{BA25582E-668B-F957-DA04-FEFA5B3AC158}"/>
          </ac:spMkLst>
        </pc:spChg>
      </pc:sldChg>
      <pc:sldChg chg="modSp mod modNotes modNotesTx">
        <pc:chgData name="정관 함" userId="8509c021bc61990b" providerId="LiveId" clId="{AC9CB4A8-4F96-497B-B902-3710E37C276C}" dt="2026-09-10T05:30:03.212" v="875" actId="6549"/>
        <pc:sldMkLst>
          <pc:docMk/>
          <pc:sldMk cId="0" sldId="262"/>
        </pc:sldMkLst>
        <pc:spChg chg="mod">
          <ac:chgData name="정관 함" userId="8509c021bc61990b" providerId="LiveId" clId="{AC9CB4A8-4F96-497B-B902-3710E37C276C}" dt="2026-09-10T04:48:24.889" v="526" actId="20577"/>
          <ac:spMkLst>
            <pc:docMk/>
            <pc:sldMk cId="0" sldId="262"/>
            <ac:spMk id="32" creationId="{00000000-0000-0000-0000-000000000000}"/>
          </ac:spMkLst>
        </pc:spChg>
      </pc:sldChg>
      <pc:sldChg chg="modSp mod modNotes modNotesTx">
        <pc:chgData name="정관 함" userId="8509c021bc61990b" providerId="LiveId" clId="{AC9CB4A8-4F96-497B-B902-3710E37C276C}" dt="2026-09-10T05:32:01.848" v="883" actId="20577"/>
        <pc:sldMkLst>
          <pc:docMk/>
          <pc:sldMk cId="0" sldId="263"/>
        </pc:sldMkLst>
        <pc:spChg chg="mod">
          <ac:chgData name="정관 함" userId="8509c021bc61990b" providerId="LiveId" clId="{AC9CB4A8-4F96-497B-B902-3710E37C276C}" dt="2026-09-10T04:51:58.580" v="530" actId="20577"/>
          <ac:spMkLst>
            <pc:docMk/>
            <pc:sldMk cId="0" sldId="263"/>
            <ac:spMk id="23" creationId="{00000000-0000-0000-0000-000000000000}"/>
          </ac:spMkLst>
        </pc:spChg>
      </pc:sldChg>
      <pc:sldChg chg="modSp mod modNotes modNotesTx">
        <pc:chgData name="정관 함" userId="8509c021bc61990b" providerId="LiveId" clId="{AC9CB4A8-4F96-497B-B902-3710E37C276C}" dt="2026-09-10T05:33:14.229" v="900" actId="20577"/>
        <pc:sldMkLst>
          <pc:docMk/>
          <pc:sldMk cId="0" sldId="264"/>
        </pc:sldMkLst>
        <pc:spChg chg="mod">
          <ac:chgData name="정관 함" userId="8509c021bc61990b" providerId="LiveId" clId="{AC9CB4A8-4F96-497B-B902-3710E37C276C}" dt="2026-09-10T04:52:45.375" v="534" actId="20577"/>
          <ac:spMkLst>
            <pc:docMk/>
            <pc:sldMk cId="0" sldId="264"/>
            <ac:spMk id="26" creationId="{00000000-0000-0000-0000-000000000000}"/>
          </ac:spMkLst>
        </pc:spChg>
      </pc:sldChg>
      <pc:sldChg chg="modSp mod modNotes">
        <pc:chgData name="정관 함" userId="8509c021bc61990b" providerId="LiveId" clId="{AC9CB4A8-4F96-497B-B902-3710E37C276C}" dt="2026-09-10T04:52:51.841" v="539" actId="20577"/>
        <pc:sldMkLst>
          <pc:docMk/>
          <pc:sldMk cId="0" sldId="265"/>
        </pc:sldMkLst>
        <pc:spChg chg="mod">
          <ac:chgData name="정관 함" userId="8509c021bc61990b" providerId="LiveId" clId="{AC9CB4A8-4F96-497B-B902-3710E37C276C}" dt="2026-09-10T04:52:51.841" v="539" actId="20577"/>
          <ac:spMkLst>
            <pc:docMk/>
            <pc:sldMk cId="0" sldId="265"/>
            <ac:spMk id="34" creationId="{00000000-0000-0000-0000-000000000000}"/>
          </ac:spMkLst>
        </pc:spChg>
      </pc:sldChg>
      <pc:sldChg chg="modNotes">
        <pc:chgData name="정관 함" userId="8509c021bc61990b" providerId="LiveId" clId="{AC9CB4A8-4F96-497B-B902-3710E37C276C}" dt="2026-09-10T04:28:35.063" v="494"/>
        <pc:sldMkLst>
          <pc:docMk/>
          <pc:sldMk cId="0" sldId="266"/>
        </pc:sldMkLst>
      </pc:sldChg>
      <pc:sldChg chg="modSp mod modNotesTx">
        <pc:chgData name="정관 함" userId="8509c021bc61990b" providerId="LiveId" clId="{AC9CB4A8-4F96-497B-B902-3710E37C276C}" dt="2026-09-10T05:34:05.889" v="904" actId="20577"/>
        <pc:sldMkLst>
          <pc:docMk/>
          <pc:sldMk cId="0" sldId="267"/>
        </pc:sldMkLst>
        <pc:spChg chg="mod">
          <ac:chgData name="정관 함" userId="8509c021bc61990b" providerId="LiveId" clId="{AC9CB4A8-4F96-497B-B902-3710E37C276C}" dt="2026-09-10T04:52:59.724" v="543" actId="20577"/>
          <ac:spMkLst>
            <pc:docMk/>
            <pc:sldMk cId="0" sldId="267"/>
            <ac:spMk id="59" creationId="{00000000-0000-0000-0000-000000000000}"/>
          </ac:spMkLst>
        </pc:spChg>
      </pc:sldChg>
      <pc:sldChg chg="addSp delSp modSp mod modNotesTx">
        <pc:chgData name="정관 함" userId="8509c021bc61990b" providerId="LiveId" clId="{AC9CB4A8-4F96-497B-B902-3710E37C276C}" dt="2026-09-10T05:34:58.908" v="913" actId="20577"/>
        <pc:sldMkLst>
          <pc:docMk/>
          <pc:sldMk cId="0" sldId="268"/>
        </pc:sldMkLst>
        <pc:spChg chg="mod">
          <ac:chgData name="정관 함" userId="8509c021bc61990b" providerId="LiveId" clId="{AC9CB4A8-4F96-497B-B902-3710E37C276C}" dt="2026-09-10T04:54:46.777" v="547" actId="20577"/>
          <ac:spMkLst>
            <pc:docMk/>
            <pc:sldMk cId="0" sldId="268"/>
            <ac:spMk id="12" creationId="{00000000-0000-0000-0000-000000000000}"/>
          </ac:spMkLst>
        </pc:spChg>
        <pc:grpChg chg="del mod">
          <ac:chgData name="정관 함" userId="8509c021bc61990b" providerId="LiveId" clId="{AC9CB4A8-4F96-497B-B902-3710E37C276C}" dt="2026-09-10T02:04:18.177" v="24" actId="478"/>
          <ac:grpSpMkLst>
            <pc:docMk/>
            <pc:sldMk cId="0" sldId="268"/>
            <ac:grpSpMk id="8" creationId="{00000000-0000-0000-0000-000000000000}"/>
          </ac:grpSpMkLst>
        </pc:grpChg>
        <pc:picChg chg="add mod ord">
          <ac:chgData name="정관 함" userId="8509c021bc61990b" providerId="LiveId" clId="{AC9CB4A8-4F96-497B-B902-3710E37C276C}" dt="2026-09-10T02:04:12.607" v="22" actId="167"/>
          <ac:picMkLst>
            <pc:docMk/>
            <pc:sldMk cId="0" sldId="268"/>
            <ac:picMk id="14" creationId="{BD924835-6C80-A775-502B-F68088108259}"/>
          </ac:picMkLst>
        </pc:picChg>
      </pc:sldChg>
      <pc:sldChg chg="modSp mod modNotes modNotesTx">
        <pc:chgData name="정관 함" userId="8509c021bc61990b" providerId="LiveId" clId="{AC9CB4A8-4F96-497B-B902-3710E37C276C}" dt="2026-09-10T05:37:43.241" v="921" actId="20577"/>
        <pc:sldMkLst>
          <pc:docMk/>
          <pc:sldMk cId="0" sldId="269"/>
        </pc:sldMkLst>
        <pc:spChg chg="mod">
          <ac:chgData name="정관 함" userId="8509c021bc61990b" providerId="LiveId" clId="{AC9CB4A8-4F96-497B-B902-3710E37C276C}" dt="2026-09-10T04:54:53.331" v="551" actId="20577"/>
          <ac:spMkLst>
            <pc:docMk/>
            <pc:sldMk cId="0" sldId="269"/>
            <ac:spMk id="11" creationId="{00000000-0000-0000-0000-000000000000}"/>
          </ac:spMkLst>
        </pc:spChg>
      </pc:sldChg>
      <pc:sldChg chg="modSp mod modNotes modNotesTx">
        <pc:chgData name="정관 함" userId="8509c021bc61990b" providerId="LiveId" clId="{AC9CB4A8-4F96-497B-B902-3710E37C276C}" dt="2026-09-10T05:37:54.992" v="930" actId="20577"/>
        <pc:sldMkLst>
          <pc:docMk/>
          <pc:sldMk cId="0" sldId="270"/>
        </pc:sldMkLst>
        <pc:spChg chg="mod">
          <ac:chgData name="정관 함" userId="8509c021bc61990b" providerId="LiveId" clId="{AC9CB4A8-4F96-497B-B902-3710E37C276C}" dt="2026-09-10T04:54:59.835" v="555" actId="20577"/>
          <ac:spMkLst>
            <pc:docMk/>
            <pc:sldMk cId="0" sldId="270"/>
            <ac:spMk id="63" creationId="{00000000-0000-0000-0000-000000000000}"/>
          </ac:spMkLst>
        </pc:spChg>
      </pc:sldChg>
      <pc:sldChg chg="modSp mod modNotes modNotesTx">
        <pc:chgData name="정관 함" userId="8509c021bc61990b" providerId="LiveId" clId="{AC9CB4A8-4F96-497B-B902-3710E37C276C}" dt="2026-09-10T05:38:09.556" v="941" actId="20577"/>
        <pc:sldMkLst>
          <pc:docMk/>
          <pc:sldMk cId="0" sldId="271"/>
        </pc:sldMkLst>
        <pc:spChg chg="mod">
          <ac:chgData name="정관 함" userId="8509c021bc61990b" providerId="LiveId" clId="{AC9CB4A8-4F96-497B-B902-3710E37C276C}" dt="2026-09-10T04:55:52.939" v="559" actId="20577"/>
          <ac:spMkLst>
            <pc:docMk/>
            <pc:sldMk cId="0" sldId="271"/>
            <ac:spMk id="35" creationId="{00000000-0000-0000-0000-000000000000}"/>
          </ac:spMkLst>
        </pc:spChg>
      </pc:sldChg>
      <pc:sldChg chg="modSp mod modNotesTx">
        <pc:chgData name="정관 함" userId="8509c021bc61990b" providerId="LiveId" clId="{AC9CB4A8-4F96-497B-B902-3710E37C276C}" dt="2026-09-10T05:38:15.860" v="945" actId="20577"/>
        <pc:sldMkLst>
          <pc:docMk/>
          <pc:sldMk cId="0" sldId="272"/>
        </pc:sldMkLst>
        <pc:spChg chg="mod">
          <ac:chgData name="정관 함" userId="8509c021bc61990b" providerId="LiveId" clId="{AC9CB4A8-4F96-497B-B902-3710E37C276C}" dt="2026-09-10T04:55:59.993" v="563" actId="20577"/>
          <ac:spMkLst>
            <pc:docMk/>
            <pc:sldMk cId="0" sldId="272"/>
            <ac:spMk id="15" creationId="{00000000-0000-0000-0000-000000000000}"/>
          </ac:spMkLst>
        </pc:spChg>
        <pc:graphicFrameChg chg="mod modGraphic">
          <ac:chgData name="정관 함" userId="8509c021bc61990b" providerId="LiveId" clId="{AC9CB4A8-4F96-497B-B902-3710E37C276C}" dt="2026-09-10T00:49:59.616" v="8"/>
          <ac:graphicFrameMkLst>
            <pc:docMk/>
            <pc:sldMk cId="0" sldId="272"/>
            <ac:graphicFrameMk id="16" creationId="{00000000-0000-0000-0000-000000000000}"/>
          </ac:graphicFrameMkLst>
        </pc:graphicFrameChg>
      </pc:sldChg>
      <pc:sldChg chg="modNotes">
        <pc:chgData name="정관 함" userId="8509c021bc61990b" providerId="LiveId" clId="{AC9CB4A8-4F96-497B-B902-3710E37C276C}" dt="2026-09-10T04:28:35.063" v="494"/>
        <pc:sldMkLst>
          <pc:docMk/>
          <pc:sldMk cId="0" sldId="273"/>
        </pc:sldMkLst>
      </pc:sldChg>
      <pc:sldChg chg="modSp mod modNotesTx">
        <pc:chgData name="정관 함" userId="8509c021bc61990b" providerId="LiveId" clId="{AC9CB4A8-4F96-497B-B902-3710E37C276C}" dt="2026-09-10T04:56:09.173" v="567" actId="20577"/>
        <pc:sldMkLst>
          <pc:docMk/>
          <pc:sldMk cId="0" sldId="274"/>
        </pc:sldMkLst>
        <pc:spChg chg="mod">
          <ac:chgData name="정관 함" userId="8509c021bc61990b" providerId="LiveId" clId="{AC9CB4A8-4F96-497B-B902-3710E37C276C}" dt="2026-09-10T03:25:47.384" v="425" actId="113"/>
          <ac:spMkLst>
            <pc:docMk/>
            <pc:sldMk cId="0" sldId="274"/>
            <ac:spMk id="60" creationId="{00000000-0000-0000-0000-000000000000}"/>
          </ac:spMkLst>
        </pc:spChg>
        <pc:spChg chg="mod">
          <ac:chgData name="정관 함" userId="8509c021bc61990b" providerId="LiveId" clId="{AC9CB4A8-4F96-497B-B902-3710E37C276C}" dt="2026-09-10T04:56:09.173" v="567" actId="20577"/>
          <ac:spMkLst>
            <pc:docMk/>
            <pc:sldMk cId="0" sldId="274"/>
            <ac:spMk id="78" creationId="{00000000-0000-0000-0000-000000000000}"/>
          </ac:spMkLst>
        </pc:spChg>
        <pc:grpChg chg="mod">
          <ac:chgData name="정관 함" userId="8509c021bc61990b" providerId="LiveId" clId="{AC9CB4A8-4F96-497B-B902-3710E37C276C}" dt="2026-09-10T04:32:24.855" v="497" actId="1076"/>
          <ac:grpSpMkLst>
            <pc:docMk/>
            <pc:sldMk cId="0" sldId="274"/>
            <ac:grpSpMk id="16" creationId="{00000000-0000-0000-0000-000000000000}"/>
          </ac:grpSpMkLst>
        </pc:grpChg>
      </pc:sldChg>
      <pc:sldChg chg="modSp mod modNotesTx">
        <pc:chgData name="정관 함" userId="8509c021bc61990b" providerId="LiveId" clId="{AC9CB4A8-4F96-497B-B902-3710E37C276C}" dt="2026-09-10T05:39:13.424" v="954" actId="20577"/>
        <pc:sldMkLst>
          <pc:docMk/>
          <pc:sldMk cId="0" sldId="275"/>
        </pc:sldMkLst>
        <pc:spChg chg="mod">
          <ac:chgData name="정관 함" userId="8509c021bc61990b" providerId="LiveId" clId="{AC9CB4A8-4F96-497B-B902-3710E37C276C}" dt="2026-09-10T04:58:23.396" v="573" actId="20577"/>
          <ac:spMkLst>
            <pc:docMk/>
            <pc:sldMk cId="0" sldId="275"/>
            <ac:spMk id="10" creationId="{00000000-0000-0000-0000-000000000000}"/>
          </ac:spMkLst>
        </pc:spChg>
      </pc:sldChg>
      <pc:sldChg chg="modSp mod modNotesTx">
        <pc:chgData name="정관 함" userId="8509c021bc61990b" providerId="LiveId" clId="{AC9CB4A8-4F96-497B-B902-3710E37C276C}" dt="2026-09-10T05:50:04.092" v="1131" actId="403"/>
        <pc:sldMkLst>
          <pc:docMk/>
          <pc:sldMk cId="0" sldId="276"/>
        </pc:sldMkLst>
        <pc:spChg chg="mod">
          <ac:chgData name="정관 함" userId="8509c021bc61990b" providerId="LiveId" clId="{AC9CB4A8-4F96-497B-B902-3710E37C276C}" dt="2026-09-10T04:58:29.781" v="577" actId="20577"/>
          <ac:spMkLst>
            <pc:docMk/>
            <pc:sldMk cId="0" sldId="276"/>
            <ac:spMk id="10" creationId="{00000000-0000-0000-0000-000000000000}"/>
          </ac:spMkLst>
        </pc:spChg>
        <pc:graphicFrameChg chg="mod modGraphic">
          <ac:chgData name="정관 함" userId="8509c021bc61990b" providerId="LiveId" clId="{AC9CB4A8-4F96-497B-B902-3710E37C276C}" dt="2026-09-10T05:50:04.092" v="1131" actId="403"/>
          <ac:graphicFrameMkLst>
            <pc:docMk/>
            <pc:sldMk cId="0" sldId="276"/>
            <ac:graphicFrameMk id="23" creationId="{00000000-0000-0000-0000-000000000000}"/>
          </ac:graphicFrameMkLst>
        </pc:graphicFrameChg>
      </pc:sldChg>
      <pc:sldChg chg="addSp delSp modSp mod modAnim modNotesTx">
        <pc:chgData name="정관 함" userId="8509c021bc61990b" providerId="LiveId" clId="{AC9CB4A8-4F96-497B-B902-3710E37C276C}" dt="2026-09-10T05:41:33.796" v="970" actId="20577"/>
        <pc:sldMkLst>
          <pc:docMk/>
          <pc:sldMk cId="0" sldId="277"/>
        </pc:sldMkLst>
        <pc:spChg chg="mod">
          <ac:chgData name="정관 함" userId="8509c021bc61990b" providerId="LiveId" clId="{AC9CB4A8-4F96-497B-B902-3710E37C276C}" dt="2026-09-10T03:02:51.527" v="354" actId="207"/>
          <ac:spMkLst>
            <pc:docMk/>
            <pc:sldMk cId="0" sldId="277"/>
            <ac:spMk id="13" creationId="{00000000-0000-0000-0000-000000000000}"/>
          </ac:spMkLst>
        </pc:spChg>
        <pc:spChg chg="mod">
          <ac:chgData name="정관 함" userId="8509c021bc61990b" providerId="LiveId" clId="{AC9CB4A8-4F96-497B-B902-3710E37C276C}" dt="2026-09-10T00:50:45.368" v="12" actId="14100"/>
          <ac:spMkLst>
            <pc:docMk/>
            <pc:sldMk cId="0" sldId="277"/>
            <ac:spMk id="21" creationId="{00000000-0000-0000-0000-000000000000}"/>
          </ac:spMkLst>
        </pc:spChg>
        <pc:spChg chg="mod">
          <ac:chgData name="정관 함" userId="8509c021bc61990b" providerId="LiveId" clId="{AC9CB4A8-4F96-497B-B902-3710E37C276C}" dt="2026-09-10T04:58:36.215" v="581" actId="20577"/>
          <ac:spMkLst>
            <pc:docMk/>
            <pc:sldMk cId="0" sldId="277"/>
            <ac:spMk id="26" creationId="{00000000-0000-0000-0000-000000000000}"/>
          </ac:spMkLst>
        </pc:spChg>
        <pc:spChg chg="add del mod">
          <ac:chgData name="정관 함" userId="8509c021bc61990b" providerId="LiveId" clId="{AC9CB4A8-4F96-497B-B902-3710E37C276C}" dt="2026-09-10T03:04:11.396" v="363"/>
          <ac:spMkLst>
            <pc:docMk/>
            <pc:sldMk cId="0" sldId="277"/>
            <ac:spMk id="29" creationId="{B28A5523-2F7E-876F-5378-9484D32D2503}"/>
          </ac:spMkLst>
        </pc:spChg>
        <pc:grpChg chg="del mod">
          <ac:chgData name="정관 함" userId="8509c021bc61990b" providerId="LiveId" clId="{AC9CB4A8-4F96-497B-B902-3710E37C276C}" dt="2026-09-10T03:04:11.396" v="361" actId="478"/>
          <ac:grpSpMkLst>
            <pc:docMk/>
            <pc:sldMk cId="0" sldId="277"/>
            <ac:grpSpMk id="12" creationId="{00000000-0000-0000-0000-000000000000}"/>
          </ac:grpSpMkLst>
        </pc:grpChg>
        <pc:picChg chg="add mod ord">
          <ac:chgData name="정관 함" userId="8509c021bc61990b" providerId="LiveId" clId="{AC9CB4A8-4F96-497B-B902-3710E37C276C}" dt="2026-09-10T03:04:37.107" v="370" actId="167"/>
          <ac:picMkLst>
            <pc:docMk/>
            <pc:sldMk cId="0" sldId="277"/>
            <ac:picMk id="28" creationId="{929ED7DB-1799-DC84-DA68-6F990122DFDB}"/>
          </ac:picMkLst>
        </pc:picChg>
        <pc:picChg chg="add mod ord">
          <ac:chgData name="정관 함" userId="8509c021bc61990b" providerId="LiveId" clId="{AC9CB4A8-4F96-497B-B902-3710E37C276C}" dt="2026-09-10T03:04:45.934" v="372" actId="1076"/>
          <ac:picMkLst>
            <pc:docMk/>
            <pc:sldMk cId="0" sldId="277"/>
            <ac:picMk id="31" creationId="{7E45E475-A762-2B52-83B1-E64597720877}"/>
          </ac:picMkLst>
        </pc:picChg>
      </pc:sldChg>
      <pc:sldChg chg="addSp delSp modSp mod modAnim modNotesTx">
        <pc:chgData name="정관 함" userId="8509c021bc61990b" providerId="LiveId" clId="{AC9CB4A8-4F96-497B-B902-3710E37C276C}" dt="2026-09-10T05:42:48.741" v="1001" actId="20577"/>
        <pc:sldMkLst>
          <pc:docMk/>
          <pc:sldMk cId="0" sldId="278"/>
        </pc:sldMkLst>
        <pc:spChg chg="del topLvl">
          <ac:chgData name="정관 함" userId="8509c021bc61990b" providerId="LiveId" clId="{AC9CB4A8-4F96-497B-B902-3710E37C276C}" dt="2026-09-10T02:52:59.652" v="276" actId="478"/>
          <ac:spMkLst>
            <pc:docMk/>
            <pc:sldMk cId="0" sldId="278"/>
            <ac:spMk id="15" creationId="{00000000-0000-0000-0000-000000000000}"/>
          </ac:spMkLst>
        </pc:spChg>
        <pc:spChg chg="del">
          <ac:chgData name="정관 함" userId="8509c021bc61990b" providerId="LiveId" clId="{AC9CB4A8-4F96-497B-B902-3710E37C276C}" dt="2026-09-10T02:52:40.870" v="269" actId="478"/>
          <ac:spMkLst>
            <pc:docMk/>
            <pc:sldMk cId="0" sldId="278"/>
            <ac:spMk id="18" creationId="{00000000-0000-0000-0000-000000000000}"/>
          </ac:spMkLst>
        </pc:spChg>
        <pc:spChg chg="mod">
          <ac:chgData name="정관 함" userId="8509c021bc61990b" providerId="LiveId" clId="{AC9CB4A8-4F96-497B-B902-3710E37C276C}" dt="2026-09-10T05:02:35.424" v="766" actId="20577"/>
          <ac:spMkLst>
            <pc:docMk/>
            <pc:sldMk cId="0" sldId="278"/>
            <ac:spMk id="23" creationId="{00000000-0000-0000-0000-000000000000}"/>
          </ac:spMkLst>
        </pc:spChg>
        <pc:grpChg chg="del">
          <ac:chgData name="정관 함" userId="8509c021bc61990b" providerId="LiveId" clId="{AC9CB4A8-4F96-497B-B902-3710E37C276C}" dt="2026-09-10T02:51:38.658" v="257" actId="478"/>
          <ac:grpSpMkLst>
            <pc:docMk/>
            <pc:sldMk cId="0" sldId="278"/>
            <ac:grpSpMk id="12" creationId="{00000000-0000-0000-0000-000000000000}"/>
          </ac:grpSpMkLst>
        </pc:grpChg>
        <pc:grpChg chg="del">
          <ac:chgData name="정관 함" userId="8509c021bc61990b" providerId="LiveId" clId="{AC9CB4A8-4F96-497B-B902-3710E37C276C}" dt="2026-09-10T02:52:59.652" v="276" actId="478"/>
          <ac:grpSpMkLst>
            <pc:docMk/>
            <pc:sldMk cId="0" sldId="278"/>
            <ac:grpSpMk id="14" creationId="{00000000-0000-0000-0000-000000000000}"/>
          </ac:grpSpMkLst>
        </pc:grpChg>
        <pc:grpChg chg="del">
          <ac:chgData name="정관 함" userId="8509c021bc61990b" providerId="LiveId" clId="{AC9CB4A8-4F96-497B-B902-3710E37C276C}" dt="2026-09-10T02:52:38.653" v="268" actId="478"/>
          <ac:grpSpMkLst>
            <pc:docMk/>
            <pc:sldMk cId="0" sldId="278"/>
            <ac:grpSpMk id="16" creationId="{00000000-0000-0000-0000-000000000000}"/>
          </ac:grpSpMkLst>
        </pc:grpChg>
        <pc:picChg chg="add del mod">
          <ac:chgData name="정관 함" userId="8509c021bc61990b" providerId="LiveId" clId="{AC9CB4A8-4F96-497B-B902-3710E37C276C}" dt="2026-09-10T02:51:48.827" v="262" actId="478"/>
          <ac:picMkLst>
            <pc:docMk/>
            <pc:sldMk cId="0" sldId="278"/>
            <ac:picMk id="25" creationId="{B40FC419-ADC6-7724-28BA-73A5473C20E6}"/>
          </ac:picMkLst>
        </pc:picChg>
        <pc:picChg chg="add del mod">
          <ac:chgData name="정관 함" userId="8509c021bc61990b" providerId="LiveId" clId="{AC9CB4A8-4F96-497B-B902-3710E37C276C}" dt="2026-09-10T02:52:45.558" v="271" actId="478"/>
          <ac:picMkLst>
            <pc:docMk/>
            <pc:sldMk cId="0" sldId="278"/>
            <ac:picMk id="27" creationId="{F16ED05B-349D-5507-D17C-14AEB1C3F37C}"/>
          </ac:picMkLst>
        </pc:picChg>
        <pc:picChg chg="add mod ord">
          <ac:chgData name="정관 함" userId="8509c021bc61990b" providerId="LiveId" clId="{AC9CB4A8-4F96-497B-B902-3710E37C276C}" dt="2026-09-10T03:01:46.231" v="344" actId="167"/>
          <ac:picMkLst>
            <pc:docMk/>
            <pc:sldMk cId="0" sldId="278"/>
            <ac:picMk id="29" creationId="{AF9F48BA-3939-0848-8494-007268CA1F14}"/>
          </ac:picMkLst>
        </pc:picChg>
        <pc:picChg chg="add mod ord">
          <ac:chgData name="정관 함" userId="8509c021bc61990b" providerId="LiveId" clId="{AC9CB4A8-4F96-497B-B902-3710E37C276C}" dt="2026-09-10T03:01:46.231" v="344" actId="167"/>
          <ac:picMkLst>
            <pc:docMk/>
            <pc:sldMk cId="0" sldId="278"/>
            <ac:picMk id="31" creationId="{6EDDB810-28B9-F685-C2C2-D76384735282}"/>
          </ac:picMkLst>
        </pc:picChg>
        <pc:picChg chg="add del mod">
          <ac:chgData name="정관 함" userId="8509c021bc61990b" providerId="LiveId" clId="{AC9CB4A8-4F96-497B-B902-3710E37C276C}" dt="2026-09-10T03:02:03.985" v="345" actId="21"/>
          <ac:picMkLst>
            <pc:docMk/>
            <pc:sldMk cId="0" sldId="278"/>
            <ac:picMk id="33" creationId="{93789433-43C1-E788-AE0A-3C941783D85D}"/>
          </ac:picMkLst>
        </pc:picChg>
      </pc:sldChg>
      <pc:sldChg chg="modSp mod modNotes modNotesTx">
        <pc:chgData name="정관 함" userId="8509c021bc61990b" providerId="LiveId" clId="{AC9CB4A8-4F96-497B-B902-3710E37C276C}" dt="2026-09-10T05:43:15.206" v="1013" actId="20577"/>
        <pc:sldMkLst>
          <pc:docMk/>
          <pc:sldMk cId="0" sldId="279"/>
        </pc:sldMkLst>
        <pc:spChg chg="mod">
          <ac:chgData name="정관 함" userId="8509c021bc61990b" providerId="LiveId" clId="{AC9CB4A8-4F96-497B-B902-3710E37C276C}" dt="2026-09-10T05:02:42.289" v="770" actId="20577"/>
          <ac:spMkLst>
            <pc:docMk/>
            <pc:sldMk cId="0" sldId="279"/>
            <ac:spMk id="32" creationId="{00000000-0000-0000-0000-000000000000}"/>
          </ac:spMkLst>
        </pc:spChg>
      </pc:sldChg>
      <pc:sldChg chg="addSp delSp modSp mod modNotesTx">
        <pc:chgData name="정관 함" userId="8509c021bc61990b" providerId="LiveId" clId="{AC9CB4A8-4F96-497B-B902-3710E37C276C}" dt="2026-09-10T05:44:02.088" v="1053" actId="20577"/>
        <pc:sldMkLst>
          <pc:docMk/>
          <pc:sldMk cId="0" sldId="280"/>
        </pc:sldMkLst>
        <pc:spChg chg="mod">
          <ac:chgData name="정관 함" userId="8509c021bc61990b" providerId="LiveId" clId="{AC9CB4A8-4F96-497B-B902-3710E37C276C}" dt="2026-09-10T03:09:48.212" v="376" actId="207"/>
          <ac:spMkLst>
            <pc:docMk/>
            <pc:sldMk cId="0" sldId="280"/>
            <ac:spMk id="10" creationId="{00000000-0000-0000-0000-000000000000}"/>
          </ac:spMkLst>
        </pc:spChg>
        <pc:spChg chg="mod">
          <ac:chgData name="정관 함" userId="8509c021bc61990b" providerId="LiveId" clId="{AC9CB4A8-4F96-497B-B902-3710E37C276C}" dt="2026-09-10T03:09:48.212" v="376" actId="207"/>
          <ac:spMkLst>
            <pc:docMk/>
            <pc:sldMk cId="0" sldId="280"/>
            <ac:spMk id="11" creationId="{00000000-0000-0000-0000-000000000000}"/>
          </ac:spMkLst>
        </pc:spChg>
        <pc:spChg chg="del topLvl">
          <ac:chgData name="정관 함" userId="8509c021bc61990b" providerId="LiveId" clId="{AC9CB4A8-4F96-497B-B902-3710E37C276C}" dt="2026-09-10T02:53:56.231" v="286" actId="478"/>
          <ac:spMkLst>
            <pc:docMk/>
            <pc:sldMk cId="0" sldId="280"/>
            <ac:spMk id="13" creationId="{00000000-0000-0000-0000-000000000000}"/>
          </ac:spMkLst>
        </pc:spChg>
        <pc:spChg chg="mod">
          <ac:chgData name="정관 함" userId="8509c021bc61990b" providerId="LiveId" clId="{AC9CB4A8-4F96-497B-B902-3710E37C276C}" dt="2026-09-10T02:56:14.717" v="325" actId="1076"/>
          <ac:spMkLst>
            <pc:docMk/>
            <pc:sldMk cId="0" sldId="280"/>
            <ac:spMk id="16" creationId="{00000000-0000-0000-0000-000000000000}"/>
          </ac:spMkLst>
        </pc:spChg>
        <pc:spChg chg="del mod">
          <ac:chgData name="정관 함" userId="8509c021bc61990b" providerId="LiveId" clId="{AC9CB4A8-4F96-497B-B902-3710E37C276C}" dt="2026-09-10T02:55:07.952" v="312" actId="478"/>
          <ac:spMkLst>
            <pc:docMk/>
            <pc:sldMk cId="0" sldId="280"/>
            <ac:spMk id="20" creationId="{00000000-0000-0000-0000-000000000000}"/>
          </ac:spMkLst>
        </pc:spChg>
        <pc:spChg chg="mod">
          <ac:chgData name="정관 함" userId="8509c021bc61990b" providerId="LiveId" clId="{AC9CB4A8-4F96-497B-B902-3710E37C276C}" dt="2026-09-10T02:56:25.672" v="327" actId="1076"/>
          <ac:spMkLst>
            <pc:docMk/>
            <pc:sldMk cId="0" sldId="280"/>
            <ac:spMk id="21" creationId="{00000000-0000-0000-0000-000000000000}"/>
          </ac:spMkLst>
        </pc:spChg>
        <pc:spChg chg="mod">
          <ac:chgData name="정관 함" userId="8509c021bc61990b" providerId="LiveId" clId="{AC9CB4A8-4F96-497B-B902-3710E37C276C}" dt="2026-09-10T02:56:21.550" v="326" actId="1076"/>
          <ac:spMkLst>
            <pc:docMk/>
            <pc:sldMk cId="0" sldId="280"/>
            <ac:spMk id="22" creationId="{00000000-0000-0000-0000-000000000000}"/>
          </ac:spMkLst>
        </pc:spChg>
        <pc:spChg chg="mod">
          <ac:chgData name="정관 함" userId="8509c021bc61990b" providerId="LiveId" clId="{AC9CB4A8-4F96-497B-B902-3710E37C276C}" dt="2026-09-10T05:02:48.893" v="774" actId="20577"/>
          <ac:spMkLst>
            <pc:docMk/>
            <pc:sldMk cId="0" sldId="280"/>
            <ac:spMk id="27" creationId="{00000000-0000-0000-0000-000000000000}"/>
          </ac:spMkLst>
        </pc:spChg>
        <pc:grpChg chg="mod ord">
          <ac:chgData name="정관 함" userId="8509c021bc61990b" providerId="LiveId" clId="{AC9CB4A8-4F96-497B-B902-3710E37C276C}" dt="2026-09-10T03:09:58.012" v="379" actId="14100"/>
          <ac:grpSpMkLst>
            <pc:docMk/>
            <pc:sldMk cId="0" sldId="280"/>
            <ac:grpSpMk id="9" creationId="{00000000-0000-0000-0000-000000000000}"/>
          </ac:grpSpMkLst>
        </pc:grpChg>
        <pc:grpChg chg="del">
          <ac:chgData name="정관 함" userId="8509c021bc61990b" providerId="LiveId" clId="{AC9CB4A8-4F96-497B-B902-3710E37C276C}" dt="2026-09-10T02:53:56.231" v="286" actId="478"/>
          <ac:grpSpMkLst>
            <pc:docMk/>
            <pc:sldMk cId="0" sldId="280"/>
            <ac:grpSpMk id="12" creationId="{00000000-0000-0000-0000-000000000000}"/>
          </ac:grpSpMkLst>
        </pc:grpChg>
        <pc:grpChg chg="mod">
          <ac:chgData name="정관 함" userId="8509c021bc61990b" providerId="LiveId" clId="{AC9CB4A8-4F96-497B-B902-3710E37C276C}" dt="2026-09-10T02:53:50.124" v="285" actId="1076"/>
          <ac:grpSpMkLst>
            <pc:docMk/>
            <pc:sldMk cId="0" sldId="280"/>
            <ac:grpSpMk id="14" creationId="{00000000-0000-0000-0000-000000000000}"/>
          </ac:grpSpMkLst>
        </pc:grpChg>
        <pc:grpChg chg="del">
          <ac:chgData name="정관 함" userId="8509c021bc61990b" providerId="LiveId" clId="{AC9CB4A8-4F96-497B-B902-3710E37C276C}" dt="2026-09-10T02:55:07.952" v="312" actId="478"/>
          <ac:grpSpMkLst>
            <pc:docMk/>
            <pc:sldMk cId="0" sldId="280"/>
            <ac:grpSpMk id="19" creationId="{00000000-0000-0000-0000-000000000000}"/>
          </ac:grpSpMkLst>
        </pc:grpChg>
        <pc:picChg chg="add mod ord">
          <ac:chgData name="정관 함" userId="8509c021bc61990b" providerId="LiveId" clId="{AC9CB4A8-4F96-497B-B902-3710E37C276C}" dt="2026-09-10T03:10:30.047" v="385" actId="1076"/>
          <ac:picMkLst>
            <pc:docMk/>
            <pc:sldMk cId="0" sldId="280"/>
            <ac:picMk id="29" creationId="{19F3D784-325D-AB0C-3112-2881B179DA88}"/>
          </ac:picMkLst>
        </pc:picChg>
      </pc:sldChg>
      <pc:sldChg chg="modSp mod modNotes modNotesTx">
        <pc:chgData name="정관 함" userId="8509c021bc61990b" providerId="LiveId" clId="{AC9CB4A8-4F96-497B-B902-3710E37C276C}" dt="2026-09-10T05:44:33.102" v="1062" actId="20577"/>
        <pc:sldMkLst>
          <pc:docMk/>
          <pc:sldMk cId="0" sldId="281"/>
        </pc:sldMkLst>
        <pc:spChg chg="mod">
          <ac:chgData name="정관 함" userId="8509c021bc61990b" providerId="LiveId" clId="{AC9CB4A8-4F96-497B-B902-3710E37C276C}" dt="2026-09-10T04:34:21.491" v="499" actId="1076"/>
          <ac:spMkLst>
            <pc:docMk/>
            <pc:sldMk cId="0" sldId="281"/>
            <ac:spMk id="39" creationId="{00000000-0000-0000-0000-000000000000}"/>
          </ac:spMkLst>
        </pc:spChg>
        <pc:spChg chg="mod">
          <ac:chgData name="정관 함" userId="8509c021bc61990b" providerId="LiveId" clId="{AC9CB4A8-4F96-497B-B902-3710E37C276C}" dt="2026-09-10T04:34:30.191" v="501" actId="1076"/>
          <ac:spMkLst>
            <pc:docMk/>
            <pc:sldMk cId="0" sldId="281"/>
            <ac:spMk id="40" creationId="{00000000-0000-0000-0000-000000000000}"/>
          </ac:spMkLst>
        </pc:spChg>
        <pc:spChg chg="mod">
          <ac:chgData name="정관 함" userId="8509c021bc61990b" providerId="LiveId" clId="{AC9CB4A8-4F96-497B-B902-3710E37C276C}" dt="2026-09-10T05:02:54.471" v="778" actId="20577"/>
          <ac:spMkLst>
            <pc:docMk/>
            <pc:sldMk cId="0" sldId="281"/>
            <ac:spMk id="44" creationId="{00000000-0000-0000-0000-000000000000}"/>
          </ac:spMkLst>
        </pc:spChg>
      </pc:sldChg>
      <pc:sldChg chg="modSp mod modNotes modNotesTx">
        <pc:chgData name="정관 함" userId="8509c021bc61990b" providerId="LiveId" clId="{AC9CB4A8-4F96-497B-B902-3710E37C276C}" dt="2026-09-10T05:44:55.517" v="1071" actId="20577"/>
        <pc:sldMkLst>
          <pc:docMk/>
          <pc:sldMk cId="0" sldId="282"/>
        </pc:sldMkLst>
        <pc:spChg chg="mod">
          <ac:chgData name="정관 함" userId="8509c021bc61990b" providerId="LiveId" clId="{AC9CB4A8-4F96-497B-B902-3710E37C276C}" dt="2026-09-10T05:02:59.856" v="782" actId="20577"/>
          <ac:spMkLst>
            <pc:docMk/>
            <pc:sldMk cId="0" sldId="282"/>
            <ac:spMk id="44" creationId="{00000000-0000-0000-0000-000000000000}"/>
          </ac:spMkLst>
        </pc:spChg>
      </pc:sldChg>
      <pc:sldChg chg="modNotes">
        <pc:chgData name="정관 함" userId="8509c021bc61990b" providerId="LiveId" clId="{AC9CB4A8-4F96-497B-B902-3710E37C276C}" dt="2026-09-10T04:28:35.063" v="494"/>
        <pc:sldMkLst>
          <pc:docMk/>
          <pc:sldMk cId="0" sldId="283"/>
        </pc:sldMkLst>
      </pc:sldChg>
      <pc:sldChg chg="modSp mod modNotes modNotesTx">
        <pc:chgData name="정관 함" userId="8509c021bc61990b" providerId="LiveId" clId="{AC9CB4A8-4F96-497B-B902-3710E37C276C}" dt="2026-09-10T05:46:53.525" v="1096" actId="20577"/>
        <pc:sldMkLst>
          <pc:docMk/>
          <pc:sldMk cId="0" sldId="284"/>
        </pc:sldMkLst>
        <pc:spChg chg="mod">
          <ac:chgData name="정관 함" userId="8509c021bc61990b" providerId="LiveId" clId="{AC9CB4A8-4F96-497B-B902-3710E37C276C}" dt="2026-09-10T05:03:05.541" v="786" actId="20577"/>
          <ac:spMkLst>
            <pc:docMk/>
            <pc:sldMk cId="0" sldId="284"/>
            <ac:spMk id="37" creationId="{00000000-0000-0000-0000-000000000000}"/>
          </ac:spMkLst>
        </pc:spChg>
      </pc:sldChg>
      <pc:sldChg chg="modSp mod modNotes modNotesTx">
        <pc:chgData name="정관 함" userId="8509c021bc61990b" providerId="LiveId" clId="{AC9CB4A8-4F96-497B-B902-3710E37C276C}" dt="2026-09-10T05:47:19.197" v="1109" actId="20577"/>
        <pc:sldMkLst>
          <pc:docMk/>
          <pc:sldMk cId="0" sldId="285"/>
        </pc:sldMkLst>
        <pc:spChg chg="mod">
          <ac:chgData name="정관 함" userId="8509c021bc61990b" providerId="LiveId" clId="{AC9CB4A8-4F96-497B-B902-3710E37C276C}" dt="2026-09-10T05:03:13.319" v="792" actId="20577"/>
          <ac:spMkLst>
            <pc:docMk/>
            <pc:sldMk cId="0" sldId="285"/>
            <ac:spMk id="23" creationId="{00000000-0000-0000-0000-000000000000}"/>
          </ac:spMkLst>
        </pc:spChg>
      </pc:sldChg>
      <pc:sldChg chg="modSp mod modNotes modNotesTx">
        <pc:chgData name="정관 함" userId="8509c021bc61990b" providerId="LiveId" clId="{AC9CB4A8-4F96-497B-B902-3710E37C276C}" dt="2026-09-10T05:47:35.400" v="1117" actId="20577"/>
        <pc:sldMkLst>
          <pc:docMk/>
          <pc:sldMk cId="0" sldId="286"/>
        </pc:sldMkLst>
        <pc:spChg chg="mod">
          <ac:chgData name="정관 함" userId="8509c021bc61990b" providerId="LiveId" clId="{AC9CB4A8-4F96-497B-B902-3710E37C276C}" dt="2026-09-10T05:03:20.004" v="798" actId="20577"/>
          <ac:spMkLst>
            <pc:docMk/>
            <pc:sldMk cId="0" sldId="286"/>
            <ac:spMk id="38" creationId="{00000000-0000-0000-0000-000000000000}"/>
          </ac:spMkLst>
        </pc:spChg>
      </pc:sldChg>
      <pc:sldChg chg="modSp mod modNotes modNotesTx">
        <pc:chgData name="정관 함" userId="8509c021bc61990b" providerId="LiveId" clId="{AC9CB4A8-4F96-497B-B902-3710E37C276C}" dt="2026-09-10T05:48:11.134" v="1129" actId="20577"/>
        <pc:sldMkLst>
          <pc:docMk/>
          <pc:sldMk cId="0" sldId="287"/>
        </pc:sldMkLst>
        <pc:spChg chg="mod">
          <ac:chgData name="정관 함" userId="8509c021bc61990b" providerId="LiveId" clId="{AC9CB4A8-4F96-497B-B902-3710E37C276C}" dt="2026-09-10T05:03:27.355" v="802" actId="20577"/>
          <ac:spMkLst>
            <pc:docMk/>
            <pc:sldMk cId="0" sldId="287"/>
            <ac:spMk id="43" creationId="{00000000-0000-0000-0000-000000000000}"/>
          </ac:spMkLst>
        </pc:spChg>
      </pc:sldChg>
      <pc:sldChg chg="modNotes">
        <pc:chgData name="정관 함" userId="8509c021bc61990b" providerId="LiveId" clId="{AC9CB4A8-4F96-497B-B902-3710E37C276C}" dt="2026-09-10T04:28:35.063" v="494"/>
        <pc:sldMkLst>
          <pc:docMk/>
          <pc:sldMk cId="0" sldId="288"/>
        </pc:sldMkLst>
      </pc:sldChg>
    </pc:docChg>
  </pc:docChgLst>
  <pc:docChgLst>
    <pc:chgData name="정관 함" userId="8509c021bc61990b" providerId="LiveId" clId="{2FAE2BBA-E993-4551-80AA-695860CA3A74}"/>
    <pc:docChg chg="undo custSel mod modSld">
      <pc:chgData name="정관 함" userId="8509c021bc61990b" providerId="LiveId" clId="{2FAE2BBA-E993-4551-80AA-695860CA3A74}" dt="2026-09-09T18:31:58.495" v="39"/>
      <pc:docMkLst>
        <pc:docMk/>
      </pc:docMkLst>
      <pc:sldChg chg="modSp mod">
        <pc:chgData name="정관 함" userId="8509c021bc61990b" providerId="LiveId" clId="{2FAE2BBA-E993-4551-80AA-695860CA3A74}" dt="2026-09-09T18:31:31.920" v="38" actId="14100"/>
        <pc:sldMkLst>
          <pc:docMk/>
          <pc:sldMk cId="0" sldId="256"/>
        </pc:sldMkLst>
        <pc:spChg chg="mod">
          <ac:chgData name="정관 함" userId="8509c021bc61990b" providerId="LiveId" clId="{2FAE2BBA-E993-4551-80AA-695860CA3A74}" dt="2026-09-09T18:31:31.920" v="38" actId="14100"/>
          <ac:spMkLst>
            <pc:docMk/>
            <pc:sldMk cId="0" sldId="256"/>
            <ac:spMk id="17" creationId="{00000000-0000-0000-0000-000000000000}"/>
          </ac:spMkLst>
        </pc:spChg>
      </pc:sldChg>
      <pc:sldChg chg="modNotesTx">
        <pc:chgData name="정관 함" userId="8509c021bc61990b" providerId="LiveId" clId="{2FAE2BBA-E993-4551-80AA-695860CA3A74}" dt="2026-09-09T18:17:47.728" v="7" actId="20577"/>
        <pc:sldMkLst>
          <pc:docMk/>
          <pc:sldMk cId="0" sldId="259"/>
        </pc:sldMkLst>
      </pc:sldChg>
      <pc:sldChg chg="modSp mod">
        <pc:chgData name="정관 함" userId="8509c021bc61990b" providerId="LiveId" clId="{2FAE2BBA-E993-4551-80AA-695860CA3A74}" dt="2026-09-09T18:22:38.409" v="17" actId="14100"/>
        <pc:sldMkLst>
          <pc:docMk/>
          <pc:sldMk cId="0" sldId="267"/>
        </pc:sldMkLst>
        <pc:spChg chg="mod">
          <ac:chgData name="정관 함" userId="8509c021bc61990b" providerId="LiveId" clId="{2FAE2BBA-E993-4551-80AA-695860CA3A74}" dt="2026-09-09T18:22:38.409" v="17" actId="14100"/>
          <ac:spMkLst>
            <pc:docMk/>
            <pc:sldMk cId="0" sldId="267"/>
            <ac:spMk id="15" creationId="{00000000-0000-0000-0000-000000000000}"/>
          </ac:spMkLst>
        </pc:spChg>
        <pc:grpChg chg="mod">
          <ac:chgData name="정관 함" userId="8509c021bc61990b" providerId="LiveId" clId="{2FAE2BBA-E993-4551-80AA-695860CA3A74}" dt="2026-09-09T18:21:38.367" v="15" actId="1076"/>
          <ac:grpSpMkLst>
            <pc:docMk/>
            <pc:sldMk cId="0" sldId="267"/>
            <ac:grpSpMk id="7" creationId="{00000000-0000-0000-0000-000000000000}"/>
          </ac:grpSpMkLst>
        </pc:grpChg>
        <pc:grpChg chg="mod">
          <ac:chgData name="정관 함" userId="8509c021bc61990b" providerId="LiveId" clId="{2FAE2BBA-E993-4551-80AA-695860CA3A74}" dt="2026-09-09T18:21:38.959" v="16" actId="1076"/>
          <ac:grpSpMkLst>
            <pc:docMk/>
            <pc:sldMk cId="0" sldId="267"/>
            <ac:grpSpMk id="9" creationId="{00000000-0000-0000-0000-000000000000}"/>
          </ac:grpSpMkLst>
        </pc:grpChg>
      </pc:sldChg>
      <pc:sldChg chg="modSp mod">
        <pc:chgData name="정관 함" userId="8509c021bc61990b" providerId="LiveId" clId="{2FAE2BBA-E993-4551-80AA-695860CA3A74}" dt="2026-09-09T18:23:25.683" v="24" actId="14100"/>
        <pc:sldMkLst>
          <pc:docMk/>
          <pc:sldMk cId="0" sldId="268"/>
        </pc:sldMkLst>
        <pc:grpChg chg="mod">
          <ac:chgData name="정관 함" userId="8509c021bc61990b" providerId="LiveId" clId="{2FAE2BBA-E993-4551-80AA-695860CA3A74}" dt="2026-09-09T18:23:25.683" v="24" actId="14100"/>
          <ac:grpSpMkLst>
            <pc:docMk/>
            <pc:sldMk cId="0" sldId="268"/>
            <ac:grpSpMk id="8" creationId="{00000000-0000-0000-0000-000000000000}"/>
          </ac:grpSpMkLst>
        </pc:grpChg>
      </pc:sldChg>
      <pc:sldChg chg="modSp mod">
        <pc:chgData name="정관 함" userId="8509c021bc61990b" providerId="LiveId" clId="{2FAE2BBA-E993-4551-80AA-695860CA3A74}" dt="2026-09-09T18:24:30.767" v="31" actId="114"/>
        <pc:sldMkLst>
          <pc:docMk/>
          <pc:sldMk cId="0" sldId="272"/>
        </pc:sldMkLst>
        <pc:spChg chg="mod">
          <ac:chgData name="정관 함" userId="8509c021bc61990b" providerId="LiveId" clId="{2FAE2BBA-E993-4551-80AA-695860CA3A74}" dt="2026-09-09T18:23:56.697" v="27" actId="107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정관 함" userId="8509c021bc61990b" providerId="LiveId" clId="{2FAE2BBA-E993-4551-80AA-695860CA3A74}" dt="2026-09-09T18:24:09.375" v="29" actId="107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정관 함" userId="8509c021bc61990b" providerId="LiveId" clId="{2FAE2BBA-E993-4551-80AA-695860CA3A74}" dt="2026-09-09T18:24:30.767" v="31" actId="114"/>
          <ac:spMkLst>
            <pc:docMk/>
            <pc:sldMk cId="0" sldId="272"/>
            <ac:spMk id="12" creationId="{00000000-0000-0000-0000-000000000000}"/>
          </ac:spMkLst>
        </pc:spChg>
        <pc:graphicFrameChg chg="modGraphic">
          <ac:chgData name="정관 함" userId="8509c021bc61990b" providerId="LiveId" clId="{2FAE2BBA-E993-4551-80AA-695860CA3A74}" dt="2026-09-09T18:23:45.765" v="26" actId="14734"/>
          <ac:graphicFrameMkLst>
            <pc:docMk/>
            <pc:sldMk cId="0" sldId="272"/>
            <ac:graphicFrameMk id="16" creationId="{00000000-0000-0000-0000-000000000000}"/>
          </ac:graphicFrameMkLst>
        </pc:graphicFrameChg>
      </pc:sldChg>
      <pc:sldChg chg="modSp mod">
        <pc:chgData name="정관 함" userId="8509c021bc61990b" providerId="LiveId" clId="{2FAE2BBA-E993-4551-80AA-695860CA3A74}" dt="2026-09-09T18:21:08.089" v="11" actId="14100"/>
        <pc:sldMkLst>
          <pc:docMk/>
          <pc:sldMk cId="0" sldId="275"/>
        </pc:sldMkLst>
        <pc:spChg chg="mod">
          <ac:chgData name="정관 함" userId="8509c021bc61990b" providerId="LiveId" clId="{2FAE2BBA-E993-4551-80AA-695860CA3A74}" dt="2026-09-09T18:21:08.089" v="11" actId="14100"/>
          <ac:spMkLst>
            <pc:docMk/>
            <pc:sldMk cId="0" sldId="275"/>
            <ac:spMk id="20" creationId="{00000000-0000-0000-0000-000000000000}"/>
          </ac:spMkLst>
        </pc:spChg>
        <pc:graphicFrameChg chg="mod">
          <ac:chgData name="정관 함" userId="8509c021bc61990b" providerId="LiveId" clId="{2FAE2BBA-E993-4551-80AA-695860CA3A74}" dt="2026-09-09T18:21:02.392" v="10" actId="1076"/>
          <ac:graphicFrameMkLst>
            <pc:docMk/>
            <pc:sldMk cId="0" sldId="275"/>
            <ac:graphicFrameMk id="13" creationId="{00000000-0000-0000-0000-000000000000}"/>
          </ac:graphicFrameMkLst>
        </pc:graphicFrameChg>
        <pc:graphicFrameChg chg="mod">
          <ac:chgData name="정관 함" userId="8509c021bc61990b" providerId="LiveId" clId="{2FAE2BBA-E993-4551-80AA-695860CA3A74}" dt="2026-09-09T18:21:02.392" v="10" actId="1076"/>
          <ac:graphicFrameMkLst>
            <pc:docMk/>
            <pc:sldMk cId="0" sldId="275"/>
            <ac:graphicFrameMk id="17" creationId="{00000000-0000-0000-0000-000000000000}"/>
          </ac:graphicFrameMkLst>
        </pc:graphicFrameChg>
        <pc:graphicFrameChg chg="mod">
          <ac:chgData name="정관 함" userId="8509c021bc61990b" providerId="LiveId" clId="{2FAE2BBA-E993-4551-80AA-695860CA3A74}" dt="2026-09-09T18:21:02.392" v="10" actId="1076"/>
          <ac:graphicFrameMkLst>
            <pc:docMk/>
            <pc:sldMk cId="0" sldId="275"/>
            <ac:graphicFrameMk id="18" creationId="{00000000-0000-0000-0000-000000000000}"/>
          </ac:graphicFrameMkLst>
        </pc:graphicFrameChg>
      </pc:sldChg>
      <pc:sldChg chg="modSp mod">
        <pc:chgData name="정관 함" userId="8509c021bc61990b" providerId="LiveId" clId="{2FAE2BBA-E993-4551-80AA-695860CA3A74}" dt="2026-09-09T18:25:18.563" v="33" actId="403"/>
        <pc:sldMkLst>
          <pc:docMk/>
          <pc:sldMk cId="0" sldId="276"/>
        </pc:sldMkLst>
        <pc:spChg chg="mod">
          <ac:chgData name="정관 함" userId="8509c021bc61990b" providerId="LiveId" clId="{2FAE2BBA-E993-4551-80AA-695860CA3A74}" dt="2026-09-09T18:21:21.190" v="12" actId="14100"/>
          <ac:spMkLst>
            <pc:docMk/>
            <pc:sldMk cId="0" sldId="276"/>
            <ac:spMk id="22" creationId="{00000000-0000-0000-0000-000000000000}"/>
          </ac:spMkLst>
        </pc:spChg>
        <pc:graphicFrameChg chg="modGraphic">
          <ac:chgData name="정관 함" userId="8509c021bc61990b" providerId="LiveId" clId="{2FAE2BBA-E993-4551-80AA-695860CA3A74}" dt="2026-09-09T18:25:18.563" v="33" actId="403"/>
          <ac:graphicFrameMkLst>
            <pc:docMk/>
            <pc:sldMk cId="0" sldId="276"/>
            <ac:graphicFrameMk id="23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안녕하십니까</a:t>
            </a:r>
            <a:r>
              <a:rPr lang="en-US" dirty="0"/>
              <a:t>. </a:t>
            </a:r>
            <a:r>
              <a:rPr lang="ko-KR" altLang="en-US" dirty="0" err="1"/>
              <a:t>오믹스</a:t>
            </a:r>
            <a:r>
              <a:rPr lang="en-US" altLang="ko-KR" dirty="0"/>
              <a:t>, </a:t>
            </a:r>
            <a:r>
              <a:rPr lang="ko-KR" altLang="en-US" dirty="0" err="1"/>
              <a:t>마이크로바이옴</a:t>
            </a:r>
            <a:r>
              <a:rPr lang="ko-KR" altLang="en-US" dirty="0"/>
              <a:t> 응용 프로젝트로 </a:t>
            </a:r>
            <a:r>
              <a:rPr lang="en-US" altLang="ko-KR" dirty="0"/>
              <a:t>1</a:t>
            </a:r>
            <a:r>
              <a:rPr lang="ko-KR" altLang="en-US" dirty="0"/>
              <a:t>조의 발표를 맞게 된 함정관 입니다</a:t>
            </a:r>
            <a:r>
              <a:rPr lang="en-US" altLang="ko-KR" dirty="0"/>
              <a:t>.</a:t>
            </a:r>
            <a:endParaRPr lang="en-US" dirty="0"/>
          </a:p>
          <a:p>
            <a:r>
              <a:rPr lang="en-US" dirty="0" err="1"/>
              <a:t>저희는</a:t>
            </a:r>
            <a:r>
              <a:rPr lang="en-US" dirty="0"/>
              <a:t> </a:t>
            </a:r>
            <a:r>
              <a:rPr lang="en-US" dirty="0" err="1"/>
              <a:t>수도권에서의</a:t>
            </a:r>
            <a:r>
              <a:rPr lang="en-US" dirty="0"/>
              <a:t> </a:t>
            </a:r>
            <a:r>
              <a:rPr lang="en-US" dirty="0" err="1"/>
              <a:t>도로변과</a:t>
            </a:r>
            <a:r>
              <a:rPr lang="en-US" dirty="0"/>
              <a:t> </a:t>
            </a:r>
            <a:r>
              <a:rPr lang="en-US" dirty="0" err="1"/>
              <a:t>공원</a:t>
            </a:r>
            <a:r>
              <a:rPr lang="en-US" dirty="0"/>
              <a:t> </a:t>
            </a:r>
            <a:r>
              <a:rPr lang="en-US" dirty="0" err="1"/>
              <a:t>토양의</a:t>
            </a:r>
            <a:r>
              <a:rPr lang="en-US" dirty="0"/>
              <a:t> </a:t>
            </a:r>
            <a:r>
              <a:rPr lang="en-US" dirty="0" err="1"/>
              <a:t>세균</a:t>
            </a:r>
            <a:r>
              <a:rPr lang="en-US" dirty="0"/>
              <a:t> </a:t>
            </a:r>
            <a:r>
              <a:rPr lang="en-US" dirty="0" err="1"/>
              <a:t>군집을</a:t>
            </a:r>
            <a:r>
              <a:rPr lang="en-US" dirty="0"/>
              <a:t> </a:t>
            </a:r>
            <a:r>
              <a:rPr lang="en-US" dirty="0" err="1"/>
              <a:t>비교하고</a:t>
            </a:r>
            <a:r>
              <a:rPr lang="en-US" dirty="0"/>
              <a:t>,</a:t>
            </a:r>
          </a:p>
          <a:p>
            <a:r>
              <a:rPr lang="en-US" dirty="0" err="1"/>
              <a:t>AI를</a:t>
            </a:r>
            <a:r>
              <a:rPr lang="en-US" dirty="0"/>
              <a:t> </a:t>
            </a:r>
            <a:r>
              <a:rPr lang="en-US" dirty="0" err="1"/>
              <a:t>활용해</a:t>
            </a:r>
            <a:r>
              <a:rPr lang="en-US" dirty="0"/>
              <a:t> </a:t>
            </a:r>
            <a:r>
              <a:rPr lang="en-US" dirty="0" err="1"/>
              <a:t>미생물</a:t>
            </a:r>
            <a:r>
              <a:rPr lang="en-US" dirty="0"/>
              <a:t>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조건을</a:t>
            </a:r>
            <a:r>
              <a:rPr lang="en-US" dirty="0"/>
              <a:t> </a:t>
            </a:r>
            <a:r>
              <a:rPr lang="en-US" dirty="0" err="1"/>
              <a:t>최적화하는</a:t>
            </a:r>
            <a:r>
              <a:rPr lang="en-US" dirty="0"/>
              <a:t> </a:t>
            </a:r>
            <a:r>
              <a:rPr lang="en-US" dirty="0" err="1"/>
              <a:t>프로젝트를</a:t>
            </a:r>
            <a:r>
              <a:rPr lang="en-US" dirty="0"/>
              <a:t> </a:t>
            </a:r>
            <a:r>
              <a:rPr lang="ko-KR" altLang="en-US" dirty="0" err="1"/>
              <a:t>수행하였습니</a:t>
            </a:r>
            <a:r>
              <a:rPr lang="en-US"/>
              <a:t>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발표는 우선 도시 토양 마이크로바이옴을 연구하게 된 배경을 설명하고,</a:t>
            </a:r>
          </a:p>
          <a:p>
            <a:r>
              <a:rPr lang="en-US"/>
              <a:t>시료 채취와 분석 방법을 소개하겠습니다.</a:t>
            </a:r>
          </a:p>
          <a:p>
            <a:endParaRPr lang="en-US"/>
          </a:p>
          <a:p>
            <a:r>
              <a:rPr lang="en-US"/>
              <a:t>이후에는 METIS를 이용한 배양 최적화 결과와 연구의 의의 및 한계를 말씀드리겠습니다.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먼저 연구 배경입니다.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altLang="ko-KR" dirty="0" err="1"/>
              <a:t>마이크로바이옴은</a:t>
            </a:r>
            <a:r>
              <a:rPr lang="en-US" altLang="ko-KR" dirty="0"/>
              <a:t> </a:t>
            </a:r>
            <a:r>
              <a:rPr lang="en-US" altLang="ko-KR" dirty="0" err="1"/>
              <a:t>특정</a:t>
            </a:r>
            <a:r>
              <a:rPr lang="en-US" altLang="ko-KR" dirty="0"/>
              <a:t> </a:t>
            </a:r>
            <a:r>
              <a:rPr lang="en-US" altLang="ko-KR" dirty="0" err="1"/>
              <a:t>환경에</a:t>
            </a:r>
            <a:r>
              <a:rPr lang="en-US" altLang="ko-KR" dirty="0"/>
              <a:t> </a:t>
            </a:r>
            <a:r>
              <a:rPr lang="en-US" altLang="ko-KR" dirty="0" err="1"/>
              <a:t>존재하는</a:t>
            </a:r>
            <a:r>
              <a:rPr lang="en-US" altLang="ko-KR" dirty="0"/>
              <a:t> </a:t>
            </a:r>
            <a:r>
              <a:rPr lang="en-US" altLang="ko-KR" dirty="0" err="1"/>
              <a:t>미생물</a:t>
            </a:r>
            <a:r>
              <a:rPr lang="en-US" altLang="ko-KR" dirty="0"/>
              <a:t> </a:t>
            </a:r>
            <a:r>
              <a:rPr lang="en-US" altLang="ko-KR" dirty="0" err="1"/>
              <a:t>군집</a:t>
            </a:r>
            <a:r>
              <a:rPr lang="en-US" altLang="ko-KR" dirty="0"/>
              <a:t> </a:t>
            </a:r>
            <a:r>
              <a:rPr lang="en-US" altLang="ko-KR" dirty="0" err="1"/>
              <a:t>뿐만</a:t>
            </a:r>
            <a:r>
              <a:rPr lang="en-US" altLang="ko-KR" dirty="0"/>
              <a:t> </a:t>
            </a:r>
            <a:r>
              <a:rPr lang="en-US" altLang="ko-KR" dirty="0" err="1"/>
              <a:t>아니라</a:t>
            </a:r>
            <a:r>
              <a:rPr lang="en-US" altLang="ko-KR" dirty="0"/>
              <a:t> / </a:t>
            </a:r>
            <a:r>
              <a:rPr lang="en-US" altLang="ko-KR" dirty="0" err="1"/>
              <a:t>이들의</a:t>
            </a:r>
            <a:r>
              <a:rPr lang="en-US" altLang="ko-KR" dirty="0"/>
              <a:t> </a:t>
            </a:r>
            <a:r>
              <a:rPr lang="en-US" altLang="ko-KR" dirty="0" err="1"/>
              <a:t>유전</a:t>
            </a:r>
            <a:r>
              <a:rPr lang="en-US" altLang="ko-KR" dirty="0"/>
              <a:t> </a:t>
            </a:r>
            <a:r>
              <a:rPr lang="en-US" altLang="ko-KR" dirty="0" err="1"/>
              <a:t>정보와</a:t>
            </a:r>
            <a:r>
              <a:rPr lang="en-US" altLang="ko-KR" dirty="0"/>
              <a:t> </a:t>
            </a:r>
            <a:r>
              <a:rPr lang="en-US" altLang="ko-KR" dirty="0" err="1"/>
              <a:t>기능까지</a:t>
            </a:r>
            <a:r>
              <a:rPr lang="en-US" altLang="ko-KR" dirty="0"/>
              <a:t> </a:t>
            </a:r>
            <a:r>
              <a:rPr lang="en-US" altLang="ko-KR" dirty="0" err="1"/>
              <a:t>포괄하는</a:t>
            </a:r>
            <a:r>
              <a:rPr lang="en-US" altLang="ko-KR" dirty="0"/>
              <a:t> </a:t>
            </a:r>
            <a:r>
              <a:rPr lang="en-US" altLang="ko-KR" dirty="0" err="1"/>
              <a:t>개념입니다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이는 </a:t>
            </a:r>
            <a:r>
              <a:rPr lang="en-US" altLang="ko-KR" dirty="0" err="1"/>
              <a:t>인체</a:t>
            </a:r>
            <a:r>
              <a:rPr lang="en-US" altLang="ko-KR" dirty="0"/>
              <a:t> </a:t>
            </a:r>
            <a:r>
              <a:rPr lang="en-US" altLang="ko-KR" dirty="0" err="1"/>
              <a:t>부위</a:t>
            </a:r>
            <a:r>
              <a:rPr lang="en-US" altLang="ko-KR" dirty="0"/>
              <a:t> </a:t>
            </a:r>
            <a:r>
              <a:rPr lang="en-US" altLang="ko-KR" dirty="0" err="1"/>
              <a:t>뿐만</a:t>
            </a:r>
            <a:r>
              <a:rPr lang="en-US" altLang="ko-KR" dirty="0"/>
              <a:t> </a:t>
            </a:r>
            <a:r>
              <a:rPr lang="en-US" altLang="ko-KR" dirty="0" err="1"/>
              <a:t>아니라</a:t>
            </a:r>
            <a:r>
              <a:rPr lang="en-US" altLang="ko-KR" dirty="0"/>
              <a:t> / </a:t>
            </a:r>
            <a:r>
              <a:rPr lang="en-US" altLang="ko-KR" dirty="0" err="1"/>
              <a:t>토양</a:t>
            </a:r>
            <a:r>
              <a:rPr lang="en-US" altLang="ko-KR" dirty="0"/>
              <a:t>, 물, </a:t>
            </a:r>
            <a:r>
              <a:rPr lang="en-US" altLang="ko-KR" dirty="0" err="1"/>
              <a:t>공기에도</a:t>
            </a:r>
            <a:r>
              <a:rPr lang="en-US" altLang="ko-KR" dirty="0"/>
              <a:t> </a:t>
            </a:r>
            <a:r>
              <a:rPr lang="en-US" altLang="ko-KR" dirty="0" err="1"/>
              <a:t>각각</a:t>
            </a:r>
            <a:r>
              <a:rPr lang="en-US" altLang="ko-KR" dirty="0"/>
              <a:t> </a:t>
            </a:r>
            <a:r>
              <a:rPr lang="en-US" altLang="ko-KR" dirty="0" err="1"/>
              <a:t>고유한</a:t>
            </a:r>
            <a:r>
              <a:rPr lang="en-US" altLang="ko-KR" dirty="0"/>
              <a:t> </a:t>
            </a:r>
            <a:r>
              <a:rPr lang="en-US" altLang="ko-KR" dirty="0" err="1"/>
              <a:t>마이크로바이옴이</a:t>
            </a:r>
            <a:r>
              <a:rPr lang="en-US" altLang="ko-KR" dirty="0"/>
              <a:t> </a:t>
            </a:r>
            <a:r>
              <a:rPr lang="en-US" altLang="ko-KR" dirty="0" err="1"/>
              <a:t>형성됩니다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en-US" dirty="0" err="1"/>
              <a:t>사람은</a:t>
            </a:r>
            <a:r>
              <a:rPr lang="en-US" dirty="0"/>
              <a:t> </a:t>
            </a:r>
            <a:r>
              <a:rPr lang="en-US" dirty="0" err="1"/>
              <a:t>토양과</a:t>
            </a:r>
            <a:r>
              <a:rPr lang="en-US" dirty="0"/>
              <a:t> </a:t>
            </a:r>
            <a:r>
              <a:rPr lang="en-US" dirty="0" err="1"/>
              <a:t>식생에</a:t>
            </a:r>
            <a:r>
              <a:rPr lang="en-US" dirty="0"/>
              <a:t> </a:t>
            </a:r>
            <a:r>
              <a:rPr lang="en-US" dirty="0" err="1"/>
              <a:t>직접</a:t>
            </a:r>
            <a:r>
              <a:rPr lang="en-US" dirty="0"/>
              <a:t> </a:t>
            </a:r>
            <a:r>
              <a:rPr lang="en-US" dirty="0" err="1"/>
              <a:t>접촉하거나</a:t>
            </a:r>
            <a:r>
              <a:rPr lang="en-US" dirty="0"/>
              <a:t> / </a:t>
            </a:r>
            <a:r>
              <a:rPr lang="en-US" dirty="0" err="1"/>
              <a:t>공기와</a:t>
            </a:r>
            <a:r>
              <a:rPr lang="en-US" dirty="0"/>
              <a:t> </a:t>
            </a:r>
            <a:r>
              <a:rPr lang="en-US" dirty="0" err="1"/>
              <a:t>먼지를</a:t>
            </a:r>
            <a:r>
              <a:rPr lang="en-US" dirty="0"/>
              <a:t> </a:t>
            </a:r>
            <a:r>
              <a:rPr lang="en-US" dirty="0" err="1"/>
              <a:t>흡입하면서</a:t>
            </a:r>
            <a:r>
              <a:rPr lang="en-US" dirty="0"/>
              <a:t> </a:t>
            </a:r>
            <a:r>
              <a:rPr lang="en-US" dirty="0" err="1"/>
              <a:t>환경</a:t>
            </a:r>
            <a:r>
              <a:rPr lang="en-US" dirty="0"/>
              <a:t> </a:t>
            </a:r>
            <a:r>
              <a:rPr lang="en-US" dirty="0" err="1"/>
              <a:t>미생물에</a:t>
            </a:r>
            <a:r>
              <a:rPr lang="en-US" dirty="0"/>
              <a:t> </a:t>
            </a:r>
            <a:r>
              <a:rPr lang="en-US" dirty="0" err="1"/>
              <a:t>계속</a:t>
            </a:r>
            <a:r>
              <a:rPr lang="en-US" dirty="0"/>
              <a:t> </a:t>
            </a:r>
            <a:r>
              <a:rPr lang="en-US" dirty="0" err="1"/>
              <a:t>노출</a:t>
            </a:r>
            <a:r>
              <a:rPr lang="ko-KR" altLang="en-US" dirty="0"/>
              <a:t>되는데</a:t>
            </a:r>
            <a:r>
              <a:rPr lang="en-US" altLang="ko-KR" dirty="0"/>
              <a:t>, / </a:t>
            </a:r>
            <a:r>
              <a:rPr lang="en-US" dirty="0" err="1"/>
              <a:t>선행연구에서는</a:t>
            </a:r>
            <a:r>
              <a:rPr lang="en-US" dirty="0"/>
              <a:t> </a:t>
            </a:r>
            <a:r>
              <a:rPr lang="en-US" dirty="0" err="1"/>
              <a:t>녹지</a:t>
            </a:r>
            <a:r>
              <a:rPr lang="en-US" dirty="0"/>
              <a:t> </a:t>
            </a:r>
            <a:r>
              <a:rPr lang="en-US" dirty="0" err="1"/>
              <a:t>노출</a:t>
            </a:r>
            <a:r>
              <a:rPr lang="en-US" dirty="0"/>
              <a:t> </a:t>
            </a:r>
            <a:r>
              <a:rPr lang="en-US" dirty="0" err="1"/>
              <a:t>이후</a:t>
            </a:r>
            <a:r>
              <a:rPr lang="en-US" dirty="0"/>
              <a:t> / </a:t>
            </a:r>
            <a:r>
              <a:rPr lang="en-US" dirty="0" err="1"/>
              <a:t>비강</a:t>
            </a:r>
            <a:r>
              <a:rPr lang="en-US" dirty="0"/>
              <a:t> </a:t>
            </a:r>
            <a:r>
              <a:rPr lang="en-US" dirty="0" err="1"/>
              <a:t>마이크로바이옴은</a:t>
            </a:r>
            <a:r>
              <a:rPr lang="en-US" dirty="0"/>
              <a:t> </a:t>
            </a:r>
            <a:r>
              <a:rPr lang="en-US" dirty="0" err="1"/>
              <a:t>대기와</a:t>
            </a:r>
            <a:r>
              <a:rPr lang="en-US" dirty="0"/>
              <a:t>, / </a:t>
            </a:r>
            <a:r>
              <a:rPr lang="en-US" dirty="0" err="1"/>
              <a:t>피부</a:t>
            </a:r>
            <a:r>
              <a:rPr lang="en-US" dirty="0"/>
              <a:t> </a:t>
            </a:r>
            <a:r>
              <a:rPr lang="en-US" dirty="0" err="1"/>
              <a:t>마이크로바이옴은</a:t>
            </a:r>
            <a:r>
              <a:rPr lang="en-US" dirty="0"/>
              <a:t> </a:t>
            </a:r>
            <a:r>
              <a:rPr lang="en-US" dirty="0" err="1"/>
              <a:t>토양과</a:t>
            </a:r>
            <a:r>
              <a:rPr lang="en-US" dirty="0"/>
              <a:t> 더 </a:t>
            </a:r>
            <a:r>
              <a:rPr lang="en-US" dirty="0" err="1"/>
              <a:t>유사해지는</a:t>
            </a:r>
            <a:r>
              <a:rPr lang="en-US" dirty="0"/>
              <a:t> </a:t>
            </a:r>
            <a:r>
              <a:rPr lang="en-US" dirty="0" err="1"/>
              <a:t>양상이</a:t>
            </a:r>
            <a:r>
              <a:rPr lang="en-US" dirty="0"/>
              <a:t> </a:t>
            </a:r>
            <a:r>
              <a:rPr lang="en-US" dirty="0" err="1"/>
              <a:t>관찰됐습니다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다만</a:t>
            </a:r>
            <a:r>
              <a:rPr lang="en-US" dirty="0"/>
              <a:t> </a:t>
            </a:r>
            <a:r>
              <a:rPr lang="en-US" dirty="0" err="1"/>
              <a:t>환경</a:t>
            </a:r>
            <a:r>
              <a:rPr lang="en-US" dirty="0"/>
              <a:t> </a:t>
            </a:r>
            <a:r>
              <a:rPr lang="en-US" dirty="0" err="1"/>
              <a:t>미생물이</a:t>
            </a:r>
            <a:r>
              <a:rPr lang="en-US" dirty="0"/>
              <a:t> </a:t>
            </a:r>
            <a:r>
              <a:rPr lang="en-US" dirty="0" err="1"/>
              <a:t>인체에</a:t>
            </a:r>
            <a:r>
              <a:rPr lang="en-US" dirty="0"/>
              <a:t> </a:t>
            </a:r>
            <a:r>
              <a:rPr lang="en-US" dirty="0" err="1"/>
              <a:t>장기간</a:t>
            </a:r>
            <a:r>
              <a:rPr lang="en-US" dirty="0"/>
              <a:t> </a:t>
            </a:r>
            <a:r>
              <a:rPr lang="en-US" dirty="0" err="1"/>
              <a:t>정착한다는</a:t>
            </a:r>
            <a:r>
              <a:rPr lang="en-US" dirty="0"/>
              <a:t> </a:t>
            </a:r>
            <a:r>
              <a:rPr lang="en-US" dirty="0" err="1"/>
              <a:t>뜻은</a:t>
            </a:r>
            <a:r>
              <a:rPr lang="en-US" dirty="0"/>
              <a:t> </a:t>
            </a:r>
            <a:r>
              <a:rPr lang="en-US" dirty="0" err="1"/>
              <a:t>아니며</a:t>
            </a:r>
            <a:r>
              <a:rPr lang="en-US" dirty="0"/>
              <a:t>, / </a:t>
            </a:r>
            <a:r>
              <a:rPr lang="en-US" dirty="0" err="1"/>
              <a:t>주변</a:t>
            </a:r>
            <a:r>
              <a:rPr lang="en-US" dirty="0"/>
              <a:t> </a:t>
            </a:r>
            <a:r>
              <a:rPr lang="en-US" dirty="0" err="1"/>
              <a:t>환경의</a:t>
            </a:r>
            <a:r>
              <a:rPr lang="en-US" dirty="0"/>
              <a:t> </a:t>
            </a:r>
            <a:r>
              <a:rPr lang="en-US" dirty="0" err="1"/>
              <a:t>미생물</a:t>
            </a:r>
            <a:r>
              <a:rPr lang="en-US" dirty="0"/>
              <a:t> </a:t>
            </a:r>
            <a:r>
              <a:rPr lang="en-US" dirty="0" err="1"/>
              <a:t>조성이</a:t>
            </a:r>
            <a:r>
              <a:rPr lang="en-US" dirty="0"/>
              <a:t> </a:t>
            </a:r>
            <a:r>
              <a:rPr lang="en-US" dirty="0" err="1"/>
              <a:t>우리가</a:t>
            </a:r>
            <a:r>
              <a:rPr lang="en-US" dirty="0"/>
              <a:t> </a:t>
            </a:r>
            <a:r>
              <a:rPr lang="en-US" dirty="0" err="1"/>
              <a:t>접하는</a:t>
            </a:r>
            <a:r>
              <a:rPr lang="en-US" dirty="0"/>
              <a:t> </a:t>
            </a:r>
            <a:r>
              <a:rPr lang="en-US" dirty="0" err="1"/>
              <a:t>노출</a:t>
            </a:r>
            <a:r>
              <a:rPr lang="en-US" dirty="0"/>
              <a:t> </a:t>
            </a:r>
            <a:r>
              <a:rPr lang="en-US" dirty="0" err="1"/>
              <a:t>패턴에</a:t>
            </a:r>
            <a:r>
              <a:rPr lang="en-US" dirty="0"/>
              <a:t> </a:t>
            </a:r>
            <a:r>
              <a:rPr lang="en-US" dirty="0" err="1"/>
              <a:t>영향을</a:t>
            </a:r>
            <a:r>
              <a:rPr lang="en-US" dirty="0"/>
              <a:t> 줄 수 </a:t>
            </a:r>
            <a:r>
              <a:rPr lang="en-US" dirty="0" err="1"/>
              <a:t>있다는</a:t>
            </a:r>
            <a:r>
              <a:rPr lang="en-US" dirty="0"/>
              <a:t> </a:t>
            </a:r>
            <a:r>
              <a:rPr lang="en-US" dirty="0" err="1"/>
              <a:t>의미입니다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도시</a:t>
            </a:r>
            <a:r>
              <a:rPr lang="en-US" dirty="0"/>
              <a:t> </a:t>
            </a:r>
            <a:r>
              <a:rPr lang="en-US" dirty="0" err="1"/>
              <a:t>안에서도</a:t>
            </a:r>
            <a:r>
              <a:rPr lang="en-US" dirty="0"/>
              <a:t> </a:t>
            </a:r>
            <a:r>
              <a:rPr lang="en-US" dirty="0" err="1"/>
              <a:t>토양이</a:t>
            </a:r>
            <a:r>
              <a:rPr lang="en-US" dirty="0"/>
              <a:t> </a:t>
            </a:r>
            <a:r>
              <a:rPr lang="en-US" dirty="0" err="1"/>
              <a:t>받는</a:t>
            </a:r>
            <a:r>
              <a:rPr lang="en-US" dirty="0"/>
              <a:t> </a:t>
            </a:r>
            <a:r>
              <a:rPr lang="en-US" dirty="0" err="1"/>
              <a:t>선택</a:t>
            </a:r>
            <a:r>
              <a:rPr lang="en-US" dirty="0"/>
              <a:t> </a:t>
            </a:r>
            <a:r>
              <a:rPr lang="en-US" dirty="0" err="1"/>
              <a:t>압력은</a:t>
            </a:r>
            <a:r>
              <a:rPr lang="en-US" dirty="0"/>
              <a:t> </a:t>
            </a:r>
            <a:r>
              <a:rPr lang="en-US" dirty="0" err="1"/>
              <a:t>다릅니다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도로변</a:t>
            </a:r>
            <a:r>
              <a:rPr lang="en-US" dirty="0"/>
              <a:t> </a:t>
            </a:r>
            <a:r>
              <a:rPr lang="en-US" dirty="0" err="1"/>
              <a:t>토양은</a:t>
            </a:r>
            <a:r>
              <a:rPr lang="en-US" dirty="0"/>
              <a:t> </a:t>
            </a:r>
            <a:r>
              <a:rPr lang="en-US" dirty="0" err="1"/>
              <a:t>차량</a:t>
            </a:r>
            <a:r>
              <a:rPr lang="en-US" dirty="0"/>
              <a:t> </a:t>
            </a:r>
            <a:r>
              <a:rPr lang="en-US" dirty="0" err="1"/>
              <a:t>배기가스와</a:t>
            </a:r>
            <a:r>
              <a:rPr lang="en-US" dirty="0"/>
              <a:t> </a:t>
            </a:r>
            <a:r>
              <a:rPr lang="en-US" dirty="0" err="1"/>
              <a:t>도로</a:t>
            </a:r>
            <a:r>
              <a:rPr lang="en-US" dirty="0"/>
              <a:t> </a:t>
            </a:r>
            <a:r>
              <a:rPr lang="en-US" dirty="0" err="1"/>
              <a:t>먼지에서</a:t>
            </a:r>
            <a:r>
              <a:rPr lang="en-US" dirty="0"/>
              <a:t> </a:t>
            </a:r>
            <a:r>
              <a:rPr lang="en-US" dirty="0" err="1"/>
              <a:t>유래한</a:t>
            </a:r>
            <a:endParaRPr lang="en-US" dirty="0"/>
          </a:p>
          <a:p>
            <a:r>
              <a:rPr lang="en-US" dirty="0" err="1"/>
              <a:t>중금속</a:t>
            </a:r>
            <a:r>
              <a:rPr lang="en-US" dirty="0"/>
              <a:t>, / </a:t>
            </a:r>
            <a:r>
              <a:rPr lang="en-US" dirty="0" err="1"/>
              <a:t>석유계</a:t>
            </a:r>
            <a:r>
              <a:rPr lang="en-US" dirty="0"/>
              <a:t> </a:t>
            </a:r>
            <a:r>
              <a:rPr lang="en-US" dirty="0" err="1"/>
              <a:t>탄화수소</a:t>
            </a:r>
            <a:r>
              <a:rPr lang="en-US" dirty="0"/>
              <a:t>, </a:t>
            </a:r>
            <a:r>
              <a:rPr lang="en-US" dirty="0" err="1"/>
              <a:t>다환</a:t>
            </a:r>
            <a:r>
              <a:rPr lang="en-US" dirty="0"/>
              <a:t> </a:t>
            </a:r>
            <a:r>
              <a:rPr lang="en-US" dirty="0" err="1"/>
              <a:t>방향족</a:t>
            </a:r>
            <a:r>
              <a:rPr lang="en-US" dirty="0"/>
              <a:t> </a:t>
            </a:r>
            <a:r>
              <a:rPr lang="en-US" dirty="0" err="1"/>
              <a:t>탄화수소에</a:t>
            </a:r>
            <a:r>
              <a:rPr lang="en-US" dirty="0"/>
              <a:t> </a:t>
            </a:r>
            <a:r>
              <a:rPr lang="en-US" dirty="0" err="1"/>
              <a:t>노출될</a:t>
            </a:r>
            <a:r>
              <a:rPr lang="en-US" dirty="0"/>
              <a:t> </a:t>
            </a:r>
            <a:r>
              <a:rPr lang="en-US" dirty="0" err="1"/>
              <a:t>가능성이</a:t>
            </a:r>
            <a:r>
              <a:rPr lang="en-US" dirty="0"/>
              <a:t> </a:t>
            </a:r>
            <a:r>
              <a:rPr lang="en-US" dirty="0" err="1"/>
              <a:t>큽니다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반면</a:t>
            </a:r>
            <a:r>
              <a:rPr lang="en-US" dirty="0"/>
              <a:t> </a:t>
            </a:r>
            <a:r>
              <a:rPr lang="en-US" dirty="0" err="1"/>
              <a:t>공원</a:t>
            </a:r>
            <a:r>
              <a:rPr lang="en-US" dirty="0"/>
              <a:t> </a:t>
            </a:r>
            <a:r>
              <a:rPr lang="en-US" dirty="0" err="1"/>
              <a:t>토양은</a:t>
            </a:r>
            <a:r>
              <a:rPr lang="en-US" dirty="0"/>
              <a:t> / </a:t>
            </a:r>
            <a:r>
              <a:rPr lang="en-US" dirty="0" err="1"/>
              <a:t>차량에</a:t>
            </a:r>
            <a:r>
              <a:rPr lang="en-US" dirty="0"/>
              <a:t> </a:t>
            </a:r>
            <a:r>
              <a:rPr lang="en-US" dirty="0" err="1"/>
              <a:t>직접</a:t>
            </a:r>
            <a:r>
              <a:rPr lang="en-US" dirty="0"/>
              <a:t> </a:t>
            </a:r>
            <a:r>
              <a:rPr lang="en-US" dirty="0" err="1"/>
              <a:t>받는</a:t>
            </a:r>
            <a:r>
              <a:rPr lang="en-US" dirty="0"/>
              <a:t> </a:t>
            </a:r>
            <a:r>
              <a:rPr lang="en-US" dirty="0" err="1"/>
              <a:t>영향이</a:t>
            </a:r>
            <a:r>
              <a:rPr lang="en-US" dirty="0"/>
              <a:t> </a:t>
            </a:r>
            <a:r>
              <a:rPr lang="en-US" dirty="0" err="1"/>
              <a:t>비교적</a:t>
            </a:r>
            <a:r>
              <a:rPr lang="en-US" dirty="0"/>
              <a:t> </a:t>
            </a:r>
            <a:r>
              <a:rPr lang="en-US" dirty="0" err="1"/>
              <a:t>적고</a:t>
            </a:r>
            <a:r>
              <a:rPr lang="en-US" dirty="0"/>
              <a:t>, / </a:t>
            </a:r>
            <a:r>
              <a:rPr lang="en-US" dirty="0" err="1"/>
              <a:t>식생과</a:t>
            </a:r>
            <a:r>
              <a:rPr lang="en-US" dirty="0"/>
              <a:t> </a:t>
            </a:r>
            <a:r>
              <a:rPr lang="en-US" dirty="0" err="1"/>
              <a:t>녹지</a:t>
            </a:r>
            <a:r>
              <a:rPr lang="en-US" dirty="0"/>
              <a:t> </a:t>
            </a:r>
            <a:r>
              <a:rPr lang="en-US" dirty="0" err="1"/>
              <a:t>관리의</a:t>
            </a:r>
            <a:r>
              <a:rPr lang="en-US" dirty="0"/>
              <a:t> </a:t>
            </a:r>
            <a:r>
              <a:rPr lang="en-US" dirty="0" err="1"/>
              <a:t>영향을</a:t>
            </a:r>
            <a:r>
              <a:rPr lang="en-US" dirty="0"/>
              <a:t> </a:t>
            </a:r>
            <a:r>
              <a:rPr lang="en-US" dirty="0" err="1"/>
              <a:t>받습니다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저희는</a:t>
            </a:r>
            <a:r>
              <a:rPr lang="en-US" dirty="0"/>
              <a:t> 이 </a:t>
            </a:r>
            <a:r>
              <a:rPr lang="en-US" dirty="0" err="1"/>
              <a:t>차이가</a:t>
            </a:r>
            <a:r>
              <a:rPr lang="en-US" dirty="0"/>
              <a:t> </a:t>
            </a:r>
            <a:r>
              <a:rPr lang="en-US" dirty="0" err="1"/>
              <a:t>세균</a:t>
            </a:r>
            <a:r>
              <a:rPr lang="en-US" dirty="0"/>
              <a:t> </a:t>
            </a:r>
            <a:r>
              <a:rPr lang="en-US" dirty="0" err="1"/>
              <a:t>군집의</a:t>
            </a:r>
            <a:r>
              <a:rPr lang="en-US" dirty="0"/>
              <a:t> </a:t>
            </a:r>
            <a:r>
              <a:rPr lang="en-US" dirty="0" err="1"/>
              <a:t>다양성과</a:t>
            </a:r>
            <a:r>
              <a:rPr lang="en-US" dirty="0"/>
              <a:t> </a:t>
            </a:r>
            <a:r>
              <a:rPr lang="en-US" dirty="0" err="1"/>
              <a:t>조성에</a:t>
            </a:r>
            <a:r>
              <a:rPr lang="en-US" dirty="0"/>
              <a:t> </a:t>
            </a:r>
            <a:r>
              <a:rPr lang="en-US" dirty="0" err="1"/>
              <a:t>반영되는지</a:t>
            </a:r>
            <a:r>
              <a:rPr lang="en-US" dirty="0"/>
              <a:t> </a:t>
            </a:r>
            <a:r>
              <a:rPr lang="en-US" dirty="0" err="1"/>
              <a:t>비교하고자</a:t>
            </a:r>
            <a:r>
              <a:rPr lang="en-US" dirty="0"/>
              <a:t> </a:t>
            </a:r>
            <a:r>
              <a:rPr lang="en-US" dirty="0" err="1"/>
              <a:t>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토양은</a:t>
            </a:r>
            <a:r>
              <a:rPr lang="en-US" dirty="0"/>
              <a:t> </a:t>
            </a:r>
            <a:r>
              <a:rPr lang="en-US" dirty="0" err="1"/>
              <a:t>영양</a:t>
            </a:r>
            <a:r>
              <a:rPr lang="en-US" dirty="0"/>
              <a:t> </a:t>
            </a:r>
            <a:r>
              <a:rPr lang="en-US" dirty="0" err="1"/>
              <a:t>염류</a:t>
            </a:r>
            <a:r>
              <a:rPr lang="en-US" dirty="0"/>
              <a:t> </a:t>
            </a:r>
            <a:r>
              <a:rPr lang="en-US" dirty="0" err="1"/>
              <a:t>순환과</a:t>
            </a:r>
            <a:r>
              <a:rPr lang="en-US" dirty="0"/>
              <a:t> </a:t>
            </a:r>
            <a:r>
              <a:rPr lang="en-US" dirty="0" err="1"/>
              <a:t>생태계</a:t>
            </a:r>
            <a:r>
              <a:rPr lang="en-US" dirty="0"/>
              <a:t> </a:t>
            </a:r>
            <a:r>
              <a:rPr lang="en-US" dirty="0" err="1"/>
              <a:t>기능을</a:t>
            </a:r>
            <a:r>
              <a:rPr lang="en-US" dirty="0"/>
              <a:t> </a:t>
            </a:r>
            <a:r>
              <a:rPr lang="en-US" dirty="0" err="1"/>
              <a:t>담당하고</a:t>
            </a:r>
            <a:r>
              <a:rPr lang="en-US" dirty="0"/>
              <a:t>, / </a:t>
            </a:r>
            <a:r>
              <a:rPr lang="en-US" dirty="0" err="1"/>
              <a:t>도시에서는</a:t>
            </a:r>
            <a:r>
              <a:rPr lang="en-US" dirty="0"/>
              <a:t> </a:t>
            </a:r>
            <a:r>
              <a:rPr lang="en-US" dirty="0" err="1"/>
              <a:t>미기후</a:t>
            </a:r>
            <a:r>
              <a:rPr lang="en-US" dirty="0"/>
              <a:t> </a:t>
            </a:r>
            <a:r>
              <a:rPr lang="en-US" dirty="0" err="1"/>
              <a:t>조절과</a:t>
            </a:r>
            <a:r>
              <a:rPr lang="en-US" dirty="0"/>
              <a:t> </a:t>
            </a:r>
            <a:r>
              <a:rPr lang="en-US" dirty="0" err="1"/>
              <a:t>탄소</a:t>
            </a:r>
            <a:r>
              <a:rPr lang="en-US" dirty="0"/>
              <a:t> </a:t>
            </a:r>
            <a:r>
              <a:rPr lang="en-US" dirty="0" err="1"/>
              <a:t>격리</a:t>
            </a:r>
            <a:r>
              <a:rPr lang="en-US" dirty="0"/>
              <a:t>, </a:t>
            </a:r>
            <a:r>
              <a:rPr lang="en-US" dirty="0" err="1"/>
              <a:t>빗물</a:t>
            </a:r>
            <a:r>
              <a:rPr lang="en-US" dirty="0"/>
              <a:t> </a:t>
            </a:r>
            <a:r>
              <a:rPr lang="en-US" dirty="0" err="1"/>
              <a:t>관리에도</a:t>
            </a:r>
            <a:r>
              <a:rPr lang="en-US" dirty="0"/>
              <a:t> </a:t>
            </a:r>
            <a:r>
              <a:rPr lang="en-US" dirty="0" err="1"/>
              <a:t>기여합니다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그러나</a:t>
            </a:r>
            <a:r>
              <a:rPr lang="en-US" dirty="0"/>
              <a:t> </a:t>
            </a:r>
            <a:r>
              <a:rPr lang="en-US" dirty="0" err="1"/>
              <a:t>도시</a:t>
            </a:r>
            <a:r>
              <a:rPr lang="en-US" dirty="0"/>
              <a:t> </a:t>
            </a:r>
            <a:r>
              <a:rPr lang="en-US" dirty="0" err="1"/>
              <a:t>토양</a:t>
            </a:r>
            <a:r>
              <a:rPr lang="en-US" dirty="0"/>
              <a:t> </a:t>
            </a:r>
            <a:r>
              <a:rPr lang="en-US" dirty="0" err="1"/>
              <a:t>미생물</a:t>
            </a:r>
            <a:r>
              <a:rPr lang="en-US" dirty="0"/>
              <a:t> </a:t>
            </a:r>
            <a:r>
              <a:rPr lang="en-US" dirty="0" err="1"/>
              <a:t>연구는</a:t>
            </a:r>
            <a:r>
              <a:rPr lang="en-US" dirty="0"/>
              <a:t> </a:t>
            </a:r>
            <a:r>
              <a:rPr lang="en-US" dirty="0" err="1"/>
              <a:t>비교적</a:t>
            </a:r>
            <a:r>
              <a:rPr lang="en-US" dirty="0"/>
              <a:t> </a:t>
            </a:r>
            <a:r>
              <a:rPr lang="en-US" dirty="0" err="1"/>
              <a:t>산발적이고</a:t>
            </a:r>
            <a:r>
              <a:rPr lang="en-US" dirty="0"/>
              <a:t>, / </a:t>
            </a:r>
            <a:r>
              <a:rPr lang="en-US" dirty="0" err="1"/>
              <a:t>세균</a:t>
            </a:r>
            <a:r>
              <a:rPr lang="en-US" dirty="0"/>
              <a:t> </a:t>
            </a:r>
            <a:r>
              <a:rPr lang="en-US" dirty="0" err="1"/>
              <a:t>군집의</a:t>
            </a:r>
            <a:r>
              <a:rPr lang="en-US" dirty="0"/>
              <a:t> </a:t>
            </a:r>
            <a:r>
              <a:rPr lang="en-US" dirty="0" err="1"/>
              <a:t>복잡성과</a:t>
            </a:r>
            <a:r>
              <a:rPr lang="en-US" dirty="0"/>
              <a:t> </a:t>
            </a:r>
            <a:r>
              <a:rPr lang="en-US" dirty="0" err="1"/>
              <a:t>기능적</a:t>
            </a:r>
            <a:r>
              <a:rPr lang="en-US" dirty="0"/>
              <a:t> </a:t>
            </a:r>
            <a:r>
              <a:rPr lang="en-US" dirty="0" err="1"/>
              <a:t>잠재력은</a:t>
            </a:r>
            <a:r>
              <a:rPr lang="en-US" dirty="0"/>
              <a:t> </a:t>
            </a:r>
            <a:r>
              <a:rPr lang="en-US" dirty="0" err="1"/>
              <a:t>충분히</a:t>
            </a:r>
            <a:r>
              <a:rPr lang="en-US" dirty="0"/>
              <a:t> </a:t>
            </a:r>
            <a:r>
              <a:rPr lang="en-US" dirty="0" err="1"/>
              <a:t>규명되지</a:t>
            </a:r>
            <a:r>
              <a:rPr lang="en-US" dirty="0"/>
              <a:t> </a:t>
            </a:r>
            <a:r>
              <a:rPr lang="en-US" dirty="0" err="1"/>
              <a:t>않았습니다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생물학적</a:t>
            </a:r>
            <a:r>
              <a:rPr lang="en-US" dirty="0"/>
              <a:t> </a:t>
            </a:r>
            <a:r>
              <a:rPr lang="en-US" dirty="0" err="1"/>
              <a:t>복잡성과</a:t>
            </a:r>
            <a:r>
              <a:rPr lang="en-US" dirty="0"/>
              <a:t> </a:t>
            </a:r>
            <a:r>
              <a:rPr lang="en-US" dirty="0" err="1"/>
              <a:t>방대한</a:t>
            </a:r>
            <a:r>
              <a:rPr lang="en-US" dirty="0"/>
              <a:t> </a:t>
            </a:r>
            <a:r>
              <a:rPr lang="en-US" dirty="0" err="1"/>
              <a:t>탐색</a:t>
            </a:r>
            <a:r>
              <a:rPr lang="en-US" dirty="0"/>
              <a:t> </a:t>
            </a:r>
            <a:r>
              <a:rPr lang="en-US" dirty="0" err="1"/>
              <a:t>공간</a:t>
            </a:r>
            <a:r>
              <a:rPr lang="en-US" dirty="0"/>
              <a:t> </a:t>
            </a:r>
            <a:r>
              <a:rPr lang="en-US" dirty="0" err="1"/>
              <a:t>때문에</a:t>
            </a:r>
            <a:r>
              <a:rPr lang="en-US" dirty="0"/>
              <a:t> </a:t>
            </a:r>
            <a:r>
              <a:rPr lang="en-US" dirty="0" err="1"/>
              <a:t>기존</a:t>
            </a:r>
            <a:r>
              <a:rPr lang="en-US" dirty="0"/>
              <a:t> </a:t>
            </a:r>
            <a:r>
              <a:rPr lang="en-US" dirty="0" err="1"/>
              <a:t>방식만으로는</a:t>
            </a:r>
            <a:r>
              <a:rPr lang="en-US" dirty="0"/>
              <a:t> </a:t>
            </a:r>
            <a:r>
              <a:rPr lang="en-US" dirty="0" err="1"/>
              <a:t>많은</a:t>
            </a:r>
            <a:r>
              <a:rPr lang="en-US" dirty="0"/>
              <a:t> </a:t>
            </a:r>
            <a:r>
              <a:rPr lang="en-US" dirty="0" err="1"/>
              <a:t>시간과</a:t>
            </a:r>
            <a:r>
              <a:rPr lang="en-US" dirty="0"/>
              <a:t> </a:t>
            </a:r>
            <a:r>
              <a:rPr lang="en-US" dirty="0" err="1"/>
              <a:t>자원이</a:t>
            </a:r>
            <a:r>
              <a:rPr lang="en-US" dirty="0"/>
              <a:t> </a:t>
            </a:r>
            <a:r>
              <a:rPr lang="en-US" dirty="0" err="1"/>
              <a:t>필요합니다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따라서</a:t>
            </a:r>
            <a:r>
              <a:rPr lang="en-US" dirty="0"/>
              <a:t> </a:t>
            </a:r>
            <a:r>
              <a:rPr lang="en-US" dirty="0" err="1"/>
              <a:t>저희는</a:t>
            </a:r>
            <a:r>
              <a:rPr lang="en-US" dirty="0"/>
              <a:t> </a:t>
            </a:r>
            <a:r>
              <a:rPr lang="en-US" dirty="0" err="1"/>
              <a:t>도시</a:t>
            </a:r>
            <a:r>
              <a:rPr lang="en-US" dirty="0"/>
              <a:t> </a:t>
            </a:r>
            <a:r>
              <a:rPr lang="en-US" dirty="0" err="1"/>
              <a:t>토양의</a:t>
            </a:r>
            <a:r>
              <a:rPr lang="en-US" dirty="0"/>
              <a:t> </a:t>
            </a:r>
            <a:r>
              <a:rPr lang="en-US" dirty="0" err="1"/>
              <a:t>복잡한</a:t>
            </a:r>
            <a:r>
              <a:rPr lang="en-US" dirty="0"/>
              <a:t> </a:t>
            </a:r>
            <a:r>
              <a:rPr lang="en-US" dirty="0" err="1"/>
              <a:t>세균</a:t>
            </a:r>
            <a:r>
              <a:rPr lang="en-US" dirty="0"/>
              <a:t> </a:t>
            </a:r>
            <a:r>
              <a:rPr lang="en-US" dirty="0" err="1"/>
              <a:t>군집을</a:t>
            </a:r>
            <a:r>
              <a:rPr lang="en-US" dirty="0"/>
              <a:t>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없이</a:t>
            </a:r>
            <a:r>
              <a:rPr lang="en-US" dirty="0"/>
              <a:t> 한 </a:t>
            </a:r>
            <a:r>
              <a:rPr lang="en-US" dirty="0" err="1"/>
              <a:t>번에</a:t>
            </a:r>
            <a:r>
              <a:rPr lang="en-US" dirty="0"/>
              <a:t> </a:t>
            </a:r>
            <a:r>
              <a:rPr lang="en-US" dirty="0" err="1"/>
              <a:t>비교하기</a:t>
            </a:r>
            <a:r>
              <a:rPr lang="en-US" dirty="0"/>
              <a:t> </a:t>
            </a:r>
            <a:r>
              <a:rPr lang="en-US" dirty="0" err="1"/>
              <a:t>위해</a:t>
            </a:r>
            <a:r>
              <a:rPr lang="en-US" dirty="0"/>
              <a:t> NGS </a:t>
            </a:r>
            <a:r>
              <a:rPr lang="en-US" dirty="0" err="1"/>
              <a:t>기반</a:t>
            </a:r>
            <a:r>
              <a:rPr lang="en-US" dirty="0"/>
              <a:t> 16S rRNA </a:t>
            </a:r>
            <a:r>
              <a:rPr lang="en-US" dirty="0" err="1"/>
              <a:t>분석을</a:t>
            </a:r>
            <a:r>
              <a:rPr lang="en-US" dirty="0"/>
              <a:t> </a:t>
            </a:r>
            <a:r>
              <a:rPr lang="en-US" dirty="0" err="1"/>
              <a:t>사용했습니다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저희가</a:t>
            </a:r>
            <a:r>
              <a:rPr lang="en-US" dirty="0"/>
              <a:t> </a:t>
            </a:r>
            <a:r>
              <a:rPr lang="en-US" dirty="0" err="1"/>
              <a:t>사용한</a:t>
            </a:r>
            <a:r>
              <a:rPr lang="en-US" dirty="0"/>
              <a:t> </a:t>
            </a:r>
            <a:r>
              <a:rPr lang="en-US" dirty="0" err="1"/>
              <a:t>방법을</a:t>
            </a:r>
            <a:r>
              <a:rPr lang="en-US" dirty="0"/>
              <a:t> </a:t>
            </a:r>
            <a:r>
              <a:rPr lang="en-US" dirty="0" err="1"/>
              <a:t>이해하려면</a:t>
            </a:r>
            <a:r>
              <a:rPr lang="en-US" dirty="0"/>
              <a:t> </a:t>
            </a:r>
            <a:r>
              <a:rPr lang="en-US" dirty="0" err="1"/>
              <a:t>먼저</a:t>
            </a:r>
            <a:r>
              <a:rPr lang="en-US" dirty="0"/>
              <a:t> </a:t>
            </a:r>
            <a:r>
              <a:rPr lang="en-US" dirty="0" err="1"/>
              <a:t>NGS라는</a:t>
            </a:r>
            <a:r>
              <a:rPr lang="en-US" dirty="0"/>
              <a:t> </a:t>
            </a:r>
            <a:r>
              <a:rPr lang="en-US" dirty="0" err="1"/>
              <a:t>기술과</a:t>
            </a:r>
            <a:r>
              <a:rPr lang="en-US" dirty="0"/>
              <a:t> 16S </a:t>
            </a:r>
            <a:r>
              <a:rPr lang="en-US" dirty="0" err="1"/>
              <a:t>앰플리콘</a:t>
            </a:r>
            <a:r>
              <a:rPr lang="en-US" dirty="0"/>
              <a:t> </a:t>
            </a:r>
            <a:r>
              <a:rPr lang="en-US" dirty="0" err="1"/>
              <a:t>분석을</a:t>
            </a:r>
            <a:r>
              <a:rPr lang="en-US" dirty="0"/>
              <a:t> </a:t>
            </a:r>
            <a:r>
              <a:rPr lang="en-US" dirty="0" err="1"/>
              <a:t>구분할</a:t>
            </a:r>
            <a:r>
              <a:rPr lang="en-US" dirty="0"/>
              <a:t> </a:t>
            </a:r>
            <a:r>
              <a:rPr lang="en-US" dirty="0" err="1"/>
              <a:t>필요가</a:t>
            </a:r>
            <a:r>
              <a:rPr lang="en-US" dirty="0"/>
              <a:t> </a:t>
            </a:r>
            <a:r>
              <a:rPr lang="en-US" dirty="0" err="1"/>
              <a:t>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NGS는</a:t>
            </a:r>
            <a:r>
              <a:rPr lang="en-US" dirty="0"/>
              <a:t> </a:t>
            </a:r>
            <a:r>
              <a:rPr lang="en-US" dirty="0" err="1"/>
              <a:t>수많은</a:t>
            </a:r>
            <a:r>
              <a:rPr lang="en-US" dirty="0"/>
              <a:t> DNA </a:t>
            </a:r>
            <a:r>
              <a:rPr lang="en-US" dirty="0" err="1"/>
              <a:t>조각을</a:t>
            </a:r>
            <a:r>
              <a:rPr lang="en-US" dirty="0"/>
              <a:t> </a:t>
            </a:r>
            <a:r>
              <a:rPr lang="en-US" dirty="0" err="1"/>
              <a:t>동시에</a:t>
            </a:r>
            <a:r>
              <a:rPr lang="en-US" dirty="0"/>
              <a:t> </a:t>
            </a:r>
            <a:r>
              <a:rPr lang="en-US" dirty="0" err="1"/>
              <a:t>읽는</a:t>
            </a:r>
            <a:r>
              <a:rPr lang="en-US" dirty="0"/>
              <a:t> </a:t>
            </a:r>
            <a:r>
              <a:rPr lang="en-US" dirty="0" err="1"/>
              <a:t>시퀀싱</a:t>
            </a:r>
            <a:r>
              <a:rPr lang="en-US" dirty="0"/>
              <a:t> </a:t>
            </a:r>
            <a:r>
              <a:rPr lang="en-US" dirty="0" err="1"/>
              <a:t>기술이고</a:t>
            </a:r>
            <a:r>
              <a:rPr lang="en-US" dirty="0"/>
              <a:t>, / 16S </a:t>
            </a:r>
            <a:r>
              <a:rPr lang="en-US" dirty="0" err="1"/>
              <a:t>앰플리콘은</a:t>
            </a:r>
            <a:r>
              <a:rPr lang="en-US" dirty="0"/>
              <a:t> 그 </a:t>
            </a:r>
            <a:r>
              <a:rPr lang="en-US" dirty="0" err="1"/>
              <a:t>기술을</a:t>
            </a:r>
            <a:r>
              <a:rPr lang="en-US" dirty="0"/>
              <a:t> </a:t>
            </a:r>
            <a:r>
              <a:rPr lang="en-US" dirty="0" err="1"/>
              <a:t>이용하는</a:t>
            </a:r>
            <a:r>
              <a:rPr lang="en-US" dirty="0"/>
              <a:t> </a:t>
            </a:r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전략입니다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저희는</a:t>
            </a:r>
            <a:r>
              <a:rPr lang="en-US" dirty="0"/>
              <a:t> </a:t>
            </a:r>
            <a:r>
              <a:rPr lang="en-US" dirty="0" err="1"/>
              <a:t>개별</a:t>
            </a:r>
            <a:r>
              <a:rPr lang="en-US" dirty="0"/>
              <a:t> </a:t>
            </a:r>
            <a:r>
              <a:rPr lang="en-US" dirty="0" err="1"/>
              <a:t>미생물의</a:t>
            </a:r>
            <a:r>
              <a:rPr lang="en-US" dirty="0"/>
              <a:t> </a:t>
            </a:r>
            <a:r>
              <a:rPr lang="en-US" dirty="0" err="1"/>
              <a:t>전체</a:t>
            </a:r>
            <a:r>
              <a:rPr lang="en-US" dirty="0"/>
              <a:t> </a:t>
            </a:r>
            <a:r>
              <a:rPr lang="en-US" dirty="0" err="1"/>
              <a:t>유전체를</a:t>
            </a:r>
            <a:r>
              <a:rPr lang="en-US" dirty="0"/>
              <a:t> </a:t>
            </a:r>
            <a:r>
              <a:rPr lang="en-US" dirty="0" err="1"/>
              <a:t>읽는</a:t>
            </a:r>
            <a:r>
              <a:rPr lang="en-US" dirty="0"/>
              <a:t> 홀 </a:t>
            </a:r>
            <a:r>
              <a:rPr lang="en-US" dirty="0" err="1"/>
              <a:t>지놈</a:t>
            </a:r>
            <a:r>
              <a:rPr lang="en-US" dirty="0"/>
              <a:t> </a:t>
            </a:r>
            <a:r>
              <a:rPr lang="en-US" dirty="0" err="1"/>
              <a:t>시퀀싱이나</a:t>
            </a:r>
            <a:r>
              <a:rPr lang="en-US" dirty="0"/>
              <a:t> </a:t>
            </a:r>
            <a:r>
              <a:rPr lang="en-US" dirty="0" err="1"/>
              <a:t>토양</a:t>
            </a:r>
            <a:r>
              <a:rPr lang="en-US" dirty="0"/>
              <a:t> DNA </a:t>
            </a:r>
            <a:r>
              <a:rPr lang="en-US" dirty="0" err="1"/>
              <a:t>전체를</a:t>
            </a:r>
            <a:r>
              <a:rPr lang="en-US" dirty="0"/>
              <a:t> </a:t>
            </a:r>
            <a:r>
              <a:rPr lang="en-US" dirty="0" err="1"/>
              <a:t>읽는</a:t>
            </a:r>
            <a:r>
              <a:rPr lang="en-US" dirty="0"/>
              <a:t> </a:t>
            </a:r>
            <a:r>
              <a:rPr lang="en-US" dirty="0" err="1"/>
              <a:t>샷건</a:t>
            </a:r>
            <a:r>
              <a:rPr lang="en-US" dirty="0"/>
              <a:t> </a:t>
            </a:r>
            <a:r>
              <a:rPr lang="en-US" dirty="0" err="1"/>
              <a:t>메타지놈</a:t>
            </a:r>
            <a:r>
              <a:rPr lang="en-US" dirty="0"/>
              <a:t> </a:t>
            </a:r>
            <a:r>
              <a:rPr lang="en-US" dirty="0" err="1"/>
              <a:t>분석이</a:t>
            </a:r>
            <a:r>
              <a:rPr lang="en-US" dirty="0"/>
              <a:t> </a:t>
            </a:r>
            <a:r>
              <a:rPr lang="en-US" dirty="0" err="1"/>
              <a:t>아니라</a:t>
            </a:r>
            <a:r>
              <a:rPr lang="en-US" dirty="0"/>
              <a:t>, / </a:t>
            </a:r>
            <a:r>
              <a:rPr lang="en-US" dirty="0" err="1"/>
              <a:t>세균에</a:t>
            </a:r>
            <a:r>
              <a:rPr lang="en-US" dirty="0"/>
              <a:t> </a:t>
            </a:r>
            <a:r>
              <a:rPr lang="en-US" dirty="0" err="1"/>
              <a:t>공통으로</a:t>
            </a:r>
            <a:r>
              <a:rPr lang="en-US" dirty="0"/>
              <a:t> </a:t>
            </a:r>
            <a:r>
              <a:rPr lang="en-US" dirty="0" err="1"/>
              <a:t>존재하는</a:t>
            </a:r>
            <a:r>
              <a:rPr lang="en-US" dirty="0"/>
              <a:t> 16S rRNA </a:t>
            </a:r>
            <a:r>
              <a:rPr lang="en-US" dirty="0" err="1"/>
              <a:t>유전자의</a:t>
            </a:r>
            <a:r>
              <a:rPr lang="en-US" dirty="0"/>
              <a:t> V4 </a:t>
            </a:r>
            <a:r>
              <a:rPr lang="en-US" dirty="0" err="1"/>
              <a:t>영역을</a:t>
            </a:r>
            <a:r>
              <a:rPr lang="en-US" dirty="0"/>
              <a:t> </a:t>
            </a:r>
            <a:r>
              <a:rPr lang="en-US" dirty="0" err="1"/>
              <a:t>PCR로</a:t>
            </a:r>
            <a:r>
              <a:rPr lang="en-US" dirty="0"/>
              <a:t> </a:t>
            </a:r>
            <a:r>
              <a:rPr lang="en-US" dirty="0" err="1"/>
              <a:t>증폭했습니다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각 </a:t>
            </a:r>
            <a:r>
              <a:rPr lang="en-US" dirty="0" err="1"/>
              <a:t>시료에는</a:t>
            </a:r>
            <a:r>
              <a:rPr lang="en-US" dirty="0"/>
              <a:t> </a:t>
            </a:r>
            <a:r>
              <a:rPr lang="en-US" dirty="0" err="1"/>
              <a:t>고유</a:t>
            </a:r>
            <a:r>
              <a:rPr lang="en-US" dirty="0"/>
              <a:t> </a:t>
            </a:r>
            <a:r>
              <a:rPr lang="en-US" dirty="0" err="1"/>
              <a:t>인덱스를</a:t>
            </a:r>
            <a:r>
              <a:rPr lang="en-US" dirty="0"/>
              <a:t> </a:t>
            </a:r>
            <a:r>
              <a:rPr lang="en-US" dirty="0" err="1"/>
              <a:t>붙여</a:t>
            </a:r>
            <a:r>
              <a:rPr lang="en-US" dirty="0"/>
              <a:t> </a:t>
            </a:r>
            <a:r>
              <a:rPr lang="en-US" dirty="0" err="1"/>
              <a:t>함께</a:t>
            </a:r>
            <a:r>
              <a:rPr lang="en-US" dirty="0"/>
              <a:t> </a:t>
            </a:r>
            <a:r>
              <a:rPr lang="en-US" dirty="0" err="1"/>
              <a:t>시퀀싱한</a:t>
            </a:r>
            <a:r>
              <a:rPr lang="en-US" dirty="0"/>
              <a:t> 뒤, </a:t>
            </a:r>
            <a:r>
              <a:rPr lang="en-US" dirty="0" err="1"/>
              <a:t>다시</a:t>
            </a:r>
            <a:r>
              <a:rPr lang="en-US" dirty="0"/>
              <a:t> </a:t>
            </a:r>
            <a:r>
              <a:rPr lang="en-US" dirty="0" err="1"/>
              <a:t>시료별로</a:t>
            </a:r>
            <a:r>
              <a:rPr lang="en-US" dirty="0"/>
              <a:t> </a:t>
            </a:r>
            <a:r>
              <a:rPr lang="en-US" dirty="0" err="1"/>
              <a:t>분리했습니다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이를</a:t>
            </a:r>
            <a:r>
              <a:rPr lang="en-US" dirty="0"/>
              <a:t> </a:t>
            </a:r>
            <a:r>
              <a:rPr lang="en-US" dirty="0" err="1"/>
              <a:t>통해</a:t>
            </a:r>
            <a:r>
              <a:rPr lang="en-US" dirty="0"/>
              <a:t>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없이</a:t>
            </a:r>
            <a:r>
              <a:rPr lang="en-US" dirty="0"/>
              <a:t> </a:t>
            </a:r>
            <a:r>
              <a:rPr lang="en-US" dirty="0" err="1"/>
              <a:t>서른두개</a:t>
            </a:r>
            <a:r>
              <a:rPr lang="en-US" dirty="0"/>
              <a:t> </a:t>
            </a:r>
            <a:r>
              <a:rPr lang="en-US" dirty="0" err="1"/>
              <a:t>토양</a:t>
            </a:r>
            <a:r>
              <a:rPr lang="en-US" dirty="0"/>
              <a:t> </a:t>
            </a:r>
            <a:r>
              <a:rPr lang="en-US" dirty="0" err="1"/>
              <a:t>시료의</a:t>
            </a:r>
            <a:r>
              <a:rPr lang="en-US" dirty="0"/>
              <a:t> </a:t>
            </a:r>
            <a:r>
              <a:rPr lang="en-US" dirty="0" err="1"/>
              <a:t>세균</a:t>
            </a:r>
            <a:r>
              <a:rPr lang="en-US" dirty="0"/>
              <a:t> </a:t>
            </a:r>
            <a:r>
              <a:rPr lang="en-US" dirty="0" err="1"/>
              <a:t>군집을</a:t>
            </a:r>
            <a:r>
              <a:rPr lang="en-US" dirty="0"/>
              <a:t> </a:t>
            </a:r>
            <a:r>
              <a:rPr lang="en-US" dirty="0" err="1"/>
              <a:t>비교할</a:t>
            </a:r>
            <a:r>
              <a:rPr lang="en-US" dirty="0"/>
              <a:t> 수 </a:t>
            </a:r>
            <a:r>
              <a:rPr lang="en-US" dirty="0" err="1"/>
              <a:t>있었습니다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NGS </a:t>
            </a:r>
            <a:r>
              <a:rPr lang="en-US" dirty="0" err="1"/>
              <a:t>프로파일링을</a:t>
            </a:r>
            <a:r>
              <a:rPr lang="en-US" dirty="0"/>
              <a:t> </a:t>
            </a:r>
            <a:r>
              <a:rPr lang="en-US" dirty="0" err="1"/>
              <a:t>통해</a:t>
            </a:r>
            <a:r>
              <a:rPr lang="en-US" dirty="0"/>
              <a:t> </a:t>
            </a:r>
            <a:r>
              <a:rPr lang="en-US" dirty="0" err="1"/>
              <a:t>유용한</a:t>
            </a:r>
            <a:r>
              <a:rPr lang="en-US" dirty="0"/>
              <a:t> </a:t>
            </a:r>
            <a:r>
              <a:rPr lang="en-US" dirty="0" err="1"/>
              <a:t>토양</a:t>
            </a:r>
            <a:r>
              <a:rPr lang="en-US" dirty="0"/>
              <a:t> </a:t>
            </a:r>
            <a:r>
              <a:rPr lang="en-US" dirty="0" err="1"/>
              <a:t>미생물을</a:t>
            </a:r>
            <a:r>
              <a:rPr lang="en-US" dirty="0"/>
              <a:t> </a:t>
            </a:r>
            <a:r>
              <a:rPr lang="en-US" dirty="0" err="1"/>
              <a:t>발굴하더라도</a:t>
            </a:r>
            <a:r>
              <a:rPr lang="en-US" dirty="0"/>
              <a:t>, / </a:t>
            </a:r>
            <a:r>
              <a:rPr lang="en-US" dirty="0" err="1"/>
              <a:t>실질적인</a:t>
            </a:r>
            <a:r>
              <a:rPr lang="en-US" dirty="0"/>
              <a:t> </a:t>
            </a:r>
            <a:r>
              <a:rPr lang="en-US" dirty="0" err="1"/>
              <a:t>토양</a:t>
            </a:r>
            <a:r>
              <a:rPr lang="en-US" dirty="0"/>
              <a:t> </a:t>
            </a:r>
            <a:r>
              <a:rPr lang="en-US" dirty="0" err="1"/>
              <a:t>복원을</a:t>
            </a:r>
            <a:r>
              <a:rPr lang="en-US" dirty="0"/>
              <a:t> </a:t>
            </a:r>
            <a:r>
              <a:rPr lang="en-US" dirty="0" err="1"/>
              <a:t>위해</a:t>
            </a:r>
            <a:r>
              <a:rPr lang="en-US" dirty="0"/>
              <a:t>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조건을</a:t>
            </a:r>
            <a:r>
              <a:rPr lang="en-US" dirty="0"/>
              <a:t> </a:t>
            </a:r>
            <a:r>
              <a:rPr lang="en-US" dirty="0" err="1"/>
              <a:t>최적화하는</a:t>
            </a:r>
            <a:r>
              <a:rPr lang="en-US" dirty="0"/>
              <a:t> </a:t>
            </a:r>
            <a:r>
              <a:rPr lang="en-US" dirty="0" err="1"/>
              <a:t>데는</a:t>
            </a:r>
            <a:r>
              <a:rPr lang="en-US" dirty="0"/>
              <a:t> </a:t>
            </a:r>
            <a:r>
              <a:rPr lang="en-US" dirty="0" err="1"/>
              <a:t>기존</a:t>
            </a:r>
            <a:r>
              <a:rPr lang="en-US" dirty="0"/>
              <a:t> </a:t>
            </a:r>
            <a:r>
              <a:rPr lang="en-US" dirty="0" err="1"/>
              <a:t>방식의</a:t>
            </a:r>
            <a:r>
              <a:rPr lang="en-US" dirty="0"/>
              <a:t> </a:t>
            </a:r>
            <a:r>
              <a:rPr lang="en-US" dirty="0" err="1"/>
              <a:t>한계가</a:t>
            </a:r>
            <a:r>
              <a:rPr lang="en-US" dirty="0"/>
              <a:t> </a:t>
            </a:r>
            <a:r>
              <a:rPr lang="en-US" dirty="0" err="1"/>
              <a:t>있었습니다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저희는</a:t>
            </a:r>
            <a:r>
              <a:rPr lang="en-US" dirty="0"/>
              <a:t> </a:t>
            </a:r>
            <a:r>
              <a:rPr lang="en-US" dirty="0" err="1"/>
              <a:t>이를</a:t>
            </a:r>
            <a:r>
              <a:rPr lang="en-US" dirty="0"/>
              <a:t> </a:t>
            </a:r>
            <a:r>
              <a:rPr lang="en-US" dirty="0" err="1"/>
              <a:t>극복하기</a:t>
            </a:r>
            <a:r>
              <a:rPr lang="en-US" dirty="0"/>
              <a:t> </a:t>
            </a:r>
            <a:r>
              <a:rPr lang="en-US" dirty="0" err="1"/>
              <a:t>위해</a:t>
            </a:r>
            <a:r>
              <a:rPr lang="en-US" dirty="0"/>
              <a:t> </a:t>
            </a:r>
            <a:r>
              <a:rPr lang="en-US" dirty="0" err="1"/>
              <a:t>능동</a:t>
            </a:r>
            <a:r>
              <a:rPr lang="en-US" dirty="0"/>
              <a:t> </a:t>
            </a:r>
            <a:r>
              <a:rPr lang="en-US" dirty="0" err="1"/>
              <a:t>머신러닝</a:t>
            </a:r>
            <a:r>
              <a:rPr lang="en-US" dirty="0"/>
              <a:t> </a:t>
            </a:r>
            <a:r>
              <a:rPr lang="en-US" dirty="0" err="1"/>
              <a:t>프레임워크인</a:t>
            </a:r>
            <a:r>
              <a:rPr lang="en-US" dirty="0"/>
              <a:t> </a:t>
            </a:r>
            <a:r>
              <a:rPr lang="en-US" dirty="0" err="1"/>
              <a:t>메티스를</a:t>
            </a:r>
            <a:r>
              <a:rPr lang="en-US" dirty="0"/>
              <a:t> </a:t>
            </a:r>
            <a:r>
              <a:rPr lang="en-US" dirty="0" err="1"/>
              <a:t>사용했습니다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최소한의</a:t>
            </a:r>
            <a:r>
              <a:rPr lang="en-US" dirty="0"/>
              <a:t> </a:t>
            </a:r>
            <a:r>
              <a:rPr lang="en-US" dirty="0" err="1"/>
              <a:t>실험으로</a:t>
            </a:r>
            <a:r>
              <a:rPr lang="en-US" dirty="0"/>
              <a:t> </a:t>
            </a:r>
            <a:r>
              <a:rPr lang="en-US" dirty="0" err="1"/>
              <a:t>최적의</a:t>
            </a:r>
            <a:r>
              <a:rPr lang="en-US" dirty="0"/>
              <a:t>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조건을</a:t>
            </a:r>
            <a:r>
              <a:rPr lang="en-US" dirty="0"/>
              <a:t> </a:t>
            </a:r>
            <a:r>
              <a:rPr lang="en-US" dirty="0" err="1"/>
              <a:t>정밀하게</a:t>
            </a:r>
            <a:r>
              <a:rPr lang="en-US" dirty="0"/>
              <a:t> </a:t>
            </a:r>
            <a:r>
              <a:rPr lang="en-US" dirty="0" err="1"/>
              <a:t>예측함으로써</a:t>
            </a:r>
            <a:r>
              <a:rPr lang="en-US" dirty="0"/>
              <a:t>, / </a:t>
            </a:r>
            <a:r>
              <a:rPr lang="en-US" dirty="0" err="1"/>
              <a:t>미생물</a:t>
            </a:r>
            <a:r>
              <a:rPr lang="en-US" dirty="0"/>
              <a:t> </a:t>
            </a:r>
            <a:r>
              <a:rPr lang="en-US" dirty="0" err="1"/>
              <a:t>발굴에서</a:t>
            </a:r>
            <a:r>
              <a:rPr lang="en-US" dirty="0"/>
              <a:t> </a:t>
            </a:r>
            <a:r>
              <a:rPr lang="en-US" dirty="0" err="1"/>
              <a:t>실제</a:t>
            </a:r>
            <a:r>
              <a:rPr lang="en-US" dirty="0"/>
              <a:t> </a:t>
            </a:r>
            <a:r>
              <a:rPr lang="en-US" dirty="0" err="1"/>
              <a:t>도시의</a:t>
            </a:r>
            <a:r>
              <a:rPr lang="en-US" dirty="0"/>
              <a:t> </a:t>
            </a:r>
            <a:r>
              <a:rPr lang="en-US" dirty="0" err="1"/>
              <a:t>토양</a:t>
            </a:r>
            <a:r>
              <a:rPr lang="en-US" dirty="0"/>
              <a:t> </a:t>
            </a:r>
            <a:r>
              <a:rPr lang="en-US" dirty="0" err="1"/>
              <a:t>복원</a:t>
            </a:r>
            <a:r>
              <a:rPr lang="ko-KR" altLang="en-US" dirty="0"/>
              <a:t>으</a:t>
            </a:r>
            <a:r>
              <a:rPr lang="en-US" dirty="0"/>
              <a:t>로 </a:t>
            </a:r>
            <a:r>
              <a:rPr lang="en-US" dirty="0" err="1"/>
              <a:t>이어지는</a:t>
            </a:r>
            <a:r>
              <a:rPr lang="en-US" dirty="0"/>
              <a:t> </a:t>
            </a:r>
            <a:r>
              <a:rPr lang="en-US" dirty="0" err="1"/>
              <a:t>기술적</a:t>
            </a:r>
            <a:r>
              <a:rPr lang="en-US" dirty="0"/>
              <a:t> </a:t>
            </a:r>
            <a:r>
              <a:rPr lang="en-US" dirty="0" err="1"/>
              <a:t>격차를</a:t>
            </a:r>
            <a:r>
              <a:rPr lang="en-US" dirty="0"/>
              <a:t> / </a:t>
            </a:r>
            <a:r>
              <a:rPr lang="en-US" dirty="0" err="1"/>
              <a:t>효과적으로</a:t>
            </a:r>
            <a:r>
              <a:rPr lang="en-US" dirty="0"/>
              <a:t> </a:t>
            </a:r>
            <a:r>
              <a:rPr lang="en-US" dirty="0" err="1"/>
              <a:t>해소하고자</a:t>
            </a:r>
            <a:r>
              <a:rPr lang="en-US" dirty="0"/>
              <a:t> </a:t>
            </a:r>
            <a:r>
              <a:rPr lang="en-US" dirty="0" err="1"/>
              <a:t>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이에 따라 세 가지 질문을 설정했습니다.</a:t>
            </a:r>
          </a:p>
          <a:p>
            <a:endParaRPr lang="en-US"/>
          </a:p>
          <a:p>
            <a:r>
              <a:rPr lang="en-US"/>
              <a:t>첫째, 도로변과 공원 토양의 세균 군집이 실제로 다른가.</a:t>
            </a:r>
          </a:p>
          <a:p>
            <a:endParaRPr lang="en-US"/>
          </a:p>
          <a:p>
            <a:r>
              <a:rPr lang="en-US"/>
              <a:t>둘째, 두 환경을 구분할 수 있는 세균 분류군이 존재하는가.</a:t>
            </a:r>
          </a:p>
          <a:p>
            <a:endParaRPr lang="en-US"/>
          </a:p>
          <a:p>
            <a:r>
              <a:rPr lang="en-US"/>
              <a:t>셋째, 배양 가능한 유용 미생물을 확보하고 AI로 배양 조건을 최적화할 수 있는가입니다.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이제 시료 채취와 시퀀싱 방법을 설명드리겠습니다.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저희는</a:t>
            </a:r>
            <a:r>
              <a:rPr lang="en-US" dirty="0"/>
              <a:t> 2026년 7월 18일부터 20일까지 </a:t>
            </a:r>
            <a:r>
              <a:rPr lang="en-US" dirty="0" err="1"/>
              <a:t>서울과</a:t>
            </a:r>
            <a:r>
              <a:rPr lang="en-US" dirty="0"/>
              <a:t> </a:t>
            </a:r>
            <a:r>
              <a:rPr lang="en-US" dirty="0" err="1"/>
              <a:t>수도권에서</a:t>
            </a:r>
            <a:r>
              <a:rPr lang="en-US" dirty="0"/>
              <a:t> 총 </a:t>
            </a:r>
            <a:r>
              <a:rPr lang="en-US" dirty="0" err="1"/>
              <a:t>서른두개의</a:t>
            </a:r>
            <a:r>
              <a:rPr lang="en-US" dirty="0"/>
              <a:t> </a:t>
            </a:r>
            <a:r>
              <a:rPr lang="en-US" dirty="0" err="1"/>
              <a:t>토양</a:t>
            </a:r>
            <a:r>
              <a:rPr lang="en-US" dirty="0"/>
              <a:t> </a:t>
            </a:r>
            <a:r>
              <a:rPr lang="en-US" dirty="0" err="1"/>
              <a:t>시료를</a:t>
            </a:r>
            <a:r>
              <a:rPr lang="en-US" dirty="0"/>
              <a:t> </a:t>
            </a:r>
            <a:r>
              <a:rPr lang="en-US" dirty="0" err="1"/>
              <a:t>채취했습니다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도로변은</a:t>
            </a:r>
            <a:r>
              <a:rPr lang="en-US" dirty="0"/>
              <a:t> </a:t>
            </a:r>
            <a:r>
              <a:rPr lang="en-US" dirty="0" err="1"/>
              <a:t>주요</a:t>
            </a:r>
            <a:r>
              <a:rPr lang="en-US" dirty="0"/>
              <a:t> </a:t>
            </a:r>
            <a:r>
              <a:rPr lang="en-US" dirty="0" err="1"/>
              <a:t>간선도로</a:t>
            </a:r>
            <a:r>
              <a:rPr lang="en-US" dirty="0"/>
              <a:t> </a:t>
            </a:r>
            <a:r>
              <a:rPr lang="en-US" dirty="0" err="1"/>
              <a:t>연석</a:t>
            </a:r>
            <a:r>
              <a:rPr lang="en-US" dirty="0"/>
              <a:t> 1미터 </a:t>
            </a:r>
            <a:r>
              <a:rPr lang="en-US" dirty="0" err="1"/>
              <a:t>이내로</a:t>
            </a:r>
            <a:r>
              <a:rPr lang="en-US" dirty="0"/>
              <a:t> </a:t>
            </a:r>
            <a:r>
              <a:rPr lang="en-US" dirty="0" err="1"/>
              <a:t>정해</a:t>
            </a:r>
            <a:r>
              <a:rPr lang="en-US" dirty="0"/>
              <a:t>, </a:t>
            </a:r>
            <a:r>
              <a:rPr lang="en-US" dirty="0" err="1"/>
              <a:t>차량</a:t>
            </a:r>
            <a:r>
              <a:rPr lang="en-US" dirty="0"/>
              <a:t> </a:t>
            </a:r>
            <a:r>
              <a:rPr lang="en-US" dirty="0" err="1"/>
              <a:t>통행의</a:t>
            </a:r>
            <a:r>
              <a:rPr lang="en-US" dirty="0"/>
              <a:t> </a:t>
            </a:r>
            <a:r>
              <a:rPr lang="en-US" dirty="0" err="1"/>
              <a:t>영향을</a:t>
            </a:r>
            <a:r>
              <a:rPr lang="en-US" dirty="0"/>
              <a:t> </a:t>
            </a:r>
            <a:r>
              <a:rPr lang="en-US" dirty="0" err="1"/>
              <a:t>많이</a:t>
            </a:r>
            <a:r>
              <a:rPr lang="en-US" dirty="0"/>
              <a:t> </a:t>
            </a:r>
            <a:r>
              <a:rPr lang="en-US" dirty="0" err="1"/>
              <a:t>받는</a:t>
            </a:r>
            <a:r>
              <a:rPr lang="en-US" dirty="0"/>
              <a:t> </a:t>
            </a:r>
            <a:r>
              <a:rPr lang="en-US" dirty="0" err="1"/>
              <a:t>지점을</a:t>
            </a:r>
            <a:r>
              <a:rPr lang="en-US" dirty="0"/>
              <a:t> </a:t>
            </a:r>
            <a:r>
              <a:rPr lang="en-US" dirty="0" err="1"/>
              <a:t>선정했고</a:t>
            </a:r>
            <a:r>
              <a:rPr lang="en-US" dirty="0"/>
              <a:t>, / </a:t>
            </a:r>
            <a:r>
              <a:rPr lang="en-US" dirty="0" err="1"/>
              <a:t>공원은</a:t>
            </a:r>
            <a:r>
              <a:rPr lang="en-US" dirty="0"/>
              <a:t> </a:t>
            </a:r>
            <a:r>
              <a:rPr lang="en-US" dirty="0" err="1"/>
              <a:t>차량의</a:t>
            </a:r>
            <a:r>
              <a:rPr lang="en-US" dirty="0"/>
              <a:t> </a:t>
            </a:r>
            <a:r>
              <a:rPr lang="en-US" dirty="0" err="1"/>
              <a:t>직접</a:t>
            </a:r>
            <a:r>
              <a:rPr lang="en-US" dirty="0"/>
              <a:t> </a:t>
            </a:r>
            <a:r>
              <a:rPr lang="en-US" dirty="0" err="1"/>
              <a:t>노출이</a:t>
            </a:r>
            <a:r>
              <a:rPr lang="en-US" dirty="0"/>
              <a:t> </a:t>
            </a:r>
            <a:r>
              <a:rPr lang="en-US" dirty="0" err="1"/>
              <a:t>최소화된</a:t>
            </a:r>
            <a:r>
              <a:rPr lang="en-US" dirty="0"/>
              <a:t> </a:t>
            </a:r>
            <a:r>
              <a:rPr lang="en-US" dirty="0" err="1"/>
              <a:t>지정</a:t>
            </a:r>
            <a:r>
              <a:rPr lang="en-US" dirty="0"/>
              <a:t> </a:t>
            </a:r>
            <a:r>
              <a:rPr lang="en-US" dirty="0" err="1"/>
              <a:t>녹지를</a:t>
            </a:r>
            <a:r>
              <a:rPr lang="en-US" dirty="0"/>
              <a:t> </a:t>
            </a:r>
            <a:r>
              <a:rPr lang="en-US" dirty="0" err="1"/>
              <a:t>선정했습니다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이후</a:t>
            </a:r>
            <a:r>
              <a:rPr lang="en-US" dirty="0"/>
              <a:t> </a:t>
            </a:r>
            <a:r>
              <a:rPr lang="en-US" dirty="0" err="1"/>
              <a:t>토지</a:t>
            </a:r>
            <a:r>
              <a:rPr lang="en-US" dirty="0"/>
              <a:t> </a:t>
            </a:r>
            <a:r>
              <a:rPr lang="en-US" dirty="0" err="1"/>
              <a:t>이용</a:t>
            </a:r>
            <a:r>
              <a:rPr lang="en-US" dirty="0"/>
              <a:t> </a:t>
            </a:r>
            <a:r>
              <a:rPr lang="en-US" dirty="0" err="1"/>
              <a:t>유형을</a:t>
            </a:r>
            <a:r>
              <a:rPr lang="en-US" dirty="0"/>
              <a:t> </a:t>
            </a:r>
            <a:r>
              <a:rPr lang="en-US" dirty="0" err="1"/>
              <a:t>기준으로</a:t>
            </a:r>
            <a:r>
              <a:rPr lang="en-US" dirty="0"/>
              <a:t> 두 </a:t>
            </a:r>
            <a:r>
              <a:rPr lang="en-US" dirty="0" err="1"/>
              <a:t>군집을</a:t>
            </a:r>
            <a:r>
              <a:rPr lang="en-US" dirty="0"/>
              <a:t> </a:t>
            </a:r>
            <a:r>
              <a:rPr lang="en-US" dirty="0" err="1"/>
              <a:t>비교했습니다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채취는</a:t>
            </a:r>
            <a:r>
              <a:rPr lang="en-US" dirty="0"/>
              <a:t> </a:t>
            </a:r>
            <a:r>
              <a:rPr lang="en-US" dirty="0" err="1"/>
              <a:t>지도에</a:t>
            </a:r>
            <a:r>
              <a:rPr lang="en-US" dirty="0"/>
              <a:t> </a:t>
            </a:r>
            <a:r>
              <a:rPr lang="en-US" dirty="0" err="1"/>
              <a:t>표시된</a:t>
            </a:r>
            <a:r>
              <a:rPr lang="en-US" dirty="0"/>
              <a:t> </a:t>
            </a:r>
            <a:r>
              <a:rPr lang="en-US" dirty="0" err="1"/>
              <a:t>것처럼</a:t>
            </a:r>
            <a:r>
              <a:rPr lang="en-US" dirty="0"/>
              <a:t> </a:t>
            </a:r>
            <a:r>
              <a:rPr lang="en-US" dirty="0" err="1"/>
              <a:t>서울과</a:t>
            </a:r>
            <a:r>
              <a:rPr lang="en-US" dirty="0"/>
              <a:t> </a:t>
            </a:r>
            <a:r>
              <a:rPr lang="en-US" dirty="0" err="1"/>
              <a:t>경기도의</a:t>
            </a:r>
            <a:r>
              <a:rPr lang="en-US" dirty="0"/>
              <a:t> </a:t>
            </a:r>
            <a:r>
              <a:rPr lang="en-US" dirty="0" err="1"/>
              <a:t>여섯</a:t>
            </a:r>
            <a:r>
              <a:rPr lang="en-US" dirty="0"/>
              <a:t> </a:t>
            </a:r>
            <a:r>
              <a:rPr lang="en-US" dirty="0" err="1"/>
              <a:t>지역에서</a:t>
            </a:r>
            <a:r>
              <a:rPr lang="en-US" dirty="0"/>
              <a:t> </a:t>
            </a:r>
            <a:r>
              <a:rPr lang="en-US" dirty="0" err="1"/>
              <a:t>시료를</a:t>
            </a:r>
            <a:r>
              <a:rPr lang="en-US" dirty="0"/>
              <a:t> </a:t>
            </a:r>
            <a:r>
              <a:rPr lang="en-US" dirty="0" err="1"/>
              <a:t>확보해</a:t>
            </a:r>
            <a:r>
              <a:rPr lang="en-US" dirty="0"/>
              <a:t> / </a:t>
            </a:r>
            <a:r>
              <a:rPr lang="en-US" dirty="0" err="1"/>
              <a:t>수도권</a:t>
            </a:r>
            <a:r>
              <a:rPr lang="en-US" dirty="0"/>
              <a:t> 내 </a:t>
            </a:r>
            <a:r>
              <a:rPr lang="en-US" dirty="0" err="1"/>
              <a:t>서로</a:t>
            </a:r>
            <a:r>
              <a:rPr lang="en-US" dirty="0"/>
              <a:t> </a:t>
            </a:r>
            <a:r>
              <a:rPr lang="en-US" dirty="0" err="1"/>
              <a:t>다른</a:t>
            </a:r>
            <a:r>
              <a:rPr lang="en-US" dirty="0"/>
              <a:t> </a:t>
            </a:r>
            <a:r>
              <a:rPr lang="en-US" dirty="0" err="1"/>
              <a:t>도시</a:t>
            </a:r>
            <a:r>
              <a:rPr lang="en-US" dirty="0"/>
              <a:t> </a:t>
            </a:r>
            <a:r>
              <a:rPr lang="en-US" dirty="0" err="1"/>
              <a:t>환경을</a:t>
            </a:r>
            <a:r>
              <a:rPr lang="en-US" dirty="0"/>
              <a:t> </a:t>
            </a:r>
            <a:r>
              <a:rPr lang="en-US" dirty="0" err="1"/>
              <a:t>포함하고자</a:t>
            </a:r>
            <a:r>
              <a:rPr lang="en-US" dirty="0"/>
              <a:t> </a:t>
            </a:r>
            <a:r>
              <a:rPr lang="en-US" dirty="0" err="1"/>
              <a:t>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시료는</a:t>
            </a:r>
            <a:r>
              <a:rPr lang="en-US" dirty="0"/>
              <a:t> </a:t>
            </a:r>
            <a:r>
              <a:rPr lang="en-US" dirty="0" err="1"/>
              <a:t>무작위로</a:t>
            </a:r>
            <a:r>
              <a:rPr lang="en-US" dirty="0"/>
              <a:t> </a:t>
            </a:r>
            <a:r>
              <a:rPr lang="en-US" dirty="0" err="1"/>
              <a:t>선정한</a:t>
            </a:r>
            <a:r>
              <a:rPr lang="en-US" dirty="0"/>
              <a:t> </a:t>
            </a:r>
            <a:r>
              <a:rPr lang="en-US" dirty="0" err="1"/>
              <a:t>도로변과</a:t>
            </a:r>
            <a:r>
              <a:rPr lang="en-US" dirty="0"/>
              <a:t> </a:t>
            </a:r>
            <a:r>
              <a:rPr lang="en-US" dirty="0" err="1"/>
              <a:t>공원</a:t>
            </a:r>
            <a:r>
              <a:rPr lang="en-US" dirty="0"/>
              <a:t> </a:t>
            </a:r>
            <a:r>
              <a:rPr lang="en-US" dirty="0" err="1"/>
              <a:t>구역에서</a:t>
            </a:r>
            <a:r>
              <a:rPr lang="en-US" dirty="0"/>
              <a:t> </a:t>
            </a:r>
            <a:r>
              <a:rPr lang="en-US" dirty="0" err="1"/>
              <a:t>표토층</a:t>
            </a:r>
            <a:r>
              <a:rPr lang="en-US" dirty="0"/>
              <a:t> 2에서 5센티미터 </a:t>
            </a:r>
            <a:r>
              <a:rPr lang="en-US" dirty="0" err="1"/>
              <a:t>깊이로</a:t>
            </a:r>
            <a:r>
              <a:rPr lang="en-US" dirty="0"/>
              <a:t> </a:t>
            </a:r>
            <a:r>
              <a:rPr lang="en-US" dirty="0" err="1"/>
              <a:t>채취했습니다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라텍스</a:t>
            </a:r>
            <a:r>
              <a:rPr lang="en-US" dirty="0"/>
              <a:t> </a:t>
            </a:r>
            <a:r>
              <a:rPr lang="en-US" dirty="0" err="1"/>
              <a:t>장갑을</a:t>
            </a:r>
            <a:r>
              <a:rPr lang="en-US" dirty="0"/>
              <a:t> </a:t>
            </a:r>
            <a:r>
              <a:rPr lang="en-US" dirty="0" err="1"/>
              <a:t>착용하고</a:t>
            </a:r>
            <a:r>
              <a:rPr lang="en-US" dirty="0"/>
              <a:t> </a:t>
            </a:r>
            <a:r>
              <a:rPr lang="en-US" dirty="0" err="1"/>
              <a:t>지표의</a:t>
            </a:r>
            <a:r>
              <a:rPr lang="en-US" dirty="0"/>
              <a:t> </a:t>
            </a:r>
            <a:r>
              <a:rPr lang="en-US" dirty="0" err="1"/>
              <a:t>이물질을</a:t>
            </a:r>
            <a:r>
              <a:rPr lang="en-US" dirty="0"/>
              <a:t> </a:t>
            </a:r>
            <a:r>
              <a:rPr lang="en-US" dirty="0" err="1"/>
              <a:t>제거한</a:t>
            </a:r>
            <a:r>
              <a:rPr lang="en-US" dirty="0"/>
              <a:t> 뒤, / </a:t>
            </a:r>
          </a:p>
          <a:p>
            <a:r>
              <a:rPr lang="en-US" dirty="0" err="1"/>
              <a:t>여러</a:t>
            </a:r>
            <a:r>
              <a:rPr lang="en-US" dirty="0"/>
              <a:t> </a:t>
            </a:r>
            <a:r>
              <a:rPr lang="en-US" dirty="0" err="1"/>
              <a:t>지점의</a:t>
            </a:r>
            <a:r>
              <a:rPr lang="en-US" dirty="0"/>
              <a:t> </a:t>
            </a:r>
            <a:r>
              <a:rPr lang="en-US" dirty="0" err="1"/>
              <a:t>토양을</a:t>
            </a:r>
            <a:r>
              <a:rPr lang="en-US" dirty="0"/>
              <a:t> </a:t>
            </a:r>
            <a:r>
              <a:rPr lang="en-US" dirty="0" err="1"/>
              <a:t>합친</a:t>
            </a:r>
            <a:r>
              <a:rPr lang="en-US" dirty="0"/>
              <a:t> </a:t>
            </a:r>
            <a:r>
              <a:rPr lang="en-US" dirty="0" err="1"/>
              <a:t>복합시료로</a:t>
            </a:r>
            <a:r>
              <a:rPr lang="en-US" dirty="0"/>
              <a:t> </a:t>
            </a:r>
            <a:r>
              <a:rPr lang="en-US" dirty="0" err="1"/>
              <a:t>만들었습니다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시료는</a:t>
            </a:r>
            <a:r>
              <a:rPr lang="en-US" dirty="0"/>
              <a:t> </a:t>
            </a:r>
            <a:r>
              <a:rPr lang="en-US" dirty="0" err="1"/>
              <a:t>멸균</a:t>
            </a:r>
            <a:r>
              <a:rPr lang="en-US" dirty="0"/>
              <a:t> </a:t>
            </a:r>
            <a:r>
              <a:rPr lang="en-US" dirty="0" err="1"/>
              <a:t>용기에</a:t>
            </a:r>
            <a:r>
              <a:rPr lang="en-US" dirty="0"/>
              <a:t> </a:t>
            </a:r>
            <a:r>
              <a:rPr lang="en-US" dirty="0" err="1"/>
              <a:t>밀봉해</a:t>
            </a:r>
            <a:r>
              <a:rPr lang="en-US" dirty="0"/>
              <a:t> </a:t>
            </a:r>
            <a:r>
              <a:rPr lang="en-US" dirty="0" err="1"/>
              <a:t>냉동한</a:t>
            </a:r>
            <a:r>
              <a:rPr lang="en-US" dirty="0"/>
              <a:t> </a:t>
            </a:r>
            <a:r>
              <a:rPr lang="en-US" dirty="0" err="1"/>
              <a:t>상태로</a:t>
            </a:r>
            <a:r>
              <a:rPr lang="en-US" dirty="0"/>
              <a:t> </a:t>
            </a:r>
            <a:r>
              <a:rPr lang="en-US" dirty="0" err="1"/>
              <a:t>아이스박스에</a:t>
            </a:r>
            <a:r>
              <a:rPr lang="en-US" dirty="0"/>
              <a:t> </a:t>
            </a:r>
            <a:r>
              <a:rPr lang="en-US" dirty="0" err="1"/>
              <a:t>넣어</a:t>
            </a:r>
            <a:r>
              <a:rPr lang="en-US" dirty="0"/>
              <a:t> </a:t>
            </a:r>
            <a:r>
              <a:rPr lang="en-US" dirty="0" err="1"/>
              <a:t>이송했습니다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배양용</a:t>
            </a:r>
            <a:r>
              <a:rPr lang="en-US" dirty="0"/>
              <a:t> </a:t>
            </a:r>
            <a:r>
              <a:rPr lang="en-US" dirty="0" err="1"/>
              <a:t>분취시료는</a:t>
            </a:r>
            <a:r>
              <a:rPr lang="en-US" dirty="0"/>
              <a:t> </a:t>
            </a:r>
            <a:r>
              <a:rPr lang="en-US" dirty="0" err="1"/>
              <a:t>영하</a:t>
            </a:r>
            <a:r>
              <a:rPr lang="en-US" dirty="0"/>
              <a:t> 20도에서 </a:t>
            </a:r>
            <a:r>
              <a:rPr lang="en-US" dirty="0" err="1"/>
              <a:t>보관하고</a:t>
            </a:r>
            <a:r>
              <a:rPr lang="en-US" dirty="0"/>
              <a:t> 24시간 </a:t>
            </a:r>
            <a:r>
              <a:rPr lang="en-US" dirty="0" err="1"/>
              <a:t>이내에</a:t>
            </a:r>
            <a:r>
              <a:rPr lang="en-US" dirty="0"/>
              <a:t> </a:t>
            </a:r>
            <a:r>
              <a:rPr lang="en-US" dirty="0" err="1"/>
              <a:t>처리했으며</a:t>
            </a:r>
            <a:r>
              <a:rPr lang="en-US" dirty="0"/>
              <a:t>, / </a:t>
            </a:r>
            <a:r>
              <a:rPr lang="en-US" dirty="0" err="1"/>
              <a:t>메타지놈</a:t>
            </a:r>
            <a:r>
              <a:rPr lang="en-US" dirty="0"/>
              <a:t> </a:t>
            </a:r>
            <a:r>
              <a:rPr lang="en-US" dirty="0" err="1"/>
              <a:t>분석을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DNA </a:t>
            </a:r>
            <a:r>
              <a:rPr lang="en-US" dirty="0" err="1"/>
              <a:t>추출용</a:t>
            </a:r>
            <a:r>
              <a:rPr lang="en-US" dirty="0"/>
              <a:t> </a:t>
            </a:r>
            <a:r>
              <a:rPr lang="en-US" dirty="0" err="1"/>
              <a:t>시료는</a:t>
            </a:r>
            <a:r>
              <a:rPr lang="en-US" dirty="0"/>
              <a:t> </a:t>
            </a:r>
            <a:r>
              <a:rPr lang="en-US" dirty="0" err="1"/>
              <a:t>영하</a:t>
            </a:r>
            <a:r>
              <a:rPr lang="en-US" dirty="0"/>
              <a:t> 80도에 </a:t>
            </a:r>
            <a:r>
              <a:rPr lang="en-US" dirty="0" err="1"/>
              <a:t>보관했습니다</a:t>
            </a:r>
            <a:r>
              <a:rPr lang="en-US" dirty="0"/>
              <a:t>.</a:t>
            </a:r>
          </a:p>
          <a:p>
            <a:r>
              <a:rPr lang="en-US" dirty="0"/>
              <a:t>`</a:t>
            </a:r>
          </a:p>
          <a:p>
            <a:r>
              <a:rPr lang="en-US" dirty="0" err="1"/>
              <a:t>시료</a:t>
            </a:r>
            <a:r>
              <a:rPr lang="en-US" dirty="0"/>
              <a:t> 간 </a:t>
            </a:r>
            <a:r>
              <a:rPr lang="en-US" dirty="0" err="1"/>
              <a:t>교차오염을</a:t>
            </a:r>
            <a:r>
              <a:rPr lang="en-US" dirty="0"/>
              <a:t> </a:t>
            </a:r>
            <a:r>
              <a:rPr lang="en-US" dirty="0" err="1"/>
              <a:t>막기</a:t>
            </a:r>
            <a:r>
              <a:rPr lang="en-US" dirty="0"/>
              <a:t> </a:t>
            </a:r>
            <a:r>
              <a:rPr lang="en-US" dirty="0" err="1"/>
              <a:t>위해</a:t>
            </a:r>
            <a:r>
              <a:rPr lang="en-US" dirty="0"/>
              <a:t> </a:t>
            </a:r>
            <a:r>
              <a:rPr lang="en-US" dirty="0" err="1"/>
              <a:t>채취</a:t>
            </a:r>
            <a:r>
              <a:rPr lang="en-US" dirty="0"/>
              <a:t> </a:t>
            </a:r>
            <a:r>
              <a:rPr lang="en-US" dirty="0" err="1"/>
              <a:t>도구는</a:t>
            </a:r>
            <a:r>
              <a:rPr lang="en-US" dirty="0"/>
              <a:t> </a:t>
            </a:r>
            <a:r>
              <a:rPr lang="en-US" dirty="0" err="1"/>
              <a:t>매번</a:t>
            </a:r>
            <a:r>
              <a:rPr lang="en-US" dirty="0"/>
              <a:t> 96퍼센트 </a:t>
            </a:r>
            <a:r>
              <a:rPr lang="en-US" dirty="0" err="1"/>
              <a:t>에탄올로</a:t>
            </a:r>
            <a:r>
              <a:rPr lang="en-US" dirty="0"/>
              <a:t> </a:t>
            </a:r>
            <a:r>
              <a:rPr lang="en-US" dirty="0" err="1"/>
              <a:t>세척했습니다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토양</a:t>
            </a:r>
            <a:r>
              <a:rPr lang="en-US" dirty="0"/>
              <a:t> </a:t>
            </a:r>
            <a:r>
              <a:rPr lang="en-US" dirty="0" err="1"/>
              <a:t>에서</a:t>
            </a:r>
            <a:r>
              <a:rPr lang="en-US" dirty="0"/>
              <a:t> DNA </a:t>
            </a:r>
            <a:r>
              <a:rPr lang="en-US" dirty="0" err="1"/>
              <a:t>추출</a:t>
            </a:r>
            <a:r>
              <a:rPr lang="en-US" dirty="0"/>
              <a:t> 후, </a:t>
            </a:r>
          </a:p>
          <a:p>
            <a:r>
              <a:rPr lang="en-US" dirty="0"/>
              <a:t> / 16S </a:t>
            </a:r>
            <a:r>
              <a:rPr lang="en-US" dirty="0" err="1"/>
              <a:t>rRNA의</a:t>
            </a:r>
            <a:r>
              <a:rPr lang="en-US" dirty="0"/>
              <a:t> V4 </a:t>
            </a:r>
            <a:r>
              <a:rPr lang="en-US" dirty="0" err="1"/>
              <a:t>영역을</a:t>
            </a:r>
            <a:r>
              <a:rPr lang="en-US" dirty="0"/>
              <a:t> </a:t>
            </a:r>
            <a:r>
              <a:rPr lang="en-US" dirty="0" err="1"/>
              <a:t>PCR했고</a:t>
            </a:r>
            <a:r>
              <a:rPr lang="en-US" dirty="0"/>
              <a:t>,</a:t>
            </a:r>
          </a:p>
          <a:p>
            <a:r>
              <a:rPr lang="en-US" dirty="0"/>
              <a:t> / 각 </a:t>
            </a:r>
            <a:r>
              <a:rPr lang="en-US" dirty="0" err="1"/>
              <a:t>시료에</a:t>
            </a:r>
            <a:r>
              <a:rPr lang="en-US" dirty="0"/>
              <a:t> </a:t>
            </a:r>
            <a:r>
              <a:rPr lang="en-US" dirty="0" err="1"/>
              <a:t>고유</a:t>
            </a:r>
            <a:r>
              <a:rPr lang="en-US" dirty="0"/>
              <a:t> </a:t>
            </a:r>
            <a:r>
              <a:rPr lang="en-US" dirty="0" err="1"/>
              <a:t>인덱스를</a:t>
            </a:r>
            <a:r>
              <a:rPr lang="en-US" dirty="0"/>
              <a:t> </a:t>
            </a:r>
            <a:r>
              <a:rPr lang="en-US" dirty="0" err="1"/>
              <a:t>부착해</a:t>
            </a:r>
            <a:r>
              <a:rPr lang="en-US" dirty="0"/>
              <a:t>, </a:t>
            </a:r>
          </a:p>
          <a:p>
            <a:r>
              <a:rPr lang="en-US" dirty="0"/>
              <a:t> / Illumina </a:t>
            </a:r>
            <a:r>
              <a:rPr lang="en-US" dirty="0" err="1"/>
              <a:t>플랫폼에서</a:t>
            </a:r>
            <a:r>
              <a:rPr lang="en-US" dirty="0"/>
              <a:t> </a:t>
            </a:r>
            <a:r>
              <a:rPr lang="en-US" dirty="0" err="1"/>
              <a:t>싱글엔드</a:t>
            </a:r>
            <a:r>
              <a:rPr lang="en-US" dirty="0"/>
              <a:t> </a:t>
            </a:r>
            <a:r>
              <a:rPr lang="en-US" dirty="0" err="1"/>
              <a:t>방식으로</a:t>
            </a:r>
            <a:r>
              <a:rPr lang="en-US" dirty="0"/>
              <a:t> </a:t>
            </a:r>
            <a:r>
              <a:rPr lang="en-US" dirty="0" err="1"/>
              <a:t>시퀀싱했습니다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군집</a:t>
            </a:r>
            <a:r>
              <a:rPr lang="en-US" dirty="0"/>
              <a:t> </a:t>
            </a:r>
            <a:r>
              <a:rPr lang="en-US" dirty="0" err="1"/>
              <a:t>분석과는</a:t>
            </a:r>
            <a:r>
              <a:rPr lang="en-US" dirty="0"/>
              <a:t> </a:t>
            </a:r>
            <a:r>
              <a:rPr lang="en-US" dirty="0" err="1"/>
              <a:t>별도로</a:t>
            </a:r>
            <a:r>
              <a:rPr lang="en-US" dirty="0"/>
              <a:t>, /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가능한</a:t>
            </a:r>
            <a:r>
              <a:rPr lang="en-US" dirty="0"/>
              <a:t> </a:t>
            </a:r>
            <a:r>
              <a:rPr lang="en-US" dirty="0" err="1"/>
              <a:t>균주도</a:t>
            </a:r>
            <a:r>
              <a:rPr lang="en-US" dirty="0"/>
              <a:t> </a:t>
            </a:r>
            <a:r>
              <a:rPr lang="en-US" dirty="0" err="1"/>
              <a:t>확보했습니다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팀원별로</a:t>
            </a:r>
            <a:r>
              <a:rPr lang="en-US" dirty="0"/>
              <a:t> </a:t>
            </a:r>
            <a:r>
              <a:rPr lang="en-US" dirty="0" err="1"/>
              <a:t>대표</a:t>
            </a:r>
            <a:r>
              <a:rPr lang="en-US" dirty="0"/>
              <a:t> </a:t>
            </a:r>
            <a:r>
              <a:rPr lang="en-US" dirty="0" err="1"/>
              <a:t>토양</a:t>
            </a:r>
            <a:r>
              <a:rPr lang="en-US" dirty="0"/>
              <a:t> </a:t>
            </a:r>
            <a:r>
              <a:rPr lang="en-US" dirty="0" err="1"/>
              <a:t>시료</a:t>
            </a:r>
            <a:r>
              <a:rPr lang="en-US" dirty="0"/>
              <a:t> 한 </a:t>
            </a:r>
            <a:r>
              <a:rPr lang="en-US" dirty="0" err="1"/>
              <a:t>개를</a:t>
            </a:r>
            <a:r>
              <a:rPr lang="en-US" dirty="0"/>
              <a:t> </a:t>
            </a:r>
            <a:r>
              <a:rPr lang="en-US" dirty="0" err="1"/>
              <a:t>선택해</a:t>
            </a:r>
            <a:r>
              <a:rPr lang="en-US" dirty="0"/>
              <a:t> </a:t>
            </a:r>
            <a:r>
              <a:rPr lang="en-US" dirty="0" err="1"/>
              <a:t>스톡을</a:t>
            </a:r>
            <a:r>
              <a:rPr lang="en-US" dirty="0"/>
              <a:t> </a:t>
            </a:r>
            <a:r>
              <a:rPr lang="en-US" dirty="0" err="1"/>
              <a:t>만들고</a:t>
            </a:r>
            <a:r>
              <a:rPr lang="en-US" dirty="0"/>
              <a:t>,</a:t>
            </a:r>
          </a:p>
          <a:p>
            <a:r>
              <a:rPr lang="en-US" dirty="0"/>
              <a:t> / MRS </a:t>
            </a:r>
            <a:r>
              <a:rPr lang="en-US" dirty="0" err="1"/>
              <a:t>agar와</a:t>
            </a:r>
            <a:r>
              <a:rPr lang="en-US" dirty="0"/>
              <a:t> Nutrient </a:t>
            </a:r>
            <a:r>
              <a:rPr lang="en-US" dirty="0" err="1"/>
              <a:t>agar에</a:t>
            </a:r>
            <a:r>
              <a:rPr lang="en-US" dirty="0"/>
              <a:t> </a:t>
            </a:r>
            <a:r>
              <a:rPr lang="en-US" dirty="0" err="1"/>
              <a:t>스트리킹했습니다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배양</a:t>
            </a:r>
            <a:r>
              <a:rPr lang="en-US" dirty="0"/>
              <a:t> 후 </a:t>
            </a:r>
            <a:r>
              <a:rPr lang="en-US" dirty="0" err="1"/>
              <a:t>분리</a:t>
            </a:r>
            <a:r>
              <a:rPr lang="en-US" dirty="0"/>
              <a:t> </a:t>
            </a:r>
            <a:r>
              <a:rPr lang="en-US" dirty="0" err="1"/>
              <a:t>가능한</a:t>
            </a:r>
            <a:r>
              <a:rPr lang="en-US" dirty="0"/>
              <a:t> </a:t>
            </a:r>
            <a:r>
              <a:rPr lang="en-US" dirty="0" err="1"/>
              <a:t>콜로니를</a:t>
            </a:r>
            <a:r>
              <a:rPr lang="en-US" dirty="0"/>
              <a:t> </a:t>
            </a:r>
            <a:r>
              <a:rPr lang="en-US" dirty="0" err="1"/>
              <a:t>확보한</a:t>
            </a:r>
            <a:r>
              <a:rPr lang="en-US" dirty="0"/>
              <a:t> </a:t>
            </a:r>
            <a:r>
              <a:rPr lang="en-US" dirty="0" err="1"/>
              <a:t>다음</a:t>
            </a:r>
            <a:r>
              <a:rPr lang="en-US" dirty="0"/>
              <a:t>, / 16S rRNA </a:t>
            </a:r>
            <a:r>
              <a:rPr lang="en-US" dirty="0" err="1"/>
              <a:t>기반으로</a:t>
            </a:r>
            <a:r>
              <a:rPr lang="en-US" dirty="0"/>
              <a:t> </a:t>
            </a:r>
            <a:r>
              <a:rPr lang="en-US" dirty="0" err="1"/>
              <a:t>균주를</a:t>
            </a:r>
            <a:r>
              <a:rPr lang="en-US" dirty="0"/>
              <a:t> </a:t>
            </a:r>
            <a:r>
              <a:rPr lang="en-US" dirty="0" err="1"/>
              <a:t>동정하고</a:t>
            </a:r>
            <a:r>
              <a:rPr lang="en-US" dirty="0"/>
              <a:t> </a:t>
            </a:r>
            <a:r>
              <a:rPr lang="en-US" dirty="0" err="1"/>
              <a:t>후속</a:t>
            </a:r>
            <a:r>
              <a:rPr lang="en-US" dirty="0"/>
              <a:t>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최적화</a:t>
            </a:r>
            <a:r>
              <a:rPr lang="en-US" dirty="0"/>
              <a:t> </a:t>
            </a:r>
            <a:r>
              <a:rPr lang="en-US" dirty="0" err="1"/>
              <a:t>후보를</a:t>
            </a:r>
            <a:r>
              <a:rPr lang="en-US" dirty="0"/>
              <a:t> </a:t>
            </a:r>
            <a:r>
              <a:rPr lang="en-US" dirty="0" err="1"/>
              <a:t>선정했습니다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분리한</a:t>
            </a:r>
            <a:r>
              <a:rPr lang="en-US" dirty="0"/>
              <a:t> </a:t>
            </a:r>
            <a:r>
              <a:rPr lang="en-US" dirty="0" err="1"/>
              <a:t>균주에서는</a:t>
            </a:r>
            <a:r>
              <a:rPr lang="en-US" dirty="0"/>
              <a:t>  / </a:t>
            </a:r>
            <a:r>
              <a:rPr lang="en-US" dirty="0" err="1"/>
              <a:t>바실러스</a:t>
            </a:r>
            <a:r>
              <a:rPr lang="en-US" dirty="0"/>
              <a:t>, </a:t>
            </a:r>
            <a:r>
              <a:rPr lang="en-US" dirty="0" err="1"/>
              <a:t>마이코플라나</a:t>
            </a:r>
            <a:r>
              <a:rPr lang="en-US" dirty="0"/>
              <a:t>, </a:t>
            </a:r>
            <a:r>
              <a:rPr lang="en-US" dirty="0" err="1"/>
              <a:t>패니바실러스</a:t>
            </a:r>
            <a:r>
              <a:rPr lang="en-US" dirty="0"/>
              <a:t> 등 </a:t>
            </a:r>
            <a:r>
              <a:rPr lang="en-US" dirty="0" err="1"/>
              <a:t>다양한</a:t>
            </a:r>
            <a:r>
              <a:rPr lang="en-US" dirty="0"/>
              <a:t> </a:t>
            </a:r>
            <a:r>
              <a:rPr lang="en-US" dirty="0" err="1"/>
              <a:t>균주가</a:t>
            </a:r>
            <a:r>
              <a:rPr lang="en-US" dirty="0"/>
              <a:t> </a:t>
            </a:r>
            <a:r>
              <a:rPr lang="en-US" dirty="0" err="1"/>
              <a:t>확인되었습니다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이 </a:t>
            </a:r>
            <a:r>
              <a:rPr lang="en-US" dirty="0" err="1"/>
              <a:t>가운데</a:t>
            </a:r>
            <a:r>
              <a:rPr lang="en-US" dirty="0"/>
              <a:t> MRS </a:t>
            </a:r>
            <a:r>
              <a:rPr lang="en-US" dirty="0" err="1"/>
              <a:t>배지에서는</a:t>
            </a:r>
            <a:r>
              <a:rPr lang="en-US" dirty="0"/>
              <a:t>, </a:t>
            </a:r>
            <a:r>
              <a:rPr lang="en-US" dirty="0" err="1"/>
              <a:t>도로변과</a:t>
            </a:r>
            <a:r>
              <a:rPr lang="en-US" dirty="0"/>
              <a:t> </a:t>
            </a:r>
            <a:r>
              <a:rPr lang="en-US" dirty="0" err="1"/>
              <a:t>공원</a:t>
            </a:r>
            <a:r>
              <a:rPr lang="en-US" dirty="0"/>
              <a:t> </a:t>
            </a:r>
            <a:r>
              <a:rPr lang="en-US" dirty="0" err="1"/>
              <a:t>토양</a:t>
            </a:r>
            <a:r>
              <a:rPr lang="en-US" dirty="0"/>
              <a:t> </a:t>
            </a:r>
            <a:r>
              <a:rPr lang="en-US" dirty="0" err="1"/>
              <a:t>모두에서</a:t>
            </a:r>
            <a:r>
              <a:rPr lang="en-US" dirty="0"/>
              <a:t>, </a:t>
            </a:r>
            <a:r>
              <a:rPr lang="en-US" dirty="0" err="1"/>
              <a:t>프리스티아</a:t>
            </a:r>
            <a:r>
              <a:rPr lang="en-US" dirty="0"/>
              <a:t> </a:t>
            </a:r>
            <a:r>
              <a:rPr lang="en-US" dirty="0" err="1"/>
              <a:t>메가테리움이</a:t>
            </a:r>
            <a:r>
              <a:rPr lang="en-US" dirty="0"/>
              <a:t> </a:t>
            </a:r>
            <a:r>
              <a:rPr lang="en-US" dirty="0" err="1"/>
              <a:t>분리되었습니다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두 </a:t>
            </a:r>
            <a:r>
              <a:rPr lang="en-US" dirty="0" err="1"/>
              <a:t>환경에서</a:t>
            </a:r>
            <a:r>
              <a:rPr lang="en-US" dirty="0"/>
              <a:t> </a:t>
            </a:r>
            <a:r>
              <a:rPr lang="en-US" dirty="0" err="1"/>
              <a:t>공통으로</a:t>
            </a:r>
            <a:r>
              <a:rPr lang="en-US" dirty="0"/>
              <a:t> </a:t>
            </a:r>
            <a:r>
              <a:rPr lang="en-US" dirty="0" err="1"/>
              <a:t>확인됐다는</a:t>
            </a:r>
            <a:r>
              <a:rPr lang="en-US" dirty="0"/>
              <a:t> </a:t>
            </a:r>
            <a:r>
              <a:rPr lang="en-US" dirty="0" err="1"/>
              <a:t>점을</a:t>
            </a:r>
            <a:r>
              <a:rPr lang="en-US" dirty="0"/>
              <a:t> </a:t>
            </a:r>
            <a:r>
              <a:rPr lang="en-US" dirty="0" err="1"/>
              <a:t>고려해</a:t>
            </a:r>
            <a:r>
              <a:rPr lang="en-US" dirty="0"/>
              <a:t>, </a:t>
            </a:r>
            <a:r>
              <a:rPr lang="en-US" dirty="0" err="1"/>
              <a:t>프리스티아</a:t>
            </a:r>
            <a:r>
              <a:rPr lang="en-US" dirty="0"/>
              <a:t> </a:t>
            </a:r>
            <a:r>
              <a:rPr lang="en-US" dirty="0" err="1"/>
              <a:t>메가테리움을</a:t>
            </a:r>
            <a:r>
              <a:rPr lang="en-US" dirty="0"/>
              <a:t>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최적화</a:t>
            </a:r>
            <a:r>
              <a:rPr lang="en-US" dirty="0"/>
              <a:t> </a:t>
            </a:r>
            <a:r>
              <a:rPr lang="en-US" dirty="0" err="1"/>
              <a:t>대상</a:t>
            </a:r>
            <a:r>
              <a:rPr lang="en-US" dirty="0"/>
              <a:t> </a:t>
            </a:r>
            <a:r>
              <a:rPr lang="en-US" dirty="0" err="1"/>
              <a:t>균주로</a:t>
            </a:r>
            <a:r>
              <a:rPr lang="en-US" dirty="0"/>
              <a:t> </a:t>
            </a:r>
            <a:r>
              <a:rPr lang="en-US" dirty="0" err="1"/>
              <a:t>선정했습니다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다음은 AI 기반으로 진행한</a:t>
            </a:r>
          </a:p>
          <a:p>
            <a:r>
              <a:rPr lang="en-US"/>
              <a:t>프리스티아 메가테리움의 배양 최적화 과정입니다.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최적화는</a:t>
            </a:r>
            <a:r>
              <a:rPr lang="en-US" dirty="0"/>
              <a:t> 네 </a:t>
            </a:r>
            <a:r>
              <a:rPr lang="en-US" dirty="0" err="1"/>
              <a:t>단계로</a:t>
            </a:r>
            <a:r>
              <a:rPr lang="en-US" dirty="0"/>
              <a:t> </a:t>
            </a:r>
            <a:r>
              <a:rPr lang="en-US" dirty="0" err="1"/>
              <a:t>진행했습니다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먼저</a:t>
            </a:r>
            <a:r>
              <a:rPr lang="en-US" dirty="0"/>
              <a:t> </a:t>
            </a:r>
            <a:r>
              <a:rPr lang="en-US" dirty="0" err="1"/>
              <a:t>수동으로</a:t>
            </a:r>
            <a:r>
              <a:rPr lang="en-US" dirty="0"/>
              <a:t> </a:t>
            </a:r>
            <a:r>
              <a:rPr lang="en-US" dirty="0" err="1"/>
              <a:t>설계한</a:t>
            </a:r>
            <a:r>
              <a:rPr lang="en-US" dirty="0"/>
              <a:t> </a:t>
            </a:r>
            <a:r>
              <a:rPr lang="en-US" dirty="0" err="1"/>
              <a:t>열두개</a:t>
            </a:r>
            <a:r>
              <a:rPr lang="en-US" dirty="0"/>
              <a:t> </a:t>
            </a:r>
            <a:r>
              <a:rPr lang="en-US" dirty="0" err="1"/>
              <a:t>배지</a:t>
            </a:r>
            <a:r>
              <a:rPr lang="en-US" dirty="0"/>
              <a:t> </a:t>
            </a:r>
            <a:r>
              <a:rPr lang="en-US" dirty="0" err="1"/>
              <a:t>조합에서</a:t>
            </a:r>
            <a:r>
              <a:rPr lang="en-US" dirty="0"/>
              <a:t> 1차 </a:t>
            </a:r>
            <a:r>
              <a:rPr lang="en-US" dirty="0" err="1"/>
              <a:t>배양과</a:t>
            </a:r>
            <a:r>
              <a:rPr lang="en-US" dirty="0"/>
              <a:t> OD600값을 </a:t>
            </a:r>
            <a:r>
              <a:rPr lang="en-US" dirty="0" err="1"/>
              <a:t>측정을</a:t>
            </a:r>
            <a:r>
              <a:rPr lang="en-US" dirty="0"/>
              <a:t> </a:t>
            </a:r>
            <a:r>
              <a:rPr lang="en-US" dirty="0" err="1"/>
              <a:t>수행했습니다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이 </a:t>
            </a:r>
            <a:r>
              <a:rPr lang="en-US" dirty="0" err="1"/>
              <a:t>결과를</a:t>
            </a:r>
            <a:r>
              <a:rPr lang="en-US" dirty="0"/>
              <a:t> </a:t>
            </a:r>
            <a:r>
              <a:rPr lang="en-US" dirty="0" err="1"/>
              <a:t>METIS에</a:t>
            </a:r>
            <a:r>
              <a:rPr lang="en-US" dirty="0"/>
              <a:t> </a:t>
            </a:r>
            <a:r>
              <a:rPr lang="en-US" dirty="0" err="1"/>
              <a:t>입력해</a:t>
            </a:r>
            <a:r>
              <a:rPr lang="en-US" dirty="0"/>
              <a:t> </a:t>
            </a:r>
            <a:r>
              <a:rPr lang="en-US" dirty="0" err="1"/>
              <a:t>새로운</a:t>
            </a:r>
            <a:r>
              <a:rPr lang="en-US" dirty="0"/>
              <a:t> </a:t>
            </a:r>
            <a:r>
              <a:rPr lang="en-US" dirty="0" err="1"/>
              <a:t>열두개</a:t>
            </a:r>
            <a:r>
              <a:rPr lang="en-US" dirty="0"/>
              <a:t> </a:t>
            </a:r>
            <a:r>
              <a:rPr lang="en-US" dirty="0" err="1"/>
              <a:t>조건을</a:t>
            </a:r>
            <a:r>
              <a:rPr lang="en-US" dirty="0"/>
              <a:t> </a:t>
            </a:r>
            <a:r>
              <a:rPr lang="en-US" dirty="0" err="1"/>
              <a:t>추천</a:t>
            </a:r>
            <a:r>
              <a:rPr lang="en-US" dirty="0"/>
              <a:t> </a:t>
            </a:r>
            <a:r>
              <a:rPr lang="en-US" dirty="0" err="1"/>
              <a:t>받고</a:t>
            </a:r>
            <a:r>
              <a:rPr lang="en-US" dirty="0"/>
              <a:t> 2차 </a:t>
            </a:r>
            <a:r>
              <a:rPr lang="en-US" dirty="0" err="1"/>
              <a:t>배양을</a:t>
            </a:r>
            <a:r>
              <a:rPr lang="en-US" dirty="0"/>
              <a:t> </a:t>
            </a:r>
            <a:r>
              <a:rPr lang="en-US" dirty="0" err="1"/>
              <a:t>진행했습니다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마지막으로</a:t>
            </a:r>
            <a:r>
              <a:rPr lang="en-US" dirty="0"/>
              <a:t> 2차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XGBoost로</a:t>
            </a:r>
            <a:r>
              <a:rPr lang="en-US" dirty="0"/>
              <a:t> </a:t>
            </a:r>
            <a:r>
              <a:rPr lang="en-US" dirty="0" err="1"/>
              <a:t>분석해</a:t>
            </a:r>
            <a:endParaRPr lang="en-US" dirty="0"/>
          </a:p>
          <a:p>
            <a:r>
              <a:rPr lang="en-US" dirty="0"/>
              <a:t>1</a:t>
            </a:r>
            <a:r>
              <a:rPr lang="ko-KR" altLang="en-US" dirty="0"/>
              <a:t>차와 </a:t>
            </a:r>
            <a:r>
              <a:rPr lang="en-US" altLang="ko-KR" dirty="0"/>
              <a:t>2</a:t>
            </a:r>
            <a:r>
              <a:rPr lang="ko-KR" altLang="en-US" dirty="0"/>
              <a:t>차 배양에 따른 변화를 비교</a:t>
            </a:r>
            <a:r>
              <a:rPr lang="en-US" dirty="0" err="1"/>
              <a:t>하고</a:t>
            </a:r>
            <a:r>
              <a:rPr lang="en-US" dirty="0"/>
              <a:t>,</a:t>
            </a:r>
          </a:p>
          <a:p>
            <a:r>
              <a:rPr lang="en-US" dirty="0" err="1"/>
              <a:t>후속</a:t>
            </a:r>
            <a:r>
              <a:rPr lang="en-US" dirty="0"/>
              <a:t> </a:t>
            </a:r>
            <a:r>
              <a:rPr lang="en-US" dirty="0" err="1"/>
              <a:t>후보</a:t>
            </a:r>
            <a:r>
              <a:rPr lang="en-US" dirty="0"/>
              <a:t> </a:t>
            </a:r>
            <a:r>
              <a:rPr lang="en-US" dirty="0" err="1"/>
              <a:t>조건을</a:t>
            </a:r>
            <a:r>
              <a:rPr lang="en-US" dirty="0"/>
              <a:t> </a:t>
            </a:r>
            <a:r>
              <a:rPr lang="en-US" dirty="0" err="1"/>
              <a:t>제안했습니다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변수는</a:t>
            </a:r>
            <a:r>
              <a:rPr lang="en-US" dirty="0"/>
              <a:t> MRS </a:t>
            </a:r>
            <a:r>
              <a:rPr lang="en-US" dirty="0" err="1"/>
              <a:t>배지</a:t>
            </a:r>
            <a:r>
              <a:rPr lang="en-US" dirty="0"/>
              <a:t> </a:t>
            </a:r>
            <a:r>
              <a:rPr lang="en-US" dirty="0" err="1"/>
              <a:t>성분</a:t>
            </a:r>
            <a:r>
              <a:rPr lang="en-US" dirty="0"/>
              <a:t> 중 </a:t>
            </a:r>
            <a:r>
              <a:rPr lang="en-US" dirty="0" err="1"/>
              <a:t>일부인</a:t>
            </a:r>
            <a:r>
              <a:rPr lang="en-US" dirty="0"/>
              <a:t> Peptone, Meat extract, Yeast extract, Glucose 네 </a:t>
            </a:r>
            <a:r>
              <a:rPr lang="en-US" dirty="0" err="1"/>
              <a:t>가지입니다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1차 </a:t>
            </a:r>
            <a:r>
              <a:rPr lang="en-US" dirty="0" err="1"/>
              <a:t>스크리닝의</a:t>
            </a:r>
            <a:r>
              <a:rPr lang="en-US" dirty="0"/>
              <a:t> </a:t>
            </a:r>
            <a:r>
              <a:rPr lang="en-US" dirty="0" err="1"/>
              <a:t>열두개</a:t>
            </a:r>
            <a:r>
              <a:rPr lang="en-US" dirty="0"/>
              <a:t> </a:t>
            </a:r>
            <a:r>
              <a:rPr lang="en-US" dirty="0" err="1"/>
              <a:t>조건은</a:t>
            </a:r>
            <a:r>
              <a:rPr lang="en-US" dirty="0"/>
              <a:t> 세 </a:t>
            </a:r>
            <a:r>
              <a:rPr lang="en-US" dirty="0" err="1"/>
              <a:t>가지</a:t>
            </a:r>
            <a:r>
              <a:rPr lang="en-US" dirty="0"/>
              <a:t> </a:t>
            </a:r>
            <a:r>
              <a:rPr lang="en-US" dirty="0" err="1"/>
              <a:t>원칙으로</a:t>
            </a:r>
            <a:r>
              <a:rPr lang="en-US" dirty="0"/>
              <a:t> </a:t>
            </a:r>
            <a:r>
              <a:rPr lang="en-US" dirty="0" err="1"/>
              <a:t>구성했습니다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먼저</a:t>
            </a:r>
            <a:r>
              <a:rPr lang="en-US" dirty="0"/>
              <a:t> </a:t>
            </a:r>
            <a:r>
              <a:rPr lang="en-US" dirty="0" err="1"/>
              <a:t>모든</a:t>
            </a:r>
            <a:r>
              <a:rPr lang="en-US" dirty="0"/>
              <a:t> </a:t>
            </a:r>
            <a:r>
              <a:rPr lang="en-US" dirty="0" err="1"/>
              <a:t>성분을</a:t>
            </a:r>
            <a:r>
              <a:rPr lang="en-US" dirty="0"/>
              <a:t> </a:t>
            </a:r>
            <a:r>
              <a:rPr lang="en-US" dirty="0" err="1"/>
              <a:t>함께</a:t>
            </a:r>
            <a:r>
              <a:rPr lang="en-US" dirty="0"/>
              <a:t> </a:t>
            </a:r>
            <a:r>
              <a:rPr lang="en-US" dirty="0" err="1"/>
              <a:t>변화시켜</a:t>
            </a:r>
            <a:r>
              <a:rPr lang="en-US" dirty="0"/>
              <a:t> </a:t>
            </a:r>
            <a:r>
              <a:rPr lang="en-US" dirty="0" err="1"/>
              <a:t>전체</a:t>
            </a:r>
            <a:r>
              <a:rPr lang="en-US" dirty="0"/>
              <a:t> </a:t>
            </a:r>
            <a:r>
              <a:rPr lang="en-US" dirty="0" err="1"/>
              <a:t>영양</a:t>
            </a:r>
            <a:r>
              <a:rPr lang="en-US" dirty="0"/>
              <a:t> </a:t>
            </a:r>
            <a:r>
              <a:rPr lang="en-US" dirty="0" err="1"/>
              <a:t>수준을</a:t>
            </a:r>
            <a:r>
              <a:rPr lang="en-US" dirty="0"/>
              <a:t> </a:t>
            </a:r>
            <a:r>
              <a:rPr lang="en-US" dirty="0" err="1"/>
              <a:t>탐색했고</a:t>
            </a:r>
            <a:r>
              <a:rPr lang="en-US" dirty="0"/>
              <a:t>, / </a:t>
            </a:r>
            <a:r>
              <a:rPr lang="en-US" dirty="0" err="1"/>
              <a:t>다음으로</a:t>
            </a:r>
            <a:r>
              <a:rPr lang="en-US" dirty="0"/>
              <a:t> 한 </a:t>
            </a:r>
            <a:r>
              <a:rPr lang="en-US" dirty="0" err="1"/>
              <a:t>성분씩</a:t>
            </a:r>
            <a:r>
              <a:rPr lang="en-US" dirty="0"/>
              <a:t> </a:t>
            </a:r>
            <a:r>
              <a:rPr lang="en-US" dirty="0" err="1"/>
              <a:t>증가시켜</a:t>
            </a:r>
            <a:r>
              <a:rPr lang="en-US" dirty="0"/>
              <a:t> </a:t>
            </a:r>
            <a:r>
              <a:rPr lang="en-US" dirty="0" err="1"/>
              <a:t>단일</a:t>
            </a:r>
            <a:r>
              <a:rPr lang="en-US" dirty="0"/>
              <a:t> </a:t>
            </a:r>
            <a:r>
              <a:rPr lang="en-US" dirty="0" err="1"/>
              <a:t>변수의</a:t>
            </a:r>
            <a:r>
              <a:rPr lang="en-US" dirty="0"/>
              <a:t> </a:t>
            </a:r>
            <a:r>
              <a:rPr lang="en-US" dirty="0" err="1"/>
              <a:t>효과를</a:t>
            </a:r>
            <a:r>
              <a:rPr lang="en-US" dirty="0"/>
              <a:t> </a:t>
            </a:r>
            <a:r>
              <a:rPr lang="en-US" dirty="0" err="1"/>
              <a:t>보았습니다</a:t>
            </a:r>
            <a:r>
              <a:rPr lang="en-US" dirty="0"/>
              <a:t>.</a:t>
            </a:r>
          </a:p>
          <a:p>
            <a:r>
              <a:rPr lang="en-US" dirty="0" err="1"/>
              <a:t>마지막으로</a:t>
            </a:r>
            <a:r>
              <a:rPr lang="en-US" dirty="0"/>
              <a:t> </a:t>
            </a:r>
            <a:r>
              <a:rPr lang="en-US" dirty="0" err="1"/>
              <a:t>선택한</a:t>
            </a:r>
            <a:r>
              <a:rPr lang="en-US" dirty="0"/>
              <a:t> 두 </a:t>
            </a:r>
            <a:r>
              <a:rPr lang="en-US" dirty="0" err="1"/>
              <a:t>성분을</a:t>
            </a:r>
            <a:r>
              <a:rPr lang="en-US" dirty="0"/>
              <a:t> </a:t>
            </a:r>
            <a:r>
              <a:rPr lang="en-US" dirty="0" err="1"/>
              <a:t>동시에</a:t>
            </a:r>
            <a:r>
              <a:rPr lang="en-US" dirty="0"/>
              <a:t> </a:t>
            </a:r>
            <a:r>
              <a:rPr lang="en-US" dirty="0" err="1"/>
              <a:t>변화시켜</a:t>
            </a:r>
            <a:r>
              <a:rPr lang="en-US" dirty="0"/>
              <a:t> </a:t>
            </a:r>
            <a:r>
              <a:rPr lang="en-US" dirty="0" err="1"/>
              <a:t>조합</a:t>
            </a:r>
            <a:r>
              <a:rPr lang="en-US" dirty="0"/>
              <a:t> </a:t>
            </a:r>
            <a:r>
              <a:rPr lang="en-US" dirty="0" err="1"/>
              <a:t>효과를</a:t>
            </a:r>
            <a:r>
              <a:rPr lang="en-US" dirty="0"/>
              <a:t> </a:t>
            </a:r>
            <a:r>
              <a:rPr lang="en-US" dirty="0" err="1"/>
              <a:t>살펴봤습니다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각 </a:t>
            </a:r>
            <a:r>
              <a:rPr lang="en-US" dirty="0" err="1"/>
              <a:t>조건은</a:t>
            </a:r>
            <a:r>
              <a:rPr lang="en-US" dirty="0"/>
              <a:t> </a:t>
            </a:r>
            <a:r>
              <a:rPr lang="en-US" dirty="0" err="1"/>
              <a:t>스무배</a:t>
            </a:r>
            <a:r>
              <a:rPr lang="en-US" dirty="0"/>
              <a:t> </a:t>
            </a:r>
            <a:r>
              <a:rPr lang="en-US" dirty="0" err="1"/>
              <a:t>농축</a:t>
            </a:r>
            <a:r>
              <a:rPr lang="en-US" dirty="0"/>
              <a:t> </a:t>
            </a:r>
            <a:r>
              <a:rPr lang="en-US" dirty="0" err="1"/>
              <a:t>스톡을</a:t>
            </a:r>
            <a:r>
              <a:rPr lang="en-US" dirty="0"/>
              <a:t> </a:t>
            </a:r>
            <a:r>
              <a:rPr lang="en-US" dirty="0" err="1"/>
              <a:t>사용해</a:t>
            </a:r>
            <a:r>
              <a:rPr lang="en-US" dirty="0"/>
              <a:t> 1밀리리터 </a:t>
            </a:r>
            <a:r>
              <a:rPr lang="en-US" dirty="0" err="1"/>
              <a:t>배지를</a:t>
            </a:r>
            <a:r>
              <a:rPr lang="en-US" dirty="0"/>
              <a:t> </a:t>
            </a:r>
            <a:r>
              <a:rPr lang="en-US" dirty="0" err="1"/>
              <a:t>만들었고</a:t>
            </a:r>
            <a:r>
              <a:rPr lang="en-US" dirty="0"/>
              <a:t>, / </a:t>
            </a:r>
            <a:r>
              <a:rPr lang="en-US" dirty="0" err="1"/>
              <a:t>균액</a:t>
            </a:r>
            <a:r>
              <a:rPr lang="en-US" dirty="0"/>
              <a:t> 50마이크로리터를 </a:t>
            </a:r>
            <a:r>
              <a:rPr lang="en-US" dirty="0" err="1"/>
              <a:t>접종해</a:t>
            </a:r>
            <a:r>
              <a:rPr lang="en-US" dirty="0"/>
              <a:t> </a:t>
            </a:r>
            <a:r>
              <a:rPr lang="en-US" dirty="0" err="1"/>
              <a:t>하룻밤</a:t>
            </a:r>
            <a:r>
              <a:rPr lang="en-US" dirty="0"/>
              <a:t> </a:t>
            </a:r>
            <a:r>
              <a:rPr lang="en-US" dirty="0" err="1"/>
              <a:t>배양했습니다</a:t>
            </a:r>
            <a:r>
              <a:rPr lang="en-US" dirty="0"/>
              <a:t>.</a:t>
            </a:r>
          </a:p>
          <a:p>
            <a:r>
              <a:rPr lang="en-US" dirty="0"/>
              <a:t>그 후 OD600값을 </a:t>
            </a:r>
            <a:r>
              <a:rPr lang="en-US" dirty="0" err="1"/>
              <a:t>측정하였고</a:t>
            </a:r>
            <a:r>
              <a:rPr lang="en-US" dirty="0"/>
              <a:t>,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이를</a:t>
            </a:r>
            <a:r>
              <a:rPr lang="en-US" dirty="0"/>
              <a:t> </a:t>
            </a:r>
            <a:r>
              <a:rPr lang="en-US" dirty="0" err="1"/>
              <a:t>기반으로</a:t>
            </a:r>
            <a:r>
              <a:rPr lang="en-US" dirty="0"/>
              <a:t> </a:t>
            </a:r>
            <a:r>
              <a:rPr lang="en-US" dirty="0" err="1"/>
              <a:t>METIS를</a:t>
            </a:r>
            <a:r>
              <a:rPr lang="en-US" dirty="0"/>
              <a:t> </a:t>
            </a:r>
            <a:r>
              <a:rPr lang="en-US" dirty="0" err="1"/>
              <a:t>사용해서</a:t>
            </a:r>
            <a:r>
              <a:rPr lang="en-US" dirty="0"/>
              <a:t> 2차 </a:t>
            </a:r>
            <a:r>
              <a:rPr lang="en-US" dirty="0" err="1"/>
              <a:t>배양에</a:t>
            </a:r>
            <a:r>
              <a:rPr lang="en-US" dirty="0"/>
              <a:t> </a:t>
            </a:r>
            <a:r>
              <a:rPr lang="en-US" dirty="0" err="1"/>
              <a:t>대한</a:t>
            </a:r>
            <a:r>
              <a:rPr lang="en-US" dirty="0"/>
              <a:t> </a:t>
            </a:r>
            <a:r>
              <a:rPr lang="en-US" dirty="0" err="1"/>
              <a:t>추천</a:t>
            </a:r>
            <a:r>
              <a:rPr lang="en-US" dirty="0"/>
              <a:t> </a:t>
            </a:r>
            <a:r>
              <a:rPr lang="en-US" dirty="0" err="1"/>
              <a:t>배지</a:t>
            </a:r>
            <a:r>
              <a:rPr lang="en-US" dirty="0"/>
              <a:t> </a:t>
            </a:r>
            <a:r>
              <a:rPr lang="en-US" dirty="0" err="1"/>
              <a:t>구성</a:t>
            </a:r>
            <a:r>
              <a:rPr lang="en-US" dirty="0"/>
              <a:t> </a:t>
            </a:r>
            <a:r>
              <a:rPr lang="en-US" dirty="0" err="1"/>
              <a:t>조합을</a:t>
            </a:r>
            <a:r>
              <a:rPr lang="en-US" dirty="0"/>
              <a:t> </a:t>
            </a:r>
            <a:r>
              <a:rPr lang="en-US" dirty="0" err="1"/>
              <a:t>만들었습니다</a:t>
            </a:r>
            <a:r>
              <a:rPr lang="en-US" dirty="0"/>
              <a:t>.</a:t>
            </a:r>
          </a:p>
          <a:p>
            <a:r>
              <a:rPr lang="en-US" dirty="0" err="1"/>
              <a:t>왼쪽은</a:t>
            </a:r>
            <a:r>
              <a:rPr lang="en-US" dirty="0"/>
              <a:t> </a:t>
            </a:r>
            <a:r>
              <a:rPr lang="en-US" dirty="0" err="1"/>
              <a:t>METIS가</a:t>
            </a:r>
            <a:r>
              <a:rPr lang="en-US" dirty="0"/>
              <a:t> </a:t>
            </a:r>
            <a:r>
              <a:rPr lang="en-US" dirty="0" err="1"/>
              <a:t>추천한</a:t>
            </a:r>
            <a:r>
              <a:rPr lang="en-US" dirty="0"/>
              <a:t> </a:t>
            </a:r>
            <a:r>
              <a:rPr lang="en-US" dirty="0" err="1"/>
              <a:t>열두개</a:t>
            </a:r>
            <a:r>
              <a:rPr lang="en-US" dirty="0"/>
              <a:t> </a:t>
            </a:r>
            <a:r>
              <a:rPr lang="en-US" dirty="0" err="1"/>
              <a:t>배지</a:t>
            </a:r>
            <a:r>
              <a:rPr lang="en-US" dirty="0"/>
              <a:t> </a:t>
            </a:r>
            <a:r>
              <a:rPr lang="en-US" dirty="0" err="1"/>
              <a:t>조합으로</a:t>
            </a:r>
            <a:r>
              <a:rPr lang="en-US" dirty="0"/>
              <a:t>, </a:t>
            </a:r>
            <a:r>
              <a:rPr lang="en-US" dirty="0" err="1"/>
              <a:t>이를</a:t>
            </a:r>
            <a:r>
              <a:rPr lang="en-US" dirty="0"/>
              <a:t> </a:t>
            </a:r>
            <a:r>
              <a:rPr lang="en-US" dirty="0" err="1"/>
              <a:t>사용해</a:t>
            </a:r>
            <a:r>
              <a:rPr lang="en-US" dirty="0"/>
              <a:t> </a:t>
            </a:r>
            <a:r>
              <a:rPr lang="en-US" dirty="0" err="1"/>
              <a:t>앞과</a:t>
            </a:r>
            <a:r>
              <a:rPr lang="en-US" dirty="0"/>
              <a:t> </a:t>
            </a:r>
            <a:r>
              <a:rPr lang="en-US" dirty="0" err="1"/>
              <a:t>같은</a:t>
            </a:r>
            <a:r>
              <a:rPr lang="en-US" dirty="0"/>
              <a:t> </a:t>
            </a:r>
            <a:r>
              <a:rPr lang="en-US" dirty="0" err="1"/>
              <a:t>방법으로</a:t>
            </a:r>
            <a:r>
              <a:rPr lang="en-US" dirty="0"/>
              <a:t> 2차 </a:t>
            </a:r>
            <a:r>
              <a:rPr lang="en-US" dirty="0" err="1"/>
              <a:t>배양을</a:t>
            </a:r>
            <a:r>
              <a:rPr lang="en-US" dirty="0"/>
              <a:t> </a:t>
            </a:r>
            <a:r>
              <a:rPr lang="en-US" dirty="0" err="1"/>
              <a:t>진행</a:t>
            </a:r>
            <a:r>
              <a:rPr lang="en-US" dirty="0"/>
              <a:t> </a:t>
            </a:r>
            <a:r>
              <a:rPr lang="en-US" dirty="0" err="1"/>
              <a:t>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오른쪽은</a:t>
            </a:r>
            <a:r>
              <a:rPr lang="en-US" dirty="0"/>
              <a:t> 1차와 2차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결과의</a:t>
            </a:r>
            <a:r>
              <a:rPr lang="en-US" dirty="0"/>
              <a:t> </a:t>
            </a:r>
            <a:r>
              <a:rPr lang="en-US" dirty="0" err="1"/>
              <a:t>요약입니다</a:t>
            </a:r>
            <a:r>
              <a:rPr lang="en-US" dirty="0"/>
              <a:t>.</a:t>
            </a:r>
          </a:p>
          <a:p>
            <a:r>
              <a:rPr lang="en-US" dirty="0"/>
              <a:t>2차 </a:t>
            </a:r>
            <a:r>
              <a:rPr lang="en-US" dirty="0" err="1"/>
              <a:t>배양의</a:t>
            </a:r>
            <a:r>
              <a:rPr lang="en-US" dirty="0"/>
              <a:t> </a:t>
            </a:r>
            <a:r>
              <a:rPr lang="en-US" dirty="0" err="1"/>
              <a:t>평균</a:t>
            </a:r>
            <a:r>
              <a:rPr lang="en-US" dirty="0"/>
              <a:t> </a:t>
            </a:r>
            <a:r>
              <a:rPr lang="en-US" dirty="0" err="1"/>
              <a:t>OD값은</a:t>
            </a:r>
            <a:r>
              <a:rPr lang="en-US" dirty="0"/>
              <a:t> 0.578에서 0.743으로 약 28.6퍼센트 </a:t>
            </a:r>
            <a:r>
              <a:rPr lang="en-US" dirty="0" err="1"/>
              <a:t>상승했고</a:t>
            </a:r>
            <a:r>
              <a:rPr lang="en-US" dirty="0"/>
              <a:t>, </a:t>
            </a:r>
            <a:r>
              <a:rPr lang="en-US" dirty="0" err="1"/>
              <a:t>최고값도</a:t>
            </a:r>
            <a:r>
              <a:rPr lang="en-US" dirty="0"/>
              <a:t> 0.758에서 0.879로 </a:t>
            </a:r>
            <a:r>
              <a:rPr lang="en-US" dirty="0" err="1"/>
              <a:t>높아졌습니다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OD값이</a:t>
            </a:r>
            <a:r>
              <a:rPr lang="en-US" dirty="0"/>
              <a:t> 0.7 </a:t>
            </a:r>
            <a:r>
              <a:rPr lang="en-US" dirty="0" err="1"/>
              <a:t>이상인</a:t>
            </a:r>
            <a:r>
              <a:rPr lang="en-US" dirty="0"/>
              <a:t> </a:t>
            </a:r>
            <a:r>
              <a:rPr lang="en-US" dirty="0" err="1"/>
              <a:t>조건은</a:t>
            </a:r>
            <a:r>
              <a:rPr lang="en-US" dirty="0"/>
              <a:t> </a:t>
            </a:r>
            <a:r>
              <a:rPr lang="en-US" dirty="0" err="1"/>
              <a:t>두개에서</a:t>
            </a:r>
            <a:r>
              <a:rPr lang="en-US" dirty="0"/>
              <a:t> </a:t>
            </a:r>
            <a:r>
              <a:rPr lang="en-US" dirty="0" err="1"/>
              <a:t>열개로</a:t>
            </a:r>
            <a:r>
              <a:rPr lang="en-US" dirty="0"/>
              <a:t> </a:t>
            </a:r>
            <a:r>
              <a:rPr lang="en-US" dirty="0" err="1"/>
              <a:t>늘었습니다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다만</a:t>
            </a:r>
            <a:r>
              <a:rPr lang="en-US" dirty="0"/>
              <a:t> 1차와 2차는 </a:t>
            </a:r>
            <a:r>
              <a:rPr lang="en-US" dirty="0" err="1"/>
              <a:t>서로</a:t>
            </a:r>
            <a:r>
              <a:rPr lang="en-US" dirty="0"/>
              <a:t> </a:t>
            </a:r>
            <a:r>
              <a:rPr lang="en-US" dirty="0" err="1"/>
              <a:t>다른</a:t>
            </a:r>
            <a:r>
              <a:rPr lang="en-US" dirty="0"/>
              <a:t> </a:t>
            </a:r>
            <a:r>
              <a:rPr lang="en-US" dirty="0" err="1"/>
              <a:t>조합이므로</a:t>
            </a:r>
            <a:r>
              <a:rPr lang="en-US" dirty="0"/>
              <a:t>, </a:t>
            </a:r>
            <a:r>
              <a:rPr lang="en-US" dirty="0" err="1"/>
              <a:t>개별</a:t>
            </a:r>
            <a:r>
              <a:rPr lang="en-US" dirty="0"/>
              <a:t> </a:t>
            </a:r>
            <a:r>
              <a:rPr lang="en-US" dirty="0" err="1"/>
              <a:t>조건을</a:t>
            </a:r>
            <a:r>
              <a:rPr lang="en-US" dirty="0"/>
              <a:t> </a:t>
            </a:r>
            <a:r>
              <a:rPr lang="en-US" dirty="0" err="1"/>
              <a:t>일대일로</a:t>
            </a:r>
            <a:r>
              <a:rPr lang="en-US" dirty="0"/>
              <a:t> </a:t>
            </a:r>
            <a:r>
              <a:rPr lang="en-US" dirty="0" err="1"/>
              <a:t>비교하기보다</a:t>
            </a:r>
            <a:r>
              <a:rPr lang="en-US" dirty="0"/>
              <a:t>, / </a:t>
            </a:r>
            <a:r>
              <a:rPr lang="en-US" dirty="0" err="1"/>
              <a:t>전체적인</a:t>
            </a:r>
            <a:r>
              <a:rPr lang="en-US" dirty="0"/>
              <a:t> </a:t>
            </a:r>
            <a:r>
              <a:rPr lang="en-US" dirty="0" err="1"/>
              <a:t>생장</a:t>
            </a:r>
            <a:r>
              <a:rPr lang="en-US" dirty="0"/>
              <a:t> </a:t>
            </a:r>
            <a:r>
              <a:rPr lang="en-US" dirty="0" err="1"/>
              <a:t>분포가</a:t>
            </a:r>
            <a:r>
              <a:rPr lang="en-US" dirty="0"/>
              <a:t> </a:t>
            </a:r>
            <a:r>
              <a:rPr lang="en-US" dirty="0" err="1"/>
              <a:t>개선됐다고</a:t>
            </a:r>
            <a:r>
              <a:rPr lang="en-US" dirty="0"/>
              <a:t> </a:t>
            </a:r>
            <a:r>
              <a:rPr lang="en-US" dirty="0" err="1"/>
              <a:t>해석했습니다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이 2차 </a:t>
            </a:r>
            <a:r>
              <a:rPr lang="en-US" dirty="0" err="1"/>
              <a:t>배양의</a:t>
            </a:r>
            <a:r>
              <a:rPr lang="en-US" dirty="0"/>
              <a:t> </a:t>
            </a:r>
            <a:r>
              <a:rPr lang="en-US" dirty="0" err="1"/>
              <a:t>실측값을</a:t>
            </a:r>
            <a:r>
              <a:rPr lang="en-US" dirty="0"/>
              <a:t> </a:t>
            </a:r>
            <a:r>
              <a:rPr lang="en-US" dirty="0" err="1"/>
              <a:t>XGBoost</a:t>
            </a:r>
            <a:r>
              <a:rPr lang="en-US" dirty="0"/>
              <a:t> </a:t>
            </a:r>
            <a:r>
              <a:rPr lang="en-US" dirty="0" err="1"/>
              <a:t>분석에</a:t>
            </a:r>
            <a:r>
              <a:rPr lang="en-US" dirty="0"/>
              <a:t> </a:t>
            </a:r>
            <a:r>
              <a:rPr lang="en-US" dirty="0" err="1"/>
              <a:t>사용했습니다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다음으로</a:t>
            </a:r>
            <a:r>
              <a:rPr lang="en-US" dirty="0"/>
              <a:t>, </a:t>
            </a:r>
            <a:r>
              <a:rPr lang="en-US" dirty="0" err="1"/>
              <a:t>배지</a:t>
            </a:r>
            <a:r>
              <a:rPr lang="en-US" dirty="0"/>
              <a:t> </a:t>
            </a:r>
            <a:r>
              <a:rPr lang="en-US" dirty="0" err="1"/>
              <a:t>성분</a:t>
            </a:r>
            <a:r>
              <a:rPr lang="en-US" dirty="0"/>
              <a:t> </a:t>
            </a:r>
            <a:r>
              <a:rPr lang="en-US" dirty="0" err="1"/>
              <a:t>가운데</a:t>
            </a:r>
            <a:r>
              <a:rPr lang="en-US" dirty="0"/>
              <a:t> </a:t>
            </a:r>
            <a:r>
              <a:rPr lang="en-US" dirty="0" err="1"/>
              <a:t>균의</a:t>
            </a:r>
            <a:r>
              <a:rPr lang="en-US" dirty="0"/>
              <a:t> </a:t>
            </a:r>
            <a:r>
              <a:rPr lang="en-US" dirty="0" err="1"/>
              <a:t>생장에</a:t>
            </a:r>
            <a:r>
              <a:rPr lang="en-US" dirty="0"/>
              <a:t> </a:t>
            </a:r>
            <a:r>
              <a:rPr lang="en-US" dirty="0" err="1"/>
              <a:t>가장</a:t>
            </a:r>
            <a:r>
              <a:rPr lang="en-US" dirty="0"/>
              <a:t> 큰 </a:t>
            </a:r>
            <a:r>
              <a:rPr lang="en-US" dirty="0" err="1"/>
              <a:t>영향을</a:t>
            </a:r>
            <a:r>
              <a:rPr lang="en-US" dirty="0"/>
              <a:t> </a:t>
            </a:r>
            <a:r>
              <a:rPr lang="en-US" dirty="0" err="1"/>
              <a:t>미친</a:t>
            </a:r>
            <a:r>
              <a:rPr lang="en-US" dirty="0"/>
              <a:t> </a:t>
            </a:r>
            <a:r>
              <a:rPr lang="en-US" dirty="0" err="1"/>
              <a:t>성분을</a:t>
            </a:r>
            <a:r>
              <a:rPr lang="en-US" dirty="0"/>
              <a:t> </a:t>
            </a:r>
            <a:r>
              <a:rPr lang="en-US" dirty="0" err="1"/>
              <a:t>확인했습니다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ko-KR" altLang="en-US" dirty="0"/>
              <a:t>첫번째 배양과 두번째 배양했을 때는 다음과 같이 나타났으며</a:t>
            </a:r>
            <a:r>
              <a:rPr lang="en-US" altLang="ko-KR" dirty="0"/>
              <a:t>, </a:t>
            </a:r>
            <a:r>
              <a:rPr lang="ko-KR" altLang="en-US" dirty="0"/>
              <a:t>두번째 배양을 중점으로 보면 다음과 같습니다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이 </a:t>
            </a:r>
            <a:r>
              <a:rPr lang="en-US" altLang="ko-KR" dirty="0" err="1"/>
              <a:t>결과는</a:t>
            </a:r>
            <a:r>
              <a:rPr lang="en-US" altLang="ko-KR" dirty="0"/>
              <a:t> </a:t>
            </a:r>
            <a:r>
              <a:rPr lang="en-US" altLang="ko-KR" dirty="0" err="1"/>
              <a:t>스무개의</a:t>
            </a:r>
            <a:r>
              <a:rPr lang="en-US" altLang="ko-KR" dirty="0"/>
              <a:t> </a:t>
            </a:r>
            <a:r>
              <a:rPr lang="en-US" altLang="ko-KR" dirty="0" err="1"/>
              <a:t>XGBoost</a:t>
            </a:r>
            <a:r>
              <a:rPr lang="en-US" altLang="ko-KR" dirty="0"/>
              <a:t> </a:t>
            </a:r>
            <a:r>
              <a:rPr lang="en-US" altLang="ko-KR" dirty="0" err="1"/>
              <a:t>모델에서</a:t>
            </a:r>
            <a:r>
              <a:rPr lang="en-US" altLang="ko-KR" dirty="0"/>
              <a:t> </a:t>
            </a:r>
            <a:r>
              <a:rPr lang="en-US" altLang="ko-KR" dirty="0" err="1"/>
              <a:t>계산한</a:t>
            </a:r>
            <a:r>
              <a:rPr lang="en-US" altLang="ko-KR" dirty="0"/>
              <a:t> </a:t>
            </a:r>
            <a:r>
              <a:rPr lang="en-US" altLang="ko-KR" dirty="0" err="1"/>
              <a:t>변수</a:t>
            </a:r>
            <a:r>
              <a:rPr lang="en-US" altLang="ko-KR" dirty="0"/>
              <a:t> </a:t>
            </a:r>
            <a:r>
              <a:rPr lang="en-US" altLang="ko-KR" dirty="0" err="1"/>
              <a:t>중요도의</a:t>
            </a:r>
            <a:r>
              <a:rPr lang="en-US" altLang="ko-KR" dirty="0"/>
              <a:t> </a:t>
            </a:r>
            <a:r>
              <a:rPr lang="en-US" altLang="ko-KR" dirty="0" err="1"/>
              <a:t>평균값으로</a:t>
            </a:r>
            <a:r>
              <a:rPr lang="en-US" altLang="ko-KR" dirty="0"/>
              <a:t>, / </a:t>
            </a:r>
            <a:r>
              <a:rPr lang="en-US" dirty="0"/>
              <a:t>Meat </a:t>
            </a:r>
            <a:r>
              <a:rPr lang="en-US" dirty="0" err="1"/>
              <a:t>extract의</a:t>
            </a:r>
            <a:r>
              <a:rPr lang="en-US" dirty="0"/>
              <a:t> </a:t>
            </a:r>
            <a:r>
              <a:rPr lang="en-US" dirty="0" err="1"/>
              <a:t>변수</a:t>
            </a:r>
            <a:r>
              <a:rPr lang="en-US" dirty="0"/>
              <a:t> </a:t>
            </a:r>
            <a:r>
              <a:rPr lang="en-US" dirty="0" err="1"/>
              <a:t>중요도가</a:t>
            </a:r>
            <a:r>
              <a:rPr lang="en-US" dirty="0"/>
              <a:t> 0.36으로 </a:t>
            </a:r>
            <a:r>
              <a:rPr lang="en-US" dirty="0" err="1"/>
              <a:t>가장</a:t>
            </a:r>
            <a:r>
              <a:rPr lang="en-US" dirty="0"/>
              <a:t> </a:t>
            </a:r>
            <a:r>
              <a:rPr lang="en-US" dirty="0" err="1"/>
              <a:t>높게</a:t>
            </a:r>
            <a:r>
              <a:rPr lang="en-US" dirty="0"/>
              <a:t> </a:t>
            </a:r>
            <a:r>
              <a:rPr lang="en-US" dirty="0" err="1"/>
              <a:t>나타났습니다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그다음은</a:t>
            </a:r>
            <a:r>
              <a:rPr lang="en-US" dirty="0"/>
              <a:t> Yeast </a:t>
            </a:r>
            <a:r>
              <a:rPr lang="en-US" dirty="0" err="1"/>
              <a:t>extract가</a:t>
            </a:r>
            <a:r>
              <a:rPr lang="en-US" dirty="0"/>
              <a:t> 0.28, </a:t>
            </a:r>
            <a:r>
              <a:rPr lang="en-US" dirty="0" err="1"/>
              <a:t>Glucose가</a:t>
            </a:r>
            <a:r>
              <a:rPr lang="en-US" dirty="0"/>
              <a:t> 0.25였으며, </a:t>
            </a:r>
            <a:r>
              <a:rPr lang="en-US" dirty="0" err="1"/>
              <a:t>Peptone은</a:t>
            </a:r>
            <a:r>
              <a:rPr lang="en-US" dirty="0"/>
              <a:t> 0.11로 </a:t>
            </a:r>
            <a:r>
              <a:rPr lang="en-US" dirty="0" err="1"/>
              <a:t>가장</a:t>
            </a:r>
            <a:r>
              <a:rPr lang="en-US" dirty="0"/>
              <a:t> </a:t>
            </a:r>
            <a:r>
              <a:rPr lang="en-US" dirty="0" err="1"/>
              <a:t>낮았습니다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따라서</a:t>
            </a:r>
            <a:r>
              <a:rPr lang="en-US" dirty="0"/>
              <a:t> </a:t>
            </a:r>
            <a:r>
              <a:rPr lang="en-US" dirty="0" err="1"/>
              <a:t>이번</a:t>
            </a:r>
            <a:r>
              <a:rPr lang="en-US" dirty="0"/>
              <a:t> </a:t>
            </a:r>
            <a:r>
              <a:rPr lang="en-US" dirty="0" err="1"/>
              <a:t>분석에서는</a:t>
            </a:r>
            <a:r>
              <a:rPr lang="en-US" dirty="0"/>
              <a:t> Meat </a:t>
            </a:r>
            <a:r>
              <a:rPr lang="en-US" dirty="0" err="1"/>
              <a:t>extract가</a:t>
            </a:r>
            <a:r>
              <a:rPr lang="en-US" dirty="0"/>
              <a:t> </a:t>
            </a:r>
            <a:r>
              <a:rPr lang="en-US" dirty="0" err="1"/>
              <a:t>OD값을</a:t>
            </a:r>
            <a:r>
              <a:rPr lang="en-US" dirty="0"/>
              <a:t> </a:t>
            </a:r>
            <a:r>
              <a:rPr lang="en-US" dirty="0" err="1"/>
              <a:t>예측하는</a:t>
            </a:r>
            <a:r>
              <a:rPr lang="en-US" dirty="0"/>
              <a:t> 데 </a:t>
            </a:r>
            <a:r>
              <a:rPr lang="en-US" dirty="0" err="1"/>
              <a:t>가장</a:t>
            </a:r>
            <a:r>
              <a:rPr lang="en-US" dirty="0"/>
              <a:t> </a:t>
            </a:r>
            <a:r>
              <a:rPr lang="en-US" dirty="0" err="1"/>
              <a:t>중요한</a:t>
            </a:r>
            <a:r>
              <a:rPr lang="en-US" dirty="0"/>
              <a:t> </a:t>
            </a:r>
            <a:r>
              <a:rPr lang="en-US" dirty="0" err="1"/>
              <a:t>변수로</a:t>
            </a:r>
            <a:r>
              <a:rPr lang="en-US" dirty="0"/>
              <a:t> </a:t>
            </a:r>
            <a:r>
              <a:rPr lang="en-US" dirty="0" err="1"/>
              <a:t>나타났습니다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모델</a:t>
            </a:r>
            <a:r>
              <a:rPr lang="en-US" dirty="0"/>
              <a:t> </a:t>
            </a:r>
            <a:r>
              <a:rPr lang="en-US" dirty="0" err="1"/>
              <a:t>결과를</a:t>
            </a:r>
            <a:r>
              <a:rPr lang="en-US" dirty="0"/>
              <a:t> </a:t>
            </a:r>
            <a:r>
              <a:rPr lang="en-US" dirty="0" err="1"/>
              <a:t>원자료와</a:t>
            </a:r>
            <a:r>
              <a:rPr lang="en-US" dirty="0"/>
              <a:t> </a:t>
            </a:r>
            <a:r>
              <a:rPr lang="en-US" dirty="0" err="1"/>
              <a:t>함께</a:t>
            </a:r>
            <a:r>
              <a:rPr lang="en-US" dirty="0"/>
              <a:t> </a:t>
            </a:r>
            <a:r>
              <a:rPr lang="en-US" dirty="0" err="1"/>
              <a:t>확인했습니다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</a:t>
            </a:r>
            <a:r>
              <a:rPr lang="ko-KR" altLang="en-US" dirty="0"/>
              <a:t>차 배양 기준으로 </a:t>
            </a:r>
            <a:r>
              <a:rPr lang="en-US" dirty="0" err="1"/>
              <a:t>열두개</a:t>
            </a:r>
            <a:r>
              <a:rPr lang="en-US" dirty="0"/>
              <a:t> </a:t>
            </a:r>
            <a:r>
              <a:rPr lang="en-US" dirty="0" err="1"/>
              <a:t>조건의</a:t>
            </a:r>
            <a:r>
              <a:rPr lang="en-US" dirty="0"/>
              <a:t> </a:t>
            </a:r>
            <a:r>
              <a:rPr lang="en-US" dirty="0" err="1"/>
              <a:t>OD값은</a:t>
            </a:r>
            <a:r>
              <a:rPr lang="en-US" dirty="0"/>
              <a:t> 약 0.57에서 0.88 </a:t>
            </a:r>
            <a:r>
              <a:rPr lang="en-US" dirty="0" err="1"/>
              <a:t>범위였고</a:t>
            </a:r>
            <a:r>
              <a:rPr lang="en-US" dirty="0"/>
              <a:t>, / </a:t>
            </a:r>
            <a:r>
              <a:rPr lang="en-US" dirty="0" err="1"/>
              <a:t>Glucose가</a:t>
            </a:r>
            <a:r>
              <a:rPr lang="en-US" dirty="0"/>
              <a:t> 60그램 퍼 </a:t>
            </a:r>
            <a:r>
              <a:rPr lang="en-US" dirty="0" err="1"/>
              <a:t>리터인</a:t>
            </a:r>
            <a:r>
              <a:rPr lang="en-US" dirty="0"/>
              <a:t> </a:t>
            </a:r>
            <a:r>
              <a:rPr lang="en-US" dirty="0" err="1"/>
              <a:t>고농도</a:t>
            </a:r>
            <a:r>
              <a:rPr lang="en-US" dirty="0"/>
              <a:t> </a:t>
            </a:r>
            <a:r>
              <a:rPr lang="en-US" dirty="0" err="1"/>
              <a:t>조건에서</a:t>
            </a:r>
            <a:r>
              <a:rPr lang="en-US" dirty="0"/>
              <a:t> </a:t>
            </a:r>
            <a:r>
              <a:rPr lang="en-US" dirty="0" err="1"/>
              <a:t>높은</a:t>
            </a:r>
            <a:r>
              <a:rPr lang="en-US" dirty="0"/>
              <a:t> </a:t>
            </a:r>
            <a:r>
              <a:rPr lang="en-US" dirty="0" err="1"/>
              <a:t>OD값이</a:t>
            </a:r>
            <a:r>
              <a:rPr lang="en-US" dirty="0"/>
              <a:t> </a:t>
            </a:r>
            <a:r>
              <a:rPr lang="en-US" dirty="0" err="1"/>
              <a:t>모이는</a:t>
            </a:r>
            <a:r>
              <a:rPr lang="en-US" dirty="0"/>
              <a:t> </a:t>
            </a:r>
            <a:r>
              <a:rPr lang="en-US" dirty="0" err="1"/>
              <a:t>경향이</a:t>
            </a:r>
            <a:r>
              <a:rPr lang="en-US" dirty="0"/>
              <a:t> </a:t>
            </a:r>
            <a:r>
              <a:rPr lang="en-US" dirty="0" err="1"/>
              <a:t>보였습니다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다만</a:t>
            </a:r>
            <a:r>
              <a:rPr lang="en-US" dirty="0"/>
              <a:t> </a:t>
            </a:r>
            <a:r>
              <a:rPr lang="en-US" dirty="0" err="1"/>
              <a:t>표본이</a:t>
            </a:r>
            <a:r>
              <a:rPr lang="en-US" dirty="0"/>
              <a:t> </a:t>
            </a:r>
            <a:r>
              <a:rPr lang="en-US" dirty="0" err="1"/>
              <a:t>열두개뿐이므로</a:t>
            </a:r>
            <a:r>
              <a:rPr lang="en-US" dirty="0"/>
              <a:t> 이 </a:t>
            </a:r>
            <a:r>
              <a:rPr lang="en-US" dirty="0" err="1"/>
              <a:t>경향만으로</a:t>
            </a:r>
            <a:r>
              <a:rPr lang="en-US" dirty="0"/>
              <a:t> </a:t>
            </a:r>
            <a:r>
              <a:rPr lang="en-US" dirty="0" err="1"/>
              <a:t>인과관계를</a:t>
            </a:r>
            <a:r>
              <a:rPr lang="en-US" dirty="0"/>
              <a:t> </a:t>
            </a:r>
            <a:r>
              <a:rPr lang="en-US" dirty="0" err="1"/>
              <a:t>확정할</a:t>
            </a:r>
            <a:r>
              <a:rPr lang="en-US" dirty="0"/>
              <a:t> </a:t>
            </a:r>
            <a:r>
              <a:rPr lang="en-US" dirty="0" err="1"/>
              <a:t>수는</a:t>
            </a:r>
            <a:r>
              <a:rPr lang="en-US" dirty="0"/>
              <a:t> </a:t>
            </a:r>
            <a:r>
              <a:rPr lang="en-US" dirty="0" err="1"/>
              <a:t>없습니다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그렇다면</a:t>
            </a:r>
            <a:r>
              <a:rPr lang="en-US" dirty="0"/>
              <a:t> </a:t>
            </a:r>
            <a:r>
              <a:rPr lang="en-US" dirty="0" err="1"/>
              <a:t>모델이</a:t>
            </a:r>
            <a:r>
              <a:rPr lang="en-US" dirty="0"/>
              <a:t> </a:t>
            </a:r>
            <a:r>
              <a:rPr lang="en-US" dirty="0" err="1"/>
              <a:t>예측한</a:t>
            </a:r>
            <a:r>
              <a:rPr lang="en-US" dirty="0"/>
              <a:t> </a:t>
            </a:r>
            <a:r>
              <a:rPr lang="en-US" dirty="0" err="1"/>
              <a:t>최적의</a:t>
            </a:r>
            <a:r>
              <a:rPr lang="en-US" dirty="0"/>
              <a:t> </a:t>
            </a:r>
            <a:r>
              <a:rPr lang="en-US" dirty="0" err="1"/>
              <a:t>배지</a:t>
            </a:r>
            <a:r>
              <a:rPr lang="en-US" dirty="0"/>
              <a:t> </a:t>
            </a:r>
            <a:r>
              <a:rPr lang="en-US" dirty="0" err="1"/>
              <a:t>조성은</a:t>
            </a:r>
            <a:r>
              <a:rPr lang="en-US" dirty="0"/>
              <a:t> </a:t>
            </a:r>
            <a:r>
              <a:rPr lang="en-US" dirty="0" err="1"/>
              <a:t>무엇인지</a:t>
            </a:r>
            <a:r>
              <a:rPr lang="en-US" dirty="0"/>
              <a:t> </a:t>
            </a:r>
            <a:r>
              <a:rPr lang="en-US" dirty="0" err="1"/>
              <a:t>살펴보겠습니다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모델이</a:t>
            </a:r>
            <a:r>
              <a:rPr lang="en-US" dirty="0"/>
              <a:t> </a:t>
            </a:r>
            <a:r>
              <a:rPr lang="en-US" dirty="0" err="1"/>
              <a:t>제시한</a:t>
            </a:r>
            <a:r>
              <a:rPr lang="en-US" dirty="0"/>
              <a:t> </a:t>
            </a:r>
            <a:r>
              <a:rPr lang="en-US" dirty="0" err="1"/>
              <a:t>상위</a:t>
            </a:r>
            <a:r>
              <a:rPr lang="en-US" dirty="0"/>
              <a:t> 세 </a:t>
            </a:r>
            <a:r>
              <a:rPr lang="en-US" dirty="0" err="1"/>
              <a:t>조건에는</a:t>
            </a:r>
            <a:r>
              <a:rPr lang="en-US" dirty="0"/>
              <a:t> </a:t>
            </a:r>
            <a:r>
              <a:rPr lang="en-US" dirty="0" err="1"/>
              <a:t>공통적으로</a:t>
            </a:r>
            <a:r>
              <a:rPr lang="en-US" dirty="0"/>
              <a:t> </a:t>
            </a:r>
            <a:r>
              <a:rPr lang="en-US" dirty="0" err="1"/>
              <a:t>Glucose가</a:t>
            </a:r>
            <a:r>
              <a:rPr lang="en-US" dirty="0"/>
              <a:t> </a:t>
            </a:r>
            <a:r>
              <a:rPr lang="en-US" dirty="0" err="1"/>
              <a:t>최대</a:t>
            </a:r>
            <a:r>
              <a:rPr lang="en-US" dirty="0"/>
              <a:t> </a:t>
            </a:r>
            <a:r>
              <a:rPr lang="en-US" dirty="0" err="1"/>
              <a:t>농도인</a:t>
            </a:r>
            <a:r>
              <a:rPr lang="en-US" dirty="0"/>
              <a:t> 60그램 퍼 </a:t>
            </a:r>
            <a:r>
              <a:rPr lang="en-US" dirty="0" err="1"/>
              <a:t>리터로</a:t>
            </a:r>
            <a:r>
              <a:rPr lang="en-US" dirty="0"/>
              <a:t> </a:t>
            </a:r>
            <a:r>
              <a:rPr lang="en-US" dirty="0" err="1"/>
              <a:t>포함됐습니다</a:t>
            </a:r>
            <a:r>
              <a:rPr lang="en-US" dirty="0"/>
              <a:t>.</a:t>
            </a:r>
          </a:p>
          <a:p>
            <a:r>
              <a:rPr lang="en-US" dirty="0" err="1"/>
              <a:t>반면</a:t>
            </a:r>
            <a:r>
              <a:rPr lang="en-US" dirty="0"/>
              <a:t> Yeast </a:t>
            </a:r>
            <a:r>
              <a:rPr lang="en-US" dirty="0" err="1"/>
              <a:t>extract는</a:t>
            </a:r>
            <a:r>
              <a:rPr lang="en-US" dirty="0"/>
              <a:t> </a:t>
            </a:r>
            <a:r>
              <a:rPr lang="en-US" dirty="0" err="1"/>
              <a:t>낮은</a:t>
            </a:r>
            <a:r>
              <a:rPr lang="en-US" dirty="0"/>
              <a:t> </a:t>
            </a:r>
            <a:r>
              <a:rPr lang="en-US" dirty="0" err="1"/>
              <a:t>수준으로</a:t>
            </a:r>
            <a:r>
              <a:rPr lang="en-US" dirty="0"/>
              <a:t>,  / Meat </a:t>
            </a:r>
            <a:r>
              <a:rPr lang="en-US" dirty="0" err="1"/>
              <a:t>extract는</a:t>
            </a:r>
            <a:r>
              <a:rPr lang="en-US" dirty="0"/>
              <a:t> </a:t>
            </a:r>
            <a:r>
              <a:rPr lang="en-US" dirty="0" err="1"/>
              <a:t>중간</a:t>
            </a:r>
            <a:r>
              <a:rPr lang="en-US" dirty="0"/>
              <a:t> </a:t>
            </a:r>
            <a:r>
              <a:rPr lang="en-US" dirty="0" err="1"/>
              <a:t>수준으로</a:t>
            </a:r>
            <a:r>
              <a:rPr lang="en-US" dirty="0"/>
              <a:t> </a:t>
            </a:r>
            <a:r>
              <a:rPr lang="en-US" dirty="0" err="1"/>
              <a:t>예측됐습니다</a:t>
            </a:r>
            <a:r>
              <a:rPr lang="en-US" dirty="0"/>
              <a:t>.</a:t>
            </a:r>
          </a:p>
          <a:p>
            <a:r>
              <a:rPr lang="en-US" dirty="0"/>
              <a:t>이 때 </a:t>
            </a:r>
            <a:r>
              <a:rPr lang="en-US" dirty="0" err="1"/>
              <a:t>예측된</a:t>
            </a:r>
            <a:r>
              <a:rPr lang="en-US" dirty="0"/>
              <a:t> OD600의 </a:t>
            </a:r>
            <a:r>
              <a:rPr lang="en-US" dirty="0" err="1"/>
              <a:t>최댓값은</a:t>
            </a:r>
            <a:r>
              <a:rPr lang="en-US" dirty="0"/>
              <a:t> 0.854였습니다.</a:t>
            </a:r>
          </a:p>
          <a:p>
            <a:endParaRPr lang="en-US" dirty="0"/>
          </a:p>
          <a:p>
            <a:r>
              <a:rPr lang="en-US" dirty="0"/>
              <a:t>이 </a:t>
            </a:r>
            <a:r>
              <a:rPr lang="en-US" dirty="0" err="1"/>
              <a:t>값은</a:t>
            </a:r>
            <a:r>
              <a:rPr lang="en-US" dirty="0"/>
              <a:t> </a:t>
            </a:r>
            <a:r>
              <a:rPr lang="en-US" dirty="0" err="1"/>
              <a:t>실측</a:t>
            </a:r>
            <a:r>
              <a:rPr lang="en-US" dirty="0"/>
              <a:t> </a:t>
            </a:r>
            <a:r>
              <a:rPr lang="en-US" dirty="0" err="1"/>
              <a:t>최고값</a:t>
            </a:r>
            <a:r>
              <a:rPr lang="en-US" dirty="0"/>
              <a:t> 0.879보다 </a:t>
            </a:r>
            <a:r>
              <a:rPr lang="en-US" dirty="0" err="1"/>
              <a:t>낮았는데</a:t>
            </a:r>
            <a:r>
              <a:rPr lang="en-US" dirty="0"/>
              <a:t>, / </a:t>
            </a:r>
            <a:r>
              <a:rPr lang="en-US" dirty="0" err="1"/>
              <a:t>학습</a:t>
            </a:r>
            <a:r>
              <a:rPr lang="en-US" dirty="0"/>
              <a:t> </a:t>
            </a:r>
            <a:r>
              <a:rPr lang="en-US" dirty="0" err="1"/>
              <a:t>데이터가</a:t>
            </a:r>
            <a:r>
              <a:rPr lang="en-US" dirty="0"/>
              <a:t> 12개로 </a:t>
            </a:r>
            <a:r>
              <a:rPr lang="en-US" dirty="0" err="1"/>
              <a:t>제한되어</a:t>
            </a:r>
            <a:r>
              <a:rPr lang="en-US" dirty="0"/>
              <a:t> </a:t>
            </a:r>
            <a:r>
              <a:rPr lang="en-US" dirty="0" err="1"/>
              <a:t>있기</a:t>
            </a:r>
            <a:r>
              <a:rPr lang="en-US" dirty="0"/>
              <a:t> </a:t>
            </a:r>
            <a:r>
              <a:rPr lang="en-US" dirty="0" err="1"/>
              <a:t>때문으로</a:t>
            </a:r>
            <a:r>
              <a:rPr lang="en-US" dirty="0"/>
              <a:t> </a:t>
            </a:r>
            <a:r>
              <a:rPr lang="en-US" dirty="0" err="1"/>
              <a:t>판단하였습니다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추가</a:t>
            </a:r>
            <a:r>
              <a:rPr lang="en-US" dirty="0"/>
              <a:t> </a:t>
            </a:r>
            <a:r>
              <a:rPr lang="en-US" dirty="0" err="1"/>
              <a:t>실험으로</a:t>
            </a:r>
            <a:r>
              <a:rPr lang="en-US" dirty="0"/>
              <a:t> </a:t>
            </a:r>
            <a:r>
              <a:rPr lang="en-US" dirty="0" err="1"/>
              <a:t>데이터가</a:t>
            </a:r>
            <a:r>
              <a:rPr lang="en-US" dirty="0"/>
              <a:t> </a:t>
            </a:r>
            <a:r>
              <a:rPr lang="en-US" dirty="0" err="1"/>
              <a:t>축적되면</a:t>
            </a:r>
            <a:r>
              <a:rPr lang="en-US" dirty="0"/>
              <a:t> </a:t>
            </a:r>
            <a:r>
              <a:rPr lang="en-US" dirty="0" err="1"/>
              <a:t>예측을</a:t>
            </a:r>
            <a:r>
              <a:rPr lang="en-US" dirty="0"/>
              <a:t> </a:t>
            </a:r>
            <a:r>
              <a:rPr lang="en-US" dirty="0" err="1"/>
              <a:t>개선할</a:t>
            </a:r>
            <a:r>
              <a:rPr lang="en-US" dirty="0"/>
              <a:t> </a:t>
            </a:r>
            <a:r>
              <a:rPr lang="en-US" dirty="0" err="1"/>
              <a:t>여지가</a:t>
            </a:r>
            <a:r>
              <a:rPr lang="en-US" dirty="0"/>
              <a:t> </a:t>
            </a:r>
            <a:r>
              <a:rPr lang="en-US" dirty="0" err="1"/>
              <a:t>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이번에는</a:t>
            </a:r>
            <a:r>
              <a:rPr lang="en-US" dirty="0"/>
              <a:t> </a:t>
            </a:r>
            <a:r>
              <a:rPr lang="en-US" dirty="0" err="1"/>
              <a:t>배지</a:t>
            </a:r>
            <a:r>
              <a:rPr lang="en-US" dirty="0"/>
              <a:t> </a:t>
            </a:r>
            <a:r>
              <a:rPr lang="en-US" dirty="0" err="1"/>
              <a:t>성분을</a:t>
            </a:r>
            <a:r>
              <a:rPr lang="en-US" dirty="0"/>
              <a:t> </a:t>
            </a:r>
            <a:r>
              <a:rPr lang="en-US" dirty="0" err="1"/>
              <a:t>함께</a:t>
            </a:r>
            <a:r>
              <a:rPr lang="en-US" dirty="0"/>
              <a:t> </a:t>
            </a:r>
            <a:r>
              <a:rPr lang="en-US" dirty="0" err="1"/>
              <a:t>사용했을</a:t>
            </a:r>
            <a:r>
              <a:rPr lang="en-US" dirty="0"/>
              <a:t> 때 </a:t>
            </a:r>
            <a:r>
              <a:rPr lang="en-US" dirty="0" err="1"/>
              <a:t>나타나는</a:t>
            </a:r>
            <a:r>
              <a:rPr lang="en-US" dirty="0"/>
              <a:t> </a:t>
            </a:r>
            <a:r>
              <a:rPr lang="en-US" dirty="0" err="1"/>
              <a:t>상호작용을</a:t>
            </a:r>
            <a:r>
              <a:rPr lang="en-US" dirty="0"/>
              <a:t> </a:t>
            </a:r>
            <a:r>
              <a:rPr lang="en-US" dirty="0" err="1"/>
              <a:t>살펴보겠습니다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앞선</a:t>
            </a:r>
            <a:r>
              <a:rPr lang="en-US" dirty="0"/>
              <a:t> </a:t>
            </a:r>
            <a:r>
              <a:rPr lang="en-US" dirty="0" err="1"/>
              <a:t>변수</a:t>
            </a:r>
            <a:r>
              <a:rPr lang="en-US" dirty="0"/>
              <a:t> </a:t>
            </a:r>
            <a:r>
              <a:rPr lang="en-US" dirty="0" err="1"/>
              <a:t>중요도</a:t>
            </a:r>
            <a:r>
              <a:rPr lang="en-US" dirty="0"/>
              <a:t> </a:t>
            </a:r>
            <a:r>
              <a:rPr lang="en-US" dirty="0" err="1"/>
              <a:t>분석에서</a:t>
            </a:r>
            <a:r>
              <a:rPr lang="en-US" dirty="0"/>
              <a:t> </a:t>
            </a:r>
            <a:r>
              <a:rPr lang="en-US" dirty="0" err="1"/>
              <a:t>Peptone의</a:t>
            </a:r>
            <a:r>
              <a:rPr lang="en-US" dirty="0"/>
              <a:t> </a:t>
            </a:r>
            <a:r>
              <a:rPr lang="en-US" dirty="0" err="1"/>
              <a:t>단독</a:t>
            </a:r>
            <a:r>
              <a:rPr lang="en-US" dirty="0"/>
              <a:t> </a:t>
            </a:r>
            <a:r>
              <a:rPr lang="en-US" dirty="0" err="1"/>
              <a:t>중요도는</a:t>
            </a:r>
            <a:r>
              <a:rPr lang="en-US" dirty="0"/>
              <a:t> 11퍼센트로 네 </a:t>
            </a:r>
            <a:r>
              <a:rPr lang="en-US" dirty="0" err="1"/>
              <a:t>성분</a:t>
            </a:r>
            <a:r>
              <a:rPr lang="en-US" dirty="0"/>
              <a:t> 중 </a:t>
            </a:r>
            <a:r>
              <a:rPr lang="en-US" dirty="0" err="1"/>
              <a:t>가장</a:t>
            </a:r>
            <a:r>
              <a:rPr lang="en-US" dirty="0"/>
              <a:t> </a:t>
            </a:r>
            <a:r>
              <a:rPr lang="en-US" dirty="0" err="1"/>
              <a:t>낮았습니다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그러나</a:t>
            </a:r>
            <a:r>
              <a:rPr lang="en-US" dirty="0"/>
              <a:t> </a:t>
            </a:r>
            <a:r>
              <a:rPr lang="en-US" dirty="0" err="1"/>
              <a:t>성분</a:t>
            </a:r>
            <a:r>
              <a:rPr lang="en-US" dirty="0"/>
              <a:t> 간 </a:t>
            </a:r>
            <a:r>
              <a:rPr lang="en-US" dirty="0" err="1"/>
              <a:t>상호작용을</a:t>
            </a:r>
            <a:r>
              <a:rPr lang="en-US" dirty="0"/>
              <a:t> </a:t>
            </a:r>
            <a:r>
              <a:rPr lang="en-US" dirty="0" err="1"/>
              <a:t>분석한</a:t>
            </a:r>
            <a:r>
              <a:rPr lang="en-US" dirty="0"/>
              <a:t> </a:t>
            </a:r>
            <a:r>
              <a:rPr lang="en-US" dirty="0" err="1"/>
              <a:t>결과</a:t>
            </a:r>
            <a:r>
              <a:rPr lang="en-US" dirty="0"/>
              <a:t>, / </a:t>
            </a:r>
            <a:r>
              <a:rPr lang="ko-KR" altLang="en-US" dirty="0"/>
              <a:t>두번째 배양 기준으로</a:t>
            </a:r>
            <a:r>
              <a:rPr lang="en-US" altLang="ko-KR" dirty="0"/>
              <a:t>, / </a:t>
            </a:r>
            <a:r>
              <a:rPr lang="en-US" dirty="0"/>
              <a:t>Peptone과 Meat </a:t>
            </a:r>
            <a:r>
              <a:rPr lang="en-US" dirty="0" err="1"/>
              <a:t>extract의</a:t>
            </a:r>
            <a:r>
              <a:rPr lang="en-US" dirty="0"/>
              <a:t> </a:t>
            </a:r>
            <a:r>
              <a:rPr lang="en-US" dirty="0" err="1"/>
              <a:t>조합은</a:t>
            </a:r>
            <a:r>
              <a:rPr lang="en-US" dirty="0"/>
              <a:t> 0.146,</a:t>
            </a:r>
          </a:p>
          <a:p>
            <a:r>
              <a:rPr lang="en-US" dirty="0"/>
              <a:t>Peptone과 </a:t>
            </a:r>
            <a:r>
              <a:rPr lang="en-US" dirty="0" err="1"/>
              <a:t>Glucose의</a:t>
            </a:r>
            <a:r>
              <a:rPr lang="en-US" dirty="0"/>
              <a:t> </a:t>
            </a:r>
            <a:r>
              <a:rPr lang="en-US" dirty="0" err="1"/>
              <a:t>조합은</a:t>
            </a:r>
            <a:r>
              <a:rPr lang="en-US" dirty="0"/>
              <a:t> 0.143으로 </a:t>
            </a:r>
            <a:r>
              <a:rPr lang="en-US" dirty="0" err="1"/>
              <a:t>가장</a:t>
            </a:r>
            <a:r>
              <a:rPr lang="en-US" dirty="0"/>
              <a:t> </a:t>
            </a:r>
            <a:r>
              <a:rPr lang="en-US" dirty="0" err="1"/>
              <a:t>강한</a:t>
            </a:r>
            <a:r>
              <a:rPr lang="en-US" dirty="0"/>
              <a:t> </a:t>
            </a:r>
            <a:r>
              <a:rPr lang="en-US" dirty="0" err="1"/>
              <a:t>상호작용을</a:t>
            </a:r>
            <a:r>
              <a:rPr lang="en-US" dirty="0"/>
              <a:t> </a:t>
            </a:r>
            <a:r>
              <a:rPr lang="en-US" dirty="0" err="1"/>
              <a:t>보였습니다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즉 </a:t>
            </a:r>
            <a:r>
              <a:rPr lang="en-US" dirty="0" err="1"/>
              <a:t>Peptone은</a:t>
            </a:r>
            <a:r>
              <a:rPr lang="en-US" dirty="0"/>
              <a:t> </a:t>
            </a:r>
            <a:r>
              <a:rPr lang="en-US" dirty="0" err="1"/>
              <a:t>단독으로는</a:t>
            </a:r>
            <a:r>
              <a:rPr lang="en-US" dirty="0"/>
              <a:t> </a:t>
            </a:r>
            <a:r>
              <a:rPr lang="en-US" dirty="0" err="1"/>
              <a:t>영향이</a:t>
            </a:r>
            <a:r>
              <a:rPr lang="en-US" dirty="0"/>
              <a:t> </a:t>
            </a:r>
            <a:r>
              <a:rPr lang="en-US" dirty="0" err="1"/>
              <a:t>작아</a:t>
            </a:r>
            <a:r>
              <a:rPr lang="en-US" dirty="0"/>
              <a:t> </a:t>
            </a:r>
            <a:r>
              <a:rPr lang="en-US" dirty="0" err="1"/>
              <a:t>보이지만</a:t>
            </a:r>
            <a:r>
              <a:rPr lang="en-US" dirty="0"/>
              <a:t>,</a:t>
            </a:r>
          </a:p>
          <a:p>
            <a:r>
              <a:rPr lang="en-US" dirty="0"/>
              <a:t>Meat </a:t>
            </a:r>
            <a:r>
              <a:rPr lang="en-US" dirty="0" err="1"/>
              <a:t>extract나</a:t>
            </a:r>
            <a:r>
              <a:rPr lang="en-US" dirty="0"/>
              <a:t> </a:t>
            </a:r>
            <a:r>
              <a:rPr lang="en-US" dirty="0" err="1"/>
              <a:t>Glucose와</a:t>
            </a:r>
            <a:r>
              <a:rPr lang="en-US" dirty="0"/>
              <a:t> </a:t>
            </a:r>
            <a:r>
              <a:rPr lang="en-US" dirty="0" err="1"/>
              <a:t>함께</a:t>
            </a:r>
            <a:r>
              <a:rPr lang="en-US" dirty="0"/>
              <a:t> </a:t>
            </a:r>
            <a:r>
              <a:rPr lang="en-US" dirty="0" err="1"/>
              <a:t>사용될</a:t>
            </a:r>
            <a:r>
              <a:rPr lang="en-US" dirty="0"/>
              <a:t> 때 </a:t>
            </a:r>
            <a:r>
              <a:rPr lang="en-US" dirty="0" err="1"/>
              <a:t>생장에</a:t>
            </a:r>
            <a:r>
              <a:rPr lang="en-US" dirty="0"/>
              <a:t> </a:t>
            </a:r>
            <a:r>
              <a:rPr lang="en-US" dirty="0" err="1"/>
              <a:t>미치는</a:t>
            </a:r>
            <a:r>
              <a:rPr lang="en-US" dirty="0"/>
              <a:t> </a:t>
            </a:r>
            <a:r>
              <a:rPr lang="en-US" dirty="0" err="1"/>
              <a:t>영향이</a:t>
            </a:r>
            <a:r>
              <a:rPr lang="en-US" dirty="0"/>
              <a:t> </a:t>
            </a:r>
            <a:r>
              <a:rPr lang="en-US" dirty="0" err="1"/>
              <a:t>달라질</a:t>
            </a:r>
            <a:r>
              <a:rPr lang="en-US" dirty="0"/>
              <a:t> </a:t>
            </a:r>
            <a:r>
              <a:rPr lang="en-US" dirty="0" err="1"/>
              <a:t>가능성이</a:t>
            </a:r>
            <a:r>
              <a:rPr lang="en-US" dirty="0"/>
              <a:t> </a:t>
            </a:r>
            <a:r>
              <a:rPr lang="en-US" dirty="0" err="1"/>
              <a:t>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앞선</a:t>
            </a:r>
            <a:r>
              <a:rPr lang="en-US" dirty="0"/>
              <a:t> </a:t>
            </a:r>
            <a:r>
              <a:rPr lang="en-US" dirty="0" err="1"/>
              <a:t>분석을</a:t>
            </a:r>
            <a:r>
              <a:rPr lang="en-US" dirty="0"/>
              <a:t> </a:t>
            </a:r>
            <a:r>
              <a:rPr lang="en-US" dirty="0" err="1"/>
              <a:t>통해</a:t>
            </a:r>
            <a:r>
              <a:rPr lang="en-US" dirty="0"/>
              <a:t> 각 </a:t>
            </a:r>
            <a:r>
              <a:rPr lang="en-US" dirty="0" err="1"/>
              <a:t>배지</a:t>
            </a:r>
            <a:r>
              <a:rPr lang="en-US" dirty="0"/>
              <a:t> </a:t>
            </a:r>
            <a:r>
              <a:rPr lang="en-US" dirty="0" err="1"/>
              <a:t>성분의</a:t>
            </a:r>
            <a:r>
              <a:rPr lang="en-US" dirty="0"/>
              <a:t> </a:t>
            </a:r>
            <a:r>
              <a:rPr lang="en-US" dirty="0" err="1"/>
              <a:t>중요도뿐만</a:t>
            </a:r>
            <a:r>
              <a:rPr lang="en-US" dirty="0"/>
              <a:t> </a:t>
            </a:r>
            <a:r>
              <a:rPr lang="en-US" dirty="0" err="1"/>
              <a:t>아니라</a:t>
            </a:r>
            <a:r>
              <a:rPr lang="en-US" dirty="0"/>
              <a:t>,</a:t>
            </a:r>
          </a:p>
          <a:p>
            <a:r>
              <a:rPr lang="en-US" dirty="0" err="1"/>
              <a:t>성분</a:t>
            </a:r>
            <a:r>
              <a:rPr lang="en-US" dirty="0"/>
              <a:t> 간 </a:t>
            </a:r>
            <a:r>
              <a:rPr lang="en-US" dirty="0" err="1"/>
              <a:t>상호작용도</a:t>
            </a:r>
            <a:r>
              <a:rPr lang="en-US" dirty="0"/>
              <a:t> </a:t>
            </a:r>
            <a:r>
              <a:rPr lang="en-US" dirty="0" err="1"/>
              <a:t>확인할</a:t>
            </a:r>
            <a:r>
              <a:rPr lang="en-US" dirty="0"/>
              <a:t> 수 </a:t>
            </a:r>
            <a:r>
              <a:rPr lang="en-US" dirty="0" err="1"/>
              <a:t>있었습니다</a:t>
            </a:r>
            <a:r>
              <a:rPr lang="en-US" dirty="0"/>
              <a:t>. / </a:t>
            </a:r>
          </a:p>
          <a:p>
            <a:r>
              <a:rPr lang="en-US" dirty="0" err="1"/>
              <a:t>다만</a:t>
            </a:r>
            <a:r>
              <a:rPr lang="en-US" dirty="0"/>
              <a:t> </a:t>
            </a:r>
            <a:r>
              <a:rPr lang="en-US" dirty="0" err="1"/>
              <a:t>이번</a:t>
            </a:r>
            <a:r>
              <a:rPr lang="en-US" dirty="0"/>
              <a:t> </a:t>
            </a:r>
            <a:r>
              <a:rPr lang="en-US" dirty="0" err="1"/>
              <a:t>결과를</a:t>
            </a:r>
            <a:r>
              <a:rPr lang="en-US" dirty="0"/>
              <a:t> </a:t>
            </a:r>
            <a:r>
              <a:rPr lang="en-US" dirty="0" err="1"/>
              <a:t>해석할</a:t>
            </a:r>
            <a:r>
              <a:rPr lang="en-US" dirty="0"/>
              <a:t> </a:t>
            </a:r>
            <a:r>
              <a:rPr lang="en-US" dirty="0" err="1"/>
              <a:t>때는</a:t>
            </a:r>
            <a:r>
              <a:rPr lang="en-US" dirty="0"/>
              <a:t> 몇 </a:t>
            </a:r>
            <a:r>
              <a:rPr lang="en-US" dirty="0" err="1"/>
              <a:t>가지</a:t>
            </a:r>
            <a:r>
              <a:rPr lang="en-US" dirty="0"/>
              <a:t> </a:t>
            </a:r>
            <a:r>
              <a:rPr lang="en-US" dirty="0" err="1"/>
              <a:t>한계를</a:t>
            </a:r>
            <a:r>
              <a:rPr lang="en-US" dirty="0"/>
              <a:t> </a:t>
            </a:r>
            <a:r>
              <a:rPr lang="en-US" dirty="0" err="1"/>
              <a:t>함께</a:t>
            </a:r>
            <a:r>
              <a:rPr lang="en-US" dirty="0"/>
              <a:t> </a:t>
            </a:r>
            <a:r>
              <a:rPr lang="en-US" dirty="0" err="1"/>
              <a:t>고려해야</a:t>
            </a:r>
            <a:r>
              <a:rPr lang="en-US" dirty="0"/>
              <a:t> </a:t>
            </a:r>
            <a:r>
              <a:rPr lang="en-US" dirty="0" err="1"/>
              <a:t>합니다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먼저</a:t>
            </a:r>
            <a:r>
              <a:rPr lang="en-US" dirty="0"/>
              <a:t> </a:t>
            </a:r>
            <a:r>
              <a:rPr lang="en-US" dirty="0" err="1"/>
              <a:t>모델</a:t>
            </a:r>
            <a:r>
              <a:rPr lang="en-US" dirty="0"/>
              <a:t> </a:t>
            </a:r>
            <a:r>
              <a:rPr lang="en-US" dirty="0" err="1"/>
              <a:t>학습에</a:t>
            </a:r>
            <a:r>
              <a:rPr lang="en-US" dirty="0"/>
              <a:t> </a:t>
            </a:r>
            <a:r>
              <a:rPr lang="en-US" dirty="0" err="1"/>
              <a:t>사용한</a:t>
            </a:r>
            <a:r>
              <a:rPr lang="en-US" dirty="0"/>
              <a:t>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조건이</a:t>
            </a:r>
            <a:r>
              <a:rPr lang="en-US" dirty="0"/>
              <a:t> </a:t>
            </a:r>
            <a:r>
              <a:rPr lang="en-US" dirty="0" err="1"/>
              <a:t>열두개로</a:t>
            </a:r>
            <a:r>
              <a:rPr lang="en-US" dirty="0"/>
              <a:t> </a:t>
            </a:r>
            <a:r>
              <a:rPr lang="en-US" dirty="0" err="1"/>
              <a:t>적어</a:t>
            </a:r>
            <a:r>
              <a:rPr lang="en-US" dirty="0"/>
              <a:t>,</a:t>
            </a:r>
          </a:p>
          <a:p>
            <a:r>
              <a:rPr lang="en-US" dirty="0" err="1"/>
              <a:t>일부</a:t>
            </a:r>
            <a:r>
              <a:rPr lang="en-US" dirty="0"/>
              <a:t> </a:t>
            </a:r>
            <a:r>
              <a:rPr lang="en-US" dirty="0" err="1"/>
              <a:t>분석</a:t>
            </a:r>
            <a:r>
              <a:rPr lang="en-US" dirty="0"/>
              <a:t> </a:t>
            </a:r>
            <a:r>
              <a:rPr lang="en-US" dirty="0" err="1"/>
              <a:t>결과의</a:t>
            </a:r>
            <a:r>
              <a:rPr lang="en-US" dirty="0"/>
              <a:t> </a:t>
            </a:r>
            <a:r>
              <a:rPr lang="en-US" dirty="0" err="1"/>
              <a:t>신뢰도가</a:t>
            </a:r>
            <a:r>
              <a:rPr lang="en-US" dirty="0"/>
              <a:t> </a:t>
            </a:r>
            <a:r>
              <a:rPr lang="en-US" dirty="0" err="1"/>
              <a:t>제한적입니다</a:t>
            </a:r>
            <a:r>
              <a:rPr lang="en-US" dirty="0"/>
              <a:t>.</a:t>
            </a:r>
          </a:p>
          <a:p>
            <a:r>
              <a:rPr lang="en-US" dirty="0" err="1"/>
              <a:t>또한</a:t>
            </a:r>
            <a:r>
              <a:rPr lang="en-US" dirty="0"/>
              <a:t> </a:t>
            </a:r>
            <a:r>
              <a:rPr lang="en-US" dirty="0" err="1"/>
              <a:t>모델이</a:t>
            </a:r>
            <a:r>
              <a:rPr lang="en-US" dirty="0"/>
              <a:t> </a:t>
            </a:r>
            <a:r>
              <a:rPr lang="en-US" dirty="0" err="1"/>
              <a:t>예측한</a:t>
            </a:r>
            <a:r>
              <a:rPr lang="en-US" dirty="0"/>
              <a:t> </a:t>
            </a:r>
            <a:r>
              <a:rPr lang="en-US" dirty="0" err="1"/>
              <a:t>최적</a:t>
            </a:r>
            <a:r>
              <a:rPr lang="en-US" dirty="0"/>
              <a:t> </a:t>
            </a:r>
            <a:r>
              <a:rPr lang="en-US" dirty="0" err="1"/>
              <a:t>OD값은</a:t>
            </a:r>
            <a:r>
              <a:rPr lang="en-US" dirty="0"/>
              <a:t> 0.854로,</a:t>
            </a:r>
          </a:p>
          <a:p>
            <a:r>
              <a:rPr lang="en-US" dirty="0" err="1"/>
              <a:t>실제</a:t>
            </a:r>
            <a:r>
              <a:rPr lang="en-US" dirty="0"/>
              <a:t> </a:t>
            </a:r>
            <a:r>
              <a:rPr lang="en-US" dirty="0" err="1"/>
              <a:t>실험에서</a:t>
            </a:r>
            <a:r>
              <a:rPr lang="en-US" dirty="0"/>
              <a:t> </a:t>
            </a:r>
            <a:r>
              <a:rPr lang="en-US" dirty="0" err="1"/>
              <a:t>확인된</a:t>
            </a:r>
            <a:r>
              <a:rPr lang="en-US" dirty="0"/>
              <a:t> </a:t>
            </a:r>
            <a:r>
              <a:rPr lang="en-US" dirty="0" err="1"/>
              <a:t>최고값인</a:t>
            </a:r>
            <a:r>
              <a:rPr lang="en-US" dirty="0"/>
              <a:t> 0.879보다 </a:t>
            </a:r>
            <a:r>
              <a:rPr lang="en-US" dirty="0" err="1"/>
              <a:t>낮았습니다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능동학습을</a:t>
            </a:r>
            <a:r>
              <a:rPr lang="en-US" dirty="0"/>
              <a:t> </a:t>
            </a:r>
            <a:r>
              <a:rPr lang="en-US" dirty="0" err="1"/>
              <a:t>통해</a:t>
            </a:r>
            <a:r>
              <a:rPr lang="en-US" dirty="0"/>
              <a:t> </a:t>
            </a:r>
            <a:r>
              <a:rPr lang="en-US" dirty="0" err="1"/>
              <a:t>다음</a:t>
            </a:r>
            <a:r>
              <a:rPr lang="en-US" dirty="0"/>
              <a:t> </a:t>
            </a:r>
            <a:r>
              <a:rPr lang="en-US" dirty="0" err="1"/>
              <a:t>배양에</a:t>
            </a:r>
            <a:r>
              <a:rPr lang="en-US" dirty="0"/>
              <a:t> </a:t>
            </a:r>
            <a:r>
              <a:rPr lang="en-US" dirty="0" err="1"/>
              <a:t>적용할</a:t>
            </a:r>
            <a:r>
              <a:rPr lang="en-US" dirty="0"/>
              <a:t> </a:t>
            </a:r>
            <a:r>
              <a:rPr lang="en-US" dirty="0" err="1"/>
              <a:t>후보</a:t>
            </a:r>
            <a:r>
              <a:rPr lang="en-US" dirty="0"/>
              <a:t> </a:t>
            </a:r>
            <a:r>
              <a:rPr lang="en-US" dirty="0" err="1"/>
              <a:t>조합</a:t>
            </a:r>
            <a:r>
              <a:rPr lang="en-US" dirty="0"/>
              <a:t> 네 </a:t>
            </a:r>
            <a:r>
              <a:rPr lang="en-US" dirty="0" err="1"/>
              <a:t>개를</a:t>
            </a:r>
            <a:r>
              <a:rPr lang="en-US" dirty="0"/>
              <a:t> </a:t>
            </a:r>
            <a:r>
              <a:rPr lang="en-US" dirty="0" err="1"/>
              <a:t>추가로</a:t>
            </a:r>
            <a:r>
              <a:rPr lang="en-US" dirty="0"/>
              <a:t> </a:t>
            </a:r>
            <a:r>
              <a:rPr lang="en-US" dirty="0" err="1"/>
              <a:t>도출했지만</a:t>
            </a:r>
            <a:r>
              <a:rPr lang="en-US" dirty="0"/>
              <a:t>, / </a:t>
            </a:r>
            <a:r>
              <a:rPr lang="en-US" dirty="0" err="1"/>
              <a:t>연구</a:t>
            </a:r>
            <a:r>
              <a:rPr lang="en-US" dirty="0"/>
              <a:t> </a:t>
            </a:r>
            <a:r>
              <a:rPr lang="en-US" dirty="0" err="1"/>
              <a:t>기간의</a:t>
            </a:r>
            <a:r>
              <a:rPr lang="en-US" dirty="0"/>
              <a:t> </a:t>
            </a:r>
            <a:r>
              <a:rPr lang="en-US" dirty="0" err="1"/>
              <a:t>제약으로</a:t>
            </a:r>
            <a:r>
              <a:rPr lang="en-US" dirty="0"/>
              <a:t> </a:t>
            </a:r>
            <a:r>
              <a:rPr lang="en-US" dirty="0" err="1"/>
              <a:t>실제</a:t>
            </a:r>
            <a:r>
              <a:rPr lang="en-US" dirty="0"/>
              <a:t>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실험까지</a:t>
            </a:r>
            <a:r>
              <a:rPr lang="en-US" dirty="0"/>
              <a:t> </a:t>
            </a:r>
            <a:r>
              <a:rPr lang="en-US" dirty="0" err="1"/>
              <a:t>진행하지는</a:t>
            </a:r>
            <a:r>
              <a:rPr lang="en-US" dirty="0"/>
              <a:t> </a:t>
            </a:r>
            <a:r>
              <a:rPr lang="en-US" dirty="0" err="1"/>
              <a:t>못했습니다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따라서</a:t>
            </a:r>
            <a:r>
              <a:rPr lang="en-US" dirty="0"/>
              <a:t> </a:t>
            </a:r>
            <a:r>
              <a:rPr lang="en-US" dirty="0" err="1"/>
              <a:t>후속</a:t>
            </a:r>
            <a:r>
              <a:rPr lang="en-US" dirty="0"/>
              <a:t> </a:t>
            </a:r>
            <a:r>
              <a:rPr lang="en-US" dirty="0" err="1"/>
              <a:t>연구에서는</a:t>
            </a:r>
            <a:r>
              <a:rPr lang="en-US" dirty="0"/>
              <a:t> </a:t>
            </a:r>
            <a:r>
              <a:rPr lang="en-US" dirty="0" err="1"/>
              <a:t>추천된</a:t>
            </a:r>
            <a:r>
              <a:rPr lang="en-US" dirty="0"/>
              <a:t> </a:t>
            </a:r>
            <a:r>
              <a:rPr lang="en-US" dirty="0" err="1"/>
              <a:t>조건을</a:t>
            </a:r>
            <a:r>
              <a:rPr lang="en-US" dirty="0"/>
              <a:t> </a:t>
            </a:r>
            <a:r>
              <a:rPr lang="en-US" dirty="0" err="1"/>
              <a:t>실제로</a:t>
            </a:r>
            <a:r>
              <a:rPr lang="en-US" dirty="0"/>
              <a:t> </a:t>
            </a:r>
            <a:r>
              <a:rPr lang="en-US" dirty="0" err="1"/>
              <a:t>배양해</a:t>
            </a:r>
            <a:r>
              <a:rPr lang="en-US" dirty="0"/>
              <a:t> </a:t>
            </a:r>
            <a:r>
              <a:rPr lang="en-US" dirty="0" err="1"/>
              <a:t>모델의</a:t>
            </a:r>
            <a:r>
              <a:rPr lang="en-US" dirty="0"/>
              <a:t> </a:t>
            </a:r>
            <a:r>
              <a:rPr lang="en-US" dirty="0" err="1"/>
              <a:t>예측</a:t>
            </a:r>
            <a:r>
              <a:rPr lang="en-US" dirty="0"/>
              <a:t> </a:t>
            </a:r>
            <a:r>
              <a:rPr lang="en-US" dirty="0" err="1"/>
              <a:t>결과를</a:t>
            </a:r>
            <a:r>
              <a:rPr lang="en-US" dirty="0"/>
              <a:t> </a:t>
            </a:r>
            <a:r>
              <a:rPr lang="en-US" dirty="0" err="1"/>
              <a:t>검증할</a:t>
            </a:r>
            <a:r>
              <a:rPr lang="en-US" dirty="0"/>
              <a:t> </a:t>
            </a:r>
            <a:r>
              <a:rPr lang="en-US" dirty="0" err="1"/>
              <a:t>필요가</a:t>
            </a:r>
            <a:r>
              <a:rPr lang="en-US" dirty="0"/>
              <a:t> </a:t>
            </a:r>
            <a:r>
              <a:rPr lang="en-US" dirty="0" err="1"/>
              <a:t>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지금까지의</a:t>
            </a:r>
            <a:r>
              <a:rPr lang="en-US" dirty="0"/>
              <a:t> AI </a:t>
            </a:r>
            <a:r>
              <a:rPr lang="en-US" dirty="0" err="1"/>
              <a:t>기반</a:t>
            </a:r>
            <a:r>
              <a:rPr lang="en-US" dirty="0"/>
              <a:t>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최적화</a:t>
            </a:r>
            <a:r>
              <a:rPr lang="en-US" dirty="0"/>
              <a:t> </a:t>
            </a:r>
            <a:r>
              <a:rPr lang="en-US" dirty="0" err="1"/>
              <a:t>결과를</a:t>
            </a:r>
            <a:r>
              <a:rPr lang="en-US" dirty="0"/>
              <a:t> </a:t>
            </a:r>
            <a:r>
              <a:rPr lang="en-US" dirty="0" err="1"/>
              <a:t>정리하면</a:t>
            </a:r>
            <a:r>
              <a:rPr lang="en-US" dirty="0"/>
              <a:t> </a:t>
            </a:r>
            <a:r>
              <a:rPr lang="en-US" dirty="0" err="1"/>
              <a:t>다음과</a:t>
            </a:r>
            <a:r>
              <a:rPr lang="en-US" dirty="0"/>
              <a:t> </a:t>
            </a:r>
            <a:r>
              <a:rPr lang="en-US" dirty="0" err="1"/>
              <a:t>같습니다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먼저</a:t>
            </a:r>
            <a:r>
              <a:rPr lang="en-US" dirty="0"/>
              <a:t> </a:t>
            </a:r>
            <a:r>
              <a:rPr lang="en-US" dirty="0" err="1"/>
              <a:t>배지</a:t>
            </a:r>
            <a:r>
              <a:rPr lang="en-US" dirty="0"/>
              <a:t> </a:t>
            </a:r>
            <a:r>
              <a:rPr lang="en-US" dirty="0" err="1"/>
              <a:t>성분</a:t>
            </a:r>
            <a:r>
              <a:rPr lang="en-US" dirty="0"/>
              <a:t> </a:t>
            </a:r>
            <a:r>
              <a:rPr lang="en-US" dirty="0" err="1"/>
              <a:t>가운데</a:t>
            </a:r>
            <a:r>
              <a:rPr lang="en-US" dirty="0"/>
              <a:t> Meat </a:t>
            </a:r>
            <a:r>
              <a:rPr lang="en-US" dirty="0" err="1"/>
              <a:t>extract가</a:t>
            </a:r>
            <a:r>
              <a:rPr lang="en-US" dirty="0"/>
              <a:t> </a:t>
            </a:r>
            <a:r>
              <a:rPr lang="en-US" dirty="0" err="1"/>
              <a:t>가장</a:t>
            </a:r>
            <a:r>
              <a:rPr lang="en-US" dirty="0"/>
              <a:t> </a:t>
            </a:r>
            <a:r>
              <a:rPr lang="en-US" dirty="0" err="1"/>
              <a:t>높은</a:t>
            </a:r>
            <a:r>
              <a:rPr lang="en-US" dirty="0"/>
              <a:t> </a:t>
            </a:r>
            <a:r>
              <a:rPr lang="en-US" dirty="0" err="1"/>
              <a:t>변수</a:t>
            </a:r>
            <a:r>
              <a:rPr lang="en-US" dirty="0"/>
              <a:t> </a:t>
            </a:r>
            <a:r>
              <a:rPr lang="en-US" dirty="0" err="1"/>
              <a:t>중요도를</a:t>
            </a:r>
            <a:r>
              <a:rPr lang="en-US" dirty="0"/>
              <a:t> </a:t>
            </a:r>
            <a:r>
              <a:rPr lang="en-US" dirty="0" err="1"/>
              <a:t>보였습니다</a:t>
            </a:r>
            <a:r>
              <a:rPr lang="en-US" dirty="0"/>
              <a:t>.</a:t>
            </a:r>
          </a:p>
          <a:p>
            <a:r>
              <a:rPr lang="en-US" dirty="0" err="1"/>
              <a:t>모델이</a:t>
            </a:r>
            <a:r>
              <a:rPr lang="en-US" dirty="0"/>
              <a:t> </a:t>
            </a:r>
            <a:r>
              <a:rPr lang="en-US" dirty="0" err="1"/>
              <a:t>예측한</a:t>
            </a:r>
            <a:r>
              <a:rPr lang="en-US" dirty="0"/>
              <a:t> </a:t>
            </a:r>
            <a:r>
              <a:rPr lang="en-US" dirty="0" err="1"/>
              <a:t>최적</a:t>
            </a:r>
            <a:r>
              <a:rPr lang="en-US" dirty="0"/>
              <a:t> </a:t>
            </a:r>
            <a:r>
              <a:rPr lang="en-US" dirty="0" err="1"/>
              <a:t>조성에서는</a:t>
            </a:r>
            <a:r>
              <a:rPr lang="en-US" dirty="0"/>
              <a:t> </a:t>
            </a:r>
            <a:r>
              <a:rPr lang="en-US" dirty="0" err="1"/>
              <a:t>Glucose가</a:t>
            </a:r>
            <a:r>
              <a:rPr lang="en-US" dirty="0"/>
              <a:t> </a:t>
            </a:r>
            <a:r>
              <a:rPr lang="en-US" dirty="0" err="1"/>
              <a:t>최대</a:t>
            </a:r>
            <a:r>
              <a:rPr lang="en-US" dirty="0"/>
              <a:t> </a:t>
            </a:r>
            <a:r>
              <a:rPr lang="en-US" dirty="0" err="1"/>
              <a:t>농도로</a:t>
            </a:r>
            <a:r>
              <a:rPr lang="en-US" dirty="0"/>
              <a:t> </a:t>
            </a:r>
            <a:r>
              <a:rPr lang="en-US" dirty="0" err="1"/>
              <a:t>포함됐으며</a:t>
            </a:r>
            <a:r>
              <a:rPr lang="en-US" dirty="0"/>
              <a:t>, / </a:t>
            </a:r>
            <a:r>
              <a:rPr lang="en-US" dirty="0" err="1"/>
              <a:t>예측</a:t>
            </a:r>
            <a:r>
              <a:rPr lang="en-US" dirty="0"/>
              <a:t> </a:t>
            </a:r>
            <a:r>
              <a:rPr lang="en-US" dirty="0" err="1"/>
              <a:t>OD값은</a:t>
            </a:r>
            <a:r>
              <a:rPr lang="en-US" dirty="0"/>
              <a:t> 0.854로 </a:t>
            </a:r>
            <a:r>
              <a:rPr lang="en-US" dirty="0" err="1"/>
              <a:t>실측</a:t>
            </a:r>
            <a:r>
              <a:rPr lang="en-US" dirty="0"/>
              <a:t> </a:t>
            </a:r>
            <a:r>
              <a:rPr lang="en-US" dirty="0" err="1"/>
              <a:t>최고값인</a:t>
            </a:r>
            <a:r>
              <a:rPr lang="en-US" dirty="0"/>
              <a:t> 0.879에 </a:t>
            </a:r>
            <a:r>
              <a:rPr lang="en-US" dirty="0" err="1"/>
              <a:t>근접했습니다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또한</a:t>
            </a:r>
            <a:r>
              <a:rPr lang="en-US" dirty="0"/>
              <a:t> </a:t>
            </a:r>
            <a:r>
              <a:rPr lang="en-US" dirty="0" err="1"/>
              <a:t>Peptone은</a:t>
            </a:r>
            <a:r>
              <a:rPr lang="en-US" dirty="0"/>
              <a:t> </a:t>
            </a:r>
            <a:r>
              <a:rPr lang="en-US" dirty="0" err="1"/>
              <a:t>개별적인</a:t>
            </a:r>
            <a:r>
              <a:rPr lang="en-US" dirty="0"/>
              <a:t> </a:t>
            </a:r>
            <a:r>
              <a:rPr lang="en-US" dirty="0" err="1"/>
              <a:t>중요도는</a:t>
            </a:r>
            <a:r>
              <a:rPr lang="en-US" dirty="0"/>
              <a:t> </a:t>
            </a:r>
            <a:r>
              <a:rPr lang="en-US" dirty="0" err="1"/>
              <a:t>낮았지만</a:t>
            </a:r>
            <a:r>
              <a:rPr lang="en-US" dirty="0"/>
              <a:t>, / Meat extract 및 </a:t>
            </a:r>
            <a:r>
              <a:rPr lang="en-US" dirty="0" err="1"/>
              <a:t>Glucose와</a:t>
            </a:r>
            <a:r>
              <a:rPr lang="en-US" dirty="0"/>
              <a:t> </a:t>
            </a:r>
            <a:r>
              <a:rPr lang="en-US" dirty="0" err="1"/>
              <a:t>함께</a:t>
            </a:r>
            <a:r>
              <a:rPr lang="en-US" dirty="0"/>
              <a:t> </a:t>
            </a:r>
            <a:r>
              <a:rPr lang="en-US" dirty="0" err="1"/>
              <a:t>사용했을</a:t>
            </a:r>
            <a:r>
              <a:rPr lang="en-US" dirty="0"/>
              <a:t> 때 </a:t>
            </a:r>
            <a:r>
              <a:rPr lang="en-US" dirty="0" err="1"/>
              <a:t>높은</a:t>
            </a:r>
            <a:r>
              <a:rPr lang="en-US" dirty="0"/>
              <a:t> </a:t>
            </a:r>
            <a:r>
              <a:rPr lang="en-US" dirty="0" err="1"/>
              <a:t>상호작용을</a:t>
            </a:r>
            <a:r>
              <a:rPr lang="en-US" dirty="0"/>
              <a:t> </a:t>
            </a:r>
            <a:r>
              <a:rPr lang="en-US" dirty="0" err="1"/>
              <a:t>보였습니다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이러한</a:t>
            </a:r>
            <a:r>
              <a:rPr lang="en-US" dirty="0"/>
              <a:t> </a:t>
            </a:r>
            <a:r>
              <a:rPr lang="en-US" dirty="0" err="1"/>
              <a:t>결과를</a:t>
            </a:r>
            <a:r>
              <a:rPr lang="en-US" dirty="0"/>
              <a:t> </a:t>
            </a:r>
            <a:r>
              <a:rPr lang="en-US" dirty="0" err="1"/>
              <a:t>바탕으로</a:t>
            </a:r>
            <a:r>
              <a:rPr lang="en-US" dirty="0"/>
              <a:t> </a:t>
            </a:r>
            <a:r>
              <a:rPr lang="en-US" dirty="0" err="1"/>
              <a:t>다음</a:t>
            </a:r>
            <a:r>
              <a:rPr lang="en-US" dirty="0"/>
              <a:t>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실험에</a:t>
            </a:r>
            <a:r>
              <a:rPr lang="en-US" dirty="0"/>
              <a:t> </a:t>
            </a:r>
            <a:r>
              <a:rPr lang="en-US" dirty="0" err="1"/>
              <a:t>적용할</a:t>
            </a:r>
            <a:r>
              <a:rPr lang="en-US" dirty="0"/>
              <a:t> </a:t>
            </a:r>
            <a:r>
              <a:rPr lang="en-US" dirty="0" err="1"/>
              <a:t>후보</a:t>
            </a:r>
            <a:r>
              <a:rPr lang="en-US" dirty="0"/>
              <a:t> </a:t>
            </a:r>
            <a:r>
              <a:rPr lang="en-US" dirty="0" err="1"/>
              <a:t>조건을</a:t>
            </a:r>
            <a:r>
              <a:rPr lang="en-US" dirty="0"/>
              <a:t> </a:t>
            </a:r>
            <a:r>
              <a:rPr lang="en-US" dirty="0" err="1"/>
              <a:t>제안할</a:t>
            </a:r>
            <a:r>
              <a:rPr lang="en-US" dirty="0"/>
              <a:t> 수 </a:t>
            </a:r>
            <a:r>
              <a:rPr lang="en-US" dirty="0" err="1"/>
              <a:t>있었습니다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마지막으로 연구 결과를 종합하겠습니다.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앞서</a:t>
            </a:r>
            <a:r>
              <a:rPr lang="en-US" dirty="0"/>
              <a:t> </a:t>
            </a:r>
            <a:r>
              <a:rPr lang="en-US" dirty="0" err="1"/>
              <a:t>제시한</a:t>
            </a:r>
            <a:r>
              <a:rPr lang="en-US" dirty="0"/>
              <a:t> 세 </a:t>
            </a:r>
            <a:r>
              <a:rPr lang="en-US" dirty="0" err="1"/>
              <a:t>가지</a:t>
            </a:r>
            <a:r>
              <a:rPr lang="en-US" dirty="0"/>
              <a:t> </a:t>
            </a:r>
            <a:r>
              <a:rPr lang="en-US" dirty="0" err="1"/>
              <a:t>연구</a:t>
            </a:r>
            <a:r>
              <a:rPr lang="en-US" dirty="0"/>
              <a:t> </a:t>
            </a:r>
            <a:r>
              <a:rPr lang="en-US" dirty="0" err="1"/>
              <a:t>질문에</a:t>
            </a:r>
            <a:r>
              <a:rPr lang="en-US" dirty="0"/>
              <a:t> </a:t>
            </a:r>
            <a:r>
              <a:rPr lang="en-US" dirty="0" err="1"/>
              <a:t>대해</a:t>
            </a:r>
            <a:r>
              <a:rPr lang="en-US" dirty="0"/>
              <a:t> </a:t>
            </a:r>
            <a:r>
              <a:rPr lang="en-US" dirty="0" err="1"/>
              <a:t>결과를</a:t>
            </a:r>
            <a:r>
              <a:rPr lang="en-US" dirty="0"/>
              <a:t> </a:t>
            </a:r>
            <a:r>
              <a:rPr lang="en-US" dirty="0" err="1"/>
              <a:t>정리하겠습니다</a:t>
            </a:r>
            <a:r>
              <a:rPr lang="en-US" dirty="0"/>
              <a:t>.</a:t>
            </a:r>
          </a:p>
          <a:p>
            <a:r>
              <a:rPr lang="en-US" dirty="0" err="1"/>
              <a:t>먼저</a:t>
            </a:r>
            <a:r>
              <a:rPr lang="en-US" dirty="0"/>
              <a:t>, </a:t>
            </a:r>
            <a:r>
              <a:rPr lang="en-US" dirty="0" err="1"/>
              <a:t>도로변과</a:t>
            </a:r>
            <a:r>
              <a:rPr lang="en-US" dirty="0"/>
              <a:t> </a:t>
            </a:r>
            <a:r>
              <a:rPr lang="en-US" dirty="0" err="1"/>
              <a:t>공원</a:t>
            </a:r>
            <a:r>
              <a:rPr lang="en-US" dirty="0"/>
              <a:t> </a:t>
            </a:r>
            <a:r>
              <a:rPr lang="en-US" dirty="0" err="1"/>
              <a:t>토양의</a:t>
            </a:r>
            <a:r>
              <a:rPr lang="en-US" dirty="0"/>
              <a:t> </a:t>
            </a:r>
            <a:r>
              <a:rPr lang="en-US" dirty="0" err="1"/>
              <a:t>세균</a:t>
            </a:r>
            <a:r>
              <a:rPr lang="en-US" dirty="0"/>
              <a:t> </a:t>
            </a:r>
            <a:r>
              <a:rPr lang="en-US" dirty="0" err="1"/>
              <a:t>군집이</a:t>
            </a:r>
            <a:r>
              <a:rPr lang="en-US" dirty="0"/>
              <a:t> </a:t>
            </a:r>
            <a:r>
              <a:rPr lang="en-US" dirty="0" err="1"/>
              <a:t>서로</a:t>
            </a:r>
            <a:r>
              <a:rPr lang="en-US" dirty="0"/>
              <a:t> </a:t>
            </a:r>
            <a:r>
              <a:rPr lang="en-US" dirty="0" err="1"/>
              <a:t>다른지</a:t>
            </a:r>
            <a:r>
              <a:rPr lang="en-US" dirty="0"/>
              <a:t> </a:t>
            </a:r>
            <a:r>
              <a:rPr lang="en-US" dirty="0" err="1"/>
              <a:t>비교</a:t>
            </a:r>
            <a:r>
              <a:rPr lang="en-US" dirty="0"/>
              <a:t> </a:t>
            </a:r>
            <a:r>
              <a:rPr lang="en-US" dirty="0" err="1"/>
              <a:t>했을</a:t>
            </a:r>
            <a:r>
              <a:rPr lang="en-US" dirty="0"/>
              <a:t> 때, / 두 </a:t>
            </a:r>
            <a:r>
              <a:rPr lang="en-US" dirty="0" err="1"/>
              <a:t>환경</a:t>
            </a:r>
            <a:r>
              <a:rPr lang="en-US" dirty="0"/>
              <a:t> </a:t>
            </a:r>
            <a:r>
              <a:rPr lang="en-US" dirty="0" err="1"/>
              <a:t>사이에서</a:t>
            </a:r>
            <a:r>
              <a:rPr lang="en-US" dirty="0"/>
              <a:t> </a:t>
            </a:r>
            <a:r>
              <a:rPr lang="en-US" dirty="0" err="1"/>
              <a:t>통계적으로</a:t>
            </a:r>
            <a:r>
              <a:rPr lang="en-US" dirty="0"/>
              <a:t> </a:t>
            </a:r>
            <a:r>
              <a:rPr lang="en-US" dirty="0" err="1"/>
              <a:t>유의한</a:t>
            </a:r>
            <a:r>
              <a:rPr lang="en-US" dirty="0"/>
              <a:t> </a:t>
            </a:r>
            <a:r>
              <a:rPr lang="en-US" dirty="0" err="1"/>
              <a:t>차이를</a:t>
            </a:r>
            <a:r>
              <a:rPr lang="en-US" dirty="0"/>
              <a:t> </a:t>
            </a:r>
            <a:r>
              <a:rPr lang="en-US" dirty="0" err="1"/>
              <a:t>보인</a:t>
            </a:r>
            <a:r>
              <a:rPr lang="en-US" dirty="0"/>
              <a:t> </a:t>
            </a:r>
            <a:r>
              <a:rPr lang="en-US" dirty="0" err="1"/>
              <a:t>분류군은</a:t>
            </a:r>
            <a:r>
              <a:rPr lang="en-US" dirty="0"/>
              <a:t> </a:t>
            </a:r>
            <a:r>
              <a:rPr lang="en-US" dirty="0" err="1"/>
              <a:t>확인되지</a:t>
            </a:r>
            <a:r>
              <a:rPr lang="en-US" dirty="0"/>
              <a:t> </a:t>
            </a:r>
            <a:r>
              <a:rPr lang="en-US" dirty="0" err="1"/>
              <a:t>않았습니다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다음으로</a:t>
            </a:r>
            <a:r>
              <a:rPr lang="en-US" dirty="0"/>
              <a:t>, 두 </a:t>
            </a:r>
            <a:r>
              <a:rPr lang="en-US" dirty="0" err="1"/>
              <a:t>환경을</a:t>
            </a:r>
            <a:r>
              <a:rPr lang="en-US" dirty="0"/>
              <a:t> </a:t>
            </a:r>
            <a:r>
              <a:rPr lang="en-US" dirty="0" err="1"/>
              <a:t>구분할</a:t>
            </a:r>
            <a:r>
              <a:rPr lang="en-US" dirty="0"/>
              <a:t> 수 </a:t>
            </a:r>
            <a:r>
              <a:rPr lang="en-US" dirty="0" err="1"/>
              <a:t>있는</a:t>
            </a:r>
            <a:r>
              <a:rPr lang="en-US" dirty="0"/>
              <a:t> </a:t>
            </a:r>
            <a:r>
              <a:rPr lang="en-US" dirty="0" err="1"/>
              <a:t>세균</a:t>
            </a:r>
            <a:r>
              <a:rPr lang="en-US" dirty="0"/>
              <a:t> </a:t>
            </a:r>
            <a:r>
              <a:rPr lang="en-US" dirty="0" err="1"/>
              <a:t>분류군이</a:t>
            </a:r>
            <a:r>
              <a:rPr lang="en-US" dirty="0"/>
              <a:t> </a:t>
            </a:r>
            <a:r>
              <a:rPr lang="en-US" dirty="0" err="1"/>
              <a:t>있는지</a:t>
            </a:r>
            <a:r>
              <a:rPr lang="en-US" dirty="0"/>
              <a:t> </a:t>
            </a:r>
            <a:r>
              <a:rPr lang="en-US" dirty="0" err="1"/>
              <a:t>확인했을</a:t>
            </a:r>
            <a:r>
              <a:rPr lang="en-US" dirty="0"/>
              <a:t> </a:t>
            </a:r>
            <a:r>
              <a:rPr lang="en-US" dirty="0" err="1"/>
              <a:t>때는</a:t>
            </a:r>
            <a:r>
              <a:rPr lang="en-US" dirty="0"/>
              <a:t>, / </a:t>
            </a:r>
            <a:r>
              <a:rPr lang="en-US" dirty="0" err="1"/>
              <a:t>일부</a:t>
            </a:r>
            <a:r>
              <a:rPr lang="en-US" dirty="0"/>
              <a:t> </a:t>
            </a:r>
            <a:r>
              <a:rPr lang="en-US" dirty="0" err="1"/>
              <a:t>분류군에서</a:t>
            </a:r>
            <a:r>
              <a:rPr lang="en-US" dirty="0"/>
              <a:t> </a:t>
            </a:r>
            <a:r>
              <a:rPr lang="en-US" dirty="0" err="1"/>
              <a:t>차이가</a:t>
            </a:r>
            <a:r>
              <a:rPr lang="en-US" dirty="0"/>
              <a:t> </a:t>
            </a:r>
            <a:r>
              <a:rPr lang="en-US" dirty="0" err="1"/>
              <a:t>나타나는</a:t>
            </a:r>
            <a:r>
              <a:rPr lang="en-US" dirty="0"/>
              <a:t> </a:t>
            </a:r>
            <a:r>
              <a:rPr lang="en-US" dirty="0" err="1"/>
              <a:t>경향은</a:t>
            </a:r>
            <a:r>
              <a:rPr lang="en-US" dirty="0"/>
              <a:t> </a:t>
            </a:r>
            <a:r>
              <a:rPr lang="en-US" dirty="0" err="1"/>
              <a:t>확인했지만</a:t>
            </a:r>
            <a:r>
              <a:rPr lang="en-US" dirty="0"/>
              <a:t>, / </a:t>
            </a:r>
            <a:r>
              <a:rPr lang="en-US" dirty="0" err="1"/>
              <a:t>통계적으로</a:t>
            </a:r>
            <a:r>
              <a:rPr lang="en-US" dirty="0"/>
              <a:t> </a:t>
            </a:r>
            <a:r>
              <a:rPr lang="en-US" dirty="0" err="1"/>
              <a:t>유의한</a:t>
            </a:r>
            <a:r>
              <a:rPr lang="en-US" dirty="0"/>
              <a:t> </a:t>
            </a:r>
            <a:r>
              <a:rPr lang="en-US" dirty="0" err="1"/>
              <a:t>수준에는</a:t>
            </a:r>
            <a:r>
              <a:rPr lang="en-US" dirty="0"/>
              <a:t> </a:t>
            </a:r>
            <a:r>
              <a:rPr lang="en-US" dirty="0" err="1"/>
              <a:t>도달하지</a:t>
            </a:r>
            <a:r>
              <a:rPr lang="en-US" dirty="0"/>
              <a:t> </a:t>
            </a:r>
            <a:r>
              <a:rPr lang="en-US" dirty="0" err="1"/>
              <a:t>못했습니다</a:t>
            </a:r>
            <a:r>
              <a:rPr lang="en-US" dirty="0"/>
              <a:t>. / </a:t>
            </a:r>
            <a:r>
              <a:rPr lang="en-US" dirty="0" err="1"/>
              <a:t>따라서</a:t>
            </a:r>
            <a:r>
              <a:rPr lang="en-US" dirty="0"/>
              <a:t> 현 </a:t>
            </a:r>
            <a:r>
              <a:rPr lang="en-US" dirty="0" err="1"/>
              <a:t>단계에서는</a:t>
            </a:r>
            <a:r>
              <a:rPr lang="en-US" dirty="0"/>
              <a:t> 두 </a:t>
            </a:r>
            <a:r>
              <a:rPr lang="en-US" dirty="0" err="1"/>
              <a:t>환경을</a:t>
            </a:r>
            <a:r>
              <a:rPr lang="en-US" dirty="0"/>
              <a:t> </a:t>
            </a:r>
            <a:r>
              <a:rPr lang="en-US" dirty="0" err="1"/>
              <a:t>구분하는</a:t>
            </a:r>
            <a:r>
              <a:rPr lang="en-US" dirty="0"/>
              <a:t> </a:t>
            </a:r>
            <a:r>
              <a:rPr lang="en-US" dirty="0" err="1"/>
              <a:t>지표가</a:t>
            </a:r>
            <a:r>
              <a:rPr lang="en-US" dirty="0"/>
              <a:t> </a:t>
            </a:r>
            <a:r>
              <a:rPr lang="en-US" dirty="0" err="1"/>
              <a:t>존재한다고</a:t>
            </a:r>
            <a:r>
              <a:rPr lang="en-US" dirty="0"/>
              <a:t> </a:t>
            </a:r>
            <a:r>
              <a:rPr lang="en-US" dirty="0" err="1"/>
              <a:t>단정</a:t>
            </a:r>
            <a:r>
              <a:rPr lang="en-US" dirty="0"/>
              <a:t> </a:t>
            </a:r>
            <a:r>
              <a:rPr lang="en-US" dirty="0" err="1"/>
              <a:t>짓기에는</a:t>
            </a:r>
            <a:r>
              <a:rPr lang="en-US" dirty="0"/>
              <a:t> </a:t>
            </a:r>
            <a:r>
              <a:rPr lang="en-US" dirty="0" err="1"/>
              <a:t>근거가</a:t>
            </a:r>
            <a:r>
              <a:rPr lang="en-US" dirty="0"/>
              <a:t> </a:t>
            </a:r>
            <a:r>
              <a:rPr lang="en-US" dirty="0" err="1"/>
              <a:t>부족했습니다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마지막으로</a:t>
            </a:r>
            <a:r>
              <a:rPr lang="en-US" dirty="0"/>
              <a:t>,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가능한</a:t>
            </a:r>
            <a:r>
              <a:rPr lang="en-US" dirty="0"/>
              <a:t> </a:t>
            </a:r>
            <a:r>
              <a:rPr lang="en-US" dirty="0" err="1"/>
              <a:t>균주를</a:t>
            </a:r>
            <a:r>
              <a:rPr lang="en-US" dirty="0"/>
              <a:t> </a:t>
            </a:r>
            <a:r>
              <a:rPr lang="en-US" dirty="0" err="1"/>
              <a:t>확보하고</a:t>
            </a:r>
            <a:r>
              <a:rPr lang="en-US" dirty="0"/>
              <a:t>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조건을</a:t>
            </a:r>
            <a:r>
              <a:rPr lang="en-US" dirty="0"/>
              <a:t> </a:t>
            </a:r>
            <a:r>
              <a:rPr lang="en-US" dirty="0" err="1"/>
              <a:t>최적화할</a:t>
            </a:r>
            <a:r>
              <a:rPr lang="en-US" dirty="0"/>
              <a:t> 수 </a:t>
            </a:r>
            <a:r>
              <a:rPr lang="en-US" dirty="0" err="1"/>
              <a:t>있는지</a:t>
            </a:r>
            <a:r>
              <a:rPr lang="en-US" dirty="0"/>
              <a:t> </a:t>
            </a:r>
            <a:r>
              <a:rPr lang="en-US" dirty="0" err="1"/>
              <a:t>살펴</a:t>
            </a:r>
            <a:r>
              <a:rPr lang="en-US" dirty="0"/>
              <a:t> </a:t>
            </a:r>
            <a:r>
              <a:rPr lang="en-US" dirty="0" err="1"/>
              <a:t>봤을</a:t>
            </a:r>
            <a:r>
              <a:rPr lang="en-US" dirty="0"/>
              <a:t> 때, / </a:t>
            </a:r>
            <a:r>
              <a:rPr lang="en-US" dirty="0" err="1"/>
              <a:t>프리스티아</a:t>
            </a:r>
            <a:r>
              <a:rPr lang="en-US" dirty="0"/>
              <a:t> </a:t>
            </a:r>
            <a:r>
              <a:rPr lang="en-US" dirty="0" err="1"/>
              <a:t>메가테리움을</a:t>
            </a:r>
            <a:r>
              <a:rPr lang="en-US" dirty="0"/>
              <a:t> </a:t>
            </a:r>
            <a:r>
              <a:rPr lang="en-US" dirty="0" err="1"/>
              <a:t>분리했고</a:t>
            </a:r>
            <a:r>
              <a:rPr lang="en-US" dirty="0"/>
              <a:t>, / </a:t>
            </a:r>
            <a:r>
              <a:rPr lang="en-US" dirty="0" err="1"/>
              <a:t>METIS와</a:t>
            </a:r>
            <a:r>
              <a:rPr lang="en-US" dirty="0"/>
              <a:t> </a:t>
            </a:r>
            <a:r>
              <a:rPr lang="en-US" dirty="0" err="1"/>
              <a:t>XGBoost를</a:t>
            </a:r>
            <a:r>
              <a:rPr lang="en-US" dirty="0"/>
              <a:t> </a:t>
            </a:r>
            <a:r>
              <a:rPr lang="en-US" dirty="0" err="1"/>
              <a:t>통해</a:t>
            </a:r>
            <a:r>
              <a:rPr lang="en-US" dirty="0"/>
              <a:t>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조건과</a:t>
            </a:r>
            <a:r>
              <a:rPr lang="en-US" dirty="0"/>
              <a:t> </a:t>
            </a:r>
            <a:r>
              <a:rPr lang="en-US" dirty="0" err="1"/>
              <a:t>주요</a:t>
            </a:r>
            <a:r>
              <a:rPr lang="en-US" dirty="0"/>
              <a:t> </a:t>
            </a:r>
            <a:r>
              <a:rPr lang="en-US" dirty="0" err="1"/>
              <a:t>배지</a:t>
            </a:r>
            <a:r>
              <a:rPr lang="en-US" dirty="0"/>
              <a:t> </a:t>
            </a:r>
            <a:r>
              <a:rPr lang="en-US" dirty="0" err="1"/>
              <a:t>성분을</a:t>
            </a:r>
            <a:r>
              <a:rPr lang="en-US" dirty="0"/>
              <a:t> </a:t>
            </a:r>
            <a:r>
              <a:rPr lang="en-US" dirty="0" err="1"/>
              <a:t>탐색할</a:t>
            </a:r>
            <a:r>
              <a:rPr lang="en-US" dirty="0"/>
              <a:t> 수 </a:t>
            </a:r>
            <a:r>
              <a:rPr lang="en-US" dirty="0" err="1"/>
              <a:t>있었습니다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이번에는</a:t>
            </a:r>
            <a:r>
              <a:rPr lang="en-US" dirty="0"/>
              <a:t> </a:t>
            </a:r>
            <a:r>
              <a:rPr lang="en-US" dirty="0" err="1"/>
              <a:t>전체</a:t>
            </a:r>
            <a:r>
              <a:rPr lang="en-US" dirty="0"/>
              <a:t> </a:t>
            </a:r>
            <a:r>
              <a:rPr lang="en-US" dirty="0" err="1"/>
              <a:t>연구</a:t>
            </a:r>
            <a:r>
              <a:rPr lang="en-US" dirty="0"/>
              <a:t> </a:t>
            </a:r>
            <a:r>
              <a:rPr lang="en-US" dirty="0" err="1"/>
              <a:t>과정을</a:t>
            </a:r>
            <a:r>
              <a:rPr lang="en-US" dirty="0"/>
              <a:t> </a:t>
            </a:r>
            <a:r>
              <a:rPr lang="en-US" dirty="0" err="1"/>
              <a:t>크게</a:t>
            </a:r>
            <a:r>
              <a:rPr lang="en-US" dirty="0"/>
              <a:t> 두 </a:t>
            </a:r>
            <a:r>
              <a:rPr lang="en-US" dirty="0" err="1"/>
              <a:t>부분으로</a:t>
            </a:r>
            <a:r>
              <a:rPr lang="en-US" dirty="0"/>
              <a:t> </a:t>
            </a:r>
            <a:r>
              <a:rPr lang="en-US" dirty="0" err="1"/>
              <a:t>나누어</a:t>
            </a:r>
            <a:r>
              <a:rPr lang="en-US" dirty="0"/>
              <a:t> </a:t>
            </a:r>
            <a:r>
              <a:rPr lang="en-US" dirty="0" err="1"/>
              <a:t>요약하겠습니다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첫 </a:t>
            </a:r>
            <a:r>
              <a:rPr lang="en-US" dirty="0" err="1"/>
              <a:t>번째로</a:t>
            </a:r>
            <a:r>
              <a:rPr lang="en-US" dirty="0"/>
              <a:t>, 총 32개의 </a:t>
            </a:r>
            <a:r>
              <a:rPr lang="en-US" dirty="0" err="1"/>
              <a:t>토양</a:t>
            </a:r>
            <a:r>
              <a:rPr lang="en-US" dirty="0"/>
              <a:t> </a:t>
            </a:r>
            <a:r>
              <a:rPr lang="en-US" dirty="0" err="1"/>
              <a:t>시료를</a:t>
            </a:r>
            <a:r>
              <a:rPr lang="en-US" dirty="0"/>
              <a:t> </a:t>
            </a:r>
            <a:r>
              <a:rPr lang="en-US" dirty="0" err="1"/>
              <a:t>분석했을</a:t>
            </a:r>
            <a:r>
              <a:rPr lang="en-US" dirty="0"/>
              <a:t> 때, / </a:t>
            </a:r>
            <a:r>
              <a:rPr lang="en-US" dirty="0" err="1"/>
              <a:t>통계적으로</a:t>
            </a:r>
            <a:r>
              <a:rPr lang="en-US" dirty="0"/>
              <a:t> </a:t>
            </a:r>
            <a:r>
              <a:rPr lang="en-US" dirty="0" err="1"/>
              <a:t>유의한</a:t>
            </a:r>
            <a:r>
              <a:rPr lang="en-US" dirty="0"/>
              <a:t> </a:t>
            </a:r>
            <a:r>
              <a:rPr lang="en-US" dirty="0" err="1"/>
              <a:t>분류군</a:t>
            </a:r>
            <a:r>
              <a:rPr lang="en-US" dirty="0"/>
              <a:t> </a:t>
            </a:r>
            <a:r>
              <a:rPr lang="en-US" dirty="0" err="1"/>
              <a:t>차이는</a:t>
            </a:r>
            <a:r>
              <a:rPr lang="en-US" dirty="0"/>
              <a:t> </a:t>
            </a:r>
            <a:r>
              <a:rPr lang="en-US" dirty="0" err="1"/>
              <a:t>확인되지</a:t>
            </a:r>
            <a:r>
              <a:rPr lang="en-US" dirty="0"/>
              <a:t> </a:t>
            </a:r>
            <a:r>
              <a:rPr lang="en-US" dirty="0" err="1"/>
              <a:t>않았습니다</a:t>
            </a:r>
            <a:r>
              <a:rPr lang="en-US" dirty="0"/>
              <a:t>.</a:t>
            </a:r>
          </a:p>
          <a:p>
            <a:r>
              <a:rPr lang="en-US" dirty="0" err="1"/>
              <a:t>다만</a:t>
            </a:r>
            <a:r>
              <a:rPr lang="en-US" dirty="0"/>
              <a:t> </a:t>
            </a:r>
            <a:r>
              <a:rPr lang="en-US" dirty="0" err="1"/>
              <a:t>일부</a:t>
            </a:r>
            <a:r>
              <a:rPr lang="en-US" dirty="0"/>
              <a:t> </a:t>
            </a:r>
            <a:r>
              <a:rPr lang="en-US" dirty="0" err="1"/>
              <a:t>분류군에서는</a:t>
            </a:r>
            <a:r>
              <a:rPr lang="en-US" dirty="0"/>
              <a:t> 두 </a:t>
            </a:r>
            <a:r>
              <a:rPr lang="en-US" dirty="0" err="1"/>
              <a:t>환경</a:t>
            </a:r>
            <a:r>
              <a:rPr lang="en-US" dirty="0"/>
              <a:t> </a:t>
            </a:r>
            <a:r>
              <a:rPr lang="en-US" dirty="0" err="1"/>
              <a:t>사이에</a:t>
            </a:r>
            <a:r>
              <a:rPr lang="en-US" dirty="0"/>
              <a:t> </a:t>
            </a:r>
            <a:r>
              <a:rPr lang="en-US" dirty="0" err="1"/>
              <a:t>차이가</a:t>
            </a:r>
            <a:r>
              <a:rPr lang="en-US" dirty="0"/>
              <a:t> </a:t>
            </a:r>
            <a:r>
              <a:rPr lang="en-US" dirty="0" err="1"/>
              <a:t>나타나는</a:t>
            </a:r>
            <a:r>
              <a:rPr lang="en-US" dirty="0"/>
              <a:t> </a:t>
            </a:r>
            <a:r>
              <a:rPr lang="en-US" dirty="0" err="1"/>
              <a:t>경향을</a:t>
            </a:r>
            <a:r>
              <a:rPr lang="en-US" dirty="0"/>
              <a:t> </a:t>
            </a:r>
            <a:r>
              <a:rPr lang="en-US" dirty="0" err="1"/>
              <a:t>확인했습니다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두 </a:t>
            </a:r>
            <a:r>
              <a:rPr lang="en-US" dirty="0" err="1"/>
              <a:t>번째로</a:t>
            </a:r>
            <a:r>
              <a:rPr lang="en-US" dirty="0"/>
              <a:t>, </a:t>
            </a:r>
            <a:r>
              <a:rPr lang="en-US" dirty="0" err="1"/>
              <a:t>프리스티아</a:t>
            </a:r>
            <a:r>
              <a:rPr lang="en-US" dirty="0"/>
              <a:t> </a:t>
            </a:r>
            <a:r>
              <a:rPr lang="en-US" dirty="0" err="1"/>
              <a:t>메가테리움을</a:t>
            </a:r>
            <a:r>
              <a:rPr lang="en-US" dirty="0"/>
              <a:t> </a:t>
            </a:r>
            <a:r>
              <a:rPr lang="en-US" dirty="0" err="1"/>
              <a:t>대상으로</a:t>
            </a:r>
            <a:r>
              <a:rPr lang="en-US" dirty="0"/>
              <a:t> </a:t>
            </a:r>
            <a:r>
              <a:rPr lang="en-US" dirty="0" err="1"/>
              <a:t>AI를</a:t>
            </a:r>
            <a:r>
              <a:rPr lang="en-US" dirty="0"/>
              <a:t> </a:t>
            </a:r>
            <a:r>
              <a:rPr lang="en-US" dirty="0" err="1"/>
              <a:t>활용해</a:t>
            </a:r>
            <a:r>
              <a:rPr lang="en-US" dirty="0"/>
              <a:t> </a:t>
            </a:r>
            <a:r>
              <a:rPr lang="en-US" dirty="0" err="1"/>
              <a:t>최적의</a:t>
            </a:r>
            <a:r>
              <a:rPr lang="en-US" dirty="0"/>
              <a:t>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조건을</a:t>
            </a:r>
            <a:r>
              <a:rPr lang="en-US" dirty="0"/>
              <a:t> </a:t>
            </a:r>
            <a:r>
              <a:rPr lang="en-US" dirty="0" err="1"/>
              <a:t>탐색하였을</a:t>
            </a:r>
            <a:r>
              <a:rPr lang="en-US" dirty="0"/>
              <a:t> 때, / Meat </a:t>
            </a:r>
            <a:r>
              <a:rPr lang="en-US" dirty="0" err="1"/>
              <a:t>extract가</a:t>
            </a:r>
            <a:r>
              <a:rPr lang="en-US" dirty="0"/>
              <a:t> </a:t>
            </a:r>
            <a:r>
              <a:rPr lang="en-US" dirty="0" err="1"/>
              <a:t>생장</a:t>
            </a:r>
            <a:r>
              <a:rPr lang="en-US" dirty="0"/>
              <a:t> </a:t>
            </a:r>
            <a:r>
              <a:rPr lang="en-US" dirty="0" err="1"/>
              <a:t>예측에</a:t>
            </a:r>
            <a:r>
              <a:rPr lang="en-US" dirty="0"/>
              <a:t> </a:t>
            </a:r>
            <a:r>
              <a:rPr lang="en-US" dirty="0" err="1"/>
              <a:t>가장</a:t>
            </a:r>
            <a:r>
              <a:rPr lang="en-US" dirty="0"/>
              <a:t> </a:t>
            </a:r>
            <a:r>
              <a:rPr lang="en-US" dirty="0" err="1"/>
              <a:t>중요한</a:t>
            </a:r>
            <a:r>
              <a:rPr lang="en-US" dirty="0"/>
              <a:t> </a:t>
            </a:r>
            <a:r>
              <a:rPr lang="en-US" dirty="0" err="1"/>
              <a:t>변수로</a:t>
            </a:r>
            <a:r>
              <a:rPr lang="en-US" dirty="0"/>
              <a:t> </a:t>
            </a:r>
            <a:r>
              <a:rPr lang="en-US" dirty="0" err="1"/>
              <a:t>나타났으며</a:t>
            </a:r>
            <a:r>
              <a:rPr lang="en-US" dirty="0"/>
              <a:t>, / </a:t>
            </a:r>
            <a:r>
              <a:rPr lang="en-US" dirty="0" err="1"/>
              <a:t>최적</a:t>
            </a:r>
            <a:r>
              <a:rPr lang="en-US" dirty="0"/>
              <a:t> </a:t>
            </a:r>
            <a:r>
              <a:rPr lang="en-US" dirty="0" err="1"/>
              <a:t>배지</a:t>
            </a:r>
            <a:r>
              <a:rPr lang="en-US" dirty="0"/>
              <a:t> </a:t>
            </a:r>
            <a:r>
              <a:rPr lang="en-US" dirty="0" err="1"/>
              <a:t>조성과</a:t>
            </a:r>
            <a:r>
              <a:rPr lang="en-US" dirty="0"/>
              <a:t> </a:t>
            </a:r>
            <a:r>
              <a:rPr lang="en-US" dirty="0" err="1"/>
              <a:t>다음</a:t>
            </a:r>
            <a:r>
              <a:rPr lang="en-US" dirty="0"/>
              <a:t> </a:t>
            </a:r>
            <a:r>
              <a:rPr lang="en-US" dirty="0" err="1"/>
              <a:t>배양을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</a:t>
            </a:r>
            <a:r>
              <a:rPr lang="en-US" dirty="0" err="1"/>
              <a:t>후보</a:t>
            </a:r>
            <a:r>
              <a:rPr lang="en-US" dirty="0"/>
              <a:t> </a:t>
            </a:r>
            <a:r>
              <a:rPr lang="en-US" dirty="0" err="1"/>
              <a:t>조건까지</a:t>
            </a:r>
            <a:r>
              <a:rPr lang="en-US" dirty="0"/>
              <a:t> </a:t>
            </a:r>
            <a:r>
              <a:rPr lang="en-US" dirty="0" err="1"/>
              <a:t>도출할</a:t>
            </a:r>
            <a:r>
              <a:rPr lang="en-US" dirty="0"/>
              <a:t> 수 </a:t>
            </a:r>
            <a:r>
              <a:rPr lang="en-US" dirty="0" err="1"/>
              <a:t>있었습니다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이번에</a:t>
            </a:r>
            <a:r>
              <a:rPr lang="en-US" dirty="0"/>
              <a:t> </a:t>
            </a:r>
            <a:r>
              <a:rPr lang="en-US" dirty="0" err="1"/>
              <a:t>저희가</a:t>
            </a:r>
            <a:r>
              <a:rPr lang="en-US" dirty="0"/>
              <a:t> </a:t>
            </a:r>
            <a:r>
              <a:rPr lang="en-US" dirty="0" err="1"/>
              <a:t>조사한</a:t>
            </a:r>
            <a:r>
              <a:rPr lang="en-US" dirty="0"/>
              <a:t> </a:t>
            </a:r>
            <a:r>
              <a:rPr lang="en-US" dirty="0" err="1"/>
              <a:t>범위에서는</a:t>
            </a:r>
            <a:r>
              <a:rPr lang="en-US" dirty="0"/>
              <a:t> </a:t>
            </a:r>
            <a:r>
              <a:rPr lang="en-US" dirty="0" err="1"/>
              <a:t>수도권의</a:t>
            </a:r>
            <a:r>
              <a:rPr lang="en-US" dirty="0"/>
              <a:t> </a:t>
            </a:r>
            <a:r>
              <a:rPr lang="en-US" dirty="0" err="1"/>
              <a:t>도로변과</a:t>
            </a:r>
            <a:r>
              <a:rPr lang="en-US" dirty="0"/>
              <a:t> </a:t>
            </a:r>
            <a:r>
              <a:rPr lang="en-US" dirty="0" err="1"/>
              <a:t>공원</a:t>
            </a:r>
            <a:r>
              <a:rPr lang="en-US" dirty="0"/>
              <a:t> </a:t>
            </a:r>
            <a:r>
              <a:rPr lang="en-US" dirty="0" err="1"/>
              <a:t>토양의</a:t>
            </a:r>
            <a:r>
              <a:rPr lang="en-US" dirty="0"/>
              <a:t> </a:t>
            </a:r>
            <a:r>
              <a:rPr lang="en-US" dirty="0" err="1"/>
              <a:t>세균</a:t>
            </a:r>
            <a:r>
              <a:rPr lang="en-US" dirty="0"/>
              <a:t> </a:t>
            </a:r>
            <a:r>
              <a:rPr lang="en-US" dirty="0" err="1"/>
              <a:t>군집을</a:t>
            </a:r>
            <a:r>
              <a:rPr lang="en-US" dirty="0"/>
              <a:t> </a:t>
            </a:r>
            <a:r>
              <a:rPr lang="en-US" dirty="0" err="1"/>
              <a:t>직접</a:t>
            </a:r>
            <a:r>
              <a:rPr lang="en-US" dirty="0"/>
              <a:t> </a:t>
            </a:r>
            <a:r>
              <a:rPr lang="en-US" dirty="0" err="1"/>
              <a:t>비교한</a:t>
            </a:r>
            <a:r>
              <a:rPr lang="en-US" dirty="0"/>
              <a:t> </a:t>
            </a:r>
            <a:r>
              <a:rPr lang="en-US" dirty="0" err="1"/>
              <a:t>국내</a:t>
            </a:r>
            <a:r>
              <a:rPr lang="en-US" dirty="0"/>
              <a:t> </a:t>
            </a:r>
            <a:r>
              <a:rPr lang="en-US" dirty="0" err="1"/>
              <a:t>연구가</a:t>
            </a:r>
            <a:r>
              <a:rPr lang="en-US" dirty="0"/>
              <a:t> </a:t>
            </a:r>
            <a:r>
              <a:rPr lang="en-US" dirty="0" err="1"/>
              <a:t>아직</a:t>
            </a:r>
            <a:r>
              <a:rPr lang="en-US" dirty="0"/>
              <a:t> </a:t>
            </a:r>
            <a:r>
              <a:rPr lang="en-US" dirty="0" err="1"/>
              <a:t>충분히</a:t>
            </a:r>
            <a:r>
              <a:rPr lang="en-US" dirty="0"/>
              <a:t> </a:t>
            </a:r>
            <a:r>
              <a:rPr lang="en-US" dirty="0" err="1"/>
              <a:t>보고되지</a:t>
            </a:r>
            <a:r>
              <a:rPr lang="en-US" dirty="0"/>
              <a:t> </a:t>
            </a:r>
            <a:r>
              <a:rPr lang="en-US" dirty="0" err="1"/>
              <a:t>않았습니다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따라서</a:t>
            </a:r>
            <a:r>
              <a:rPr lang="en-US" dirty="0"/>
              <a:t> </a:t>
            </a:r>
            <a:r>
              <a:rPr lang="en-US" dirty="0" err="1"/>
              <a:t>이번</a:t>
            </a:r>
            <a:r>
              <a:rPr lang="en-US" dirty="0"/>
              <a:t> </a:t>
            </a:r>
            <a:r>
              <a:rPr lang="en-US" dirty="0" err="1"/>
              <a:t>연구는</a:t>
            </a:r>
            <a:r>
              <a:rPr lang="en-US" dirty="0"/>
              <a:t> </a:t>
            </a:r>
            <a:r>
              <a:rPr lang="en-US" dirty="0" err="1"/>
              <a:t>확정적인</a:t>
            </a:r>
            <a:r>
              <a:rPr lang="en-US" dirty="0"/>
              <a:t> </a:t>
            </a:r>
            <a:r>
              <a:rPr lang="en-US" dirty="0" err="1"/>
              <a:t>결론을</a:t>
            </a:r>
            <a:r>
              <a:rPr lang="en-US" dirty="0"/>
              <a:t> </a:t>
            </a:r>
            <a:r>
              <a:rPr lang="en-US" dirty="0" err="1"/>
              <a:t>제시하기보다</a:t>
            </a:r>
            <a:r>
              <a:rPr lang="en-US" dirty="0"/>
              <a:t>, / </a:t>
            </a:r>
            <a:r>
              <a:rPr lang="en-US" dirty="0" err="1"/>
              <a:t>국내에서</a:t>
            </a:r>
            <a:r>
              <a:rPr lang="en-US" dirty="0"/>
              <a:t> </a:t>
            </a:r>
            <a:r>
              <a:rPr lang="en-US" dirty="0" err="1"/>
              <a:t>상대적으로</a:t>
            </a:r>
            <a:r>
              <a:rPr lang="en-US" dirty="0"/>
              <a:t> 덜 </a:t>
            </a:r>
            <a:r>
              <a:rPr lang="en-US" dirty="0" err="1"/>
              <a:t>연구된</a:t>
            </a:r>
            <a:r>
              <a:rPr lang="en-US" dirty="0"/>
              <a:t> </a:t>
            </a:r>
            <a:r>
              <a:rPr lang="en-US" dirty="0" err="1"/>
              <a:t>도시</a:t>
            </a:r>
            <a:r>
              <a:rPr lang="en-US" dirty="0"/>
              <a:t> </a:t>
            </a:r>
            <a:r>
              <a:rPr lang="en-US" dirty="0" err="1"/>
              <a:t>토양을</a:t>
            </a:r>
            <a:r>
              <a:rPr lang="en-US" dirty="0"/>
              <a:t> </a:t>
            </a:r>
            <a:r>
              <a:rPr lang="en-US" dirty="0" err="1"/>
              <a:t>NGS로</a:t>
            </a:r>
            <a:r>
              <a:rPr lang="en-US" dirty="0"/>
              <a:t> </a:t>
            </a:r>
            <a:r>
              <a:rPr lang="en-US" dirty="0" err="1"/>
              <a:t>비교하고</a:t>
            </a:r>
            <a:r>
              <a:rPr lang="en-US" dirty="0"/>
              <a:t>, / ai </a:t>
            </a:r>
            <a:r>
              <a:rPr lang="en-US" dirty="0" err="1"/>
              <a:t>기반으로</a:t>
            </a:r>
            <a:r>
              <a:rPr lang="en-US" dirty="0"/>
              <a:t>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최적화까지</a:t>
            </a:r>
            <a:r>
              <a:rPr lang="en-US" dirty="0"/>
              <a:t> </a:t>
            </a:r>
            <a:r>
              <a:rPr lang="en-US" dirty="0" err="1"/>
              <a:t>연결한</a:t>
            </a:r>
            <a:r>
              <a:rPr lang="en-US" dirty="0"/>
              <a:t> </a:t>
            </a:r>
            <a:r>
              <a:rPr lang="en-US" dirty="0" err="1"/>
              <a:t>파일럿</a:t>
            </a:r>
            <a:r>
              <a:rPr lang="en-US" dirty="0"/>
              <a:t> </a:t>
            </a:r>
            <a:r>
              <a:rPr lang="en-US" dirty="0" err="1"/>
              <a:t>연구라는</a:t>
            </a:r>
            <a:r>
              <a:rPr lang="en-US" dirty="0"/>
              <a:t> 데 </a:t>
            </a:r>
            <a:r>
              <a:rPr lang="en-US" dirty="0" err="1"/>
              <a:t>의미가</a:t>
            </a:r>
            <a:r>
              <a:rPr lang="en-US" dirty="0"/>
              <a:t> </a:t>
            </a:r>
            <a:r>
              <a:rPr lang="en-US" dirty="0" err="1"/>
              <a:t>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그리고</a:t>
            </a:r>
            <a:r>
              <a:rPr lang="en-US" dirty="0"/>
              <a:t> </a:t>
            </a:r>
            <a:r>
              <a:rPr lang="en-US" dirty="0" err="1"/>
              <a:t>저희</a:t>
            </a:r>
            <a:r>
              <a:rPr lang="en-US" dirty="0"/>
              <a:t> </a:t>
            </a:r>
            <a:r>
              <a:rPr lang="en-US" dirty="0" err="1"/>
              <a:t>조에서</a:t>
            </a:r>
            <a:r>
              <a:rPr lang="en-US" dirty="0"/>
              <a:t> </a:t>
            </a:r>
            <a:r>
              <a:rPr lang="en-US" dirty="0" err="1"/>
              <a:t>선택한</a:t>
            </a:r>
            <a:r>
              <a:rPr lang="en-US" dirty="0"/>
              <a:t> </a:t>
            </a:r>
            <a:r>
              <a:rPr lang="en-US" dirty="0" err="1"/>
              <a:t>프리스티아</a:t>
            </a:r>
            <a:r>
              <a:rPr lang="en-US" dirty="0"/>
              <a:t> </a:t>
            </a:r>
            <a:r>
              <a:rPr lang="en-US" dirty="0" err="1"/>
              <a:t>메가테리움은</a:t>
            </a:r>
            <a:r>
              <a:rPr lang="en-US" dirty="0"/>
              <a:t> </a:t>
            </a:r>
            <a:r>
              <a:rPr lang="en-US" dirty="0" err="1"/>
              <a:t>향후</a:t>
            </a:r>
            <a:r>
              <a:rPr lang="en-US" dirty="0"/>
              <a:t> </a:t>
            </a:r>
            <a:r>
              <a:rPr lang="en-US" dirty="0" err="1"/>
              <a:t>비료나</a:t>
            </a:r>
            <a:r>
              <a:rPr lang="en-US" dirty="0"/>
              <a:t> </a:t>
            </a:r>
            <a:r>
              <a:rPr lang="en-US" dirty="0" err="1"/>
              <a:t>바이오시멘트</a:t>
            </a:r>
            <a:r>
              <a:rPr lang="en-US" dirty="0"/>
              <a:t> 등 </a:t>
            </a:r>
            <a:r>
              <a:rPr lang="en-US" dirty="0" err="1"/>
              <a:t>응용</a:t>
            </a:r>
            <a:r>
              <a:rPr lang="en-US" dirty="0"/>
              <a:t> </a:t>
            </a:r>
            <a:r>
              <a:rPr lang="en-US" dirty="0" err="1"/>
              <a:t>가능성을</a:t>
            </a:r>
            <a:r>
              <a:rPr lang="en-US" dirty="0"/>
              <a:t> </a:t>
            </a:r>
            <a:r>
              <a:rPr lang="en-US" dirty="0" err="1"/>
              <a:t>검토할</a:t>
            </a:r>
            <a:r>
              <a:rPr lang="en-US" dirty="0"/>
              <a:t> 수 </a:t>
            </a:r>
            <a:r>
              <a:rPr lang="en-US" dirty="0" err="1"/>
              <a:t>있는</a:t>
            </a:r>
            <a:r>
              <a:rPr lang="en-US" dirty="0"/>
              <a:t> </a:t>
            </a:r>
            <a:r>
              <a:rPr lang="en-US" dirty="0" err="1"/>
              <a:t>기초</a:t>
            </a:r>
            <a:r>
              <a:rPr lang="en-US" dirty="0"/>
              <a:t> </a:t>
            </a:r>
            <a:r>
              <a:rPr lang="en-US" dirty="0" err="1"/>
              <a:t>자원이</a:t>
            </a:r>
            <a:r>
              <a:rPr lang="en-US" dirty="0"/>
              <a:t> 될 수 </a:t>
            </a:r>
            <a:r>
              <a:rPr lang="en-US" dirty="0" err="1"/>
              <a:t>있다라고</a:t>
            </a:r>
            <a:r>
              <a:rPr lang="en-US" dirty="0"/>
              <a:t> </a:t>
            </a:r>
            <a:r>
              <a:rPr lang="en-US" dirty="0" err="1"/>
              <a:t>생각했습니다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다만</a:t>
            </a:r>
            <a:r>
              <a:rPr lang="en-US" dirty="0"/>
              <a:t> </a:t>
            </a:r>
            <a:r>
              <a:rPr lang="en-US" dirty="0" err="1"/>
              <a:t>이러한</a:t>
            </a:r>
            <a:r>
              <a:rPr lang="en-US" dirty="0"/>
              <a:t> </a:t>
            </a:r>
            <a:r>
              <a:rPr lang="en-US" dirty="0" err="1"/>
              <a:t>의미에도</a:t>
            </a:r>
            <a:r>
              <a:rPr lang="en-US" dirty="0"/>
              <a:t> </a:t>
            </a:r>
            <a:r>
              <a:rPr lang="en-US" dirty="0" err="1"/>
              <a:t>불구하고</a:t>
            </a:r>
            <a:r>
              <a:rPr lang="en-US" dirty="0"/>
              <a:t>, / </a:t>
            </a:r>
            <a:r>
              <a:rPr lang="en-US" dirty="0" err="1"/>
              <a:t>연구</a:t>
            </a:r>
            <a:r>
              <a:rPr lang="en-US" dirty="0"/>
              <a:t> </a:t>
            </a:r>
            <a:r>
              <a:rPr lang="en-US" dirty="0" err="1"/>
              <a:t>결과를</a:t>
            </a:r>
            <a:r>
              <a:rPr lang="en-US" dirty="0"/>
              <a:t> </a:t>
            </a:r>
            <a:r>
              <a:rPr lang="en-US" dirty="0" err="1"/>
              <a:t>해석하고</a:t>
            </a:r>
            <a:r>
              <a:rPr lang="en-US" dirty="0"/>
              <a:t> </a:t>
            </a:r>
            <a:r>
              <a:rPr lang="en-US" dirty="0" err="1"/>
              <a:t>일반화할</a:t>
            </a:r>
            <a:r>
              <a:rPr lang="en-US" dirty="0"/>
              <a:t> </a:t>
            </a:r>
            <a:r>
              <a:rPr lang="en-US" dirty="0" err="1"/>
              <a:t>때는</a:t>
            </a:r>
            <a:r>
              <a:rPr lang="en-US" dirty="0"/>
              <a:t> 몇 </a:t>
            </a:r>
            <a:r>
              <a:rPr lang="en-US" dirty="0" err="1"/>
              <a:t>가지</a:t>
            </a:r>
            <a:r>
              <a:rPr lang="en-US" dirty="0"/>
              <a:t> </a:t>
            </a:r>
            <a:r>
              <a:rPr lang="en-US" dirty="0" err="1"/>
              <a:t>한계를</a:t>
            </a:r>
            <a:r>
              <a:rPr lang="en-US" dirty="0"/>
              <a:t> </a:t>
            </a:r>
            <a:r>
              <a:rPr lang="en-US" dirty="0" err="1"/>
              <a:t>고려해야</a:t>
            </a:r>
            <a:r>
              <a:rPr lang="en-US" dirty="0"/>
              <a:t> </a:t>
            </a:r>
            <a:r>
              <a:rPr lang="en-US" dirty="0" err="1"/>
              <a:t>합니다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이 </a:t>
            </a:r>
            <a:r>
              <a:rPr lang="en-US" dirty="0" err="1"/>
              <a:t>프로젝트에서는</a:t>
            </a:r>
            <a:r>
              <a:rPr lang="en-US" dirty="0"/>
              <a:t> </a:t>
            </a:r>
            <a:r>
              <a:rPr lang="en-US" dirty="0" err="1"/>
              <a:t>토양</a:t>
            </a:r>
            <a:r>
              <a:rPr lang="en-US" dirty="0"/>
              <a:t> </a:t>
            </a:r>
            <a:r>
              <a:rPr lang="en-US" dirty="0" err="1"/>
              <a:t>시료</a:t>
            </a:r>
            <a:r>
              <a:rPr lang="en-US" dirty="0"/>
              <a:t> 32개와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조건</a:t>
            </a:r>
            <a:r>
              <a:rPr lang="en-US" dirty="0"/>
              <a:t> 12개로 </a:t>
            </a:r>
            <a:r>
              <a:rPr lang="en-US" dirty="0" err="1"/>
              <a:t>표본이</a:t>
            </a:r>
            <a:r>
              <a:rPr lang="en-US" dirty="0"/>
              <a:t> </a:t>
            </a:r>
            <a:r>
              <a:rPr lang="en-US" dirty="0" err="1"/>
              <a:t>제한적이었으며</a:t>
            </a:r>
            <a:r>
              <a:rPr lang="en-US" dirty="0"/>
              <a:t>, / </a:t>
            </a:r>
            <a:r>
              <a:rPr lang="en-US" dirty="0" err="1"/>
              <a:t>pH와</a:t>
            </a:r>
            <a:r>
              <a:rPr lang="en-US" dirty="0"/>
              <a:t> </a:t>
            </a:r>
            <a:r>
              <a:rPr lang="en-US" dirty="0" err="1"/>
              <a:t>유기탄소</a:t>
            </a:r>
            <a:r>
              <a:rPr lang="en-US" dirty="0"/>
              <a:t> </a:t>
            </a:r>
            <a:r>
              <a:rPr lang="en-US" dirty="0" err="1"/>
              <a:t>같은</a:t>
            </a:r>
            <a:r>
              <a:rPr lang="en-US" dirty="0"/>
              <a:t> </a:t>
            </a:r>
            <a:r>
              <a:rPr lang="en-US" dirty="0" err="1"/>
              <a:t>토양의</a:t>
            </a:r>
            <a:r>
              <a:rPr lang="en-US" dirty="0"/>
              <a:t>  </a:t>
            </a:r>
            <a:r>
              <a:rPr lang="en-US" dirty="0" err="1"/>
              <a:t>물리화학적</a:t>
            </a:r>
            <a:r>
              <a:rPr lang="en-US" dirty="0"/>
              <a:t> </a:t>
            </a:r>
            <a:r>
              <a:rPr lang="en-US" dirty="0" err="1"/>
              <a:t>변수를</a:t>
            </a:r>
            <a:r>
              <a:rPr lang="en-US" dirty="0"/>
              <a:t> </a:t>
            </a:r>
            <a:r>
              <a:rPr lang="en-US" dirty="0" err="1"/>
              <a:t>함께</a:t>
            </a:r>
            <a:r>
              <a:rPr lang="en-US" dirty="0"/>
              <a:t> </a:t>
            </a:r>
            <a:r>
              <a:rPr lang="en-US" dirty="0" err="1"/>
              <a:t>측정하지</a:t>
            </a:r>
            <a:r>
              <a:rPr lang="en-US" dirty="0"/>
              <a:t> </a:t>
            </a:r>
            <a:r>
              <a:rPr lang="en-US" dirty="0" err="1"/>
              <a:t>못했습니다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그리고</a:t>
            </a:r>
            <a:r>
              <a:rPr lang="en-US" dirty="0"/>
              <a:t> 두 </a:t>
            </a:r>
            <a:r>
              <a:rPr lang="en-US" dirty="0" err="1"/>
              <a:t>환경에서</a:t>
            </a:r>
            <a:r>
              <a:rPr lang="en-US" dirty="0"/>
              <a:t> </a:t>
            </a:r>
            <a:r>
              <a:rPr lang="en-US" dirty="0" err="1"/>
              <a:t>차이를</a:t>
            </a:r>
            <a:r>
              <a:rPr lang="en-US" dirty="0"/>
              <a:t> </a:t>
            </a:r>
            <a:r>
              <a:rPr lang="en-US" dirty="0" err="1"/>
              <a:t>보인</a:t>
            </a:r>
            <a:r>
              <a:rPr lang="en-US" dirty="0"/>
              <a:t> </a:t>
            </a:r>
            <a:r>
              <a:rPr lang="en-US" dirty="0" err="1"/>
              <a:t>특정</a:t>
            </a:r>
            <a:r>
              <a:rPr lang="en-US" dirty="0"/>
              <a:t> </a:t>
            </a:r>
            <a:r>
              <a:rPr lang="en-US" dirty="0" err="1"/>
              <a:t>후보</a:t>
            </a:r>
            <a:r>
              <a:rPr lang="en-US" dirty="0"/>
              <a:t> </a:t>
            </a:r>
            <a:r>
              <a:rPr lang="en-US" dirty="0" err="1"/>
              <a:t>분류군과</a:t>
            </a:r>
            <a:r>
              <a:rPr lang="en-US" dirty="0"/>
              <a:t> </a:t>
            </a:r>
            <a:r>
              <a:rPr lang="en-US" dirty="0" err="1"/>
              <a:t>일부</a:t>
            </a:r>
            <a:r>
              <a:rPr lang="en-US" dirty="0"/>
              <a:t> AI </a:t>
            </a:r>
            <a:r>
              <a:rPr lang="en-US" dirty="0" err="1"/>
              <a:t>분석은</a:t>
            </a:r>
            <a:r>
              <a:rPr lang="en-US" dirty="0"/>
              <a:t> </a:t>
            </a:r>
            <a:r>
              <a:rPr lang="en-US" dirty="0" err="1"/>
              <a:t>추가</a:t>
            </a:r>
            <a:r>
              <a:rPr lang="en-US" dirty="0"/>
              <a:t> </a:t>
            </a:r>
            <a:r>
              <a:rPr lang="en-US" dirty="0" err="1"/>
              <a:t>표본으로</a:t>
            </a:r>
            <a:r>
              <a:rPr lang="en-US" dirty="0"/>
              <a:t> </a:t>
            </a:r>
            <a:r>
              <a:rPr lang="en-US" dirty="0" err="1"/>
              <a:t>재검증을</a:t>
            </a:r>
            <a:r>
              <a:rPr lang="en-US" dirty="0"/>
              <a:t> </a:t>
            </a:r>
            <a:r>
              <a:rPr lang="en-US" dirty="0" err="1"/>
              <a:t>해야</a:t>
            </a:r>
            <a:r>
              <a:rPr lang="en-US" dirty="0"/>
              <a:t> </a:t>
            </a:r>
            <a:r>
              <a:rPr lang="en-US" dirty="0" err="1"/>
              <a:t>합니다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후속</a:t>
            </a:r>
            <a:r>
              <a:rPr lang="en-US" dirty="0"/>
              <a:t> </a:t>
            </a:r>
            <a:r>
              <a:rPr lang="en-US" dirty="0" err="1"/>
              <a:t>연구에서는</a:t>
            </a:r>
            <a:r>
              <a:rPr lang="en-US" dirty="0"/>
              <a:t> </a:t>
            </a:r>
            <a:r>
              <a:rPr lang="en-US" dirty="0" err="1"/>
              <a:t>프리스티아</a:t>
            </a:r>
            <a:r>
              <a:rPr lang="en-US" dirty="0"/>
              <a:t> </a:t>
            </a:r>
            <a:r>
              <a:rPr lang="en-US" dirty="0" err="1"/>
              <a:t>메가테리움의</a:t>
            </a:r>
            <a:r>
              <a:rPr lang="en-US" dirty="0"/>
              <a:t> 3차 </a:t>
            </a:r>
            <a:r>
              <a:rPr lang="en-US" dirty="0" err="1"/>
              <a:t>배양</a:t>
            </a:r>
            <a:r>
              <a:rPr lang="en-US" dirty="0"/>
              <a:t> </a:t>
            </a:r>
            <a:r>
              <a:rPr lang="en-US" dirty="0" err="1"/>
              <a:t>실험을</a:t>
            </a:r>
            <a:r>
              <a:rPr lang="en-US" dirty="0"/>
              <a:t> </a:t>
            </a:r>
            <a:r>
              <a:rPr lang="en-US" dirty="0" err="1"/>
              <a:t>수행하고</a:t>
            </a:r>
            <a:r>
              <a:rPr lang="en-US" dirty="0"/>
              <a:t> </a:t>
            </a:r>
            <a:r>
              <a:rPr lang="en-US" dirty="0" err="1"/>
              <a:t>토양</a:t>
            </a:r>
            <a:r>
              <a:rPr lang="en-US" dirty="0"/>
              <a:t> </a:t>
            </a:r>
            <a:r>
              <a:rPr lang="en-US" dirty="0" err="1"/>
              <a:t>환경</a:t>
            </a:r>
            <a:r>
              <a:rPr lang="en-US" dirty="0"/>
              <a:t> </a:t>
            </a:r>
            <a:r>
              <a:rPr lang="en-US" dirty="0" err="1"/>
              <a:t>변수를</a:t>
            </a:r>
            <a:r>
              <a:rPr lang="en-US" dirty="0"/>
              <a:t> </a:t>
            </a:r>
            <a:r>
              <a:rPr lang="en-US" dirty="0" err="1"/>
              <a:t>함께</a:t>
            </a:r>
            <a:r>
              <a:rPr lang="en-US" dirty="0"/>
              <a:t> </a:t>
            </a:r>
            <a:r>
              <a:rPr lang="en-US" dirty="0" err="1"/>
              <a:t>측정하며</a:t>
            </a:r>
            <a:r>
              <a:rPr lang="en-US" dirty="0"/>
              <a:t>, / </a:t>
            </a:r>
            <a:r>
              <a:rPr lang="en-US" dirty="0" err="1"/>
              <a:t>해당</a:t>
            </a:r>
            <a:r>
              <a:rPr lang="en-US" dirty="0"/>
              <a:t> </a:t>
            </a:r>
            <a:r>
              <a:rPr lang="en-US" dirty="0" err="1"/>
              <a:t>균의</a:t>
            </a:r>
            <a:r>
              <a:rPr lang="en-US" dirty="0"/>
              <a:t> </a:t>
            </a:r>
            <a:r>
              <a:rPr lang="en-US" dirty="0" err="1"/>
              <a:t>기능적</a:t>
            </a:r>
            <a:r>
              <a:rPr lang="en-US" dirty="0"/>
              <a:t> </a:t>
            </a:r>
            <a:r>
              <a:rPr lang="en-US" dirty="0" err="1"/>
              <a:t>특성도</a:t>
            </a:r>
            <a:r>
              <a:rPr lang="en-US" dirty="0"/>
              <a:t> </a:t>
            </a:r>
            <a:r>
              <a:rPr lang="en-US" dirty="0" err="1"/>
              <a:t>검증해야</a:t>
            </a:r>
            <a:r>
              <a:rPr lang="en-US" dirty="0"/>
              <a:t> </a:t>
            </a:r>
            <a:r>
              <a:rPr lang="en-US" dirty="0" err="1"/>
              <a:t>한다고</a:t>
            </a:r>
            <a:r>
              <a:rPr lang="en-US" dirty="0"/>
              <a:t> </a:t>
            </a:r>
            <a:r>
              <a:rPr lang="en-US" dirty="0" err="1"/>
              <a:t>생각됩니다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이상으로</a:t>
            </a:r>
            <a:r>
              <a:rPr lang="en-US" dirty="0"/>
              <a:t> </a:t>
            </a:r>
            <a:r>
              <a:rPr lang="en-US" dirty="0" err="1"/>
              <a:t>발표를</a:t>
            </a:r>
            <a:r>
              <a:rPr lang="en-US" dirty="0"/>
              <a:t> </a:t>
            </a:r>
            <a:r>
              <a:rPr lang="en-US" dirty="0" err="1"/>
              <a:t>마치겠습니다</a:t>
            </a:r>
            <a:r>
              <a:rPr lang="en-US" dirty="0"/>
              <a:t>.</a:t>
            </a:r>
          </a:p>
          <a:p>
            <a:r>
              <a:rPr lang="en-US" dirty="0" err="1"/>
              <a:t>경청해</a:t>
            </a:r>
            <a:r>
              <a:rPr lang="en-US" dirty="0"/>
              <a:t> </a:t>
            </a:r>
            <a:r>
              <a:rPr lang="en-US" dirty="0" err="1"/>
              <a:t>주셔서</a:t>
            </a:r>
            <a:r>
              <a:rPr lang="en-US" dirty="0"/>
              <a:t> </a:t>
            </a:r>
            <a:r>
              <a:rPr lang="en-US" dirty="0" err="1"/>
              <a:t>감사합니다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23.jpe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2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3017520" y="7132320"/>
            <a:ext cx="6309360" cy="6309360"/>
            <a:chOff x="0" y="0"/>
            <a:chExt cx="8412480" cy="84124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12480" cy="8412480"/>
            </a:xfrm>
            <a:custGeom>
              <a:avLst/>
              <a:gdLst/>
              <a:ahLst/>
              <a:cxnLst/>
              <a:rect l="l" t="t" r="r" b="b"/>
              <a:pathLst>
                <a:path w="8412480" h="8412480">
                  <a:moveTo>
                    <a:pt x="0" y="4206240"/>
                  </a:moveTo>
                  <a:cubicBezTo>
                    <a:pt x="0" y="1883156"/>
                    <a:pt x="1883156" y="0"/>
                    <a:pt x="4206240" y="0"/>
                  </a:cubicBezTo>
                  <a:cubicBezTo>
                    <a:pt x="6529325" y="0"/>
                    <a:pt x="8412480" y="1883156"/>
                    <a:pt x="8412480" y="4206240"/>
                  </a:cubicBezTo>
                  <a:cubicBezTo>
                    <a:pt x="8412480" y="6529325"/>
                    <a:pt x="6529324" y="8412480"/>
                    <a:pt x="4206240" y="8412480"/>
                  </a:cubicBezTo>
                  <a:cubicBezTo>
                    <a:pt x="1883156" y="8412480"/>
                    <a:pt x="0" y="6529324"/>
                    <a:pt x="0" y="4206240"/>
                  </a:cubicBez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65860" y="3566160"/>
            <a:ext cx="15087600" cy="2743200"/>
            <a:chOff x="0" y="0"/>
            <a:chExt cx="20116800" cy="3657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16800" cy="3657600"/>
            </a:xfrm>
            <a:custGeom>
              <a:avLst/>
              <a:gdLst/>
              <a:ahLst/>
              <a:cxnLst/>
              <a:rect l="l" t="t" r="r" b="b"/>
              <a:pathLst>
                <a:path w="20116800" h="3657600">
                  <a:moveTo>
                    <a:pt x="0" y="0"/>
                  </a:moveTo>
                  <a:lnTo>
                    <a:pt x="20116800" y="0"/>
                  </a:lnTo>
                  <a:lnTo>
                    <a:pt x="201168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20116800" cy="3762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280"/>
                </a:lnSpc>
              </a:pPr>
              <a:r>
                <a:rPr lang="en-US" sz="60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수도권 도로변 &amp; 공원 토양</a:t>
              </a:r>
            </a:p>
            <a:p>
              <a:pPr algn="l">
                <a:lnSpc>
                  <a:spcPts val="8280"/>
                </a:lnSpc>
              </a:pPr>
              <a:r>
                <a:rPr lang="en-US" sz="60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세균 군집 비교와 AI 기반 배양 최적화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4440" y="6377940"/>
            <a:ext cx="14401800" cy="685800"/>
            <a:chOff x="0" y="0"/>
            <a:chExt cx="19202400" cy="91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0" cy="914400"/>
            </a:xfrm>
            <a:custGeom>
              <a:avLst/>
              <a:gdLst/>
              <a:ahLst/>
              <a:cxnLst/>
              <a:rect l="l" t="t" r="r" b="b"/>
              <a:pathLst>
                <a:path w="19202400" h="914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9185" b="-35918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9202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i="1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16S rRNA gene amplicon sequencing &amp; METIS active learning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1224911" y="8557091"/>
            <a:ext cx="15792448" cy="19018"/>
          </a:xfrm>
          <a:prstGeom prst="line">
            <a:avLst/>
          </a:prstGeom>
          <a:ln w="9525" cap="rnd">
            <a:solidFill>
              <a:srgbClr val="E3E6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165860" y="3291840"/>
            <a:ext cx="4399399" cy="548640"/>
            <a:chOff x="0" y="0"/>
            <a:chExt cx="5865865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65865" cy="731520"/>
            </a:xfrm>
            <a:custGeom>
              <a:avLst/>
              <a:gdLst/>
              <a:ahLst/>
              <a:cxnLst/>
              <a:rect l="l" t="t" r="r" b="b"/>
              <a:pathLst>
                <a:path w="5865865" h="731520">
                  <a:moveTo>
                    <a:pt x="0" y="0"/>
                  </a:moveTo>
                  <a:lnTo>
                    <a:pt x="5865865" y="0"/>
                  </a:lnTo>
                  <a:lnTo>
                    <a:pt x="586586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r="-87061" b="-24227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865865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0B2981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오믹스,마이크로바이옴 응용 프로젝트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16003" y="8590397"/>
            <a:ext cx="6615852" cy="83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400" b="1" dirty="0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Team 1</a:t>
            </a:r>
          </a:p>
          <a:p>
            <a:pPr algn="l">
              <a:lnSpc>
                <a:spcPts val="3346"/>
              </a:lnSpc>
            </a:pPr>
            <a:r>
              <a:rPr lang="en-US" sz="2400" b="1" dirty="0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함정관, </a:t>
            </a:r>
            <a:r>
              <a:rPr lang="en-US" sz="2400" b="1" dirty="0" err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이지민</a:t>
            </a:r>
            <a:r>
              <a:rPr lang="en-US" sz="2400" b="1" dirty="0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, </a:t>
            </a:r>
            <a:r>
              <a:rPr lang="en-US" sz="2400" b="1" dirty="0" err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윤수진</a:t>
            </a:r>
            <a:r>
              <a:rPr lang="en-US" sz="2400" b="1" dirty="0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, </a:t>
            </a:r>
            <a:r>
              <a:rPr lang="en-US" sz="2400" b="1" dirty="0" err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황인영</a:t>
            </a:r>
            <a:r>
              <a:rPr lang="en-US" sz="2400" b="1" dirty="0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, </a:t>
            </a:r>
            <a:r>
              <a:rPr lang="en-US" sz="2400" b="1" dirty="0" err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정유라</a:t>
            </a:r>
            <a:r>
              <a:rPr lang="en-US" sz="2400" b="1" dirty="0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, </a:t>
            </a:r>
            <a:r>
              <a:rPr lang="en-US" sz="2400" b="1" dirty="0" err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주세린</a:t>
            </a:r>
            <a:endParaRPr lang="en-US" sz="2400" b="1" dirty="0">
              <a:solidFill>
                <a:srgbClr val="1A1A1A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240000" y="9158700"/>
            <a:ext cx="1777359" cy="267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151"/>
              </a:lnSpc>
            </a:pPr>
            <a:r>
              <a:rPr lang="en-US" sz="1800" b="1" dirty="0">
                <a:solidFill>
                  <a:srgbClr val="1A1A1A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2026.09.11</a:t>
            </a:r>
          </a:p>
        </p:txBody>
      </p:sp>
      <p:sp>
        <p:nvSpPr>
          <p:cNvPr id="18" name="Freeform 18"/>
          <p:cNvSpPr/>
          <p:nvPr/>
        </p:nvSpPr>
        <p:spPr>
          <a:xfrm>
            <a:off x="386951" y="197974"/>
            <a:ext cx="2807101" cy="538632"/>
          </a:xfrm>
          <a:custGeom>
            <a:avLst/>
            <a:gdLst/>
            <a:ahLst/>
            <a:cxnLst/>
            <a:rect l="l" t="t" r="r" b="b"/>
            <a:pathLst>
              <a:path w="2807101" h="538632">
                <a:moveTo>
                  <a:pt x="0" y="0"/>
                </a:moveTo>
                <a:lnTo>
                  <a:pt x="2807101" y="0"/>
                </a:lnTo>
                <a:lnTo>
                  <a:pt x="2807101" y="538632"/>
                </a:lnTo>
                <a:lnTo>
                  <a:pt x="0" y="538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D58E2B4-8FCD-13FB-76E2-2706D3D246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4648" y="0"/>
            <a:ext cx="5696731" cy="61793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2/32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8229600" cy="1165860"/>
            <a:chOff x="0" y="0"/>
            <a:chExt cx="10972800" cy="1554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72800" cy="1554480"/>
            </a:xfrm>
            <a:custGeom>
              <a:avLst/>
              <a:gdLst/>
              <a:ahLst/>
              <a:cxnLst/>
              <a:rect l="l" t="t" r="r" b="b"/>
              <a:pathLst>
                <a:path w="10972800" h="1554480">
                  <a:moveTo>
                    <a:pt x="0" y="0"/>
                  </a:moveTo>
                  <a:lnTo>
                    <a:pt x="10972800" y="0"/>
                  </a:lnTo>
                  <a:lnTo>
                    <a:pt x="10972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541" b="-8754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972800" cy="1564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목차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3435" y="2870835"/>
            <a:ext cx="8042910" cy="2762250"/>
            <a:chOff x="0" y="0"/>
            <a:chExt cx="10723880" cy="3683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23880" cy="3683000"/>
            </a:xfrm>
            <a:custGeom>
              <a:avLst/>
              <a:gdLst/>
              <a:ahLst/>
              <a:cxnLst/>
              <a:rect l="l" t="t" r="r" b="b"/>
              <a:pathLst>
                <a:path w="10723880" h="3683000">
                  <a:moveTo>
                    <a:pt x="0" y="0"/>
                  </a:moveTo>
                  <a:lnTo>
                    <a:pt x="10723880" y="0"/>
                  </a:lnTo>
                  <a:lnTo>
                    <a:pt x="1072388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FAFAFC"/>
            </a:solidFill>
            <a:ln w="19050" cap="sq">
              <a:solidFill>
                <a:srgbClr val="E3E6F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17355" y="2870835"/>
            <a:ext cx="8042910" cy="2762250"/>
            <a:chOff x="0" y="0"/>
            <a:chExt cx="10723880" cy="3683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3880" cy="3683000"/>
            </a:xfrm>
            <a:custGeom>
              <a:avLst/>
              <a:gdLst/>
              <a:ahLst/>
              <a:cxnLst/>
              <a:rect l="l" t="t" r="r" b="b"/>
              <a:pathLst>
                <a:path w="10723880" h="3683000">
                  <a:moveTo>
                    <a:pt x="0" y="0"/>
                  </a:moveTo>
                  <a:lnTo>
                    <a:pt x="10723880" y="0"/>
                  </a:lnTo>
                  <a:lnTo>
                    <a:pt x="1072388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FAFAFC"/>
            </a:solidFill>
            <a:ln w="19050" cap="sq">
              <a:solidFill>
                <a:srgbClr val="E3E6F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71600" y="3257550"/>
            <a:ext cx="8103348" cy="1234440"/>
            <a:chOff x="0" y="0"/>
            <a:chExt cx="10804464" cy="164592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377440" cy="1645920"/>
              <a:chOff x="0" y="0"/>
              <a:chExt cx="2377440" cy="164592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377440" cy="1645920"/>
              </a:xfrm>
              <a:custGeom>
                <a:avLst/>
                <a:gdLst/>
                <a:ahLst/>
                <a:cxnLst/>
                <a:rect l="l" t="t" r="r" b="b"/>
                <a:pathLst>
                  <a:path w="2377440" h="1645920">
                    <a:moveTo>
                      <a:pt x="0" y="0"/>
                    </a:moveTo>
                    <a:lnTo>
                      <a:pt x="2377440" y="0"/>
                    </a:lnTo>
                    <a:lnTo>
                      <a:pt x="2377440" y="1645920"/>
                    </a:lnTo>
                    <a:lnTo>
                      <a:pt x="0" y="16459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38825" r="-38825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9525"/>
                <a:ext cx="2377440" cy="16554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6120"/>
                  </a:lnSpc>
                </a:pPr>
                <a:r>
                  <a:rPr lang="en-US" sz="5100" b="1">
                    <a:solidFill>
                      <a:srgbClr val="2B4AFF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01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569024" y="411480"/>
              <a:ext cx="9235440" cy="914400"/>
              <a:chOff x="0" y="0"/>
              <a:chExt cx="9235440" cy="9144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923544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235440" h="914400">
                    <a:moveTo>
                      <a:pt x="0" y="0"/>
                    </a:moveTo>
                    <a:lnTo>
                      <a:pt x="9235440" y="0"/>
                    </a:lnTo>
                    <a:lnTo>
                      <a:pt x="923544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46798" b="-146798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9525"/>
                <a:ext cx="9235440" cy="9239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419"/>
                  </a:lnSpc>
                </a:pPr>
                <a:r>
                  <a:rPr lang="en-US" sz="2850" b="1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서론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2548368" y="4491990"/>
            <a:ext cx="6926580" cy="480060"/>
            <a:chOff x="0" y="0"/>
            <a:chExt cx="9235440" cy="6400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235440" cy="640080"/>
            </a:xfrm>
            <a:custGeom>
              <a:avLst/>
              <a:gdLst/>
              <a:ahLst/>
              <a:cxnLst/>
              <a:rect l="l" t="t" r="r" b="b"/>
              <a:pathLst>
                <a:path w="9235440" h="640080">
                  <a:moveTo>
                    <a:pt x="0" y="0"/>
                  </a:moveTo>
                  <a:lnTo>
                    <a:pt x="9235440" y="0"/>
                  </a:lnTo>
                  <a:lnTo>
                    <a:pt x="9235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141" b="-23114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92354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Background, 선행연구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875520" y="3257550"/>
            <a:ext cx="1783080" cy="1234440"/>
            <a:chOff x="0" y="0"/>
            <a:chExt cx="2377440" cy="16459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377440" cy="1645920"/>
            </a:xfrm>
            <a:custGeom>
              <a:avLst/>
              <a:gdLst/>
              <a:ahLst/>
              <a:cxnLst/>
              <a:rect l="l" t="t" r="r" b="b"/>
              <a:pathLst>
                <a:path w="2377440" h="1645920">
                  <a:moveTo>
                    <a:pt x="0" y="0"/>
                  </a:moveTo>
                  <a:lnTo>
                    <a:pt x="2377440" y="0"/>
                  </a:lnTo>
                  <a:lnTo>
                    <a:pt x="23774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825" r="-3882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237744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052288" y="3566160"/>
            <a:ext cx="6926580" cy="685800"/>
            <a:chOff x="0" y="0"/>
            <a:chExt cx="9235440" cy="914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235440" cy="914400"/>
            </a:xfrm>
            <a:custGeom>
              <a:avLst/>
              <a:gdLst/>
              <a:ahLst/>
              <a:cxnLst/>
              <a:rect l="l" t="t" r="r" b="b"/>
              <a:pathLst>
                <a:path w="9235440" h="91440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798" b="-14679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92354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샘플링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052288" y="4491990"/>
            <a:ext cx="6926580" cy="480060"/>
            <a:chOff x="0" y="0"/>
            <a:chExt cx="9235440" cy="6400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235440" cy="640080"/>
            </a:xfrm>
            <a:custGeom>
              <a:avLst/>
              <a:gdLst/>
              <a:ahLst/>
              <a:cxnLst/>
              <a:rect l="l" t="t" r="r" b="b"/>
              <a:pathLst>
                <a:path w="9235440" h="640080">
                  <a:moveTo>
                    <a:pt x="0" y="0"/>
                  </a:moveTo>
                  <a:lnTo>
                    <a:pt x="9235440" y="0"/>
                  </a:lnTo>
                  <a:lnTo>
                    <a:pt x="9235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141" b="-23114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923544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채취, 시퀀싱 방법론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3435" y="6094095"/>
            <a:ext cx="8042910" cy="2762250"/>
            <a:chOff x="0" y="0"/>
            <a:chExt cx="10723880" cy="3683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723880" cy="3683000"/>
            </a:xfrm>
            <a:custGeom>
              <a:avLst/>
              <a:gdLst/>
              <a:ahLst/>
              <a:cxnLst/>
              <a:rect l="l" t="t" r="r" b="b"/>
              <a:pathLst>
                <a:path w="10723880" h="3683000">
                  <a:moveTo>
                    <a:pt x="0" y="0"/>
                  </a:moveTo>
                  <a:lnTo>
                    <a:pt x="10723880" y="0"/>
                  </a:lnTo>
                  <a:lnTo>
                    <a:pt x="1072388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FAFAFC"/>
            </a:solidFill>
            <a:ln w="19050" cap="sq">
              <a:solidFill>
                <a:srgbClr val="E3E6F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317355" y="6094095"/>
            <a:ext cx="8042910" cy="2762250"/>
            <a:chOff x="0" y="0"/>
            <a:chExt cx="10723880" cy="3683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723880" cy="3683000"/>
            </a:xfrm>
            <a:custGeom>
              <a:avLst/>
              <a:gdLst/>
              <a:ahLst/>
              <a:cxnLst/>
              <a:rect l="l" t="t" r="r" b="b"/>
              <a:pathLst>
                <a:path w="10723880" h="3683000">
                  <a:moveTo>
                    <a:pt x="0" y="0"/>
                  </a:moveTo>
                  <a:lnTo>
                    <a:pt x="10723880" y="0"/>
                  </a:lnTo>
                  <a:lnTo>
                    <a:pt x="1072388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FAFAFC"/>
            </a:solidFill>
            <a:ln w="19050" cap="sq">
              <a:solidFill>
                <a:srgbClr val="E3E6F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71600" y="6636068"/>
            <a:ext cx="16607268" cy="1678305"/>
            <a:chOff x="0" y="0"/>
            <a:chExt cx="22143024" cy="2237740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2377440" cy="1645920"/>
              <a:chOff x="0" y="0"/>
              <a:chExt cx="2377440" cy="164592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2377440" cy="1645920"/>
              </a:xfrm>
              <a:custGeom>
                <a:avLst/>
                <a:gdLst/>
                <a:ahLst/>
                <a:cxnLst/>
                <a:rect l="l" t="t" r="r" b="b"/>
                <a:pathLst>
                  <a:path w="2377440" h="1645920">
                    <a:moveTo>
                      <a:pt x="0" y="0"/>
                    </a:moveTo>
                    <a:lnTo>
                      <a:pt x="2377440" y="0"/>
                    </a:lnTo>
                    <a:lnTo>
                      <a:pt x="2377440" y="1645920"/>
                    </a:lnTo>
                    <a:lnTo>
                      <a:pt x="0" y="16459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38825" r="-38825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9525"/>
                <a:ext cx="2377440" cy="16554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6120"/>
                  </a:lnSpc>
                </a:pPr>
                <a:r>
                  <a:rPr lang="en-US" sz="5100" b="1">
                    <a:solidFill>
                      <a:srgbClr val="2B4AFF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03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569024" y="365760"/>
              <a:ext cx="9235440" cy="914400"/>
              <a:chOff x="0" y="0"/>
              <a:chExt cx="9235440" cy="9144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923544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235440" h="914400">
                    <a:moveTo>
                      <a:pt x="0" y="0"/>
                    </a:moveTo>
                    <a:lnTo>
                      <a:pt x="9235440" y="0"/>
                    </a:lnTo>
                    <a:lnTo>
                      <a:pt x="923544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46798" b="-146798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9525"/>
                <a:ext cx="9235440" cy="9239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419"/>
                  </a:lnSpc>
                </a:pPr>
                <a:r>
                  <a:rPr lang="en-US" sz="2850" b="1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AI 스케일업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569024" y="1597660"/>
              <a:ext cx="9235440" cy="640080"/>
              <a:chOff x="0" y="0"/>
              <a:chExt cx="9235440" cy="64008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923544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9235440" h="640080">
                    <a:moveTo>
                      <a:pt x="0" y="0"/>
                    </a:moveTo>
                    <a:lnTo>
                      <a:pt x="9235440" y="0"/>
                    </a:lnTo>
                    <a:lnTo>
                      <a:pt x="923544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31141" b="-231141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0"/>
                <a:ext cx="9235440" cy="64008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60"/>
                  </a:lnSpc>
                </a:pPr>
                <a:r>
                  <a:rPr lang="en-US" sz="1800" b="1">
                    <a:solidFill>
                      <a:srgbClr val="5A5A5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METIS 배양 최적화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1338560" y="0"/>
              <a:ext cx="2377440" cy="1645920"/>
              <a:chOff x="0" y="0"/>
              <a:chExt cx="2377440" cy="164592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2377440" cy="1645920"/>
              </a:xfrm>
              <a:custGeom>
                <a:avLst/>
                <a:gdLst/>
                <a:ahLst/>
                <a:cxnLst/>
                <a:rect l="l" t="t" r="r" b="b"/>
                <a:pathLst>
                  <a:path w="2377440" h="1645920">
                    <a:moveTo>
                      <a:pt x="0" y="0"/>
                    </a:moveTo>
                    <a:lnTo>
                      <a:pt x="2377440" y="0"/>
                    </a:lnTo>
                    <a:lnTo>
                      <a:pt x="2377440" y="1645920"/>
                    </a:lnTo>
                    <a:lnTo>
                      <a:pt x="0" y="16459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38825" r="-38825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9525"/>
                <a:ext cx="2377440" cy="16554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6120"/>
                  </a:lnSpc>
                </a:pPr>
                <a:r>
                  <a:rPr lang="en-US" sz="5100" b="1">
                    <a:solidFill>
                      <a:srgbClr val="2B4AFF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04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12907584" y="365760"/>
              <a:ext cx="9235440" cy="914400"/>
              <a:chOff x="0" y="0"/>
              <a:chExt cx="9235440" cy="9144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923544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235440" h="914400">
                    <a:moveTo>
                      <a:pt x="0" y="0"/>
                    </a:moveTo>
                    <a:lnTo>
                      <a:pt x="9235440" y="0"/>
                    </a:lnTo>
                    <a:lnTo>
                      <a:pt x="923544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46798" b="-146798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9525"/>
                <a:ext cx="9235440" cy="9239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419"/>
                  </a:lnSpc>
                </a:pPr>
                <a:r>
                  <a:rPr lang="en-US" sz="2850" b="1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결론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12907584" y="1597660"/>
              <a:ext cx="9235440" cy="640080"/>
              <a:chOff x="0" y="0"/>
              <a:chExt cx="9235440" cy="64008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923544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9235440" h="640080">
                    <a:moveTo>
                      <a:pt x="0" y="0"/>
                    </a:moveTo>
                    <a:lnTo>
                      <a:pt x="9235440" y="0"/>
                    </a:lnTo>
                    <a:lnTo>
                      <a:pt x="923544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31141" b="-231141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0"/>
                <a:ext cx="9235440" cy="64008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60"/>
                  </a:lnSpc>
                </a:pPr>
                <a:r>
                  <a:rPr lang="en-US" sz="1800" b="1">
                    <a:solidFill>
                      <a:srgbClr val="5A5A5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종합 및 시사점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4160" y="1508760"/>
            <a:ext cx="7543800" cy="7999288"/>
            <a:chOff x="0" y="0"/>
            <a:chExt cx="10058400" cy="10665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0" cy="10665718"/>
            </a:xfrm>
            <a:custGeom>
              <a:avLst/>
              <a:gdLst/>
              <a:ahLst/>
              <a:cxnLst/>
              <a:rect l="l" t="t" r="r" b="b"/>
              <a:pathLst>
                <a:path w="10058400" h="10665718">
                  <a:moveTo>
                    <a:pt x="0" y="0"/>
                  </a:moveTo>
                  <a:lnTo>
                    <a:pt x="10058400" y="0"/>
                  </a:lnTo>
                  <a:lnTo>
                    <a:pt x="10058400" y="10665718"/>
                  </a:lnTo>
                  <a:lnTo>
                    <a:pt x="0" y="106657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 b="569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058400" cy="106752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6800"/>
                </a:lnSpc>
              </a:pPr>
              <a:r>
                <a:rPr lang="en-US" sz="39000" b="1">
                  <a:solidFill>
                    <a:srgbClr val="F1F3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01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4440" y="3429000"/>
            <a:ext cx="2125980" cy="685800"/>
            <a:chOff x="0" y="0"/>
            <a:chExt cx="283464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34640" cy="914400"/>
            </a:xfrm>
            <a:custGeom>
              <a:avLst/>
              <a:gdLst/>
              <a:ahLst/>
              <a:cxnLst/>
              <a:rect l="l" t="t" r="r" b="b"/>
              <a:pathLst>
                <a:path w="2834640" h="914400">
                  <a:moveTo>
                    <a:pt x="0" y="0"/>
                  </a:moveTo>
                  <a:lnTo>
                    <a:pt x="2834640" y="0"/>
                  </a:lnTo>
                  <a:lnTo>
                    <a:pt x="283464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4440" y="3429000"/>
            <a:ext cx="2125980" cy="685800"/>
            <a:chOff x="0" y="0"/>
            <a:chExt cx="283464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34640" cy="914400"/>
            </a:xfrm>
            <a:custGeom>
              <a:avLst/>
              <a:gdLst/>
              <a:ahLst/>
              <a:cxnLst/>
              <a:rect l="l" t="t" r="r" b="b"/>
              <a:pathLst>
                <a:path w="2834640" h="914400">
                  <a:moveTo>
                    <a:pt x="0" y="0"/>
                  </a:moveTo>
                  <a:lnTo>
                    <a:pt x="2834640" y="0"/>
                  </a:lnTo>
                  <a:lnTo>
                    <a:pt x="2834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03" b="-104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83464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spc="149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PART 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5860" y="4320540"/>
            <a:ext cx="12344400" cy="1783080"/>
            <a:chOff x="0" y="0"/>
            <a:chExt cx="16459200" cy="23774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59200" cy="2377440"/>
            </a:xfrm>
            <a:custGeom>
              <a:avLst/>
              <a:gdLst/>
              <a:ahLst/>
              <a:cxnLst/>
              <a:rect l="l" t="t" r="r" b="b"/>
              <a:pathLst>
                <a:path w="16459200" h="2377440">
                  <a:moveTo>
                    <a:pt x="0" y="0"/>
                  </a:moveTo>
                  <a:lnTo>
                    <a:pt x="16459200" y="0"/>
                  </a:lnTo>
                  <a:lnTo>
                    <a:pt x="16459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896" b="-8489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6459200" cy="2386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000"/>
                </a:lnSpc>
              </a:pPr>
              <a:r>
                <a:rPr lang="en-US" sz="75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서론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34440" y="5897880"/>
            <a:ext cx="13030200" cy="685800"/>
            <a:chOff x="0" y="0"/>
            <a:chExt cx="1737360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373600" cy="914400"/>
            </a:xfrm>
            <a:custGeom>
              <a:avLst/>
              <a:gdLst/>
              <a:ahLst/>
              <a:cxnLst/>
              <a:rect l="l" t="t" r="r" b="b"/>
              <a:pathLst>
                <a:path w="17373600" h="914400">
                  <a:moveTo>
                    <a:pt x="0" y="0"/>
                  </a:moveTo>
                  <a:lnTo>
                    <a:pt x="17373600" y="0"/>
                  </a:lnTo>
                  <a:lnTo>
                    <a:pt x="1737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0215" b="-32021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73736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i="1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연구배경 및 선행연구 — 수도권 도로변 &amp; 공원 토양 세균 군집 비교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1-1  MICROBIOME CONCEPT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환경 노출이 인체 마이크로바이옴을 바꾼다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4/32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1530" y="2773908"/>
            <a:ext cx="5280660" cy="4869180"/>
            <a:chOff x="0" y="0"/>
            <a:chExt cx="7040880" cy="64922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40880" cy="6492240"/>
            </a:xfrm>
            <a:custGeom>
              <a:avLst/>
              <a:gdLst/>
              <a:ahLst/>
              <a:cxnLst/>
              <a:rect l="l" t="t" r="r" b="b"/>
              <a:pathLst>
                <a:path w="7040880" h="6492240">
                  <a:moveTo>
                    <a:pt x="0" y="0"/>
                  </a:moveTo>
                  <a:lnTo>
                    <a:pt x="7040880" y="0"/>
                  </a:lnTo>
                  <a:lnTo>
                    <a:pt x="7040880" y="6492240"/>
                  </a:lnTo>
                  <a:lnTo>
                    <a:pt x="0" y="649224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503670" y="2773908"/>
            <a:ext cx="5280660" cy="4869180"/>
            <a:chOff x="0" y="0"/>
            <a:chExt cx="7040880" cy="64922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40880" cy="6492240"/>
            </a:xfrm>
            <a:custGeom>
              <a:avLst/>
              <a:gdLst/>
              <a:ahLst/>
              <a:cxnLst/>
              <a:rect l="l" t="t" r="r" b="b"/>
              <a:pathLst>
                <a:path w="7040880" h="6492240">
                  <a:moveTo>
                    <a:pt x="0" y="0"/>
                  </a:moveTo>
                  <a:lnTo>
                    <a:pt x="7040880" y="0"/>
                  </a:lnTo>
                  <a:lnTo>
                    <a:pt x="7040880" y="6492240"/>
                  </a:lnTo>
                  <a:lnTo>
                    <a:pt x="0" y="649224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95810" y="2773908"/>
            <a:ext cx="5280660" cy="4869180"/>
            <a:chOff x="0" y="0"/>
            <a:chExt cx="7040880" cy="64922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40880" cy="6492240"/>
            </a:xfrm>
            <a:custGeom>
              <a:avLst/>
              <a:gdLst/>
              <a:ahLst/>
              <a:cxnLst/>
              <a:rect l="l" t="t" r="r" b="b"/>
              <a:pathLst>
                <a:path w="7040880" h="6492240">
                  <a:moveTo>
                    <a:pt x="0" y="0"/>
                  </a:moveTo>
                  <a:lnTo>
                    <a:pt x="7040880" y="0"/>
                  </a:lnTo>
                  <a:lnTo>
                    <a:pt x="7040880" y="6492240"/>
                  </a:lnTo>
                  <a:lnTo>
                    <a:pt x="0" y="649224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3010" y="4145508"/>
            <a:ext cx="4457700" cy="685800"/>
            <a:chOff x="0" y="0"/>
            <a:chExt cx="5943600" cy="914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943600" cy="914400"/>
            </a:xfrm>
            <a:custGeom>
              <a:avLst/>
              <a:gdLst/>
              <a:ahLst/>
              <a:cxnLst/>
              <a:rect l="l" t="t" r="r" b="b"/>
              <a:pathLst>
                <a:path w="5943600" h="9144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652" b="-7665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59436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피부 → 토양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23010" y="6888708"/>
            <a:ext cx="4457700" cy="411480"/>
            <a:chOff x="0" y="0"/>
            <a:chExt cx="5943600" cy="5486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943600" cy="548640"/>
            </a:xfrm>
            <a:custGeom>
              <a:avLst/>
              <a:gdLst/>
              <a:ahLst/>
              <a:cxnLst/>
              <a:rect l="l" t="t" r="r" b="b"/>
              <a:pathLst>
                <a:path w="5943600" h="548640">
                  <a:moveTo>
                    <a:pt x="0" y="0"/>
                  </a:moveTo>
                  <a:lnTo>
                    <a:pt x="5943600" y="0"/>
                  </a:lnTo>
                  <a:lnTo>
                    <a:pt x="594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87" b="-16108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5943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i="1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Selway et al., Environ. Int., 2020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915150" y="6888708"/>
            <a:ext cx="4457700" cy="411480"/>
            <a:chOff x="0" y="0"/>
            <a:chExt cx="5943600" cy="5486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943600" cy="548640"/>
            </a:xfrm>
            <a:custGeom>
              <a:avLst/>
              <a:gdLst/>
              <a:ahLst/>
              <a:cxnLst/>
              <a:rect l="l" t="t" r="r" b="b"/>
              <a:pathLst>
                <a:path w="5943600" h="548640">
                  <a:moveTo>
                    <a:pt x="0" y="0"/>
                  </a:moveTo>
                  <a:lnTo>
                    <a:pt x="5943600" y="0"/>
                  </a:lnTo>
                  <a:lnTo>
                    <a:pt x="594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87" b="-16108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5943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i="1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Selway et al., Environ. Int., 2020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607290" y="4145508"/>
            <a:ext cx="4457700" cy="685800"/>
            <a:chOff x="0" y="0"/>
            <a:chExt cx="5943600" cy="914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943600" cy="914400"/>
            </a:xfrm>
            <a:custGeom>
              <a:avLst/>
              <a:gdLst/>
              <a:ahLst/>
              <a:cxnLst/>
              <a:rect l="l" t="t" r="r" b="b"/>
              <a:pathLst>
                <a:path w="5943600" h="9144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652" b="-7665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59436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장·피부 다양성 변화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607290" y="6888708"/>
            <a:ext cx="4457700" cy="411480"/>
            <a:chOff x="0" y="0"/>
            <a:chExt cx="5943600" cy="5486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943600" cy="548640"/>
            </a:xfrm>
            <a:custGeom>
              <a:avLst/>
              <a:gdLst/>
              <a:ahLst/>
              <a:cxnLst/>
              <a:rect l="l" t="t" r="r" b="b"/>
              <a:pathLst>
                <a:path w="5943600" h="548640">
                  <a:moveTo>
                    <a:pt x="0" y="0"/>
                  </a:moveTo>
                  <a:lnTo>
                    <a:pt x="5943600" y="0"/>
                  </a:lnTo>
                  <a:lnTo>
                    <a:pt x="594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87" b="-16108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5943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i="1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Zhang et al., Environ. Int., 2024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063578" y="3185388"/>
            <a:ext cx="2776565" cy="685800"/>
            <a:chOff x="0" y="0"/>
            <a:chExt cx="3702086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702086" cy="914400"/>
            </a:xfrm>
            <a:custGeom>
              <a:avLst/>
              <a:gdLst/>
              <a:ahLst/>
              <a:cxnLst/>
              <a:rect l="l" t="t" r="r" b="b"/>
              <a:pathLst>
                <a:path w="3702086" h="914400">
                  <a:moveTo>
                    <a:pt x="0" y="0"/>
                  </a:moveTo>
                  <a:lnTo>
                    <a:pt x="3702086" y="0"/>
                  </a:lnTo>
                  <a:lnTo>
                    <a:pt x="370208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652" r="-60547" b="-7665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3702086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환경 미생물 노출 경로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89520" y="3185388"/>
            <a:ext cx="2776565" cy="685800"/>
            <a:chOff x="0" y="0"/>
            <a:chExt cx="3702086" cy="914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702086" cy="914400"/>
            </a:xfrm>
            <a:custGeom>
              <a:avLst/>
              <a:gdLst/>
              <a:ahLst/>
              <a:cxnLst/>
              <a:rect l="l" t="t" r="r" b="b"/>
              <a:pathLst>
                <a:path w="3702086" h="914400">
                  <a:moveTo>
                    <a:pt x="0" y="0"/>
                  </a:moveTo>
                  <a:lnTo>
                    <a:pt x="3702086" y="0"/>
                  </a:lnTo>
                  <a:lnTo>
                    <a:pt x="370208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652" r="-60547" b="-7665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3702086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도시 녹지 노출 및 미생물 변화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452692" y="3185388"/>
            <a:ext cx="2776565" cy="685800"/>
            <a:chOff x="0" y="0"/>
            <a:chExt cx="3702086" cy="914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702086" cy="914400"/>
            </a:xfrm>
            <a:custGeom>
              <a:avLst/>
              <a:gdLst/>
              <a:ahLst/>
              <a:cxnLst/>
              <a:rect l="l" t="t" r="r" b="b"/>
              <a:pathLst>
                <a:path w="3702086" h="914400">
                  <a:moveTo>
                    <a:pt x="0" y="0"/>
                  </a:moveTo>
                  <a:lnTo>
                    <a:pt x="3702086" y="0"/>
                  </a:lnTo>
                  <a:lnTo>
                    <a:pt x="370208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652" r="-60547" b="-7665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3702086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핵심 공급원으로서의 토양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223010" y="4882743"/>
            <a:ext cx="4457700" cy="1128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인간은 토양·식생과의 직접 접촉, 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공기·먼지흡입을 통해 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환경 미생물에 지속적으로 노출됨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915150" y="4882743"/>
            <a:ext cx="4457700" cy="1128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동일 노출 후, 비강(코) 마이크로바이옴은 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대기 마이크로바이옴과, 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피부는 토양 마이크로바이옴과 더 유사해짐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607290" y="4882743"/>
            <a:ext cx="4457700" cy="150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토양은 생태계 기능유지 및 영양염 순환을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주도하며, 녹지 노출을 통해 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인체 장·피부 미생물의 다양성 및 군집 조성 변화와 연관됨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6915150" y="4145508"/>
            <a:ext cx="4457700" cy="685800"/>
            <a:chOff x="0" y="0"/>
            <a:chExt cx="5943600" cy="914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943600" cy="914400"/>
            </a:xfrm>
            <a:custGeom>
              <a:avLst/>
              <a:gdLst/>
              <a:ahLst/>
              <a:cxnLst/>
              <a:rect l="l" t="t" r="r" b="b"/>
              <a:pathLst>
                <a:path w="5943600" h="9144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44642" b="-34464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59436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코 → 대기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11530" y="7985988"/>
            <a:ext cx="16847820" cy="1440180"/>
            <a:chOff x="0" y="0"/>
            <a:chExt cx="22463760" cy="1920240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22128480" cy="1920240"/>
              <a:chOff x="0" y="0"/>
              <a:chExt cx="22128480" cy="192024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22128480" cy="1920240"/>
              </a:xfrm>
              <a:custGeom>
                <a:avLst/>
                <a:gdLst/>
                <a:ahLst/>
                <a:cxnLst/>
                <a:rect l="l" t="t" r="r" b="b"/>
                <a:pathLst>
                  <a:path w="22128480" h="1920240">
                    <a:moveTo>
                      <a:pt x="0" y="0"/>
                    </a:moveTo>
                    <a:lnTo>
                      <a:pt x="22128480" y="0"/>
                    </a:lnTo>
                    <a:lnTo>
                      <a:pt x="22128480" y="1920240"/>
                    </a:lnTo>
                    <a:lnTo>
                      <a:pt x="0" y="1920240"/>
                    </a:lnTo>
                    <a:close/>
                  </a:path>
                </a:pathLst>
              </a:custGeom>
              <a:solidFill>
                <a:srgbClr val="2B4A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432560" y="329184"/>
              <a:ext cx="21031200" cy="1280160"/>
              <a:chOff x="0" y="0"/>
              <a:chExt cx="21031200" cy="12801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21031200" cy="1280160"/>
              </a:xfrm>
              <a:custGeom>
                <a:avLst/>
                <a:gdLst/>
                <a:ahLst/>
                <a:cxnLst/>
                <a:rect l="l" t="t" r="r" b="b"/>
                <a:pathLst>
                  <a:path w="21031200" h="1280160">
                    <a:moveTo>
                      <a:pt x="0" y="0"/>
                    </a:moveTo>
                    <a:lnTo>
                      <a:pt x="21031200" y="0"/>
                    </a:lnTo>
                    <a:lnTo>
                      <a:pt x="21031200" y="1280160"/>
                    </a:lnTo>
                    <a:lnTo>
                      <a:pt x="0" y="12801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70111" b="-270111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9525"/>
                <a:ext cx="21031200" cy="128968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340"/>
                  </a:lnSpc>
                </a:pPr>
                <a:r>
                  <a:rPr lang="en-US" sz="1950" b="1">
                    <a:solidFill>
                      <a:srgbClr val="FFFFFF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환경 미생물이 인체에 장기 정착한다는 뜻은 아니지만, 주변 환경의 미생물 조성이 인체가 접하는 노출 패턴에 영향을 준다는 것을 시사함</a:t>
                </a:r>
              </a:p>
            </p:txBody>
          </p:sp>
        </p:grpSp>
        <p:sp>
          <p:nvSpPr>
            <p:cNvPr id="56" name="Freeform 56"/>
            <p:cNvSpPr/>
            <p:nvPr/>
          </p:nvSpPr>
          <p:spPr>
            <a:xfrm>
              <a:off x="464630" y="590455"/>
              <a:ext cx="739330" cy="739330"/>
            </a:xfrm>
            <a:custGeom>
              <a:avLst/>
              <a:gdLst/>
              <a:ahLst/>
              <a:cxnLst/>
              <a:rect l="l" t="t" r="r" b="b"/>
              <a:pathLst>
                <a:path w="739330" h="739330">
                  <a:moveTo>
                    <a:pt x="0" y="0"/>
                  </a:moveTo>
                  <a:lnTo>
                    <a:pt x="739330" y="0"/>
                  </a:lnTo>
                  <a:lnTo>
                    <a:pt x="739330" y="739330"/>
                  </a:lnTo>
                  <a:lnTo>
                    <a:pt x="0" y="73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8" name="Freeform 53">
            <a:extLst>
              <a:ext uri="{FF2B5EF4-FFF2-40B4-BE49-F238E27FC236}">
                <a16:creationId xmlns:a16="http://schemas.microsoft.com/office/drawing/2014/main" id="{41491123-4686-1440-8D63-4A285CFEA3FD}"/>
              </a:ext>
            </a:extLst>
          </p:cNvPr>
          <p:cNvSpPr/>
          <p:nvPr/>
        </p:nvSpPr>
        <p:spPr>
          <a:xfrm>
            <a:off x="1299840" y="3350800"/>
            <a:ext cx="355174" cy="446760"/>
          </a:xfrm>
          <a:custGeom>
            <a:avLst/>
            <a:gdLst/>
            <a:ahLst/>
            <a:cxnLst/>
            <a:rect l="l" t="t" r="r" b="b"/>
            <a:pathLst>
              <a:path w="355174" h="446760">
                <a:moveTo>
                  <a:pt x="0" y="0"/>
                </a:moveTo>
                <a:lnTo>
                  <a:pt x="355174" y="0"/>
                </a:lnTo>
                <a:lnTo>
                  <a:pt x="355174" y="446760"/>
                </a:lnTo>
                <a:lnTo>
                  <a:pt x="0" y="446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0" name="Freeform 54">
            <a:extLst>
              <a:ext uri="{FF2B5EF4-FFF2-40B4-BE49-F238E27FC236}">
                <a16:creationId xmlns:a16="http://schemas.microsoft.com/office/drawing/2014/main" id="{BFB38CCA-7021-3EF1-5B8E-3B2BB362BCED}"/>
              </a:ext>
            </a:extLst>
          </p:cNvPr>
          <p:cNvSpPr/>
          <p:nvPr/>
        </p:nvSpPr>
        <p:spPr>
          <a:xfrm>
            <a:off x="1564985" y="3185388"/>
            <a:ext cx="180058" cy="272815"/>
          </a:xfrm>
          <a:custGeom>
            <a:avLst/>
            <a:gdLst/>
            <a:ahLst/>
            <a:cxnLst/>
            <a:rect l="l" t="t" r="r" b="b"/>
            <a:pathLst>
              <a:path w="180058" h="272815">
                <a:moveTo>
                  <a:pt x="0" y="0"/>
                </a:moveTo>
                <a:lnTo>
                  <a:pt x="180058" y="0"/>
                </a:lnTo>
                <a:lnTo>
                  <a:pt x="180058" y="272814"/>
                </a:lnTo>
                <a:lnTo>
                  <a:pt x="0" y="272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2" name="Freeform 58">
            <a:extLst>
              <a:ext uri="{FF2B5EF4-FFF2-40B4-BE49-F238E27FC236}">
                <a16:creationId xmlns:a16="http://schemas.microsoft.com/office/drawing/2014/main" id="{6A28BED4-045C-3B71-DFAA-71FEFECE0BA1}"/>
              </a:ext>
            </a:extLst>
          </p:cNvPr>
          <p:cNvSpPr/>
          <p:nvPr/>
        </p:nvSpPr>
        <p:spPr>
          <a:xfrm>
            <a:off x="1223010" y="3437772"/>
            <a:ext cx="180058" cy="272815"/>
          </a:xfrm>
          <a:custGeom>
            <a:avLst/>
            <a:gdLst/>
            <a:ahLst/>
            <a:cxnLst/>
            <a:rect l="l" t="t" r="r" b="b"/>
            <a:pathLst>
              <a:path w="180058" h="272815">
                <a:moveTo>
                  <a:pt x="0" y="0"/>
                </a:moveTo>
                <a:lnTo>
                  <a:pt x="180058" y="0"/>
                </a:lnTo>
                <a:lnTo>
                  <a:pt x="180058" y="272815"/>
                </a:lnTo>
                <a:lnTo>
                  <a:pt x="0" y="2728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4" name="Freeform 51">
            <a:extLst>
              <a:ext uri="{FF2B5EF4-FFF2-40B4-BE49-F238E27FC236}">
                <a16:creationId xmlns:a16="http://schemas.microsoft.com/office/drawing/2014/main" id="{FC835A0E-D5DD-65A2-513B-12E9973A18D0}"/>
              </a:ext>
            </a:extLst>
          </p:cNvPr>
          <p:cNvSpPr/>
          <p:nvPr/>
        </p:nvSpPr>
        <p:spPr>
          <a:xfrm>
            <a:off x="6943958" y="3259016"/>
            <a:ext cx="350053" cy="538543"/>
          </a:xfrm>
          <a:custGeom>
            <a:avLst/>
            <a:gdLst/>
            <a:ahLst/>
            <a:cxnLst/>
            <a:rect l="l" t="t" r="r" b="b"/>
            <a:pathLst>
              <a:path w="350053" h="538543">
                <a:moveTo>
                  <a:pt x="0" y="0"/>
                </a:moveTo>
                <a:lnTo>
                  <a:pt x="350054" y="0"/>
                </a:lnTo>
                <a:lnTo>
                  <a:pt x="350054" y="538544"/>
                </a:lnTo>
                <a:lnTo>
                  <a:pt x="0" y="538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6" name="Freeform 52">
            <a:extLst>
              <a:ext uri="{FF2B5EF4-FFF2-40B4-BE49-F238E27FC236}">
                <a16:creationId xmlns:a16="http://schemas.microsoft.com/office/drawing/2014/main" id="{1D185656-590D-B173-14C6-E03EDA616EFF}"/>
              </a:ext>
            </a:extLst>
          </p:cNvPr>
          <p:cNvSpPr/>
          <p:nvPr/>
        </p:nvSpPr>
        <p:spPr>
          <a:xfrm>
            <a:off x="12786219" y="3259016"/>
            <a:ext cx="344668" cy="538543"/>
          </a:xfrm>
          <a:custGeom>
            <a:avLst/>
            <a:gdLst/>
            <a:ahLst/>
            <a:cxnLst/>
            <a:rect l="l" t="t" r="r" b="b"/>
            <a:pathLst>
              <a:path w="344668" h="538543">
                <a:moveTo>
                  <a:pt x="0" y="0"/>
                </a:moveTo>
                <a:lnTo>
                  <a:pt x="344668" y="0"/>
                </a:lnTo>
                <a:lnTo>
                  <a:pt x="344668" y="538544"/>
                </a:lnTo>
                <a:lnTo>
                  <a:pt x="0" y="5385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1-2  RESEARCH GAP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도시 토양 특성 (도로변 vs 공원)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5/32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22960" y="3048973"/>
            <a:ext cx="17596454" cy="5363146"/>
            <a:chOff x="0" y="0"/>
            <a:chExt cx="23461939" cy="7150862"/>
          </a:xfrm>
        </p:grpSpPr>
        <p:sp>
          <p:nvSpPr>
            <p:cNvPr id="12" name="Freeform 12"/>
            <p:cNvSpPr/>
            <p:nvPr/>
          </p:nvSpPr>
          <p:spPr>
            <a:xfrm>
              <a:off x="10789920" y="2310895"/>
              <a:ext cx="1746490" cy="2619735"/>
            </a:xfrm>
            <a:custGeom>
              <a:avLst/>
              <a:gdLst/>
              <a:ahLst/>
              <a:cxnLst/>
              <a:rect l="l" t="t" r="r" b="b"/>
              <a:pathLst>
                <a:path w="1746490" h="2619735">
                  <a:moveTo>
                    <a:pt x="0" y="0"/>
                  </a:moveTo>
                  <a:lnTo>
                    <a:pt x="1746490" y="0"/>
                  </a:lnTo>
                  <a:lnTo>
                    <a:pt x="1746490" y="2619735"/>
                  </a:lnTo>
                  <a:lnTo>
                    <a:pt x="0" y="261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2917410" y="2026531"/>
              <a:ext cx="9576830" cy="3188462"/>
              <a:chOff x="0" y="0"/>
              <a:chExt cx="9576830" cy="318846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9576830" cy="3188462"/>
              </a:xfrm>
              <a:custGeom>
                <a:avLst/>
                <a:gdLst/>
                <a:ahLst/>
                <a:cxnLst/>
                <a:rect l="l" t="t" r="r" b="b"/>
                <a:pathLst>
                  <a:path w="9576830" h="3188462">
                    <a:moveTo>
                      <a:pt x="0" y="0"/>
                    </a:moveTo>
                    <a:lnTo>
                      <a:pt x="9576830" y="0"/>
                    </a:lnTo>
                    <a:lnTo>
                      <a:pt x="9576830" y="3188462"/>
                    </a:lnTo>
                    <a:lnTo>
                      <a:pt x="0" y="3188462"/>
                    </a:lnTo>
                    <a:close/>
                  </a:path>
                </a:pathLst>
              </a:custGeom>
              <a:solidFill>
                <a:srgbClr val="EEF1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4317939" y="3239262"/>
              <a:ext cx="8843319" cy="2084654"/>
              <a:chOff x="0" y="0"/>
              <a:chExt cx="8843319" cy="208465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843319" cy="2084655"/>
              </a:xfrm>
              <a:custGeom>
                <a:avLst/>
                <a:gdLst/>
                <a:ahLst/>
                <a:cxnLst/>
                <a:rect l="l" t="t" r="r" b="b"/>
                <a:pathLst>
                  <a:path w="8843319" h="2084655">
                    <a:moveTo>
                      <a:pt x="0" y="0"/>
                    </a:moveTo>
                    <a:lnTo>
                      <a:pt x="8843319" y="0"/>
                    </a:lnTo>
                    <a:lnTo>
                      <a:pt x="8843319" y="2084655"/>
                    </a:lnTo>
                    <a:lnTo>
                      <a:pt x="0" y="208465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53196" r="-135752" b="-136537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9525"/>
                <a:ext cx="8843319" cy="20941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610"/>
                  </a:lnSpc>
                </a:pPr>
                <a:r>
                  <a:rPr lang="en-US" sz="2175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토지 이용 형태 및 인위적 교란에 따른 </a:t>
                </a:r>
              </a:p>
              <a:p>
                <a:pPr algn="l">
                  <a:lnSpc>
                    <a:spcPts val="2610"/>
                  </a:lnSpc>
                </a:pPr>
                <a:r>
                  <a:rPr lang="en-US" sz="2175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토양 미생물 다양성 차이를 규명하고, </a:t>
                </a:r>
              </a:p>
              <a:p>
                <a:pPr algn="l">
                  <a:lnSpc>
                    <a:spcPts val="2610"/>
                  </a:lnSpc>
                </a:pPr>
                <a:r>
                  <a:rPr lang="en-US" sz="2175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도시 주민이 접하는 </a:t>
                </a:r>
                <a:r>
                  <a:rPr lang="en-US" sz="2175" b="1">
                    <a:solidFill>
                      <a:srgbClr val="000000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환경 미생물의 공간적 차이</a:t>
                </a:r>
                <a:r>
                  <a:rPr lang="en-US" sz="2175">
                    <a:solidFill>
                      <a:srgbClr val="000000"/>
                    </a:solidFill>
                    <a:latin typeface="프리텐다드"/>
                    <a:ea typeface="프리텐다드"/>
                    <a:cs typeface="프리텐다드"/>
                    <a:sym typeface="프리텐다드"/>
                  </a:rPr>
                  <a:t>를 이해</a:t>
                </a:r>
              </a:p>
              <a:p>
                <a:pPr algn="l">
                  <a:lnSpc>
                    <a:spcPts val="2610"/>
                  </a:lnSpc>
                </a:pPr>
                <a:endParaRPr lang="en-US" sz="2175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317939" y="2456942"/>
              <a:ext cx="9144000" cy="731520"/>
              <a:chOff x="0" y="0"/>
              <a:chExt cx="9144000" cy="73152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144000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73152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93562" b="-1935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9144000" cy="7410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1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수도권 토양 마이크로바이옴 비교 목적</a:t>
                </a:r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13427405" y="2349696"/>
              <a:ext cx="567207" cy="713468"/>
            </a:xfrm>
            <a:custGeom>
              <a:avLst/>
              <a:gdLst/>
              <a:ahLst/>
              <a:cxnLst/>
              <a:rect l="l" t="t" r="r" b="b"/>
              <a:pathLst>
                <a:path w="567207" h="713468">
                  <a:moveTo>
                    <a:pt x="0" y="0"/>
                  </a:moveTo>
                  <a:lnTo>
                    <a:pt x="567207" y="0"/>
                  </a:lnTo>
                  <a:lnTo>
                    <a:pt x="567207" y="713468"/>
                  </a:lnTo>
                  <a:lnTo>
                    <a:pt x="0" y="713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0"/>
              <a:ext cx="10409247" cy="3188462"/>
              <a:chOff x="0" y="0"/>
              <a:chExt cx="10409247" cy="318846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0409248" cy="3188462"/>
              </a:xfrm>
              <a:custGeom>
                <a:avLst/>
                <a:gdLst/>
                <a:ahLst/>
                <a:cxnLst/>
                <a:rect l="l" t="t" r="r" b="b"/>
                <a:pathLst>
                  <a:path w="10409248" h="3188462">
                    <a:moveTo>
                      <a:pt x="0" y="0"/>
                    </a:moveTo>
                    <a:lnTo>
                      <a:pt x="10409248" y="0"/>
                    </a:lnTo>
                    <a:lnTo>
                      <a:pt x="10409248" y="3188462"/>
                    </a:lnTo>
                    <a:lnTo>
                      <a:pt x="0" y="3188462"/>
                    </a:lnTo>
                    <a:close/>
                  </a:path>
                </a:pathLst>
              </a:custGeom>
              <a:solidFill>
                <a:srgbClr val="FAFAFC"/>
              </a:solidFill>
              <a:ln w="19050" cap="sq">
                <a:solidFill>
                  <a:srgbClr val="E3E6F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265247" y="364998"/>
              <a:ext cx="9144000" cy="731520"/>
              <a:chOff x="0" y="0"/>
              <a:chExt cx="9144000" cy="73152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9144000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73152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93562" b="-1935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9525"/>
                <a:ext cx="9144000" cy="7410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1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도로변 토양(Roadside Soil)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554480" y="1099693"/>
              <a:ext cx="9692640" cy="19840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188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차량 배기가스 및 도로 먼지 유래 중금속, 석유계 탄화수소, </a:t>
              </a:r>
            </a:p>
            <a:p>
              <a:pPr algn="l">
                <a:lnSpc>
                  <a:spcPts val="3045"/>
                </a:lnSpc>
              </a:pPr>
              <a:r>
                <a:rPr lang="en-US" sz="188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다환방향족탄화수소(PAHs) 축적 </a:t>
              </a:r>
            </a:p>
            <a:p>
              <a:pPr algn="l">
                <a:lnSpc>
                  <a:spcPts val="3045"/>
                </a:lnSpc>
              </a:pPr>
              <a:r>
                <a:rPr lang="en-US" sz="188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→ </a:t>
              </a:r>
              <a:r>
                <a:rPr lang="en-US" sz="188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세균 및 진균의 다양성 및 군집 구조 변형</a:t>
              </a:r>
            </a:p>
            <a:p>
              <a:pPr algn="l">
                <a:lnSpc>
                  <a:spcPts val="3045"/>
                </a:lnSpc>
              </a:pPr>
              <a:endParaRPr lang="en-US" sz="1880" b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endParaRP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0" y="3962400"/>
              <a:ext cx="10409247" cy="3188462"/>
              <a:chOff x="0" y="0"/>
              <a:chExt cx="10409247" cy="318846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0409248" cy="3188462"/>
              </a:xfrm>
              <a:custGeom>
                <a:avLst/>
                <a:gdLst/>
                <a:ahLst/>
                <a:cxnLst/>
                <a:rect l="l" t="t" r="r" b="b"/>
                <a:pathLst>
                  <a:path w="10409248" h="3188462">
                    <a:moveTo>
                      <a:pt x="0" y="0"/>
                    </a:moveTo>
                    <a:lnTo>
                      <a:pt x="10409248" y="0"/>
                    </a:lnTo>
                    <a:lnTo>
                      <a:pt x="10409248" y="3188462"/>
                    </a:lnTo>
                    <a:lnTo>
                      <a:pt x="0" y="3188462"/>
                    </a:lnTo>
                    <a:close/>
                  </a:path>
                </a:pathLst>
              </a:custGeom>
              <a:solidFill>
                <a:srgbClr val="FAFAFC"/>
              </a:solidFill>
              <a:ln w="19050" cap="sq">
                <a:solidFill>
                  <a:srgbClr val="E3E6F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265247" y="4318000"/>
              <a:ext cx="9144000" cy="731520"/>
              <a:chOff x="0" y="0"/>
              <a:chExt cx="9144000" cy="73152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9144000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73152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93562" b="-193562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9525"/>
                <a:ext cx="9144000" cy="7410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1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공원 토양(Park Soil)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554480" y="5074793"/>
              <a:ext cx="9692640" cy="19840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188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식생 조성 및 녹지 관리에 영향을 받는 도시 토양으로, </a:t>
              </a:r>
            </a:p>
            <a:p>
              <a:pPr algn="l">
                <a:lnSpc>
                  <a:spcPts val="3045"/>
                </a:lnSpc>
              </a:pPr>
              <a:r>
                <a:rPr lang="en-US" sz="188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도로변 토양과 상이한 </a:t>
              </a:r>
            </a:p>
            <a:p>
              <a:pPr algn="l">
                <a:lnSpc>
                  <a:spcPts val="3045"/>
                </a:lnSpc>
              </a:pPr>
              <a:r>
                <a:rPr lang="en-US" sz="188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환경적선택 압력</a:t>
              </a:r>
              <a:r>
                <a:rPr lang="en-US" sz="188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(Environmental Selective Pressures) 작용</a:t>
              </a:r>
            </a:p>
            <a:p>
              <a:pPr algn="l">
                <a:lnSpc>
                  <a:spcPts val="3045"/>
                </a:lnSpc>
              </a:pPr>
              <a:endParaRPr lang="en-US" sz="188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</p:grpSp>
      <p:sp>
        <p:nvSpPr>
          <p:cNvPr id="39" name="Freeform 31">
            <a:extLst>
              <a:ext uri="{FF2B5EF4-FFF2-40B4-BE49-F238E27FC236}">
                <a16:creationId xmlns:a16="http://schemas.microsoft.com/office/drawing/2014/main" id="{9177FF8B-EE5E-C530-DD8E-A34920C13C5D}"/>
              </a:ext>
            </a:extLst>
          </p:cNvPr>
          <p:cNvSpPr/>
          <p:nvPr/>
        </p:nvSpPr>
        <p:spPr>
          <a:xfrm>
            <a:off x="1079698" y="3268252"/>
            <a:ext cx="449702" cy="449702"/>
          </a:xfrm>
          <a:custGeom>
            <a:avLst/>
            <a:gdLst/>
            <a:ahLst/>
            <a:cxnLst/>
            <a:rect l="l" t="t" r="r" b="b"/>
            <a:pathLst>
              <a:path w="449702" h="449702">
                <a:moveTo>
                  <a:pt x="0" y="0"/>
                </a:moveTo>
                <a:lnTo>
                  <a:pt x="449702" y="0"/>
                </a:lnTo>
                <a:lnTo>
                  <a:pt x="449702" y="449702"/>
                </a:lnTo>
                <a:lnTo>
                  <a:pt x="0" y="449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1" name="Freeform 34">
            <a:extLst>
              <a:ext uri="{FF2B5EF4-FFF2-40B4-BE49-F238E27FC236}">
                <a16:creationId xmlns:a16="http://schemas.microsoft.com/office/drawing/2014/main" id="{BA25582E-668B-F957-DA04-FEFA5B3AC158}"/>
              </a:ext>
            </a:extLst>
          </p:cNvPr>
          <p:cNvSpPr/>
          <p:nvPr/>
        </p:nvSpPr>
        <p:spPr>
          <a:xfrm>
            <a:off x="1129523" y="6208401"/>
            <a:ext cx="350053" cy="538543"/>
          </a:xfrm>
          <a:custGeom>
            <a:avLst/>
            <a:gdLst/>
            <a:ahLst/>
            <a:cxnLst/>
            <a:rect l="l" t="t" r="r" b="b"/>
            <a:pathLst>
              <a:path w="350053" h="538543">
                <a:moveTo>
                  <a:pt x="0" y="0"/>
                </a:moveTo>
                <a:lnTo>
                  <a:pt x="350053" y="0"/>
                </a:lnTo>
                <a:lnTo>
                  <a:pt x="350053" y="538544"/>
                </a:lnTo>
                <a:lnTo>
                  <a:pt x="0" y="538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5040"/>
                </a:lnSpc>
                <a:spcBef>
                  <a:spcPct val="0"/>
                </a:spcBef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도시</a:t>
              </a:r>
              <a:r>
                <a:rPr lang="en-US" sz="4200" b="1" u="none" strike="noStrike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토양, 아직 덜 알려진 영역과 한계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2971800"/>
            <a:ext cx="754380" cy="754380"/>
            <a:chOff x="0" y="0"/>
            <a:chExt cx="1005840" cy="1005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0120" y="2971800"/>
            <a:ext cx="754380" cy="754380"/>
            <a:chOff x="0" y="0"/>
            <a:chExt cx="1005840" cy="10058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✓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988820" y="2971800"/>
            <a:ext cx="6858000" cy="548640"/>
            <a:chOff x="0" y="0"/>
            <a:chExt cx="914400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91440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토양의 역할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988820" y="3571875"/>
            <a:ext cx="7269480" cy="1128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0233" lvl="1" indent="-170117" algn="l">
              <a:lnSpc>
                <a:spcPts val="3045"/>
              </a:lnSpc>
              <a:buFont typeface="Arial"/>
              <a:buChar char="•"/>
            </a:pPr>
            <a:r>
              <a:rPr lang="en-US" sz="188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생태계 기능·영양염류 순환의 </a:t>
            </a:r>
            <a:r>
              <a:rPr lang="en-US" sz="1880" b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핵심 환경 요소</a:t>
            </a:r>
          </a:p>
          <a:p>
            <a:pPr marL="340233" lvl="1" indent="-170117" algn="l">
              <a:lnSpc>
                <a:spcPts val="3045"/>
              </a:lnSpc>
              <a:buFont typeface="Arial"/>
              <a:buChar char="•"/>
            </a:pPr>
            <a:r>
              <a:rPr lang="en-US" sz="188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도시에서는 미기후 조절, 탄소 격리, 우수(빗물) 관리 등 </a:t>
            </a:r>
          </a:p>
          <a:p>
            <a:pPr algn="l">
              <a:lnSpc>
                <a:spcPts val="3045"/>
              </a:lnSpc>
            </a:pPr>
            <a:r>
              <a:rPr lang="en-US" sz="188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     부가적 역할까지 수행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641080" y="2971800"/>
            <a:ext cx="754380" cy="754380"/>
            <a:chOff x="0" y="0"/>
            <a:chExt cx="1005840" cy="1005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641080" y="2971800"/>
            <a:ext cx="754380" cy="754380"/>
            <a:chOff x="0" y="0"/>
            <a:chExt cx="1005840" cy="10058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✕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669780" y="2971800"/>
            <a:ext cx="6858000" cy="548640"/>
            <a:chOff x="0" y="0"/>
            <a:chExt cx="914400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91440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그러나 남은 공백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22960" y="9710928"/>
            <a:ext cx="7269480" cy="411480"/>
            <a:chOff x="0" y="0"/>
            <a:chExt cx="9692640" cy="5486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692640" cy="548640"/>
            </a:xfrm>
            <a:custGeom>
              <a:avLst/>
              <a:gdLst/>
              <a:ahLst/>
              <a:cxnLst/>
              <a:rect l="l" t="t" r="r" b="b"/>
              <a:pathLst>
                <a:path w="9692640" h="548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235" b="-29423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969264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i="1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Whitehead et al., Front. Microbiol., 2022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59315" y="5241624"/>
            <a:ext cx="5800249" cy="1371402"/>
            <a:chOff x="0" y="0"/>
            <a:chExt cx="7733666" cy="18285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733666" cy="1828537"/>
            </a:xfrm>
            <a:custGeom>
              <a:avLst/>
              <a:gdLst/>
              <a:ahLst/>
              <a:cxnLst/>
              <a:rect l="l" t="t" r="r" b="b"/>
              <a:pathLst>
                <a:path w="7733666" h="1828537">
                  <a:moveTo>
                    <a:pt x="0" y="0"/>
                  </a:moveTo>
                  <a:lnTo>
                    <a:pt x="7733666" y="0"/>
                  </a:lnTo>
                  <a:lnTo>
                    <a:pt x="7733666" y="1828537"/>
                  </a:lnTo>
                  <a:lnTo>
                    <a:pt x="0" y="1828537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024501" y="5478073"/>
            <a:ext cx="5535063" cy="898505"/>
            <a:chOff x="0" y="0"/>
            <a:chExt cx="7380084" cy="119800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380084" cy="1198007"/>
            </a:xfrm>
            <a:custGeom>
              <a:avLst/>
              <a:gdLst/>
              <a:ahLst/>
              <a:cxnLst/>
              <a:rect l="l" t="t" r="r" b="b"/>
              <a:pathLst>
                <a:path w="7380084" h="1198007">
                  <a:moveTo>
                    <a:pt x="0" y="0"/>
                  </a:moveTo>
                  <a:lnTo>
                    <a:pt x="7380084" y="0"/>
                  </a:lnTo>
                  <a:lnTo>
                    <a:pt x="7380084" y="1198007"/>
                  </a:lnTo>
                  <a:lnTo>
                    <a:pt x="0" y="11980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6578" r="-182494" b="-31159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7380084" cy="12075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→  인위적 교란이 심한 도시 토양의 세균 군집은 </a:t>
              </a:r>
            </a:p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     구조와 기능 모두 충분히 규명되지 않은 상태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6/32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22960" y="7644765"/>
            <a:ext cx="16823055" cy="1440180"/>
            <a:chOff x="0" y="0"/>
            <a:chExt cx="22430740" cy="192024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22128480" cy="1920240"/>
              <a:chOff x="0" y="0"/>
              <a:chExt cx="22128480" cy="192024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22128480" cy="1920240"/>
              </a:xfrm>
              <a:custGeom>
                <a:avLst/>
                <a:gdLst/>
                <a:ahLst/>
                <a:cxnLst/>
                <a:rect l="l" t="t" r="r" b="b"/>
                <a:pathLst>
                  <a:path w="22128480" h="1920240">
                    <a:moveTo>
                      <a:pt x="0" y="0"/>
                    </a:moveTo>
                    <a:lnTo>
                      <a:pt x="22128480" y="0"/>
                    </a:lnTo>
                    <a:lnTo>
                      <a:pt x="22128480" y="1920240"/>
                    </a:lnTo>
                    <a:lnTo>
                      <a:pt x="0" y="1920240"/>
                    </a:lnTo>
                    <a:close/>
                  </a:path>
                </a:pathLst>
              </a:custGeom>
              <a:solidFill>
                <a:srgbClr val="2B4A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399540" y="320040"/>
              <a:ext cx="21031200" cy="1280160"/>
              <a:chOff x="0" y="0"/>
              <a:chExt cx="21031200" cy="12801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21031200" cy="1280160"/>
              </a:xfrm>
              <a:custGeom>
                <a:avLst/>
                <a:gdLst/>
                <a:ahLst/>
                <a:cxnLst/>
                <a:rect l="l" t="t" r="r" b="b"/>
                <a:pathLst>
                  <a:path w="21031200" h="1280160">
                    <a:moveTo>
                      <a:pt x="0" y="0"/>
                    </a:moveTo>
                    <a:lnTo>
                      <a:pt x="21031200" y="0"/>
                    </a:lnTo>
                    <a:lnTo>
                      <a:pt x="21031200" y="1280160"/>
                    </a:lnTo>
                    <a:lnTo>
                      <a:pt x="0" y="12801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70111" b="-270111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9525"/>
                <a:ext cx="21031200" cy="128968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340"/>
                  </a:lnSpc>
                </a:pPr>
                <a:r>
                  <a:rPr lang="en-US" sz="1950" b="1">
                    <a:solidFill>
                      <a:srgbClr val="FFFFFF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주요 제약요인: 높은 생물학적 복잡성 (Biological Complexity), 방대한 조합 탐색 공간 (Vast Search Space), 막대한 시간 및 자원 소모</a:t>
                </a:r>
              </a:p>
            </p:txBody>
          </p:sp>
        </p:grpSp>
        <p:sp>
          <p:nvSpPr>
            <p:cNvPr id="39" name="Freeform 39"/>
            <p:cNvSpPr/>
            <p:nvPr/>
          </p:nvSpPr>
          <p:spPr>
            <a:xfrm>
              <a:off x="449390" y="590455"/>
              <a:ext cx="739330" cy="739330"/>
            </a:xfrm>
            <a:custGeom>
              <a:avLst/>
              <a:gdLst/>
              <a:ahLst/>
              <a:cxnLst/>
              <a:rect l="l" t="t" r="r" b="b"/>
              <a:pathLst>
                <a:path w="739330" h="739330">
                  <a:moveTo>
                    <a:pt x="0" y="0"/>
                  </a:moveTo>
                  <a:lnTo>
                    <a:pt x="739330" y="0"/>
                  </a:lnTo>
                  <a:lnTo>
                    <a:pt x="739330" y="739330"/>
                  </a:lnTo>
                  <a:lnTo>
                    <a:pt x="0" y="73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669780" y="3571875"/>
            <a:ext cx="7269480" cy="1128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0233" lvl="1" indent="-170117" algn="l">
              <a:lnSpc>
                <a:spcPts val="3045"/>
              </a:lnSpc>
              <a:buFont typeface="Arial"/>
              <a:buChar char="•"/>
            </a:pPr>
            <a:r>
              <a:rPr lang="en-US" sz="188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도시 토양 미생물 연구는 상대적으로 </a:t>
            </a:r>
            <a:r>
              <a:rPr lang="en-US" sz="1880" b="1">
                <a:solidFill>
                  <a:srgbClr val="2B4A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산발적</a:t>
            </a:r>
          </a:p>
          <a:p>
            <a:pPr marL="340233" lvl="1" indent="-170117" algn="l">
              <a:lnSpc>
                <a:spcPts val="3045"/>
              </a:lnSpc>
              <a:buFont typeface="Arial"/>
              <a:buChar char="•"/>
            </a:pPr>
            <a:r>
              <a:rPr lang="en-US" sz="188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대부분 거시적(macro) 수준의 생태계 서비스에 초점 </a:t>
            </a:r>
          </a:p>
          <a:p>
            <a:pPr algn="l">
              <a:lnSpc>
                <a:spcPts val="3045"/>
              </a:lnSpc>
            </a:pPr>
            <a:r>
              <a:rPr lang="en-US" sz="188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     — 세균 군집의 </a:t>
            </a:r>
            <a:r>
              <a:rPr lang="en-US" sz="1880" b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구조적 복잡성·기능적</a:t>
            </a:r>
            <a:r>
              <a:rPr lang="en-US" sz="188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80" b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잠재력은</a:t>
            </a:r>
            <a:r>
              <a:rPr lang="en-US" sz="188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80" b="1">
                <a:solidFill>
                  <a:srgbClr val="2B4A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저평가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1-2  RESEARCH GAP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1980"/>
                </a:lnSpc>
                <a:spcBef>
                  <a:spcPct val="0"/>
                </a:spcBef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</a:t>
              </a:r>
              <a:r>
                <a:rPr lang="en-US" sz="1650" b="1" u="none" strike="noStrike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-3  METHOD PREVIEW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비교 — NGS 기반 16S rRNA 분석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908755"/>
            <a:ext cx="16596360" cy="5349240"/>
            <a:chOff x="0" y="0"/>
            <a:chExt cx="22128480" cy="713232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698480" cy="7132320"/>
              <a:chOff x="0" y="0"/>
              <a:chExt cx="10698480" cy="713232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698480" cy="7132320"/>
              </a:xfrm>
              <a:custGeom>
                <a:avLst/>
                <a:gdLst/>
                <a:ahLst/>
                <a:cxnLst/>
                <a:rect l="l" t="t" r="r" b="b"/>
                <a:pathLst>
                  <a:path w="10698480" h="7132320">
                    <a:moveTo>
                      <a:pt x="0" y="0"/>
                    </a:moveTo>
                    <a:lnTo>
                      <a:pt x="10698480" y="0"/>
                    </a:lnTo>
                    <a:lnTo>
                      <a:pt x="10698480" y="7132320"/>
                    </a:lnTo>
                    <a:lnTo>
                      <a:pt x="0" y="7132320"/>
                    </a:lnTo>
                    <a:close/>
                  </a:path>
                </a:pathLst>
              </a:custGeom>
              <a:solidFill>
                <a:srgbClr val="EEF1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548640" y="365760"/>
              <a:ext cx="9509760" cy="914400"/>
              <a:chOff x="0" y="0"/>
              <a:chExt cx="9509760" cy="914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50976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09760" h="914400">
                    <a:moveTo>
                      <a:pt x="0" y="0"/>
                    </a:moveTo>
                    <a:lnTo>
                      <a:pt x="9509760" y="0"/>
                    </a:lnTo>
                    <a:lnTo>
                      <a:pt x="950976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52644" b="-152644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9509760" cy="9144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060"/>
                  </a:lnSpc>
                </a:pPr>
                <a:r>
                  <a:rPr lang="en-US" sz="2550" b="1">
                    <a:solidFill>
                      <a:srgbClr val="1E36C4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NGS = 시퀀싱 기술</a:t>
                </a: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548640" y="1377315"/>
              <a:ext cx="9509760" cy="2614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52901" lvl="1" indent="-176451" algn="l">
                <a:lnSpc>
                  <a:spcPts val="3159"/>
                </a:lnSpc>
                <a:buFont typeface="Arial"/>
                <a:buChar char="•"/>
              </a:pPr>
              <a:r>
                <a:rPr lang="en-US" sz="195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수백만 개의 DNA 조각을 동시에 병렬로 읽어내는 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     고속·대량 시퀀싱 기술</a:t>
              </a:r>
            </a:p>
            <a:p>
              <a:pPr algn="l">
                <a:lnSpc>
                  <a:spcPts val="3159"/>
                </a:lnSpc>
              </a:pPr>
              <a:endParaRPr lang="en-US" sz="195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  <a:p>
              <a:pPr marL="352901" lvl="1" indent="-176451" algn="l">
                <a:lnSpc>
                  <a:spcPts val="3159"/>
                </a:lnSpc>
                <a:buFont typeface="Arial"/>
                <a:buChar char="•"/>
              </a:pPr>
              <a:r>
                <a:rPr lang="en-US" sz="195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본 연구는</a:t>
              </a:r>
              <a:r>
                <a:rPr lang="en-US" sz="195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Illumina NGS</a:t>
              </a:r>
              <a:r>
                <a:rPr lang="en-US" sz="195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를 이용해 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     32개 토양 시료의 16S 서열을 대량 분석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1430000" y="0"/>
              <a:ext cx="10698480" cy="7132320"/>
              <a:chOff x="0" y="0"/>
              <a:chExt cx="10698480" cy="713232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698480" cy="7132320"/>
              </a:xfrm>
              <a:custGeom>
                <a:avLst/>
                <a:gdLst/>
                <a:ahLst/>
                <a:cxnLst/>
                <a:rect l="l" t="t" r="r" b="b"/>
                <a:pathLst>
                  <a:path w="10698480" h="7132320">
                    <a:moveTo>
                      <a:pt x="0" y="0"/>
                    </a:moveTo>
                    <a:lnTo>
                      <a:pt x="10698480" y="0"/>
                    </a:lnTo>
                    <a:lnTo>
                      <a:pt x="10698480" y="7132320"/>
                    </a:lnTo>
                    <a:lnTo>
                      <a:pt x="0" y="7132320"/>
                    </a:lnTo>
                    <a:close/>
                  </a:path>
                </a:pathLst>
              </a:custGeom>
              <a:solidFill>
                <a:srgbClr val="FAFAFC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1978640" y="365760"/>
              <a:ext cx="9509760" cy="914400"/>
              <a:chOff x="0" y="0"/>
              <a:chExt cx="9509760" cy="914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950976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09760" h="914400">
                    <a:moveTo>
                      <a:pt x="0" y="0"/>
                    </a:moveTo>
                    <a:lnTo>
                      <a:pt x="9509760" y="0"/>
                    </a:lnTo>
                    <a:lnTo>
                      <a:pt x="950976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52644" b="-152644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0"/>
                <a:ext cx="9509760" cy="9144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060"/>
                  </a:lnSpc>
                </a:pPr>
                <a:r>
                  <a:rPr lang="en-US" sz="2550" b="1">
                    <a:solidFill>
                      <a:srgbClr val="000000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16S amplicon = 분석 전략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1978640" y="1377315"/>
              <a:ext cx="9509760" cy="5281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52901" lvl="1" indent="-176451" algn="l">
                <a:lnSpc>
                  <a:spcPts val="3159"/>
                </a:lnSpc>
                <a:buFont typeface="Arial"/>
                <a:buChar char="•"/>
              </a:pPr>
              <a:r>
                <a:rPr lang="en-US" sz="195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개별 미생물의 WGS나 토양 DNA 전체를 읽는 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     shotgun metagenomics가 아님</a:t>
              </a:r>
            </a:p>
            <a:p>
              <a:pPr algn="l">
                <a:lnSpc>
                  <a:spcPts val="3159"/>
                </a:lnSpc>
              </a:pPr>
              <a:endParaRPr lang="en-US" sz="195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  <a:p>
              <a:pPr marL="352901" lvl="1" indent="-176451" algn="l">
                <a:lnSpc>
                  <a:spcPts val="3159"/>
                </a:lnSpc>
                <a:buFont typeface="Arial"/>
                <a:buChar char="•"/>
              </a:pPr>
              <a:r>
                <a:rPr lang="en-US" sz="195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세균에서 널리 보존된 16S rRNA 유전자의 V4 영역을 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     PCR로 증폭하는 Amplicon sequencing</a:t>
              </a:r>
            </a:p>
            <a:p>
              <a:pPr algn="l">
                <a:lnSpc>
                  <a:spcPts val="3159"/>
                </a:lnSpc>
              </a:pPr>
              <a:endParaRPr lang="en-US" sz="195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  <a:p>
              <a:pPr marL="352901" lvl="1" indent="-176451" algn="l">
                <a:lnSpc>
                  <a:spcPts val="3159"/>
                </a:lnSpc>
                <a:buFont typeface="Arial"/>
                <a:buChar char="•"/>
              </a:pPr>
              <a:r>
                <a:rPr lang="en-US" sz="195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시료별 고유 index를 부착해 함께 시퀀싱한 뒤 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     시료별로 분리(demultiplexing)</a:t>
              </a:r>
            </a:p>
            <a:p>
              <a:pPr algn="l">
                <a:lnSpc>
                  <a:spcPts val="3159"/>
                </a:lnSpc>
              </a:pPr>
              <a:endParaRPr lang="en-US" sz="195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  <a:p>
              <a:pPr marL="352901" lvl="1" indent="-176451" algn="l">
                <a:lnSpc>
                  <a:spcPts val="3159"/>
                </a:lnSpc>
                <a:buFont typeface="Arial"/>
                <a:buChar char="•"/>
              </a:pPr>
              <a:r>
                <a:rPr lang="en-US" sz="195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배양 없이 세균 군집의 구성과 시료 간 차이를 비교 가능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7/32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1980"/>
                </a:lnSpc>
                <a:spcBef>
                  <a:spcPct val="0"/>
                </a:spcBef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</a:t>
              </a:r>
              <a:r>
                <a:rPr lang="en-US" sz="1650" b="1" u="none" strike="noStrike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-3  METHOD PREVIEW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NGS 및 능동 머신러닝(METIS) 융합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2805027"/>
            <a:ext cx="10082432" cy="6303093"/>
            <a:chOff x="0" y="0"/>
            <a:chExt cx="13443242" cy="8404123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3443204" cy="8404098"/>
            </a:xfrm>
            <a:custGeom>
              <a:avLst/>
              <a:gdLst/>
              <a:ahLst/>
              <a:cxnLst/>
              <a:rect l="l" t="t" r="r" b="b"/>
              <a:pathLst>
                <a:path w="13443204" h="8404098">
                  <a:moveTo>
                    <a:pt x="0" y="0"/>
                  </a:moveTo>
                  <a:lnTo>
                    <a:pt x="13443204" y="0"/>
                  </a:lnTo>
                  <a:lnTo>
                    <a:pt x="13443204" y="8404098"/>
                  </a:lnTo>
                  <a:lnTo>
                    <a:pt x="0" y="8404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8752" r="-98689" b="-300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0150" y="3411141"/>
            <a:ext cx="222352" cy="285750"/>
            <a:chOff x="0" y="0"/>
            <a:chExt cx="296469" cy="3810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296418" cy="381000"/>
            </a:xfrm>
            <a:custGeom>
              <a:avLst/>
              <a:gdLst/>
              <a:ahLst/>
              <a:cxnLst/>
              <a:rect l="l" t="t" r="r" b="b"/>
              <a:pathLst>
                <a:path w="296418" h="381000">
                  <a:moveTo>
                    <a:pt x="0" y="0"/>
                  </a:moveTo>
                  <a:lnTo>
                    <a:pt x="296418" y="0"/>
                  </a:lnTo>
                  <a:lnTo>
                    <a:pt x="29641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077" r="-509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00150" y="5325666"/>
            <a:ext cx="222352" cy="285750"/>
            <a:chOff x="0" y="0"/>
            <a:chExt cx="296469" cy="3810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296418" cy="381000"/>
            </a:xfrm>
            <a:custGeom>
              <a:avLst/>
              <a:gdLst/>
              <a:ahLst/>
              <a:cxnLst/>
              <a:rect l="l" t="t" r="r" b="b"/>
              <a:pathLst>
                <a:path w="296418" h="381000">
                  <a:moveTo>
                    <a:pt x="0" y="0"/>
                  </a:moveTo>
                  <a:lnTo>
                    <a:pt x="296418" y="0"/>
                  </a:lnTo>
                  <a:lnTo>
                    <a:pt x="29641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499" r="-2651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00150" y="7197328"/>
            <a:ext cx="222352" cy="285750"/>
            <a:chOff x="0" y="0"/>
            <a:chExt cx="296469" cy="3810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96418" cy="381000"/>
            </a:xfrm>
            <a:custGeom>
              <a:avLst/>
              <a:gdLst/>
              <a:ahLst/>
              <a:cxnLst/>
              <a:rect l="l" t="t" r="r" b="b"/>
              <a:pathLst>
                <a:path w="296418" h="381000">
                  <a:moveTo>
                    <a:pt x="0" y="0"/>
                  </a:moveTo>
                  <a:lnTo>
                    <a:pt x="296418" y="0"/>
                  </a:lnTo>
                  <a:lnTo>
                    <a:pt x="29641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381" r="-2039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51102" y="3358753"/>
            <a:ext cx="388024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F172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NGS 분석 기반 타깃 미생물 발굴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51102" y="3843365"/>
            <a:ext cx="8103365" cy="659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880">
                <a:solidFill>
                  <a:srgbClr val="475569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NGS 프로파일링으로 토양 세균 군집과 후보 분류군을 탐색, 스케일업을 위한 </a:t>
            </a:r>
          </a:p>
          <a:p>
            <a:pPr algn="l">
              <a:lnSpc>
                <a:spcPts val="2691"/>
              </a:lnSpc>
            </a:pPr>
            <a:r>
              <a:rPr lang="en-US" sz="1880">
                <a:solidFill>
                  <a:srgbClr val="475569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다변수 배양 조건 최적화는 기존 반응표면분석법(RSM)으로 한계 존재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51102" y="5273278"/>
            <a:ext cx="616833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F172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METIS 프레임워크 (Active Machine Learning)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51102" y="5692378"/>
            <a:ext cx="8103365" cy="1045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880">
                <a:solidFill>
                  <a:srgbClr val="475569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생장 성능을 반복 예측하고 최소 실험 횟수로 최적 배양 조건</a:t>
            </a:r>
          </a:p>
          <a:p>
            <a:pPr algn="l">
              <a:lnSpc>
                <a:spcPts val="2690"/>
              </a:lnSpc>
            </a:pPr>
            <a:r>
              <a:rPr lang="en-US" sz="1880">
                <a:solidFill>
                  <a:srgbClr val="475569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(탄소원, pH, 미량영양소 등)을 능동 샘플링하는 데이터 기반 최적화 기법 </a:t>
            </a:r>
          </a:p>
          <a:p>
            <a:pPr algn="l">
              <a:lnSpc>
                <a:spcPts val="858"/>
              </a:lnSpc>
            </a:pPr>
            <a:endParaRPr lang="en-US" sz="1880">
              <a:solidFill>
                <a:srgbClr val="475569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  <a:p>
            <a:pPr algn="l">
              <a:lnSpc>
                <a:spcPts val="2147"/>
              </a:lnSpc>
            </a:pPr>
            <a:r>
              <a:rPr lang="en-US" sz="1500">
                <a:solidFill>
                  <a:srgbClr val="475569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Pandi et al., 2022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51102" y="7144941"/>
            <a:ext cx="463629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F172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기술 융합을 통한 도시 토양 복원 실용화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51102" y="7630716"/>
            <a:ext cx="8103365" cy="659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880">
                <a:solidFill>
                  <a:srgbClr val="475569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NGS 커뮤니티 프로파일링과 METIS 기반 배양 최적화의 결합을 통해, </a:t>
            </a:r>
          </a:p>
          <a:p>
            <a:pPr algn="l">
              <a:lnSpc>
                <a:spcPts val="2691"/>
              </a:lnSpc>
            </a:pPr>
            <a:r>
              <a:rPr lang="en-US" sz="1880">
                <a:solidFill>
                  <a:srgbClr val="475569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마이크로바이옴 발굴부터 실질적인 도시 토양 복원 바이오프로세스까지의 격차 해소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903590" y="3661467"/>
            <a:ext cx="7961309" cy="4480617"/>
            <a:chOff x="0" y="0"/>
            <a:chExt cx="10615079" cy="59741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615041" cy="5974207"/>
            </a:xfrm>
            <a:custGeom>
              <a:avLst/>
              <a:gdLst/>
              <a:ahLst/>
              <a:cxnLst/>
              <a:rect l="l" t="t" r="r" b="b"/>
              <a:pathLst>
                <a:path w="10615041" h="5974207">
                  <a:moveTo>
                    <a:pt x="0" y="0"/>
                  </a:moveTo>
                  <a:lnTo>
                    <a:pt x="10615041" y="0"/>
                  </a:lnTo>
                  <a:lnTo>
                    <a:pt x="10615041" y="5974207"/>
                  </a:lnTo>
                  <a:lnTo>
                    <a:pt x="0" y="5974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8/32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1980"/>
                </a:lnSpc>
                <a:spcBef>
                  <a:spcPct val="0"/>
                </a:spcBef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</a:t>
              </a:r>
              <a:r>
                <a:rPr lang="en-US" sz="1650" b="1" u="none" strike="noStrike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-4  RESEARCH QUESTIONS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2912745"/>
            <a:ext cx="1440180" cy="1577340"/>
            <a:chOff x="0" y="0"/>
            <a:chExt cx="1920240" cy="2103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20240" cy="2103120"/>
            </a:xfrm>
            <a:custGeom>
              <a:avLst/>
              <a:gdLst/>
              <a:ahLst/>
              <a:cxnLst/>
              <a:rect l="l" t="t" r="r" b="b"/>
              <a:pathLst>
                <a:path w="1920240" h="2103120">
                  <a:moveTo>
                    <a:pt x="0" y="0"/>
                  </a:moveTo>
                  <a:lnTo>
                    <a:pt x="1920240" y="0"/>
                  </a:lnTo>
                  <a:lnTo>
                    <a:pt x="192024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2B4A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2912745"/>
            <a:ext cx="1440180" cy="1577340"/>
            <a:chOff x="0" y="0"/>
            <a:chExt cx="1920240" cy="21031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20240" cy="2103120"/>
            </a:xfrm>
            <a:custGeom>
              <a:avLst/>
              <a:gdLst/>
              <a:ahLst/>
              <a:cxnLst/>
              <a:rect l="l" t="t" r="r" b="b"/>
              <a:pathLst>
                <a:path w="1920240" h="2103120">
                  <a:moveTo>
                    <a:pt x="0" y="0"/>
                  </a:moveTo>
                  <a:lnTo>
                    <a:pt x="1920240" y="0"/>
                  </a:lnTo>
                  <a:lnTo>
                    <a:pt x="19202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522" r="-9052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920240" cy="2112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Q1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970145"/>
            <a:ext cx="1440180" cy="1577340"/>
            <a:chOff x="0" y="0"/>
            <a:chExt cx="1920240" cy="21031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20240" cy="2103120"/>
            </a:xfrm>
            <a:custGeom>
              <a:avLst/>
              <a:gdLst/>
              <a:ahLst/>
              <a:cxnLst/>
              <a:rect l="l" t="t" r="r" b="b"/>
              <a:pathLst>
                <a:path w="1920240" h="2103120">
                  <a:moveTo>
                    <a:pt x="0" y="0"/>
                  </a:moveTo>
                  <a:lnTo>
                    <a:pt x="1920240" y="0"/>
                  </a:lnTo>
                  <a:lnTo>
                    <a:pt x="192024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2B4A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2960" y="4970145"/>
            <a:ext cx="1440180" cy="1577340"/>
            <a:chOff x="0" y="0"/>
            <a:chExt cx="1920240" cy="21031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20240" cy="2103120"/>
            </a:xfrm>
            <a:custGeom>
              <a:avLst/>
              <a:gdLst/>
              <a:ahLst/>
              <a:cxnLst/>
              <a:rect l="l" t="t" r="r" b="b"/>
              <a:pathLst>
                <a:path w="1920240" h="2103120">
                  <a:moveTo>
                    <a:pt x="0" y="0"/>
                  </a:moveTo>
                  <a:lnTo>
                    <a:pt x="1920240" y="0"/>
                  </a:lnTo>
                  <a:lnTo>
                    <a:pt x="19202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522" r="-9052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920240" cy="2112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Q2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2960" y="7027545"/>
            <a:ext cx="1440180" cy="1577340"/>
            <a:chOff x="0" y="0"/>
            <a:chExt cx="1920240" cy="21031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20240" cy="2103120"/>
            </a:xfrm>
            <a:custGeom>
              <a:avLst/>
              <a:gdLst/>
              <a:ahLst/>
              <a:cxnLst/>
              <a:rect l="l" t="t" r="r" b="b"/>
              <a:pathLst>
                <a:path w="1920240" h="2103120">
                  <a:moveTo>
                    <a:pt x="0" y="0"/>
                  </a:moveTo>
                  <a:lnTo>
                    <a:pt x="1920240" y="0"/>
                  </a:lnTo>
                  <a:lnTo>
                    <a:pt x="192024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2B4A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2960" y="7027545"/>
            <a:ext cx="1440180" cy="1577340"/>
            <a:chOff x="0" y="0"/>
            <a:chExt cx="1920240" cy="21031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20240" cy="2103120"/>
            </a:xfrm>
            <a:custGeom>
              <a:avLst/>
              <a:gdLst/>
              <a:ahLst/>
              <a:cxnLst/>
              <a:rect l="l" t="t" r="r" b="b"/>
              <a:pathLst>
                <a:path w="1920240" h="2103120">
                  <a:moveTo>
                    <a:pt x="0" y="0"/>
                  </a:moveTo>
                  <a:lnTo>
                    <a:pt x="1920240" y="0"/>
                  </a:lnTo>
                  <a:lnTo>
                    <a:pt x="19202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522" r="-9052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920240" cy="2112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Q3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16734" y="3112770"/>
            <a:ext cx="14264640" cy="685800"/>
            <a:chOff x="0" y="0"/>
            <a:chExt cx="19019520" cy="914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019520" cy="914400"/>
            </a:xfrm>
            <a:custGeom>
              <a:avLst/>
              <a:gdLst/>
              <a:ahLst/>
              <a:cxnLst/>
              <a:rect l="l" t="t" r="r" b="b"/>
              <a:pathLst>
                <a:path w="19019520" h="914400">
                  <a:moveTo>
                    <a:pt x="0" y="0"/>
                  </a:moveTo>
                  <a:lnTo>
                    <a:pt x="19019520" y="0"/>
                  </a:lnTo>
                  <a:lnTo>
                    <a:pt x="19019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288" b="-35528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90195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도로변과 공원 토양의 세균 군집은 서로 다른가?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516734" y="3789045"/>
            <a:ext cx="1426464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토지이용에 따른 인위적 교란이 실제로 군집 조성·다양성 차이를 만드는지 확인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516734" y="5170170"/>
            <a:ext cx="14264640" cy="685800"/>
            <a:chOff x="0" y="0"/>
            <a:chExt cx="19019520" cy="914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019520" cy="914400"/>
            </a:xfrm>
            <a:custGeom>
              <a:avLst/>
              <a:gdLst/>
              <a:ahLst/>
              <a:cxnLst/>
              <a:rect l="l" t="t" r="r" b="b"/>
              <a:pathLst>
                <a:path w="19019520" h="914400">
                  <a:moveTo>
                    <a:pt x="0" y="0"/>
                  </a:moveTo>
                  <a:lnTo>
                    <a:pt x="19019520" y="0"/>
                  </a:lnTo>
                  <a:lnTo>
                    <a:pt x="19019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288" b="-35528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90195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두 환경을 구분할 수 있는 세균 분류군이 존재하는가?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516734" y="5846445"/>
            <a:ext cx="1426464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환경 모니터링 지표로 활용 가능한 후보 분류군 탐색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516734" y="7227570"/>
            <a:ext cx="14264640" cy="685800"/>
            <a:chOff x="0" y="0"/>
            <a:chExt cx="19019520" cy="914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019520" cy="914400"/>
            </a:xfrm>
            <a:custGeom>
              <a:avLst/>
              <a:gdLst/>
              <a:ahLst/>
              <a:cxnLst/>
              <a:rect l="l" t="t" r="r" b="b"/>
              <a:pathLst>
                <a:path w="19019520" h="914400">
                  <a:moveTo>
                    <a:pt x="0" y="0"/>
                  </a:moveTo>
                  <a:lnTo>
                    <a:pt x="19019520" y="0"/>
                  </a:lnTo>
                  <a:lnTo>
                    <a:pt x="19019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288" b="-35528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90195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배양 가능한 유용 자원을 확보하고 최적화할 수 있는가?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516734" y="7903845"/>
            <a:ext cx="1426464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분리주를 실제로 확보하고, AI 기반 배양 최적화로 실용화 가능성 검토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9/32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그래서, 이 연구가 답하려는 질문은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4160" y="1508760"/>
            <a:ext cx="7543800" cy="7999288"/>
            <a:chOff x="0" y="0"/>
            <a:chExt cx="10058400" cy="10665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0" cy="10665718"/>
            </a:xfrm>
            <a:custGeom>
              <a:avLst/>
              <a:gdLst/>
              <a:ahLst/>
              <a:cxnLst/>
              <a:rect l="l" t="t" r="r" b="b"/>
              <a:pathLst>
                <a:path w="10058400" h="10665718">
                  <a:moveTo>
                    <a:pt x="0" y="0"/>
                  </a:moveTo>
                  <a:lnTo>
                    <a:pt x="10058400" y="0"/>
                  </a:lnTo>
                  <a:lnTo>
                    <a:pt x="10058400" y="10665718"/>
                  </a:lnTo>
                  <a:lnTo>
                    <a:pt x="0" y="106657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 b="569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058400" cy="106752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6800"/>
                </a:lnSpc>
              </a:pPr>
              <a:r>
                <a:rPr lang="en-US" sz="39000" b="1">
                  <a:solidFill>
                    <a:srgbClr val="F1F3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02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4440" y="3429000"/>
            <a:ext cx="2125980" cy="685800"/>
            <a:chOff x="0" y="0"/>
            <a:chExt cx="283464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34640" cy="914400"/>
            </a:xfrm>
            <a:custGeom>
              <a:avLst/>
              <a:gdLst/>
              <a:ahLst/>
              <a:cxnLst/>
              <a:rect l="l" t="t" r="r" b="b"/>
              <a:pathLst>
                <a:path w="2834640" h="914400">
                  <a:moveTo>
                    <a:pt x="0" y="0"/>
                  </a:moveTo>
                  <a:lnTo>
                    <a:pt x="2834640" y="0"/>
                  </a:lnTo>
                  <a:lnTo>
                    <a:pt x="283464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4440" y="3429000"/>
            <a:ext cx="2125980" cy="685800"/>
            <a:chOff x="0" y="0"/>
            <a:chExt cx="283464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34640" cy="914400"/>
            </a:xfrm>
            <a:custGeom>
              <a:avLst/>
              <a:gdLst/>
              <a:ahLst/>
              <a:cxnLst/>
              <a:rect l="l" t="t" r="r" b="b"/>
              <a:pathLst>
                <a:path w="2834640" h="914400">
                  <a:moveTo>
                    <a:pt x="0" y="0"/>
                  </a:moveTo>
                  <a:lnTo>
                    <a:pt x="2834640" y="0"/>
                  </a:lnTo>
                  <a:lnTo>
                    <a:pt x="2834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03" b="-104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83464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spc="149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PART 02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5860" y="4320540"/>
            <a:ext cx="12344400" cy="1783080"/>
            <a:chOff x="0" y="0"/>
            <a:chExt cx="16459200" cy="23774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59200" cy="2377440"/>
            </a:xfrm>
            <a:custGeom>
              <a:avLst/>
              <a:gdLst/>
              <a:ahLst/>
              <a:cxnLst/>
              <a:rect l="l" t="t" r="r" b="b"/>
              <a:pathLst>
                <a:path w="16459200" h="2377440">
                  <a:moveTo>
                    <a:pt x="0" y="0"/>
                  </a:moveTo>
                  <a:lnTo>
                    <a:pt x="16459200" y="0"/>
                  </a:lnTo>
                  <a:lnTo>
                    <a:pt x="16459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896" b="-8489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6459200" cy="2386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000"/>
                </a:lnSpc>
              </a:pPr>
              <a:r>
                <a:rPr lang="en-US" sz="75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샘플링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34440" y="5897880"/>
            <a:ext cx="13030200" cy="685800"/>
            <a:chOff x="0" y="0"/>
            <a:chExt cx="1737360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373600" cy="914400"/>
            </a:xfrm>
            <a:custGeom>
              <a:avLst/>
              <a:gdLst/>
              <a:ahLst/>
              <a:cxnLst/>
              <a:rect l="l" t="t" r="r" b="b"/>
              <a:pathLst>
                <a:path w="17373600" h="914400">
                  <a:moveTo>
                    <a:pt x="0" y="0"/>
                  </a:moveTo>
                  <a:lnTo>
                    <a:pt x="17373600" y="0"/>
                  </a:lnTo>
                  <a:lnTo>
                    <a:pt x="1737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0215" b="-32021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73736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i="1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채취 및 시퀀싱 방법론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연구지역 및 샘플링 설계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2711958"/>
            <a:ext cx="5020056" cy="1618488"/>
            <a:chOff x="0" y="0"/>
            <a:chExt cx="6693408" cy="21579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93408" cy="2157984"/>
            </a:xfrm>
            <a:custGeom>
              <a:avLst/>
              <a:gdLst/>
              <a:ahLst/>
              <a:cxnLst/>
              <a:rect l="l" t="t" r="r" b="b"/>
              <a:pathLst>
                <a:path w="6693408" h="2157984">
                  <a:moveTo>
                    <a:pt x="0" y="359664"/>
                  </a:moveTo>
                  <a:cubicBezTo>
                    <a:pt x="0" y="161036"/>
                    <a:pt x="161036" y="0"/>
                    <a:pt x="359664" y="0"/>
                  </a:cubicBezTo>
                  <a:lnTo>
                    <a:pt x="6333744" y="0"/>
                  </a:lnTo>
                  <a:cubicBezTo>
                    <a:pt x="6532372" y="0"/>
                    <a:pt x="6693408" y="161036"/>
                    <a:pt x="6693408" y="359664"/>
                  </a:cubicBezTo>
                  <a:lnTo>
                    <a:pt x="6693408" y="1798320"/>
                  </a:lnTo>
                  <a:cubicBezTo>
                    <a:pt x="6693408" y="1996948"/>
                    <a:pt x="6532372" y="2157984"/>
                    <a:pt x="6333744" y="2157984"/>
                  </a:cubicBezTo>
                  <a:lnTo>
                    <a:pt x="359664" y="2157984"/>
                  </a:lnTo>
                  <a:cubicBezTo>
                    <a:pt x="161036" y="2157984"/>
                    <a:pt x="0" y="1996948"/>
                    <a:pt x="0" y="1798320"/>
                  </a:cubicBez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44768" y="2711958"/>
            <a:ext cx="5020056" cy="1618488"/>
            <a:chOff x="0" y="0"/>
            <a:chExt cx="6693408" cy="21579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93408" cy="2157984"/>
            </a:xfrm>
            <a:custGeom>
              <a:avLst/>
              <a:gdLst/>
              <a:ahLst/>
              <a:cxnLst/>
              <a:rect l="l" t="t" r="r" b="b"/>
              <a:pathLst>
                <a:path w="6693408" h="2157984">
                  <a:moveTo>
                    <a:pt x="0" y="359664"/>
                  </a:moveTo>
                  <a:cubicBezTo>
                    <a:pt x="0" y="161036"/>
                    <a:pt x="161036" y="0"/>
                    <a:pt x="359664" y="0"/>
                  </a:cubicBezTo>
                  <a:lnTo>
                    <a:pt x="6333744" y="0"/>
                  </a:lnTo>
                  <a:cubicBezTo>
                    <a:pt x="6532372" y="0"/>
                    <a:pt x="6693408" y="161036"/>
                    <a:pt x="6693408" y="359664"/>
                  </a:cubicBezTo>
                  <a:lnTo>
                    <a:pt x="6693408" y="1798320"/>
                  </a:lnTo>
                  <a:cubicBezTo>
                    <a:pt x="6693408" y="1996948"/>
                    <a:pt x="6532372" y="2157984"/>
                    <a:pt x="6333744" y="2157984"/>
                  </a:cubicBezTo>
                  <a:lnTo>
                    <a:pt x="359664" y="2157984"/>
                  </a:lnTo>
                  <a:cubicBezTo>
                    <a:pt x="161036" y="2157984"/>
                    <a:pt x="0" y="1996948"/>
                    <a:pt x="0" y="1798320"/>
                  </a:cubicBez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66576" y="2711958"/>
            <a:ext cx="5020056" cy="1618488"/>
            <a:chOff x="0" y="0"/>
            <a:chExt cx="6693408" cy="21579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93408" cy="2157984"/>
            </a:xfrm>
            <a:custGeom>
              <a:avLst/>
              <a:gdLst/>
              <a:ahLst/>
              <a:cxnLst/>
              <a:rect l="l" t="t" r="r" b="b"/>
              <a:pathLst>
                <a:path w="6693408" h="2157984">
                  <a:moveTo>
                    <a:pt x="0" y="359664"/>
                  </a:moveTo>
                  <a:cubicBezTo>
                    <a:pt x="0" y="161036"/>
                    <a:pt x="161036" y="0"/>
                    <a:pt x="359664" y="0"/>
                  </a:cubicBezTo>
                  <a:lnTo>
                    <a:pt x="6333744" y="0"/>
                  </a:lnTo>
                  <a:cubicBezTo>
                    <a:pt x="6532372" y="0"/>
                    <a:pt x="6693408" y="161036"/>
                    <a:pt x="6693408" y="359664"/>
                  </a:cubicBezTo>
                  <a:lnTo>
                    <a:pt x="6693408" y="1798320"/>
                  </a:lnTo>
                  <a:cubicBezTo>
                    <a:pt x="6693408" y="1996948"/>
                    <a:pt x="6532372" y="2157984"/>
                    <a:pt x="6333744" y="2157984"/>
                  </a:cubicBezTo>
                  <a:lnTo>
                    <a:pt x="359664" y="2157984"/>
                  </a:lnTo>
                  <a:cubicBezTo>
                    <a:pt x="161036" y="2157984"/>
                    <a:pt x="0" y="1996948"/>
                    <a:pt x="0" y="1798320"/>
                  </a:cubicBez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8532" y="3054858"/>
            <a:ext cx="603504" cy="603504"/>
            <a:chOff x="0" y="0"/>
            <a:chExt cx="804672" cy="8046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04672" cy="804672"/>
            </a:xfrm>
            <a:custGeom>
              <a:avLst/>
              <a:gdLst/>
              <a:ahLst/>
              <a:cxnLst/>
              <a:rect l="l" t="t" r="r" b="b"/>
              <a:pathLst>
                <a:path w="804672" h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2B4A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002536" y="3153537"/>
            <a:ext cx="342900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E36C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연구지역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02536" y="3734562"/>
            <a:ext cx="1883664" cy="279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80" dirty="0" err="1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서울</a:t>
            </a:r>
            <a:r>
              <a:rPr lang="en-US" sz="188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  <a:r>
              <a:rPr lang="en-US" sz="1880" dirty="0" err="1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경기</a:t>
            </a:r>
            <a:r>
              <a:rPr lang="en-US" sz="188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880" dirty="0" err="1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수도권</a:t>
            </a:r>
            <a:endParaRPr lang="en-US" sz="1880" dirty="0">
              <a:solidFill>
                <a:srgbClr val="1A1A1A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6528816" y="3054858"/>
            <a:ext cx="603504" cy="603504"/>
            <a:chOff x="0" y="0"/>
            <a:chExt cx="804672" cy="80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04672" cy="804672"/>
            </a:xfrm>
            <a:custGeom>
              <a:avLst/>
              <a:gdLst/>
              <a:ahLst/>
              <a:cxnLst/>
              <a:rect l="l" t="t" r="r" b="b"/>
              <a:pathLst>
                <a:path w="804672" h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2B4A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2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322820" y="3153537"/>
            <a:ext cx="342900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E36C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채취 기간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22820" y="3734562"/>
            <a:ext cx="349758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8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2026.07.18 ~ 20.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850624" y="3054858"/>
            <a:ext cx="603504" cy="603504"/>
            <a:chOff x="0" y="0"/>
            <a:chExt cx="804672" cy="8046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04672" cy="804672"/>
            </a:xfrm>
            <a:custGeom>
              <a:avLst/>
              <a:gdLst/>
              <a:ahLst/>
              <a:cxnLst/>
              <a:rect l="l" t="t" r="r" b="b"/>
              <a:pathLst>
                <a:path w="804672" h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2B4A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3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644628" y="3149727"/>
            <a:ext cx="342900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E36C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비교 설계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644628" y="3576066"/>
            <a:ext cx="3497580" cy="644271"/>
            <a:chOff x="0" y="0"/>
            <a:chExt cx="4663440" cy="859028"/>
          </a:xfrm>
        </p:grpSpPr>
        <p:sp>
          <p:nvSpPr>
            <p:cNvPr id="26" name="TextBox 26"/>
            <p:cNvSpPr txBox="1"/>
            <p:nvPr/>
          </p:nvSpPr>
          <p:spPr>
            <a:xfrm>
              <a:off x="0" y="0"/>
              <a:ext cx="4663440" cy="431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0"/>
                </a:lnSpc>
              </a:pPr>
              <a:r>
                <a:rPr lang="en-US" sz="215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Roadside vs Park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532003"/>
              <a:ext cx="4663440" cy="327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총 32개 토양 시료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13435" y="4677537"/>
            <a:ext cx="16656558" cy="3420618"/>
            <a:chOff x="0" y="0"/>
            <a:chExt cx="22208744" cy="456082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208744" cy="4560824"/>
            </a:xfrm>
            <a:custGeom>
              <a:avLst/>
              <a:gdLst/>
              <a:ahLst/>
              <a:cxnLst/>
              <a:rect l="l" t="t" r="r" b="b"/>
              <a:pathLst>
                <a:path w="22208744" h="4560824">
                  <a:moveTo>
                    <a:pt x="0" y="0"/>
                  </a:moveTo>
                  <a:lnTo>
                    <a:pt x="22208744" y="0"/>
                  </a:lnTo>
                  <a:lnTo>
                    <a:pt x="22208744" y="4560824"/>
                  </a:lnTo>
                  <a:lnTo>
                    <a:pt x="0" y="4560824"/>
                  </a:lnTo>
                  <a:close/>
                </a:path>
              </a:pathLst>
            </a:custGeom>
            <a:solidFill>
              <a:srgbClr val="F7F8FD"/>
            </a:solidFill>
            <a:ln w="19050" cap="sq">
              <a:solidFill>
                <a:srgbClr val="D9DFF7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34440" y="4979289"/>
            <a:ext cx="41148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80" b="1">
                <a:solidFill>
                  <a:srgbClr val="2B4A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SAMPLING FRAMEWORK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24915" y="5610225"/>
            <a:ext cx="7357110" cy="1966722"/>
            <a:chOff x="0" y="0"/>
            <a:chExt cx="9809480" cy="262229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809480" cy="2622296"/>
            </a:xfrm>
            <a:custGeom>
              <a:avLst/>
              <a:gdLst/>
              <a:ahLst/>
              <a:cxnLst/>
              <a:rect l="l" t="t" r="r" b="b"/>
              <a:pathLst>
                <a:path w="9809480" h="2622296">
                  <a:moveTo>
                    <a:pt x="0" y="437007"/>
                  </a:moveTo>
                  <a:cubicBezTo>
                    <a:pt x="0" y="195707"/>
                    <a:pt x="195707" y="0"/>
                    <a:pt x="437007" y="0"/>
                  </a:cubicBezTo>
                  <a:lnTo>
                    <a:pt x="9372473" y="0"/>
                  </a:lnTo>
                  <a:cubicBezTo>
                    <a:pt x="9613900" y="0"/>
                    <a:pt x="9809480" y="195707"/>
                    <a:pt x="9809480" y="437007"/>
                  </a:cubicBezTo>
                  <a:lnTo>
                    <a:pt x="9809480" y="2185289"/>
                  </a:lnTo>
                  <a:cubicBezTo>
                    <a:pt x="9809480" y="2426716"/>
                    <a:pt x="9613773" y="2622296"/>
                    <a:pt x="9372473" y="2622296"/>
                  </a:cubicBezTo>
                  <a:lnTo>
                    <a:pt x="437007" y="2622296"/>
                  </a:lnTo>
                  <a:cubicBezTo>
                    <a:pt x="195707" y="2622296"/>
                    <a:pt x="0" y="2426589"/>
                    <a:pt x="0" y="21852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F7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573530" y="5839206"/>
            <a:ext cx="658368" cy="658368"/>
            <a:chOff x="0" y="0"/>
            <a:chExt cx="877824" cy="87782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B4A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877824" cy="887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R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441448" y="5946267"/>
            <a:ext cx="521208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E36C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도로변  |  Roadside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441448" y="6566154"/>
            <a:ext cx="562356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주요 간선도로 연석 1 m 이내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441448" y="7018782"/>
            <a:ext cx="562356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교통·도로 관련 인위적 교란에 직접 노출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8613648" y="6195822"/>
            <a:ext cx="1042416" cy="603504"/>
            <a:chOff x="0" y="0"/>
            <a:chExt cx="1389888" cy="80467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389888" cy="804672"/>
            </a:xfrm>
            <a:custGeom>
              <a:avLst/>
              <a:gdLst/>
              <a:ahLst/>
              <a:cxnLst/>
              <a:rect l="l" t="t" r="r" b="b"/>
              <a:pathLst>
                <a:path w="1389888" h="804672">
                  <a:moveTo>
                    <a:pt x="0" y="0"/>
                  </a:moveTo>
                  <a:lnTo>
                    <a:pt x="1389888" y="0"/>
                  </a:lnTo>
                  <a:lnTo>
                    <a:pt x="138988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281" r="-2428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389888" cy="814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VS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093708" y="6881622"/>
            <a:ext cx="16459" cy="822960"/>
            <a:chOff x="0" y="0"/>
            <a:chExt cx="21946" cy="109728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971" cy="1097280"/>
            </a:xfrm>
            <a:custGeom>
              <a:avLst/>
              <a:gdLst/>
              <a:ahLst/>
              <a:cxnLst/>
              <a:rect l="l" t="t" r="r" b="b"/>
              <a:pathLst>
                <a:path w="21971" h="1097280">
                  <a:moveTo>
                    <a:pt x="0" y="0"/>
                  </a:moveTo>
                  <a:lnTo>
                    <a:pt x="21971" y="0"/>
                  </a:lnTo>
                  <a:lnTo>
                    <a:pt x="2197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D9DFF7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701403" y="5610225"/>
            <a:ext cx="7357110" cy="1966722"/>
            <a:chOff x="0" y="0"/>
            <a:chExt cx="9809480" cy="262229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809480" cy="2622296"/>
            </a:xfrm>
            <a:custGeom>
              <a:avLst/>
              <a:gdLst/>
              <a:ahLst/>
              <a:cxnLst/>
              <a:rect l="l" t="t" r="r" b="b"/>
              <a:pathLst>
                <a:path w="9809480" h="2622296">
                  <a:moveTo>
                    <a:pt x="0" y="437007"/>
                  </a:moveTo>
                  <a:cubicBezTo>
                    <a:pt x="0" y="195707"/>
                    <a:pt x="195707" y="0"/>
                    <a:pt x="437007" y="0"/>
                  </a:cubicBezTo>
                  <a:lnTo>
                    <a:pt x="9372473" y="0"/>
                  </a:lnTo>
                  <a:cubicBezTo>
                    <a:pt x="9613900" y="0"/>
                    <a:pt x="9809480" y="195707"/>
                    <a:pt x="9809480" y="437007"/>
                  </a:cubicBezTo>
                  <a:lnTo>
                    <a:pt x="9809480" y="2185289"/>
                  </a:lnTo>
                  <a:cubicBezTo>
                    <a:pt x="9809480" y="2426716"/>
                    <a:pt x="9613773" y="2622296"/>
                    <a:pt x="9372473" y="2622296"/>
                  </a:cubicBezTo>
                  <a:lnTo>
                    <a:pt x="437007" y="2622296"/>
                  </a:lnTo>
                  <a:cubicBezTo>
                    <a:pt x="195707" y="2622296"/>
                    <a:pt x="0" y="2426589"/>
                    <a:pt x="0" y="218528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F7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070944" y="5839206"/>
            <a:ext cx="658368" cy="658368"/>
            <a:chOff x="0" y="0"/>
            <a:chExt cx="877824" cy="87782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77824" cy="877824"/>
            </a:xfrm>
            <a:custGeom>
              <a:avLst/>
              <a:gdLst/>
              <a:ahLst/>
              <a:cxn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B4A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877824" cy="887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P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0917936" y="5946267"/>
            <a:ext cx="521208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E36C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공원  |  Park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917936" y="6566154"/>
            <a:ext cx="562356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차량 직접 노출이 최소화된 지정 녹지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917936" y="7018782"/>
            <a:ext cx="562356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식생·녹지 관리의 영향을 받는 도시 토양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822960" y="8321802"/>
            <a:ext cx="16637508" cy="850392"/>
            <a:chOff x="0" y="0"/>
            <a:chExt cx="22183344" cy="113385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34440" y="8541258"/>
            <a:ext cx="15841980" cy="411480"/>
            <a:chOff x="0" y="0"/>
            <a:chExt cx="21122640" cy="5486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1122639" cy="548640"/>
            </a:xfrm>
            <a:custGeom>
              <a:avLst/>
              <a:gdLst/>
              <a:ahLst/>
              <a:cxnLst/>
              <a:rect l="l" t="t" r="r" b="b"/>
              <a:pathLst>
                <a:path w="21122639" h="548640">
                  <a:moveTo>
                    <a:pt x="0" y="0"/>
                  </a:moveTo>
                  <a:lnTo>
                    <a:pt x="21122639" y="0"/>
                  </a:lnTo>
                  <a:lnTo>
                    <a:pt x="211226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0173" b="-70017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21122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5"/>
                </a:lnSpc>
              </a:pPr>
              <a:r>
                <a:rPr lang="en-US" sz="1829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토지이용 유형(Roadside vs Park)을 기준으로 수도권 도시 토양의 세균 군집을 비교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11/32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2-1  STUDY AREA &amp; DESIGN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D924835-6C80-A775-502B-F68088108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405" y="2111943"/>
            <a:ext cx="11121190" cy="7324665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2-1  STUDY AREA &amp; DESIGN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실제 채취 지점 — 서울·경기 6개 지역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12/32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2-2  SOIL SAMPLING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시료 채취 프로토콜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904309" y="2194560"/>
            <a:ext cx="13733978" cy="7175093"/>
          </a:xfrm>
          <a:custGeom>
            <a:avLst/>
            <a:gdLst/>
            <a:ahLst/>
            <a:cxnLst/>
            <a:rect l="l" t="t" r="r" b="b"/>
            <a:pathLst>
              <a:path w="13733978" h="7175093">
                <a:moveTo>
                  <a:pt x="0" y="0"/>
                </a:moveTo>
                <a:lnTo>
                  <a:pt x="13733977" y="0"/>
                </a:lnTo>
                <a:lnTo>
                  <a:pt x="13733977" y="7175093"/>
                </a:lnTo>
                <a:lnTo>
                  <a:pt x="0" y="71750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53" t="-31704" r="-1157" b="-16464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13/32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2-3  DNA EXTRACTION &amp; SEQUENCING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DNA 추출 및 16S rRNA 시퀀싱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3435" y="3360420"/>
            <a:ext cx="3790950" cy="3585210"/>
            <a:chOff x="0" y="0"/>
            <a:chExt cx="5054600" cy="4780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54600" cy="4780280"/>
            </a:xfrm>
            <a:custGeom>
              <a:avLst/>
              <a:gdLst/>
              <a:ahLst/>
              <a:cxnLst/>
              <a:rect l="l" t="t" r="r" b="b"/>
              <a:pathLst>
                <a:path w="5054600" h="4780280">
                  <a:moveTo>
                    <a:pt x="0" y="0"/>
                  </a:moveTo>
                  <a:lnTo>
                    <a:pt x="5054600" y="0"/>
                  </a:lnTo>
                  <a:lnTo>
                    <a:pt x="5054600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6F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24712" y="3671697"/>
            <a:ext cx="3168396" cy="617220"/>
            <a:chOff x="0" y="0"/>
            <a:chExt cx="4224528" cy="8229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24528" cy="822960"/>
            </a:xfrm>
            <a:custGeom>
              <a:avLst/>
              <a:gdLst/>
              <a:ahLst/>
              <a:cxnLst/>
              <a:rect l="l" t="t" r="r" b="b"/>
              <a:pathLst>
                <a:path w="4224528" h="822960">
                  <a:moveTo>
                    <a:pt x="0" y="0"/>
                  </a:moveTo>
                  <a:lnTo>
                    <a:pt x="4224528" y="0"/>
                  </a:lnTo>
                  <a:lnTo>
                    <a:pt x="422452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023" b="-500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4224528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24712" y="4604385"/>
            <a:ext cx="3168396" cy="548640"/>
            <a:chOff x="0" y="0"/>
            <a:chExt cx="4224528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24528" cy="731520"/>
            </a:xfrm>
            <a:custGeom>
              <a:avLst/>
              <a:gdLst/>
              <a:ahLst/>
              <a:cxnLst/>
              <a:rect l="l" t="t" r="r" b="b"/>
              <a:pathLst>
                <a:path w="4224528" h="731520">
                  <a:moveTo>
                    <a:pt x="0" y="0"/>
                  </a:moveTo>
                  <a:lnTo>
                    <a:pt x="4224528" y="0"/>
                  </a:lnTo>
                  <a:lnTo>
                    <a:pt x="42245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526" b="-6252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422452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DNA 추출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24712" y="5221605"/>
            <a:ext cx="3168396" cy="1508760"/>
            <a:chOff x="0" y="0"/>
            <a:chExt cx="4224528" cy="20116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224528" cy="2011680"/>
            </a:xfrm>
            <a:custGeom>
              <a:avLst/>
              <a:gdLst/>
              <a:ahLst/>
              <a:cxnLst/>
              <a:rect l="l" t="t" r="r" b="b"/>
              <a:pathLst>
                <a:path w="4224528" h="2011680">
                  <a:moveTo>
                    <a:pt x="0" y="0"/>
                  </a:moveTo>
                  <a:lnTo>
                    <a:pt x="4224528" y="0"/>
                  </a:lnTo>
                  <a:lnTo>
                    <a:pt x="4224528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r="-1109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4224528" cy="2097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45"/>
                </a:lnSpc>
              </a:pPr>
              <a:r>
                <a:rPr lang="en-US" sz="188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DNeasy PowerSoil Pro Kit</a:t>
              </a:r>
            </a:p>
            <a:p>
              <a:pPr algn="l">
                <a:lnSpc>
                  <a:spcPts val="3045"/>
                </a:lnSpc>
              </a:pPr>
              <a:r>
                <a:rPr lang="en-US" sz="188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(Qiagen)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622292" y="4810125"/>
            <a:ext cx="329184" cy="685800"/>
            <a:chOff x="0" y="0"/>
            <a:chExt cx="438912" cy="91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38912" cy="914400"/>
            </a:xfrm>
            <a:custGeom>
              <a:avLst/>
              <a:gdLst/>
              <a:ahLst/>
              <a:cxnLst/>
              <a:rect l="l" t="t" r="r" b="b"/>
              <a:pathLst>
                <a:path w="438912" h="914400">
                  <a:moveTo>
                    <a:pt x="0" y="0"/>
                  </a:moveTo>
                  <a:lnTo>
                    <a:pt x="438912" y="0"/>
                  </a:lnTo>
                  <a:lnTo>
                    <a:pt x="4389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7299" r="-21729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438912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→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69383" y="3360420"/>
            <a:ext cx="3790950" cy="3585210"/>
            <a:chOff x="0" y="0"/>
            <a:chExt cx="5054600" cy="4780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54600" cy="4780280"/>
            </a:xfrm>
            <a:custGeom>
              <a:avLst/>
              <a:gdLst/>
              <a:ahLst/>
              <a:cxnLst/>
              <a:rect l="l" t="t" r="r" b="b"/>
              <a:pathLst>
                <a:path w="5054600" h="4780280">
                  <a:moveTo>
                    <a:pt x="0" y="0"/>
                  </a:moveTo>
                  <a:lnTo>
                    <a:pt x="5054600" y="0"/>
                  </a:lnTo>
                  <a:lnTo>
                    <a:pt x="5054600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6F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80660" y="3671697"/>
            <a:ext cx="3168396" cy="617220"/>
            <a:chOff x="0" y="0"/>
            <a:chExt cx="4224528" cy="8229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24528" cy="822960"/>
            </a:xfrm>
            <a:custGeom>
              <a:avLst/>
              <a:gdLst/>
              <a:ahLst/>
              <a:cxnLst/>
              <a:rect l="l" t="t" r="r" b="b"/>
              <a:pathLst>
                <a:path w="4224528" h="822960">
                  <a:moveTo>
                    <a:pt x="0" y="0"/>
                  </a:moveTo>
                  <a:lnTo>
                    <a:pt x="4224528" y="0"/>
                  </a:lnTo>
                  <a:lnTo>
                    <a:pt x="422452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023" b="-500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4224528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80660" y="4604385"/>
            <a:ext cx="3168396" cy="548640"/>
            <a:chOff x="0" y="0"/>
            <a:chExt cx="4224528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24528" cy="731520"/>
            </a:xfrm>
            <a:custGeom>
              <a:avLst/>
              <a:gdLst/>
              <a:ahLst/>
              <a:cxnLst/>
              <a:rect l="l" t="t" r="r" b="b"/>
              <a:pathLst>
                <a:path w="4224528" h="731520">
                  <a:moveTo>
                    <a:pt x="0" y="0"/>
                  </a:moveTo>
                  <a:lnTo>
                    <a:pt x="4224528" y="0"/>
                  </a:lnTo>
                  <a:lnTo>
                    <a:pt x="42245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526" b="-6252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422452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PCR 증폭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80660" y="5221605"/>
            <a:ext cx="3168396" cy="1508760"/>
            <a:chOff x="0" y="0"/>
            <a:chExt cx="4224528" cy="20116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224528" cy="2011680"/>
            </a:xfrm>
            <a:custGeom>
              <a:avLst/>
              <a:gdLst/>
              <a:ahLst/>
              <a:cxnLst/>
              <a:rect l="l" t="t" r="r" b="b"/>
              <a:pathLst>
                <a:path w="4224528" h="2011680">
                  <a:moveTo>
                    <a:pt x="0" y="0"/>
                  </a:moveTo>
                  <a:lnTo>
                    <a:pt x="4224528" y="0"/>
                  </a:lnTo>
                  <a:lnTo>
                    <a:pt x="4224528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r="-1109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4224528" cy="2097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45"/>
                </a:lnSpc>
              </a:pPr>
              <a:r>
                <a:rPr lang="en-US" sz="188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515F/806R 프라이머</a:t>
              </a:r>
            </a:p>
            <a:p>
              <a:pPr algn="l">
                <a:lnSpc>
                  <a:spcPts val="3045"/>
                </a:lnSpc>
              </a:pPr>
              <a:r>
                <a:rPr lang="en-US" sz="188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16S rRNA V4 영역 (~292bp)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778240" y="4810125"/>
            <a:ext cx="329184" cy="685800"/>
            <a:chOff x="0" y="0"/>
            <a:chExt cx="438912" cy="914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38912" cy="914400"/>
            </a:xfrm>
            <a:custGeom>
              <a:avLst/>
              <a:gdLst/>
              <a:ahLst/>
              <a:cxnLst/>
              <a:rect l="l" t="t" r="r" b="b"/>
              <a:pathLst>
                <a:path w="438912" h="914400">
                  <a:moveTo>
                    <a:pt x="0" y="0"/>
                  </a:moveTo>
                  <a:lnTo>
                    <a:pt x="438912" y="0"/>
                  </a:lnTo>
                  <a:lnTo>
                    <a:pt x="4389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7299" r="-21729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438912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→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25331" y="3360420"/>
            <a:ext cx="3790950" cy="3585210"/>
            <a:chOff x="0" y="0"/>
            <a:chExt cx="5054600" cy="47802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054600" cy="4780280"/>
            </a:xfrm>
            <a:custGeom>
              <a:avLst/>
              <a:gdLst/>
              <a:ahLst/>
              <a:cxnLst/>
              <a:rect l="l" t="t" r="r" b="b"/>
              <a:pathLst>
                <a:path w="5054600" h="4780280">
                  <a:moveTo>
                    <a:pt x="0" y="0"/>
                  </a:moveTo>
                  <a:lnTo>
                    <a:pt x="5054600" y="0"/>
                  </a:lnTo>
                  <a:lnTo>
                    <a:pt x="5054600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6F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436608" y="3671697"/>
            <a:ext cx="3168396" cy="617220"/>
            <a:chOff x="0" y="0"/>
            <a:chExt cx="4224528" cy="82296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224528" cy="822960"/>
            </a:xfrm>
            <a:custGeom>
              <a:avLst/>
              <a:gdLst/>
              <a:ahLst/>
              <a:cxnLst/>
              <a:rect l="l" t="t" r="r" b="b"/>
              <a:pathLst>
                <a:path w="4224528" h="822960">
                  <a:moveTo>
                    <a:pt x="0" y="0"/>
                  </a:moveTo>
                  <a:lnTo>
                    <a:pt x="4224528" y="0"/>
                  </a:lnTo>
                  <a:lnTo>
                    <a:pt x="422452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023" b="-500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4224528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436608" y="4604385"/>
            <a:ext cx="3168396" cy="548640"/>
            <a:chOff x="0" y="0"/>
            <a:chExt cx="4224528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224528" cy="731520"/>
            </a:xfrm>
            <a:custGeom>
              <a:avLst/>
              <a:gdLst/>
              <a:ahLst/>
              <a:cxnLst/>
              <a:rect l="l" t="t" r="r" b="b"/>
              <a:pathLst>
                <a:path w="4224528" h="731520">
                  <a:moveTo>
                    <a:pt x="0" y="0"/>
                  </a:moveTo>
                  <a:lnTo>
                    <a:pt x="4224528" y="0"/>
                  </a:lnTo>
                  <a:lnTo>
                    <a:pt x="42245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526" b="-6252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422452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Index 부착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36608" y="5221605"/>
            <a:ext cx="3168396" cy="1508760"/>
            <a:chOff x="0" y="0"/>
            <a:chExt cx="4224528" cy="20116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224528" cy="2011680"/>
            </a:xfrm>
            <a:custGeom>
              <a:avLst/>
              <a:gdLst/>
              <a:ahLst/>
              <a:cxnLst/>
              <a:rect l="l" t="t" r="r" b="b"/>
              <a:pathLst>
                <a:path w="4224528" h="2011680">
                  <a:moveTo>
                    <a:pt x="0" y="0"/>
                  </a:moveTo>
                  <a:lnTo>
                    <a:pt x="4224528" y="0"/>
                  </a:lnTo>
                  <a:lnTo>
                    <a:pt x="4224528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r="-1109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85725"/>
              <a:ext cx="4224528" cy="2097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45"/>
                </a:lnSpc>
              </a:pPr>
              <a:r>
                <a:rPr lang="en-US" sz="188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시료별 고유 index로</a:t>
              </a:r>
            </a:p>
            <a:p>
              <a:pPr algn="l">
                <a:lnSpc>
                  <a:spcPts val="3045"/>
                </a:lnSpc>
              </a:pPr>
              <a:r>
                <a:rPr lang="en-US" sz="188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다중 시료 동시 시퀀싱 준비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934188" y="4810125"/>
            <a:ext cx="329184" cy="685800"/>
            <a:chOff x="0" y="0"/>
            <a:chExt cx="438912" cy="914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38912" cy="914400"/>
            </a:xfrm>
            <a:custGeom>
              <a:avLst/>
              <a:gdLst/>
              <a:ahLst/>
              <a:cxnLst/>
              <a:rect l="l" t="t" r="r" b="b"/>
              <a:pathLst>
                <a:path w="438912" h="914400">
                  <a:moveTo>
                    <a:pt x="0" y="0"/>
                  </a:moveTo>
                  <a:lnTo>
                    <a:pt x="438912" y="0"/>
                  </a:lnTo>
                  <a:lnTo>
                    <a:pt x="4389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7299" r="-21729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438912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→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281279" y="3360420"/>
            <a:ext cx="3790950" cy="3585210"/>
            <a:chOff x="0" y="0"/>
            <a:chExt cx="5054600" cy="47802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054600" cy="4780280"/>
            </a:xfrm>
            <a:custGeom>
              <a:avLst/>
              <a:gdLst/>
              <a:ahLst/>
              <a:cxnLst/>
              <a:rect l="l" t="t" r="r" b="b"/>
              <a:pathLst>
                <a:path w="5054600" h="4780280">
                  <a:moveTo>
                    <a:pt x="0" y="0"/>
                  </a:moveTo>
                  <a:lnTo>
                    <a:pt x="5054600" y="0"/>
                  </a:lnTo>
                  <a:lnTo>
                    <a:pt x="5054600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2B4AFF"/>
            </a:solidFill>
            <a:ln w="19050" cap="sq">
              <a:solidFill>
                <a:srgbClr val="E3E6F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592556" y="3671697"/>
            <a:ext cx="3168396" cy="617220"/>
            <a:chOff x="0" y="0"/>
            <a:chExt cx="4224528" cy="82296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224528" cy="822960"/>
            </a:xfrm>
            <a:custGeom>
              <a:avLst/>
              <a:gdLst/>
              <a:ahLst/>
              <a:cxnLst/>
              <a:rect l="l" t="t" r="r" b="b"/>
              <a:pathLst>
                <a:path w="4224528" h="822960">
                  <a:moveTo>
                    <a:pt x="0" y="0"/>
                  </a:moveTo>
                  <a:lnTo>
                    <a:pt x="4224528" y="0"/>
                  </a:lnTo>
                  <a:lnTo>
                    <a:pt x="422452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023" b="-500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4224528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C7C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04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592556" y="4604385"/>
            <a:ext cx="3168396" cy="548640"/>
            <a:chOff x="0" y="0"/>
            <a:chExt cx="4224528" cy="7315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224528" cy="731520"/>
            </a:xfrm>
            <a:custGeom>
              <a:avLst/>
              <a:gdLst/>
              <a:ahLst/>
              <a:cxnLst/>
              <a:rect l="l" t="t" r="r" b="b"/>
              <a:pathLst>
                <a:path w="4224528" h="731520">
                  <a:moveTo>
                    <a:pt x="0" y="0"/>
                  </a:moveTo>
                  <a:lnTo>
                    <a:pt x="4224528" y="0"/>
                  </a:lnTo>
                  <a:lnTo>
                    <a:pt x="42245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526" b="-6252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9525"/>
              <a:ext cx="422452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시퀀싱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592556" y="5143500"/>
            <a:ext cx="3168396" cy="1508760"/>
            <a:chOff x="0" y="0"/>
            <a:chExt cx="4224528" cy="201168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224528" cy="2011680"/>
            </a:xfrm>
            <a:custGeom>
              <a:avLst/>
              <a:gdLst/>
              <a:ahLst/>
              <a:cxnLst/>
              <a:rect l="l" t="t" r="r" b="b"/>
              <a:pathLst>
                <a:path w="4224528" h="2011680">
                  <a:moveTo>
                    <a:pt x="0" y="0"/>
                  </a:moveTo>
                  <a:lnTo>
                    <a:pt x="4224528" y="0"/>
                  </a:lnTo>
                  <a:lnTo>
                    <a:pt x="4224528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r="-1109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85725"/>
              <a:ext cx="4224528" cy="2097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45"/>
                </a:lnSpc>
              </a:pPr>
              <a:r>
                <a:rPr lang="en-US" sz="1880">
                  <a:solidFill>
                    <a:srgbClr val="E3E7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Illumina 플랫폼</a:t>
              </a:r>
            </a:p>
            <a:p>
              <a:pPr algn="l">
                <a:lnSpc>
                  <a:spcPts val="3045"/>
                </a:lnSpc>
              </a:pPr>
              <a:r>
                <a:rPr lang="en-US" sz="1880">
                  <a:solidFill>
                    <a:srgbClr val="E3E7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싱글엔드 시퀀싱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14/32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6184880" cy="1618488"/>
            <a:chOff x="0" y="0"/>
            <a:chExt cx="21579840" cy="2157984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4630400" cy="731520"/>
              <a:chOff x="0" y="0"/>
              <a:chExt cx="14630400" cy="73152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630400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14630400" h="731520">
                    <a:moveTo>
                      <a:pt x="0" y="0"/>
                    </a:moveTo>
                    <a:lnTo>
                      <a:pt x="14630400" y="0"/>
                    </a:lnTo>
                    <a:lnTo>
                      <a:pt x="146304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39700" b="-339700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9525"/>
                <a:ext cx="14630400" cy="7410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l">
                  <a:lnSpc>
                    <a:spcPts val="1980"/>
                  </a:lnSpc>
                  <a:spcBef>
                    <a:spcPct val="0"/>
                  </a:spcBef>
                </a:pPr>
                <a:r>
                  <a:rPr lang="en-US" sz="1650" b="1" u="none" strike="noStrike" spc="225">
                    <a:solidFill>
                      <a:srgbClr val="2B4AFF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2-4  CULTURE &amp; ISOLATION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786384"/>
              <a:ext cx="21579840" cy="1371600"/>
              <a:chOff x="0" y="0"/>
              <a:chExt cx="21579840" cy="13716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1579839" cy="1371600"/>
              </a:xfrm>
              <a:custGeom>
                <a:avLst/>
                <a:gdLst/>
                <a:ahLst/>
                <a:cxnLst/>
                <a:rect l="l" t="t" r="r" b="b"/>
                <a:pathLst>
                  <a:path w="21579839" h="1371600">
                    <a:moveTo>
                      <a:pt x="0" y="0"/>
                    </a:moveTo>
                    <a:lnTo>
                      <a:pt x="21579839" y="0"/>
                    </a:lnTo>
                    <a:lnTo>
                      <a:pt x="21579839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56564" b="-256564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9525"/>
                <a:ext cx="21579840" cy="13811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l">
                  <a:lnSpc>
                    <a:spcPts val="5040"/>
                  </a:lnSpc>
                  <a:spcBef>
                    <a:spcPct val="0"/>
                  </a:spcBef>
                </a:pPr>
                <a:r>
                  <a:rPr lang="en-US" sz="4200" b="1" u="none" strike="noStrike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샘플링에서 배양 분리까지</a:t>
                </a:r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9144000" y="2978753"/>
            <a:ext cx="7762875" cy="2686717"/>
            <a:chOff x="0" y="0"/>
            <a:chExt cx="7266051" cy="25147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051" cy="2514767"/>
            </a:xfrm>
            <a:custGeom>
              <a:avLst/>
              <a:gdLst/>
              <a:ahLst/>
              <a:cxnLst/>
              <a:rect l="l" t="t" r="r" b="b"/>
              <a:pathLst>
                <a:path w="7266051" h="2514767">
                  <a:moveTo>
                    <a:pt x="0" y="0"/>
                  </a:moveTo>
                  <a:lnTo>
                    <a:pt x="7266051" y="0"/>
                  </a:lnTo>
                  <a:lnTo>
                    <a:pt x="7266051" y="2514767"/>
                  </a:lnTo>
                  <a:lnTo>
                    <a:pt x="0" y="2514767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67875" y="3801939"/>
            <a:ext cx="958032" cy="1040346"/>
            <a:chOff x="0" y="0"/>
            <a:chExt cx="1277377" cy="1387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77377" cy="1387128"/>
            </a:xfrm>
            <a:custGeom>
              <a:avLst/>
              <a:gdLst/>
              <a:ahLst/>
              <a:cxnLst/>
              <a:rect l="l" t="t" r="r" b="b"/>
              <a:pathLst>
                <a:path w="1277377" h="1387128">
                  <a:moveTo>
                    <a:pt x="0" y="0"/>
                  </a:moveTo>
                  <a:lnTo>
                    <a:pt x="1277377" y="0"/>
                  </a:lnTo>
                  <a:lnTo>
                    <a:pt x="1277377" y="1387128"/>
                  </a:lnTo>
                  <a:lnTo>
                    <a:pt x="0" y="1387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34" r="-186336" b="247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277377" cy="1406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5400"/>
                </a:lnSpc>
                <a:spcBef>
                  <a:spcPct val="0"/>
                </a:spcBef>
              </a:pPr>
              <a:r>
                <a:rPr lang="en-US" sz="4500" b="1" u="none" strike="noStrike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858500" y="3954505"/>
            <a:ext cx="5905500" cy="685800"/>
            <a:chOff x="0" y="0"/>
            <a:chExt cx="7874000" cy="914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874000" cy="914400"/>
            </a:xfrm>
            <a:custGeom>
              <a:avLst/>
              <a:gdLst/>
              <a:ahLst/>
              <a:cxnLst/>
              <a:rect l="l" t="t" r="r" b="b"/>
              <a:pathLst>
                <a:path w="7874000" h="914400">
                  <a:moveTo>
                    <a:pt x="0" y="0"/>
                  </a:moveTo>
                  <a:lnTo>
                    <a:pt x="7874000" y="0"/>
                  </a:lnTo>
                  <a:lnTo>
                    <a:pt x="787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498" r="21032" b="-8249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78740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Stock 제작 및 streaking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67875" y="4625124"/>
            <a:ext cx="958032" cy="1040346"/>
            <a:chOff x="0" y="0"/>
            <a:chExt cx="1277377" cy="13871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77377" cy="1387128"/>
            </a:xfrm>
            <a:custGeom>
              <a:avLst/>
              <a:gdLst/>
              <a:ahLst/>
              <a:cxnLst/>
              <a:rect l="l" t="t" r="r" b="b"/>
              <a:pathLst>
                <a:path w="1277377" h="1387128">
                  <a:moveTo>
                    <a:pt x="0" y="0"/>
                  </a:moveTo>
                  <a:lnTo>
                    <a:pt x="1277377" y="0"/>
                  </a:lnTo>
                  <a:lnTo>
                    <a:pt x="1277377" y="1387128"/>
                  </a:lnTo>
                  <a:lnTo>
                    <a:pt x="0" y="1387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34" r="-186336" b="247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277377" cy="1406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5400"/>
                </a:lnSpc>
                <a:spcBef>
                  <a:spcPct val="0"/>
                </a:spcBef>
              </a:pPr>
              <a:r>
                <a:rPr lang="en-US" sz="4500" b="1" u="none" strike="noStrike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858500" y="4792872"/>
            <a:ext cx="5905500" cy="685800"/>
            <a:chOff x="0" y="0"/>
            <a:chExt cx="7874000" cy="914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874000" cy="914400"/>
            </a:xfrm>
            <a:custGeom>
              <a:avLst/>
              <a:gdLst/>
              <a:ahLst/>
              <a:cxnLst/>
              <a:rect l="l" t="t" r="r" b="b"/>
              <a:pathLst>
                <a:path w="7874000" h="914400">
                  <a:moveTo>
                    <a:pt x="0" y="0"/>
                  </a:moveTo>
                  <a:lnTo>
                    <a:pt x="7874000" y="0"/>
                  </a:lnTo>
                  <a:lnTo>
                    <a:pt x="787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498" r="21032" b="-8249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78740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배양 및 분리주 확보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858500" y="3253299"/>
            <a:ext cx="5334000" cy="548640"/>
            <a:chOff x="0" y="0"/>
            <a:chExt cx="7112000" cy="73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12000" cy="731520"/>
            </a:xfrm>
            <a:custGeom>
              <a:avLst/>
              <a:gdLst/>
              <a:ahLst/>
              <a:cxnLst/>
              <a:rect l="l" t="t" r="r" b="b"/>
              <a:pathLst>
                <a:path w="7112000" h="731520">
                  <a:moveTo>
                    <a:pt x="0" y="0"/>
                  </a:moveTo>
                  <a:lnTo>
                    <a:pt x="7112000" y="0"/>
                  </a:lnTo>
                  <a:lnTo>
                    <a:pt x="711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r="22857" b="-9613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71120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대표 시료 선택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6012788"/>
            <a:ext cx="7762875" cy="2339399"/>
            <a:chOff x="0" y="0"/>
            <a:chExt cx="9102818" cy="2743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02817" cy="2743200"/>
            </a:xfrm>
            <a:custGeom>
              <a:avLst/>
              <a:gdLst/>
              <a:ahLst/>
              <a:cxnLst/>
              <a:rect l="l" t="t" r="r" b="b"/>
              <a:pathLst>
                <a:path w="9102817" h="2743200">
                  <a:moveTo>
                    <a:pt x="0" y="0"/>
                  </a:moveTo>
                  <a:lnTo>
                    <a:pt x="9102817" y="0"/>
                  </a:lnTo>
                  <a:lnTo>
                    <a:pt x="9102817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405938" y="6220577"/>
            <a:ext cx="7239000" cy="1923821"/>
            <a:chOff x="0" y="0"/>
            <a:chExt cx="9652000" cy="2565095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8890000" cy="731520"/>
              <a:chOff x="0" y="0"/>
              <a:chExt cx="8890000" cy="73152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890000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8890000" h="731520">
                    <a:moveTo>
                      <a:pt x="0" y="0"/>
                    </a:moveTo>
                    <a:lnTo>
                      <a:pt x="8890000" y="0"/>
                    </a:lnTo>
                    <a:lnTo>
                      <a:pt x="88900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42275" r="-23428" b="-242275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9525"/>
                <a:ext cx="8890000" cy="7410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l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2100" b="1" u="none" strike="noStrike">
                    <a:solidFill>
                      <a:srgbClr val="1E36C4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MRS Agar · Nutrient Agar</a:t>
                </a:r>
              </a:p>
              <a:p>
                <a:pPr marL="0" lvl="0" indent="0" algn="l">
                  <a:lnSpc>
                    <a:spcPts val="719"/>
                  </a:lnSpc>
                  <a:spcBef>
                    <a:spcPct val="0"/>
                  </a:spcBef>
                </a:pPr>
                <a:endParaRPr lang="en-US" sz="2100" b="1" u="none" strike="noStrike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endParaRP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0" y="622300"/>
              <a:ext cx="9652000" cy="1942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2"/>
                </a:lnSpc>
                <a:spcBef>
                  <a:spcPct val="0"/>
                </a:spcBef>
              </a:pPr>
              <a:r>
                <a:rPr lang="en-US" sz="1880" b="1" u="none" strike="noStrike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팀원 별 대표 토양 시료 1개 선택 → stock 제작 </a:t>
              </a:r>
            </a:p>
            <a:p>
              <a:pPr marL="0" lvl="0" indent="0" algn="l">
                <a:lnSpc>
                  <a:spcPts val="2932"/>
                </a:lnSpc>
                <a:spcBef>
                  <a:spcPct val="0"/>
                </a:spcBef>
              </a:pPr>
              <a:r>
                <a:rPr lang="en-US" sz="1880" b="1" u="none" strike="noStrike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→ 두 배지에 streaking → 배양 후 분리 가능한 균주 확보</a:t>
              </a:r>
            </a:p>
            <a:p>
              <a:pPr marL="0" lvl="0" indent="0" algn="l">
                <a:lnSpc>
                  <a:spcPts val="2932"/>
                </a:lnSpc>
                <a:spcBef>
                  <a:spcPct val="0"/>
                </a:spcBef>
              </a:pPr>
              <a:endParaRPr lang="en-US" sz="1880" b="1" u="none" strike="noStrik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endParaRPr>
            </a:p>
            <a:p>
              <a:pPr marL="0" lvl="0" indent="0" algn="l">
                <a:lnSpc>
                  <a:spcPts val="2932"/>
                </a:lnSpc>
                <a:spcBef>
                  <a:spcPct val="0"/>
                </a:spcBef>
              </a:pPr>
              <a:r>
                <a:rPr lang="en-US" sz="1880" b="1" u="none" strike="noStrike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→ 다음: </a:t>
              </a:r>
              <a:r>
                <a:rPr lang="en-US" sz="1880" b="1" u="none" strike="noStrike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16S rRNA 기반 분리주 동정 및 후보 균주 선정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979"/>
                </a:lnSpc>
                <a:spcBef>
                  <a:spcPct val="0"/>
                </a:spcBef>
              </a:pPr>
              <a:r>
                <a:rPr lang="en-US" sz="1649" u="none" strike="noStrike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15/32</a:t>
              </a:r>
            </a:p>
          </p:txBody>
        </p:sp>
      </p:grpSp>
      <p:sp>
        <p:nvSpPr>
          <p:cNvPr id="36" name="Freeform 36" descr="MRS Agar와 Nutrient Agar에 streaking한 실제 실험 사진"/>
          <p:cNvSpPr/>
          <p:nvPr/>
        </p:nvSpPr>
        <p:spPr>
          <a:xfrm>
            <a:off x="1047750" y="2978753"/>
            <a:ext cx="7810500" cy="5373434"/>
          </a:xfrm>
          <a:custGeom>
            <a:avLst/>
            <a:gdLst/>
            <a:ahLst/>
            <a:cxnLst/>
            <a:rect l="l" t="t" r="r" b="b"/>
            <a:pathLst>
              <a:path w="7810500" h="5373434">
                <a:moveTo>
                  <a:pt x="0" y="0"/>
                </a:moveTo>
                <a:lnTo>
                  <a:pt x="7810500" y="0"/>
                </a:lnTo>
                <a:lnTo>
                  <a:pt x="7810500" y="5373434"/>
                </a:lnTo>
                <a:lnTo>
                  <a:pt x="0" y="5373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61" r="-961"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7" name="Group 37"/>
          <p:cNvGrpSpPr/>
          <p:nvPr/>
        </p:nvGrpSpPr>
        <p:grpSpPr>
          <a:xfrm>
            <a:off x="9667875" y="2978753"/>
            <a:ext cx="958032" cy="1040346"/>
            <a:chOff x="0" y="0"/>
            <a:chExt cx="1277377" cy="138712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77377" cy="1387128"/>
            </a:xfrm>
            <a:custGeom>
              <a:avLst/>
              <a:gdLst/>
              <a:ahLst/>
              <a:cxnLst/>
              <a:rect l="l" t="t" r="r" b="b"/>
              <a:pathLst>
                <a:path w="1277377" h="1387128">
                  <a:moveTo>
                    <a:pt x="0" y="0"/>
                  </a:moveTo>
                  <a:lnTo>
                    <a:pt x="1277377" y="0"/>
                  </a:lnTo>
                  <a:lnTo>
                    <a:pt x="1277377" y="1387128"/>
                  </a:lnTo>
                  <a:lnTo>
                    <a:pt x="0" y="1387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34" r="-186336" b="247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1277377" cy="1406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5400"/>
                </a:lnSpc>
                <a:spcBef>
                  <a:spcPct val="0"/>
                </a:spcBef>
              </a:pPr>
              <a:r>
                <a:rPr lang="en-US" sz="4500" b="1" u="none" strike="noStrike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1980"/>
                </a:lnSpc>
                <a:spcBef>
                  <a:spcPct val="0"/>
                </a:spcBef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2</a:t>
              </a:r>
              <a:r>
                <a:rPr lang="en-US" sz="1650" b="1" u="none" strike="noStrike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-5  STRAIN IDENTIFICATION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5040"/>
                </a:lnSpc>
                <a:spcBef>
                  <a:spcPct val="0"/>
                </a:spcBef>
              </a:pPr>
              <a:r>
                <a:rPr lang="en-US" sz="4200" b="1" u="none" strike="noStrike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16S rRNA 기반 분리주 동정과 후보 균주 선정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573000" y="4148796"/>
            <a:ext cx="5405227" cy="2639063"/>
            <a:chOff x="1795539" y="0"/>
            <a:chExt cx="7206968" cy="3518750"/>
          </a:xfrm>
        </p:grpSpPr>
        <p:grpSp>
          <p:nvGrpSpPr>
            <p:cNvPr id="9" name="Group 9"/>
            <p:cNvGrpSpPr/>
            <p:nvPr/>
          </p:nvGrpSpPr>
          <p:grpSpPr>
            <a:xfrm>
              <a:off x="1795539" y="0"/>
              <a:ext cx="6110920" cy="3518750"/>
              <a:chOff x="1795539" y="0"/>
              <a:chExt cx="6110920" cy="35187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795539" y="0"/>
                <a:ext cx="6110920" cy="3518750"/>
              </a:xfrm>
              <a:custGeom>
                <a:avLst/>
                <a:gdLst/>
                <a:ahLst/>
                <a:cxnLst/>
                <a:rect l="l" t="t" r="r" b="b"/>
                <a:pathLst>
                  <a:path w="6110920" h="3518750">
                    <a:moveTo>
                      <a:pt x="0" y="0"/>
                    </a:moveTo>
                    <a:lnTo>
                      <a:pt x="6110920" y="0"/>
                    </a:lnTo>
                    <a:lnTo>
                      <a:pt x="6110920" y="3518750"/>
                    </a:lnTo>
                    <a:lnTo>
                      <a:pt x="0" y="3518750"/>
                    </a:lnTo>
                    <a:close/>
                  </a:path>
                </a:pathLst>
              </a:custGeom>
              <a:solidFill>
                <a:srgbClr val="EEF1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316318" y="412977"/>
              <a:ext cx="5069360" cy="492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dirty="0" err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후속</a:t>
              </a:r>
              <a:r>
                <a:rPr lang="en-US" sz="2400" b="1" dirty="0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</a:t>
              </a:r>
              <a:r>
                <a:rPr lang="en-US" sz="2400" b="1" dirty="0" err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배양</a:t>
              </a:r>
              <a:r>
                <a:rPr lang="en-US" sz="2400" b="1" dirty="0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</a:t>
              </a:r>
              <a:r>
                <a:rPr lang="en-US" sz="2400" b="1" dirty="0" err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최적화</a:t>
              </a:r>
              <a:r>
                <a:rPr lang="en-US" sz="2400" b="1" dirty="0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</a:t>
              </a:r>
              <a:r>
                <a:rPr lang="en-US" sz="2400" b="1" dirty="0" err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대상</a:t>
              </a:r>
              <a:r>
                <a:rPr lang="en-US" sz="2400" b="1" dirty="0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</a:t>
              </a:r>
              <a:r>
                <a:rPr lang="en-US" sz="2400" b="1" dirty="0" err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균주</a:t>
              </a:r>
              <a:r>
                <a:rPr lang="en-US" sz="2400" b="1" dirty="0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</a:t>
              </a:r>
              <a:r>
                <a:rPr lang="en-US" sz="2400" b="1" dirty="0" err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선정</a:t>
              </a:r>
              <a:endParaRPr lang="en-US" sz="2400" b="1" dirty="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16318" y="1398689"/>
              <a:ext cx="6686189" cy="1571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 b="1" u="none" strike="noStrike" dirty="0" err="1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Priestia</a:t>
              </a:r>
              <a:r>
                <a:rPr lang="en-US" sz="2100" b="1" u="none" strike="noStrike" dirty="0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megaterium</a:t>
              </a:r>
            </a:p>
            <a:p>
              <a:pPr marL="0" lvl="0" indent="0" algn="l">
                <a:lnSpc>
                  <a:spcPts val="2256"/>
                </a:lnSpc>
                <a:spcBef>
                  <a:spcPct val="0"/>
                </a:spcBef>
              </a:pPr>
              <a:endParaRPr lang="en-US" sz="2100" b="1" u="none" strike="noStrike" dirty="0">
                <a:solidFill>
                  <a:srgbClr val="1E36C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endParaRPr>
            </a:p>
            <a:p>
              <a:pPr marL="405893" lvl="1" indent="-202946" algn="l">
                <a:lnSpc>
                  <a:spcPts val="2256"/>
                </a:lnSpc>
                <a:buFont typeface="Arial"/>
                <a:buChar char="•"/>
              </a:pPr>
              <a:r>
                <a:rPr lang="en-US" sz="1880" b="1" u="none" strike="noStrike" dirty="0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   HIY - </a:t>
              </a:r>
              <a:r>
                <a:rPr lang="en-US" sz="1880" b="1" u="none" strike="noStrike" dirty="0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MRS</a:t>
              </a:r>
              <a:r>
                <a:rPr lang="en-US" sz="1880" b="1" u="none" strike="noStrike" dirty="0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, </a:t>
              </a:r>
              <a:r>
                <a:rPr lang="en-US" sz="1880" b="1" u="none" strike="noStrike" dirty="0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strain DSM 32</a:t>
              </a:r>
            </a:p>
            <a:p>
              <a:pPr marL="405893" lvl="1" indent="-202946" algn="l">
                <a:lnSpc>
                  <a:spcPts val="2256"/>
                </a:lnSpc>
                <a:buFont typeface="Arial"/>
                <a:buChar char="•"/>
              </a:pPr>
              <a:r>
                <a:rPr lang="en-US" sz="1880" b="1" u="none" strike="noStrike" dirty="0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  JYR - </a:t>
              </a:r>
              <a:r>
                <a:rPr lang="en-US" sz="1880" b="1" u="none" strike="noStrike" dirty="0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MRS</a:t>
              </a:r>
              <a:r>
                <a:rPr lang="en-US" sz="1880" b="1" u="none" strike="noStrike" dirty="0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, </a:t>
              </a:r>
              <a:r>
                <a:rPr lang="en-US" sz="1880" b="1" u="none" strike="noStrike" dirty="0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strain IS4_1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r">
                <a:lnSpc>
                  <a:spcPts val="1979"/>
                </a:lnSpc>
                <a:spcBef>
                  <a:spcPct val="0"/>
                </a:spcBef>
              </a:pPr>
              <a:r>
                <a:rPr lang="en-US" sz="1649" u="none" strike="noStrike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16/32</a:t>
              </a:r>
            </a:p>
          </p:txBody>
        </p:sp>
      </p:grpSp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696957"/>
              </p:ext>
            </p:extLst>
          </p:nvPr>
        </p:nvGraphicFramePr>
        <p:xfrm>
          <a:off x="822960" y="2526961"/>
          <a:ext cx="11040707" cy="5987505"/>
        </p:xfrm>
        <a:graphic>
          <a:graphicData uri="http://schemas.openxmlformats.org/drawingml/2006/table">
            <a:tbl>
              <a:tblPr/>
              <a:tblGrid>
                <a:gridCol w="1386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1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272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팀원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MRS Agar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Nutrient Agar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위치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236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HJG</a:t>
                      </a:r>
                      <a:endParaRPr lang="en-US" sz="1100"/>
                    </a:p>
                    <a:p>
                      <a:pPr algn="ctr">
                        <a:lnSpc>
                          <a:spcPts val="2632"/>
                        </a:lnSpc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(함정관)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Bacillus </a:t>
                      </a:r>
                      <a:r>
                        <a:rPr lang="en-US" sz="1880" dirty="0" err="1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altitudinis</a:t>
                      </a:r>
                      <a:endParaRPr lang="en-US" sz="1100" dirty="0"/>
                    </a:p>
                    <a:p>
                      <a:pPr algn="ctr">
                        <a:lnSpc>
                          <a:spcPts val="2632"/>
                        </a:lnSpc>
                      </a:pPr>
                      <a:r>
                        <a:rPr lang="en-US" sz="188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strain B6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Bacillus </a:t>
                      </a:r>
                      <a:r>
                        <a:rPr lang="en-US" sz="1880" dirty="0" err="1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safensis</a:t>
                      </a:r>
                      <a:endParaRPr lang="en-US" sz="1100" dirty="0"/>
                    </a:p>
                    <a:p>
                      <a:pPr algn="ctr">
                        <a:lnSpc>
                          <a:spcPts val="2632"/>
                        </a:lnSpc>
                      </a:pPr>
                      <a:r>
                        <a:rPr lang="en-US" sz="188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strain 1P09SA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Park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7236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SR</a:t>
                      </a:r>
                      <a:endParaRPr lang="en-US" sz="1100"/>
                    </a:p>
                    <a:p>
                      <a:pPr algn="ctr">
                        <a:lnSpc>
                          <a:spcPts val="2632"/>
                        </a:lnSpc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(주세린)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Paenibacillus alvei</a:t>
                      </a:r>
                      <a:endParaRPr lang="en-US" sz="1100"/>
                    </a:p>
                    <a:p>
                      <a:pPr algn="ctr">
                        <a:lnSpc>
                          <a:spcPts val="2632"/>
                        </a:lnSpc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isolate Paenibacillus B-LR1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Park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236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JYR</a:t>
                      </a:r>
                      <a:endParaRPr lang="en-US" sz="1100"/>
                    </a:p>
                    <a:p>
                      <a:pPr algn="ctr">
                        <a:lnSpc>
                          <a:spcPts val="2632"/>
                        </a:lnSpc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(정유라)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b="1" dirty="0" err="1">
                          <a:solidFill>
                            <a:srgbClr val="1E36C4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Priestia</a:t>
                      </a:r>
                      <a:r>
                        <a:rPr lang="en-US" sz="1880" b="1" dirty="0">
                          <a:solidFill>
                            <a:srgbClr val="1E36C4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 megaterium</a:t>
                      </a:r>
                      <a:endParaRPr lang="en-US" sz="1100" dirty="0"/>
                    </a:p>
                    <a:p>
                      <a:pPr algn="ctr">
                        <a:lnSpc>
                          <a:spcPts val="2632"/>
                        </a:lnSpc>
                      </a:pPr>
                      <a:r>
                        <a:rPr lang="en-US" sz="1880" dirty="0">
                          <a:solidFill>
                            <a:srgbClr val="1E36C4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strain IS4_1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dirty="0" err="1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Paenibacillus</a:t>
                      </a:r>
                      <a:r>
                        <a:rPr lang="en-US" sz="188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 </a:t>
                      </a:r>
                      <a:r>
                        <a:rPr lang="en-US" sz="1880" dirty="0" err="1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thiaminolyticus</a:t>
                      </a:r>
                      <a:endParaRPr lang="en-US" sz="1100" dirty="0"/>
                    </a:p>
                    <a:p>
                      <a:pPr algn="ctr">
                        <a:lnSpc>
                          <a:spcPts val="2632"/>
                        </a:lnSpc>
                      </a:pPr>
                      <a:r>
                        <a:rPr lang="en-US" sz="188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strain PATH554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Park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7236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HIY</a:t>
                      </a:r>
                      <a:endParaRPr lang="en-US" sz="1100"/>
                    </a:p>
                    <a:p>
                      <a:pPr algn="ctr">
                        <a:lnSpc>
                          <a:spcPts val="2632"/>
                        </a:lnSpc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(황인영)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63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80" b="1" u="none" strike="noStrike">
                          <a:solidFill>
                            <a:srgbClr val="1E36C4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Priestia megaterium</a:t>
                      </a:r>
                      <a:endParaRPr lang="en-US" sz="1100"/>
                    </a:p>
                    <a:p>
                      <a:pPr marL="0" lvl="0" indent="0" algn="ctr">
                        <a:lnSpc>
                          <a:spcPts val="2632"/>
                        </a:lnSpc>
                        <a:spcBef>
                          <a:spcPct val="0"/>
                        </a:spcBef>
                      </a:pPr>
                      <a:r>
                        <a:rPr lang="en-US" sz="1880" u="none" strike="noStrike">
                          <a:solidFill>
                            <a:srgbClr val="1E36C4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strain DSM 32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Bacillus </a:t>
                      </a:r>
                      <a:r>
                        <a:rPr lang="en-US" sz="1880" dirty="0" err="1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stratosphericus</a:t>
                      </a:r>
                      <a:endParaRPr lang="en-US" sz="1100" dirty="0"/>
                    </a:p>
                    <a:p>
                      <a:pPr algn="ctr">
                        <a:lnSpc>
                          <a:spcPts val="2632"/>
                        </a:lnSpc>
                      </a:pPr>
                      <a:r>
                        <a:rPr lang="en-US" sz="188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strain T-7.3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Road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3053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YSJ</a:t>
                      </a:r>
                      <a:endParaRPr lang="en-US" sz="1100"/>
                    </a:p>
                    <a:p>
                      <a:pPr algn="ctr">
                        <a:lnSpc>
                          <a:spcPts val="2632"/>
                        </a:lnSpc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(윤수진)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dirty="0" err="1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Mycoplana</a:t>
                      </a:r>
                      <a:r>
                        <a:rPr lang="en-US" sz="188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 dimorpha</a:t>
                      </a:r>
                      <a:endParaRPr lang="en-US" sz="1100" dirty="0"/>
                    </a:p>
                    <a:p>
                      <a:pPr algn="ctr">
                        <a:lnSpc>
                          <a:spcPts val="2632"/>
                        </a:lnSpc>
                      </a:pPr>
                      <a:r>
                        <a:rPr lang="en-US" sz="188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strain DSM 7138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Road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7236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LJM</a:t>
                      </a:r>
                      <a:endParaRPr lang="en-US" sz="1100"/>
                    </a:p>
                    <a:p>
                      <a:pPr algn="ctr">
                        <a:lnSpc>
                          <a:spcPts val="2632"/>
                        </a:lnSpc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(이지민)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Road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4160" y="1508760"/>
            <a:ext cx="7543800" cy="7999288"/>
            <a:chOff x="0" y="0"/>
            <a:chExt cx="10058400" cy="10665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0" cy="10665718"/>
            </a:xfrm>
            <a:custGeom>
              <a:avLst/>
              <a:gdLst/>
              <a:ahLst/>
              <a:cxnLst/>
              <a:rect l="l" t="t" r="r" b="b"/>
              <a:pathLst>
                <a:path w="10058400" h="10665718">
                  <a:moveTo>
                    <a:pt x="0" y="0"/>
                  </a:moveTo>
                  <a:lnTo>
                    <a:pt x="10058400" y="0"/>
                  </a:lnTo>
                  <a:lnTo>
                    <a:pt x="10058400" y="10665718"/>
                  </a:lnTo>
                  <a:lnTo>
                    <a:pt x="0" y="106657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 b="569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058400" cy="106752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6800"/>
                </a:lnSpc>
              </a:pPr>
              <a:r>
                <a:rPr lang="en-US" sz="39000" b="1">
                  <a:solidFill>
                    <a:srgbClr val="F1F3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03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4440" y="3429000"/>
            <a:ext cx="2125980" cy="685800"/>
            <a:chOff x="0" y="0"/>
            <a:chExt cx="283464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34640" cy="914400"/>
            </a:xfrm>
            <a:custGeom>
              <a:avLst/>
              <a:gdLst/>
              <a:ahLst/>
              <a:cxnLst/>
              <a:rect l="l" t="t" r="r" b="b"/>
              <a:pathLst>
                <a:path w="2834640" h="914400">
                  <a:moveTo>
                    <a:pt x="0" y="0"/>
                  </a:moveTo>
                  <a:lnTo>
                    <a:pt x="2834640" y="0"/>
                  </a:lnTo>
                  <a:lnTo>
                    <a:pt x="283464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4440" y="3429000"/>
            <a:ext cx="2125980" cy="685800"/>
            <a:chOff x="0" y="0"/>
            <a:chExt cx="283464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34640" cy="914400"/>
            </a:xfrm>
            <a:custGeom>
              <a:avLst/>
              <a:gdLst/>
              <a:ahLst/>
              <a:cxnLst/>
              <a:rect l="l" t="t" r="r" b="b"/>
              <a:pathLst>
                <a:path w="2834640" h="914400">
                  <a:moveTo>
                    <a:pt x="0" y="0"/>
                  </a:moveTo>
                  <a:lnTo>
                    <a:pt x="2834640" y="0"/>
                  </a:lnTo>
                  <a:lnTo>
                    <a:pt x="2834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03" b="-104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83464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spc="149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PART 03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5860" y="4320540"/>
            <a:ext cx="12344400" cy="1783080"/>
            <a:chOff x="0" y="0"/>
            <a:chExt cx="16459200" cy="23774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59200" cy="2377440"/>
            </a:xfrm>
            <a:custGeom>
              <a:avLst/>
              <a:gdLst/>
              <a:ahLst/>
              <a:cxnLst/>
              <a:rect l="l" t="t" r="r" b="b"/>
              <a:pathLst>
                <a:path w="16459200" h="2377440">
                  <a:moveTo>
                    <a:pt x="0" y="0"/>
                  </a:moveTo>
                  <a:lnTo>
                    <a:pt x="16459200" y="0"/>
                  </a:lnTo>
                  <a:lnTo>
                    <a:pt x="16459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896" b="-8489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6459200" cy="2386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000"/>
                </a:lnSpc>
              </a:pPr>
              <a:r>
                <a:rPr lang="en-US" sz="75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AI 스케일업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34440" y="5897880"/>
            <a:ext cx="13030200" cy="685800"/>
            <a:chOff x="0" y="0"/>
            <a:chExt cx="1737360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373600" cy="914400"/>
            </a:xfrm>
            <a:custGeom>
              <a:avLst/>
              <a:gdLst/>
              <a:ahLst/>
              <a:cxnLst/>
              <a:rect l="l" t="t" r="r" b="b"/>
              <a:pathLst>
                <a:path w="17373600" h="914400">
                  <a:moveTo>
                    <a:pt x="0" y="0"/>
                  </a:moveTo>
                  <a:lnTo>
                    <a:pt x="17373600" y="0"/>
                  </a:lnTo>
                  <a:lnTo>
                    <a:pt x="1737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0215" b="-32021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73736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i="1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METIS 능동학습 기반 배지 조성 최적화 — Priestia megaterium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3-1  METHOD OVERVIEW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METIS 기반 배양 최적화 흐름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3435" y="2733675"/>
            <a:ext cx="3790950" cy="3242310"/>
            <a:chOff x="0" y="0"/>
            <a:chExt cx="5054600" cy="43230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54600" cy="4323080"/>
            </a:xfrm>
            <a:custGeom>
              <a:avLst/>
              <a:gdLst/>
              <a:ahLst/>
              <a:cxnLst/>
              <a:rect l="l" t="t" r="r" b="b"/>
              <a:pathLst>
                <a:path w="5054600" h="4323080">
                  <a:moveTo>
                    <a:pt x="0" y="0"/>
                  </a:moveTo>
                  <a:lnTo>
                    <a:pt x="5054600" y="0"/>
                  </a:lnTo>
                  <a:lnTo>
                    <a:pt x="5054600" y="4323080"/>
                  </a:lnTo>
                  <a:lnTo>
                    <a:pt x="0" y="43230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6F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24712" y="3017520"/>
            <a:ext cx="3168396" cy="615330"/>
            <a:chOff x="0" y="0"/>
            <a:chExt cx="4224528" cy="8204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24528" cy="820440"/>
            </a:xfrm>
            <a:custGeom>
              <a:avLst/>
              <a:gdLst/>
              <a:ahLst/>
              <a:cxnLst/>
              <a:rect l="l" t="t" r="r" b="b"/>
              <a:pathLst>
                <a:path w="4224528" h="820440">
                  <a:moveTo>
                    <a:pt x="0" y="0"/>
                  </a:moveTo>
                  <a:lnTo>
                    <a:pt x="4224528" y="0"/>
                  </a:lnTo>
                  <a:lnTo>
                    <a:pt x="4224528" y="820440"/>
                  </a:lnTo>
                  <a:lnTo>
                    <a:pt x="0" y="820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520" b="-4714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4224528" cy="829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24712" y="3867912"/>
            <a:ext cx="3168396" cy="548640"/>
            <a:chOff x="0" y="0"/>
            <a:chExt cx="4224528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24528" cy="731520"/>
            </a:xfrm>
            <a:custGeom>
              <a:avLst/>
              <a:gdLst/>
              <a:ahLst/>
              <a:cxnLst/>
              <a:rect l="l" t="t" r="r" b="b"/>
              <a:pathLst>
                <a:path w="4224528" h="731520">
                  <a:moveTo>
                    <a:pt x="0" y="0"/>
                  </a:moveTo>
                  <a:lnTo>
                    <a:pt x="4224528" y="0"/>
                  </a:lnTo>
                  <a:lnTo>
                    <a:pt x="42245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526" b="-6252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422452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초기 스크리닝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24712" y="4644470"/>
            <a:ext cx="3168396" cy="1371600"/>
            <a:chOff x="0" y="0"/>
            <a:chExt cx="4224528" cy="1828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224528" cy="1828800"/>
            </a:xfrm>
            <a:custGeom>
              <a:avLst/>
              <a:gdLst/>
              <a:ahLst/>
              <a:cxnLst/>
              <a:rect l="l" t="t" r="r" b="b"/>
              <a:pathLst>
                <a:path w="4224528" h="1828800">
                  <a:moveTo>
                    <a:pt x="0" y="0"/>
                  </a:moveTo>
                  <a:lnTo>
                    <a:pt x="4224528" y="0"/>
                  </a:lnTo>
                  <a:lnTo>
                    <a:pt x="422452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42" r="-554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4224528" cy="1905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32"/>
                </a:lnSpc>
              </a:pPr>
              <a:r>
                <a:rPr lang="en-US" sz="1880" dirty="0" err="1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수동</a:t>
              </a:r>
              <a:r>
                <a:rPr lang="en-US" sz="1880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80" dirty="0" err="1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배지</a:t>
              </a:r>
              <a:r>
                <a:rPr lang="en-US" sz="1880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80" dirty="0" err="1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조합</a:t>
              </a:r>
              <a:r>
                <a:rPr lang="en-US" sz="1880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12개</a:t>
              </a:r>
            </a:p>
            <a:p>
              <a:pPr algn="l">
                <a:lnSpc>
                  <a:spcPts val="2932"/>
                </a:lnSpc>
              </a:pPr>
              <a:r>
                <a:rPr lang="en-US" sz="1880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1차 </a:t>
              </a:r>
              <a:r>
                <a:rPr lang="en-US" sz="1880" dirty="0" err="1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배양</a:t>
              </a:r>
              <a:r>
                <a:rPr lang="en-US" sz="1880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및 OD600 </a:t>
              </a:r>
              <a:r>
                <a:rPr lang="en-US" sz="1880" dirty="0" err="1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측정</a:t>
              </a:r>
              <a:endParaRPr lang="en-US" sz="1880" dirty="0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  <a:p>
              <a:pPr algn="l">
                <a:lnSpc>
                  <a:spcPts val="2932"/>
                </a:lnSpc>
              </a:pPr>
              <a:endParaRPr lang="en-US" sz="1880" dirty="0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622292" y="4011930"/>
            <a:ext cx="329184" cy="685800"/>
            <a:chOff x="0" y="0"/>
            <a:chExt cx="438912" cy="91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38912" cy="914400"/>
            </a:xfrm>
            <a:custGeom>
              <a:avLst/>
              <a:gdLst/>
              <a:ahLst/>
              <a:cxnLst/>
              <a:rect l="l" t="t" r="r" b="b"/>
              <a:pathLst>
                <a:path w="438912" h="914400">
                  <a:moveTo>
                    <a:pt x="0" y="0"/>
                  </a:moveTo>
                  <a:lnTo>
                    <a:pt x="438912" y="0"/>
                  </a:lnTo>
                  <a:lnTo>
                    <a:pt x="4389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7299" r="-21729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438912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→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69383" y="2733675"/>
            <a:ext cx="3790950" cy="3242310"/>
            <a:chOff x="0" y="0"/>
            <a:chExt cx="5054600" cy="43230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54600" cy="4323080"/>
            </a:xfrm>
            <a:custGeom>
              <a:avLst/>
              <a:gdLst/>
              <a:ahLst/>
              <a:cxnLst/>
              <a:rect l="l" t="t" r="r" b="b"/>
              <a:pathLst>
                <a:path w="5054600" h="4323080">
                  <a:moveTo>
                    <a:pt x="0" y="0"/>
                  </a:moveTo>
                  <a:lnTo>
                    <a:pt x="5054600" y="0"/>
                  </a:lnTo>
                  <a:lnTo>
                    <a:pt x="5054600" y="4323080"/>
                  </a:lnTo>
                  <a:lnTo>
                    <a:pt x="0" y="43230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6F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80660" y="3017520"/>
            <a:ext cx="3168396" cy="615330"/>
            <a:chOff x="0" y="0"/>
            <a:chExt cx="4224528" cy="8204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24528" cy="820440"/>
            </a:xfrm>
            <a:custGeom>
              <a:avLst/>
              <a:gdLst/>
              <a:ahLst/>
              <a:cxnLst/>
              <a:rect l="l" t="t" r="r" b="b"/>
              <a:pathLst>
                <a:path w="4224528" h="820440">
                  <a:moveTo>
                    <a:pt x="0" y="0"/>
                  </a:moveTo>
                  <a:lnTo>
                    <a:pt x="4224528" y="0"/>
                  </a:lnTo>
                  <a:lnTo>
                    <a:pt x="4224528" y="820440"/>
                  </a:lnTo>
                  <a:lnTo>
                    <a:pt x="0" y="820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520" b="-4714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4224528" cy="829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80660" y="3867912"/>
            <a:ext cx="3168396" cy="548640"/>
            <a:chOff x="0" y="0"/>
            <a:chExt cx="4224528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24528" cy="731520"/>
            </a:xfrm>
            <a:custGeom>
              <a:avLst/>
              <a:gdLst/>
              <a:ahLst/>
              <a:cxnLst/>
              <a:rect l="l" t="t" r="r" b="b"/>
              <a:pathLst>
                <a:path w="4224528" h="731520">
                  <a:moveTo>
                    <a:pt x="0" y="0"/>
                  </a:moveTo>
                  <a:lnTo>
                    <a:pt x="4224528" y="0"/>
                  </a:lnTo>
                  <a:lnTo>
                    <a:pt x="42245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526" b="-6252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422452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METIS 배양 조건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80660" y="4457700"/>
            <a:ext cx="3168396" cy="1371600"/>
            <a:chOff x="0" y="0"/>
            <a:chExt cx="4224528" cy="1828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224528" cy="1828800"/>
            </a:xfrm>
            <a:custGeom>
              <a:avLst/>
              <a:gdLst/>
              <a:ahLst/>
              <a:cxnLst/>
              <a:rect l="l" t="t" r="r" b="b"/>
              <a:pathLst>
                <a:path w="4224528" h="1828800">
                  <a:moveTo>
                    <a:pt x="0" y="0"/>
                  </a:moveTo>
                  <a:lnTo>
                    <a:pt x="4224528" y="0"/>
                  </a:lnTo>
                  <a:lnTo>
                    <a:pt x="422452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42" r="-554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4224528" cy="1905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32"/>
                </a:lnSpc>
              </a:pPr>
              <a:r>
                <a:rPr lang="en-US" sz="188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METIS 추천조건 선정</a:t>
              </a:r>
            </a:p>
            <a:p>
              <a:pPr algn="l">
                <a:lnSpc>
                  <a:spcPts val="2932"/>
                </a:lnSpc>
              </a:pPr>
              <a:r>
                <a:rPr lang="en-US" sz="188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2차 배지 조합 12개 구성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778240" y="4011930"/>
            <a:ext cx="329184" cy="685800"/>
            <a:chOff x="0" y="0"/>
            <a:chExt cx="438912" cy="914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38912" cy="914400"/>
            </a:xfrm>
            <a:custGeom>
              <a:avLst/>
              <a:gdLst/>
              <a:ahLst/>
              <a:cxnLst/>
              <a:rect l="l" t="t" r="r" b="b"/>
              <a:pathLst>
                <a:path w="438912" h="914400">
                  <a:moveTo>
                    <a:pt x="0" y="0"/>
                  </a:moveTo>
                  <a:lnTo>
                    <a:pt x="438912" y="0"/>
                  </a:lnTo>
                  <a:lnTo>
                    <a:pt x="4389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7299" r="-21729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438912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→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25331" y="2733675"/>
            <a:ext cx="3790950" cy="3242310"/>
            <a:chOff x="0" y="0"/>
            <a:chExt cx="5054600" cy="43230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054600" cy="4323080"/>
            </a:xfrm>
            <a:custGeom>
              <a:avLst/>
              <a:gdLst/>
              <a:ahLst/>
              <a:cxnLst/>
              <a:rect l="l" t="t" r="r" b="b"/>
              <a:pathLst>
                <a:path w="5054600" h="4323080">
                  <a:moveTo>
                    <a:pt x="0" y="0"/>
                  </a:moveTo>
                  <a:lnTo>
                    <a:pt x="5054600" y="0"/>
                  </a:lnTo>
                  <a:lnTo>
                    <a:pt x="5054600" y="4323080"/>
                  </a:lnTo>
                  <a:lnTo>
                    <a:pt x="0" y="43230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6F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436608" y="3017520"/>
            <a:ext cx="3168396" cy="615330"/>
            <a:chOff x="0" y="0"/>
            <a:chExt cx="4224528" cy="8204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224528" cy="820440"/>
            </a:xfrm>
            <a:custGeom>
              <a:avLst/>
              <a:gdLst/>
              <a:ahLst/>
              <a:cxnLst/>
              <a:rect l="l" t="t" r="r" b="b"/>
              <a:pathLst>
                <a:path w="4224528" h="820440">
                  <a:moveTo>
                    <a:pt x="0" y="0"/>
                  </a:moveTo>
                  <a:lnTo>
                    <a:pt x="4224528" y="0"/>
                  </a:lnTo>
                  <a:lnTo>
                    <a:pt x="4224528" y="820440"/>
                  </a:lnTo>
                  <a:lnTo>
                    <a:pt x="0" y="820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520" b="-4714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4224528" cy="829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436608" y="3867912"/>
            <a:ext cx="3168396" cy="548640"/>
            <a:chOff x="0" y="0"/>
            <a:chExt cx="4224528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224528" cy="731520"/>
            </a:xfrm>
            <a:custGeom>
              <a:avLst/>
              <a:gdLst/>
              <a:ahLst/>
              <a:cxnLst/>
              <a:rect l="l" t="t" r="r" b="b"/>
              <a:pathLst>
                <a:path w="4224528" h="731520">
                  <a:moveTo>
                    <a:pt x="0" y="0"/>
                  </a:moveTo>
                  <a:lnTo>
                    <a:pt x="4224528" y="0"/>
                  </a:lnTo>
                  <a:lnTo>
                    <a:pt x="42245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526" b="-6252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422452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2차 배양 결과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36608" y="4457700"/>
            <a:ext cx="3168396" cy="1371600"/>
            <a:chOff x="0" y="0"/>
            <a:chExt cx="4224528" cy="1828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224528" cy="1828800"/>
            </a:xfrm>
            <a:custGeom>
              <a:avLst/>
              <a:gdLst/>
              <a:ahLst/>
              <a:cxnLst/>
              <a:rect l="l" t="t" r="r" b="b"/>
              <a:pathLst>
                <a:path w="4224528" h="1828800">
                  <a:moveTo>
                    <a:pt x="0" y="0"/>
                  </a:moveTo>
                  <a:lnTo>
                    <a:pt x="4224528" y="0"/>
                  </a:lnTo>
                  <a:lnTo>
                    <a:pt x="422452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42" r="-554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76200"/>
              <a:ext cx="4224528" cy="1905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32"/>
                </a:lnSpc>
              </a:pPr>
              <a:r>
                <a:rPr lang="en-US" sz="188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METIS 추천 조합 배양</a:t>
              </a:r>
            </a:p>
            <a:p>
              <a:pPr algn="l">
                <a:lnSpc>
                  <a:spcPts val="2932"/>
                </a:lnSpc>
              </a:pPr>
              <a:r>
                <a:rPr lang="en-US" sz="188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2차 OD600 측정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934188" y="4011930"/>
            <a:ext cx="329184" cy="685800"/>
            <a:chOff x="0" y="0"/>
            <a:chExt cx="438912" cy="914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38912" cy="914400"/>
            </a:xfrm>
            <a:custGeom>
              <a:avLst/>
              <a:gdLst/>
              <a:ahLst/>
              <a:cxnLst/>
              <a:rect l="l" t="t" r="r" b="b"/>
              <a:pathLst>
                <a:path w="438912" h="914400">
                  <a:moveTo>
                    <a:pt x="0" y="0"/>
                  </a:moveTo>
                  <a:lnTo>
                    <a:pt x="438912" y="0"/>
                  </a:lnTo>
                  <a:lnTo>
                    <a:pt x="4389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7299" r="-21729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438912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→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281279" y="2733675"/>
            <a:ext cx="3790950" cy="3242310"/>
            <a:chOff x="0" y="0"/>
            <a:chExt cx="5054600" cy="43230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054600" cy="4323080"/>
            </a:xfrm>
            <a:custGeom>
              <a:avLst/>
              <a:gdLst/>
              <a:ahLst/>
              <a:cxnLst/>
              <a:rect l="l" t="t" r="r" b="b"/>
              <a:pathLst>
                <a:path w="5054600" h="4323080">
                  <a:moveTo>
                    <a:pt x="0" y="0"/>
                  </a:moveTo>
                  <a:lnTo>
                    <a:pt x="5054600" y="0"/>
                  </a:lnTo>
                  <a:lnTo>
                    <a:pt x="5054600" y="4323080"/>
                  </a:lnTo>
                  <a:lnTo>
                    <a:pt x="0" y="4323080"/>
                  </a:lnTo>
                  <a:close/>
                </a:path>
              </a:pathLst>
            </a:custGeom>
            <a:solidFill>
              <a:srgbClr val="2B4AFF"/>
            </a:solidFill>
            <a:ln w="19050" cap="sq">
              <a:solidFill>
                <a:srgbClr val="E3E6F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592556" y="3017520"/>
            <a:ext cx="3168396" cy="615330"/>
            <a:chOff x="0" y="0"/>
            <a:chExt cx="4224528" cy="82044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224528" cy="820440"/>
            </a:xfrm>
            <a:custGeom>
              <a:avLst/>
              <a:gdLst/>
              <a:ahLst/>
              <a:cxnLst/>
              <a:rect l="l" t="t" r="r" b="b"/>
              <a:pathLst>
                <a:path w="4224528" h="820440">
                  <a:moveTo>
                    <a:pt x="0" y="0"/>
                  </a:moveTo>
                  <a:lnTo>
                    <a:pt x="4224528" y="0"/>
                  </a:lnTo>
                  <a:lnTo>
                    <a:pt x="4224528" y="820440"/>
                  </a:lnTo>
                  <a:lnTo>
                    <a:pt x="0" y="820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520" b="-4714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4224528" cy="829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C7C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04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592556" y="3867912"/>
            <a:ext cx="3168396" cy="548640"/>
            <a:chOff x="0" y="0"/>
            <a:chExt cx="4224528" cy="7315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224528" cy="731520"/>
            </a:xfrm>
            <a:custGeom>
              <a:avLst/>
              <a:gdLst/>
              <a:ahLst/>
              <a:cxnLst/>
              <a:rect l="l" t="t" r="r" b="b"/>
              <a:pathLst>
                <a:path w="4224528" h="731520">
                  <a:moveTo>
                    <a:pt x="0" y="0"/>
                  </a:moveTo>
                  <a:lnTo>
                    <a:pt x="4224528" y="0"/>
                  </a:lnTo>
                  <a:lnTo>
                    <a:pt x="42245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526" b="-6252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9525"/>
              <a:ext cx="422452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XGBoost 분석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592556" y="4457700"/>
            <a:ext cx="3356223" cy="1371600"/>
            <a:chOff x="0" y="0"/>
            <a:chExt cx="4474964" cy="1828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474964" cy="1828800"/>
            </a:xfrm>
            <a:custGeom>
              <a:avLst/>
              <a:gdLst/>
              <a:ahLst/>
              <a:cxnLst/>
              <a:rect l="l" t="t" r="r" b="b"/>
              <a:pathLst>
                <a:path w="4474964" h="1828800">
                  <a:moveTo>
                    <a:pt x="0" y="0"/>
                  </a:moveTo>
                  <a:lnTo>
                    <a:pt x="4474964" y="0"/>
                  </a:lnTo>
                  <a:lnTo>
                    <a:pt x="447496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32" r="36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76200"/>
              <a:ext cx="4474964" cy="1905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32"/>
                </a:lnSpc>
              </a:pPr>
              <a:r>
                <a:rPr lang="en-US" sz="1880" b="1" dirty="0">
                  <a:solidFill>
                    <a:srgbClr val="E3E7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1</a:t>
              </a:r>
              <a:r>
                <a:rPr lang="ko-KR" altLang="en-US" sz="1880" b="1" dirty="0">
                  <a:solidFill>
                    <a:srgbClr val="E3E7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차 </a:t>
              </a:r>
              <a:r>
                <a:rPr lang="en-US" altLang="ko-KR" sz="1880" b="1" dirty="0">
                  <a:solidFill>
                    <a:srgbClr val="E3E7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vs 2</a:t>
              </a:r>
              <a:r>
                <a:rPr lang="ko-KR" altLang="en-US" sz="1880" b="1" dirty="0">
                  <a:solidFill>
                    <a:srgbClr val="E3E7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차 변화 비교</a:t>
              </a:r>
              <a:endParaRPr lang="en-US" sz="1880" b="1" dirty="0">
                <a:solidFill>
                  <a:srgbClr val="E3E7FF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  <a:p>
              <a:pPr algn="l">
                <a:lnSpc>
                  <a:spcPts val="2932"/>
                </a:lnSpc>
              </a:pPr>
              <a:r>
                <a:rPr lang="en-US" sz="1880" dirty="0">
                  <a:solidFill>
                    <a:srgbClr val="E3E7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→</a:t>
              </a:r>
              <a:r>
                <a:rPr lang="en-US" sz="1880" dirty="0" err="1">
                  <a:solidFill>
                    <a:srgbClr val="E3E7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후속</a:t>
              </a:r>
              <a:r>
                <a:rPr lang="en-US" sz="1880" dirty="0">
                  <a:solidFill>
                    <a:srgbClr val="E3E7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80" dirty="0" err="1">
                  <a:solidFill>
                    <a:srgbClr val="E3E7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배양</a:t>
              </a:r>
              <a:r>
                <a:rPr lang="en-US" sz="1880" dirty="0">
                  <a:solidFill>
                    <a:srgbClr val="E3E7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80" dirty="0" err="1">
                  <a:solidFill>
                    <a:srgbClr val="E3E7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후보조건</a:t>
              </a:r>
              <a:r>
                <a:rPr lang="en-US" sz="1880" dirty="0">
                  <a:solidFill>
                    <a:srgbClr val="E3E7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80" dirty="0" err="1">
                  <a:solidFill>
                    <a:srgbClr val="E3E7FF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제안</a:t>
              </a:r>
              <a:endParaRPr lang="en-US" sz="1880" dirty="0">
                <a:solidFill>
                  <a:srgbClr val="E3E7FF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22960" y="6309360"/>
            <a:ext cx="16596360" cy="3154680"/>
            <a:chOff x="0" y="0"/>
            <a:chExt cx="22128480" cy="42062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2128480" cy="4206240"/>
            </a:xfrm>
            <a:custGeom>
              <a:avLst/>
              <a:gdLst/>
              <a:ahLst/>
              <a:cxnLst/>
              <a:rect l="l" t="t" r="r" b="b"/>
              <a:pathLst>
                <a:path w="22128480" h="4206240">
                  <a:moveTo>
                    <a:pt x="0" y="0"/>
                  </a:moveTo>
                  <a:lnTo>
                    <a:pt x="22128480" y="0"/>
                  </a:lnTo>
                  <a:lnTo>
                    <a:pt x="2212848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03020" y="6652260"/>
            <a:ext cx="4389120" cy="960120"/>
            <a:chOff x="0" y="0"/>
            <a:chExt cx="5852160" cy="128016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852160" cy="1280160"/>
            </a:xfrm>
            <a:custGeom>
              <a:avLst/>
              <a:gdLst/>
              <a:ahLst/>
              <a:cxnLst/>
              <a:rect l="l" t="t" r="r" b="b"/>
              <a:pathLst>
                <a:path w="5852160" h="1280160">
                  <a:moveTo>
                    <a:pt x="0" y="0"/>
                  </a:moveTo>
                  <a:lnTo>
                    <a:pt x="5852160" y="0"/>
                  </a:lnTo>
                  <a:lnTo>
                    <a:pt x="5852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074" b="-3907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5852160" cy="12896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4</a:t>
              </a:r>
              <a:r>
                <a:rPr lang="en-US" sz="2400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 배지 성분 변수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240780" y="6652260"/>
            <a:ext cx="4389120" cy="960120"/>
            <a:chOff x="0" y="0"/>
            <a:chExt cx="5852160" cy="128016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852160" cy="1280160"/>
            </a:xfrm>
            <a:custGeom>
              <a:avLst/>
              <a:gdLst/>
              <a:ahLst/>
              <a:cxnLst/>
              <a:rect l="l" t="t" r="r" b="b"/>
              <a:pathLst>
                <a:path w="5852160" h="1280160">
                  <a:moveTo>
                    <a:pt x="0" y="0"/>
                  </a:moveTo>
                  <a:lnTo>
                    <a:pt x="5852160" y="0"/>
                  </a:lnTo>
                  <a:lnTo>
                    <a:pt x="5852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074" b="-3907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9525"/>
              <a:ext cx="5852160" cy="12896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12</a:t>
              </a:r>
              <a:r>
                <a:rPr lang="en-US" sz="2400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 METIS 기반 2차 배양조건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1178540" y="6652260"/>
            <a:ext cx="4389120" cy="960120"/>
            <a:chOff x="0" y="0"/>
            <a:chExt cx="5852160" cy="128016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852160" cy="1280160"/>
            </a:xfrm>
            <a:custGeom>
              <a:avLst/>
              <a:gdLst/>
              <a:ahLst/>
              <a:cxnLst/>
              <a:rect l="l" t="t" r="r" b="b"/>
              <a:pathLst>
                <a:path w="5852160" h="1280160">
                  <a:moveTo>
                    <a:pt x="0" y="0"/>
                  </a:moveTo>
                  <a:lnTo>
                    <a:pt x="5852160" y="0"/>
                  </a:lnTo>
                  <a:lnTo>
                    <a:pt x="5852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074" b="-3907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9525"/>
              <a:ext cx="5852160" cy="12896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20</a:t>
              </a:r>
              <a:r>
                <a:rPr lang="en-US" sz="2400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 XGBoost 앙상블 모델</a:t>
              </a:r>
            </a:p>
          </p:txBody>
        </p:sp>
      </p:grpSp>
      <p:sp>
        <p:nvSpPr>
          <p:cNvPr id="72" name="AutoShape 72"/>
          <p:cNvSpPr/>
          <p:nvPr/>
        </p:nvSpPr>
        <p:spPr>
          <a:xfrm rot="4200">
            <a:off x="1293485" y="7813357"/>
            <a:ext cx="15655300" cy="0"/>
          </a:xfrm>
          <a:prstGeom prst="line">
            <a:avLst/>
          </a:prstGeom>
          <a:ln w="9525" cap="rnd">
            <a:solidFill>
              <a:srgbClr val="D7DC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73" name="Group 73"/>
          <p:cNvGrpSpPr/>
          <p:nvPr/>
        </p:nvGrpSpPr>
        <p:grpSpPr>
          <a:xfrm>
            <a:off x="1465748" y="8048916"/>
            <a:ext cx="6743057" cy="1234440"/>
            <a:chOff x="0" y="0"/>
            <a:chExt cx="8990743" cy="164592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990743" cy="1645920"/>
            </a:xfrm>
            <a:custGeom>
              <a:avLst/>
              <a:gdLst/>
              <a:ahLst/>
              <a:cxnLst/>
              <a:rect l="l" t="t" r="r" b="b"/>
              <a:pathLst>
                <a:path w="8990743" h="1645920">
                  <a:moveTo>
                    <a:pt x="0" y="0"/>
                  </a:moveTo>
                  <a:lnTo>
                    <a:pt x="8990743" y="0"/>
                  </a:lnTo>
                  <a:lnTo>
                    <a:pt x="8990743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r="-131886" b="-19681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85725"/>
              <a:ext cx="8990743" cy="1731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45"/>
                </a:lnSpc>
              </a:pPr>
              <a:r>
                <a:rPr lang="en-US" sz="188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입력 데이터:</a:t>
              </a:r>
              <a:r>
                <a:rPr lang="en-US" sz="188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2차 배양 12개 조건의 성분 농도 및 OD600</a:t>
              </a:r>
            </a:p>
            <a:p>
              <a:pPr algn="l">
                <a:lnSpc>
                  <a:spcPts val="3045"/>
                </a:lnSpc>
              </a:pPr>
              <a:r>
                <a:rPr lang="en-US" sz="188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배지 변수:</a:t>
              </a:r>
              <a:r>
                <a:rPr lang="en-US" sz="188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Peptone, Meat extract, Yeast extract, Glucose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18/32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0263536" y="8278100"/>
            <a:ext cx="6195664" cy="709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5"/>
              </a:lnSpc>
              <a:spcBef>
                <a:spcPct val="0"/>
              </a:spcBef>
            </a:pPr>
            <a:r>
              <a:rPr lang="en-US" sz="1880" b="1" spc="-18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모델 구성:</a:t>
            </a:r>
            <a:r>
              <a:rPr lang="en-US" sz="1880" spc="-18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RandomizedSearchCV 200회 × 4-fold CV로 선정한 </a:t>
            </a:r>
          </a:p>
          <a:p>
            <a:pPr algn="l">
              <a:lnSpc>
                <a:spcPts val="2895"/>
              </a:lnSpc>
              <a:spcBef>
                <a:spcPct val="0"/>
              </a:spcBef>
            </a:pPr>
            <a:r>
              <a:rPr lang="en-US" sz="1880" spc="-18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상위 20개 XGBoost 앙상블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3-2  INITIAL SCREENING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초기 스크리닝 설계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19/32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22960" y="1968818"/>
            <a:ext cx="119865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000" b="1">
                <a:solidFill>
                  <a:srgbClr val="5A5A5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20× stock 분주</a:t>
            </a:r>
            <a:r>
              <a:rPr lang="en-US" sz="2000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→ </a:t>
            </a:r>
            <a:r>
              <a:rPr lang="en-US" sz="2000" b="1">
                <a:solidFill>
                  <a:srgbClr val="5A5A5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배지 1 mL 조제</a:t>
            </a:r>
            <a:r>
              <a:rPr lang="en-US" sz="2000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→ </a:t>
            </a:r>
            <a:r>
              <a:rPr lang="en-US" sz="2000" b="1">
                <a:solidFill>
                  <a:srgbClr val="5A5A5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균액 50 µL 접종</a:t>
            </a:r>
            <a:r>
              <a:rPr lang="en-US" sz="2000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→ </a:t>
            </a:r>
            <a:r>
              <a:rPr lang="en-US" sz="2000" b="1">
                <a:solidFill>
                  <a:srgbClr val="5A5A5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O/N 배양</a:t>
            </a:r>
            <a:r>
              <a:rPr lang="en-US" sz="2000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→ </a:t>
            </a:r>
            <a:r>
              <a:rPr lang="en-US" sz="2000" b="1">
                <a:solidFill>
                  <a:srgbClr val="5A5A5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OD600 측정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41985" y="2630751"/>
            <a:ext cx="19124677" cy="7147053"/>
            <a:chOff x="0" y="-85725"/>
            <a:chExt cx="25499569" cy="9529405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85725"/>
              <a:ext cx="14262853" cy="5327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510"/>
                </a:lnSpc>
                <a:spcBef>
                  <a:spcPct val="0"/>
                </a:spcBef>
              </a:pPr>
              <a:r>
                <a:rPr lang="en-US" sz="2250" b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    1. 모든 성분을 함께 변화시켜 전체 영양 수준 탐색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900" y="4906077"/>
              <a:ext cx="14262853" cy="5327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10"/>
                </a:lnSpc>
                <a:spcBef>
                  <a:spcPct val="0"/>
                </a:spcBef>
              </a:pPr>
              <a:r>
                <a:rPr lang="en-US" sz="2250" b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   2. 한 성분씩 증가시킨 단일 변수 효과 설계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36716" y="-85725"/>
              <a:ext cx="14262853" cy="5327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10"/>
                </a:lnSpc>
                <a:spcBef>
                  <a:spcPct val="0"/>
                </a:spcBef>
              </a:pPr>
              <a:r>
                <a:rPr lang="en-US" sz="2250" b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  3. 선택한 두 성분을 동시에 변화시켜 조합 효과 탐색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1539940" y="5548697"/>
              <a:ext cx="9913055" cy="3894983"/>
              <a:chOff x="0" y="-1"/>
              <a:chExt cx="8662313" cy="34035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-1"/>
                <a:ext cx="8662313" cy="3403548"/>
              </a:xfrm>
              <a:custGeom>
                <a:avLst/>
                <a:gdLst/>
                <a:ahLst/>
                <a:cxnLst/>
                <a:rect l="l" t="t" r="r" b="b"/>
                <a:pathLst>
                  <a:path w="8662313" h="3325629">
                    <a:moveTo>
                      <a:pt x="0" y="0"/>
                    </a:moveTo>
                    <a:lnTo>
                      <a:pt x="8662313" y="0"/>
                    </a:lnTo>
                    <a:lnTo>
                      <a:pt x="8662313" y="3325629"/>
                    </a:lnTo>
                    <a:lnTo>
                      <a:pt x="0" y="3325629"/>
                    </a:lnTo>
                    <a:close/>
                  </a:path>
                </a:pathLst>
              </a:custGeom>
              <a:solidFill>
                <a:srgbClr val="EEF1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1862462" y="5838892"/>
              <a:ext cx="10166383" cy="32097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4"/>
                </a:lnSpc>
              </a:pPr>
              <a:r>
                <a:rPr lang="en-US" sz="2400" b="1" dirty="0" err="1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실험</a:t>
              </a:r>
              <a:r>
                <a:rPr lang="en-US" sz="2400" b="1" dirty="0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</a:t>
              </a:r>
              <a:r>
                <a:rPr lang="en-US" sz="2400" b="1" dirty="0" err="1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조건</a:t>
              </a:r>
              <a:endParaRPr lang="en-US" sz="2400" b="1" dirty="0">
                <a:solidFill>
                  <a:srgbClr val="1E36C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endParaRPr>
            </a:p>
            <a:p>
              <a:pPr algn="l">
                <a:lnSpc>
                  <a:spcPts val="819"/>
                </a:lnSpc>
              </a:pPr>
              <a:endParaRPr lang="en-US" sz="2400" b="1" dirty="0">
                <a:solidFill>
                  <a:srgbClr val="1E36C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endParaRPr>
            </a:p>
            <a:p>
              <a:pPr marL="405892" lvl="1" indent="-202946" algn="l">
                <a:lnSpc>
                  <a:spcPts val="2932"/>
                </a:lnSpc>
                <a:buFont typeface="Arial"/>
                <a:buChar char="•"/>
              </a:pP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농도는</a:t>
              </a:r>
              <a:r>
                <a:rPr lang="en-US" sz="187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접종</a:t>
              </a:r>
              <a:r>
                <a:rPr lang="en-US" sz="187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전 </a:t>
              </a: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액체</a:t>
              </a:r>
              <a:r>
                <a:rPr lang="en-US" sz="187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배지</a:t>
              </a:r>
              <a:r>
                <a:rPr lang="en-US" sz="187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1 mL </a:t>
              </a: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기준</a:t>
              </a:r>
              <a:endParaRPr lang="en-US" sz="1879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  <a:p>
              <a:pPr marL="405892" lvl="1" indent="-202946" algn="l">
                <a:lnSpc>
                  <a:spcPts val="2932"/>
                </a:lnSpc>
                <a:buFont typeface="Arial"/>
                <a:buChar char="•"/>
              </a:pP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가변성분</a:t>
              </a:r>
              <a:r>
                <a:rPr lang="en-US" sz="187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20× stock: Peptone 200, Meat 160, Yeast 80, </a:t>
              </a:r>
            </a:p>
            <a:p>
              <a:pPr algn="l">
                <a:lnSpc>
                  <a:spcPts val="2932"/>
                </a:lnSpc>
              </a:pPr>
              <a:r>
                <a:rPr lang="en-US" sz="187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                                        Glucose 400 mg/mL</a:t>
              </a:r>
            </a:p>
            <a:p>
              <a:pPr marL="405892" lvl="1" indent="-202946" algn="l">
                <a:lnSpc>
                  <a:spcPts val="2932"/>
                </a:lnSpc>
                <a:buFont typeface="Arial"/>
                <a:buChar char="•"/>
              </a:pP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고정</a:t>
              </a:r>
              <a:r>
                <a:rPr lang="en-US" sz="187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염류</a:t>
              </a:r>
              <a:r>
                <a:rPr lang="en-US" sz="187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혼합액</a:t>
              </a:r>
              <a:r>
                <a:rPr lang="en-US" sz="187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250 µ</a:t>
              </a: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L는</a:t>
              </a:r>
              <a:r>
                <a:rPr lang="en-US" sz="187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모든</a:t>
              </a:r>
              <a:r>
                <a:rPr lang="en-US" sz="187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조건에</a:t>
              </a:r>
              <a:r>
                <a:rPr lang="en-US" sz="187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동일하게</a:t>
              </a:r>
              <a:r>
                <a:rPr lang="en-US" sz="187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첨가</a:t>
              </a:r>
              <a:endParaRPr lang="en-US" sz="1879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  <a:p>
              <a:pPr marL="405892" lvl="1" indent="-202946" algn="l">
                <a:lnSpc>
                  <a:spcPts val="293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7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P. megaterium </a:t>
              </a: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균액</a:t>
              </a:r>
              <a:r>
                <a:rPr lang="en-US" sz="1879" dirty="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50 µL </a:t>
              </a:r>
              <a:r>
                <a:rPr lang="en-US" sz="1879" dirty="0" err="1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접종</a:t>
              </a:r>
              <a:endParaRPr lang="en-US" sz="1879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8565" y="543355"/>
              <a:ext cx="15982013" cy="3578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79"/>
                </a:lnSpc>
                <a:spcBef>
                  <a:spcPct val="0"/>
                </a:spcBef>
              </a:pPr>
              <a:r>
                <a:rPr lang="en-US" sz="152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농도 단위: g/L · 접종 전 배지 1 mL 기준 / Meat = Meat extract, Yeast = Yeast extract</a:t>
              </a:r>
            </a:p>
          </p:txBody>
        </p:sp>
      </p:grpSp>
      <p:graphicFrame>
        <p:nvGraphicFramePr>
          <p:cNvPr id="13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338416"/>
              </p:ext>
            </p:extLst>
          </p:nvPr>
        </p:nvGraphicFramePr>
        <p:xfrm>
          <a:off x="927733" y="3386239"/>
          <a:ext cx="7434793" cy="2886075"/>
        </p:xfrm>
        <a:graphic>
          <a:graphicData uri="http://schemas.openxmlformats.org/drawingml/2006/table">
            <a:tbl>
              <a:tblPr/>
              <a:tblGrid>
                <a:gridCol w="1097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조건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Peptone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Meat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Yeast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Glucose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4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4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3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30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4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40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017558"/>
              </p:ext>
            </p:extLst>
          </p:nvPr>
        </p:nvGraphicFramePr>
        <p:xfrm>
          <a:off x="940907" y="6896468"/>
          <a:ext cx="7434793" cy="2886075"/>
        </p:xfrm>
        <a:graphic>
          <a:graphicData uri="http://schemas.openxmlformats.org/drawingml/2006/table">
            <a:tbl>
              <a:tblPr/>
              <a:tblGrid>
                <a:gridCol w="1097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279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조건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Peptone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Meat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Yeast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Glucose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49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 b="1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20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4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49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 b="1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16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4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49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7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 b="1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49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4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 b="1" dirty="0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40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249976"/>
              </p:ext>
            </p:extLst>
          </p:nvPr>
        </p:nvGraphicFramePr>
        <p:xfrm>
          <a:off x="9296938" y="3386239"/>
          <a:ext cx="7434793" cy="2886075"/>
        </p:xfrm>
        <a:graphic>
          <a:graphicData uri="http://schemas.openxmlformats.org/drawingml/2006/table">
            <a:tbl>
              <a:tblPr/>
              <a:tblGrid>
                <a:gridCol w="1097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279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조건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Peptone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Meat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Yeast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Glucose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49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9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 b="1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15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 b="1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49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 b="1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12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 b="1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49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11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 b="1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15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4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 b="1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30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49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 b="1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 b="1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30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3-3  METIS-GUIDED CULTURE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77861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METIS 추천 기반 2차 배양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20/32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8210" y="2378011"/>
            <a:ext cx="8023860" cy="7332917"/>
            <a:chOff x="0" y="0"/>
            <a:chExt cx="10698480" cy="97772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98480" cy="9777222"/>
            </a:xfrm>
            <a:custGeom>
              <a:avLst/>
              <a:gdLst/>
              <a:ahLst/>
              <a:cxnLst/>
              <a:rect l="l" t="t" r="r" b="b"/>
              <a:pathLst>
                <a:path w="10698480" h="9777222">
                  <a:moveTo>
                    <a:pt x="0" y="0"/>
                  </a:moveTo>
                  <a:lnTo>
                    <a:pt x="10698480" y="0"/>
                  </a:lnTo>
                  <a:lnTo>
                    <a:pt x="10698480" y="9777222"/>
                  </a:lnTo>
                  <a:lnTo>
                    <a:pt x="0" y="9777222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34440" y="2459168"/>
            <a:ext cx="7132320" cy="685800"/>
            <a:chOff x="0" y="0"/>
            <a:chExt cx="950976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509760" cy="914400"/>
            </a:xfrm>
            <a:custGeom>
              <a:avLst/>
              <a:gdLst/>
              <a:ahLst/>
              <a:cxnLst/>
              <a:rect l="l" t="t" r="r" b="b"/>
              <a:pathLst>
                <a:path w="9509760" h="914400">
                  <a:moveTo>
                    <a:pt x="0" y="0"/>
                  </a:moveTo>
                  <a:lnTo>
                    <a:pt x="9509760" y="0"/>
                  </a:lnTo>
                  <a:lnTo>
                    <a:pt x="9509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2644" b="-15264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950976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① METIS 추천 배지 조합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95460" y="2378011"/>
            <a:ext cx="8023860" cy="4440462"/>
            <a:chOff x="0" y="0"/>
            <a:chExt cx="10698480" cy="592061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98480" cy="5920615"/>
            </a:xfrm>
            <a:custGeom>
              <a:avLst/>
              <a:gdLst/>
              <a:ahLst/>
              <a:cxnLst/>
              <a:rect l="l" t="t" r="r" b="b"/>
              <a:pathLst>
                <a:path w="10698480" h="5920615">
                  <a:moveTo>
                    <a:pt x="0" y="0"/>
                  </a:moveTo>
                  <a:lnTo>
                    <a:pt x="10698480" y="0"/>
                  </a:lnTo>
                  <a:lnTo>
                    <a:pt x="10698480" y="5920615"/>
                  </a:lnTo>
                  <a:lnTo>
                    <a:pt x="0" y="5920615"/>
                  </a:lnTo>
                  <a:close/>
                </a:path>
              </a:pathLst>
            </a:custGeom>
            <a:solidFill>
              <a:srgbClr val="F7F8FD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48825" y="2459168"/>
            <a:ext cx="7132320" cy="685800"/>
            <a:chOff x="0" y="0"/>
            <a:chExt cx="9509760" cy="914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09760" cy="914400"/>
            </a:xfrm>
            <a:custGeom>
              <a:avLst/>
              <a:gdLst/>
              <a:ahLst/>
              <a:cxnLst/>
              <a:rect l="l" t="t" r="r" b="b"/>
              <a:pathLst>
                <a:path w="9509760" h="914400">
                  <a:moveTo>
                    <a:pt x="0" y="0"/>
                  </a:moveTo>
                  <a:lnTo>
                    <a:pt x="9509760" y="0"/>
                  </a:lnTo>
                  <a:lnTo>
                    <a:pt x="9509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2644" b="-15264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950976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② 1차 대비 2차 배양 결과</a:t>
              </a:r>
            </a:p>
          </p:txBody>
        </p:sp>
      </p:grpSp>
      <p:graphicFrame>
        <p:nvGraphicFramePr>
          <p:cNvPr id="21" name="Table 21"/>
          <p:cNvGraphicFramePr>
            <a:graphicFrameLocks noGrp="1"/>
          </p:cNvGraphicFramePr>
          <p:nvPr/>
        </p:nvGraphicFramePr>
        <p:xfrm>
          <a:off x="1415415" y="3144968"/>
          <a:ext cx="7151372" cy="5981698"/>
        </p:xfrm>
        <a:graphic>
          <a:graphicData uri="http://schemas.openxmlformats.org/drawingml/2006/table">
            <a:tbl>
              <a:tblPr/>
              <a:tblGrid>
                <a:gridCol w="1239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6550">
                <a:tc>
                  <a:txBody>
                    <a:bodyPr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조건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Peptone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Meat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Yeast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Glucose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929"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14.88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3.52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929"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9.6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0.56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929"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3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5.12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0.16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929"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4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7.2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7.92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929"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8.16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3.36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30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929"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13.76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7.68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929"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7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15.68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30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929"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8.96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6.48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30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929"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9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1.12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4.48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40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929"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11.52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6.24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929"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11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7.6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7929"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15.2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40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2" name="TextBox 22"/>
          <p:cNvSpPr txBox="1"/>
          <p:nvPr/>
        </p:nvSpPr>
        <p:spPr>
          <a:xfrm>
            <a:off x="1415415" y="9231443"/>
            <a:ext cx="3689985" cy="313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91"/>
              </a:lnSpc>
              <a:spcBef>
                <a:spcPct val="0"/>
              </a:spcBef>
            </a:pPr>
            <a:r>
              <a:rPr lang="en-US" sz="1725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농도</a:t>
            </a:r>
            <a:r>
              <a:rPr lang="en-US" sz="1725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725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단위</a:t>
            </a:r>
            <a:r>
              <a:rPr lang="en-US" sz="1725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: g/L, </a:t>
            </a:r>
            <a:r>
              <a:rPr lang="en-US" sz="1725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접종</a:t>
            </a:r>
            <a:r>
              <a:rPr lang="en-US" sz="1725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전 </a:t>
            </a:r>
            <a:r>
              <a:rPr lang="en-US" sz="1725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배지</a:t>
            </a:r>
            <a:r>
              <a:rPr lang="en-US" sz="1725" dirty="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1 mL </a:t>
            </a:r>
            <a:r>
              <a:rPr lang="en-US" sz="1725" dirty="0" err="1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기준</a:t>
            </a:r>
            <a:endParaRPr lang="en-US" sz="1725" dirty="0">
              <a:solidFill>
                <a:srgbClr val="000000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graphicFrame>
        <p:nvGraphicFramePr>
          <p:cNvPr id="23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565153"/>
              </p:ext>
            </p:extLst>
          </p:nvPr>
        </p:nvGraphicFramePr>
        <p:xfrm>
          <a:off x="9835396" y="3144968"/>
          <a:ext cx="7143987" cy="3352801"/>
        </p:xfrm>
        <a:graphic>
          <a:graphicData uri="http://schemas.openxmlformats.org/drawingml/2006/table">
            <a:tbl>
              <a:tblPr/>
              <a:tblGrid>
                <a:gridCol w="1485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60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60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159">
                <a:tc>
                  <a:txBody>
                    <a:bodyPr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지표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1차 스크리닝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2차 METIS 추천조건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변화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60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배양조건 수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-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60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평균 OD600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0.578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0.743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28.60%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60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중앙값 OD600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0.579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kern="120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 Bold"/>
                        </a:rPr>
                        <a:t>0.76</a:t>
                      </a:r>
                      <a:endParaRPr lang="en-US" sz="1500" kern="1200" dirty="0">
                        <a:solidFill>
                          <a:srgbClr val="000000"/>
                        </a:solidFill>
                        <a:latin typeface="프리텐다드"/>
                        <a:ea typeface="프리텐다드"/>
                        <a:cs typeface="프리텐다드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31.30%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60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최고 OD600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0.758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0.879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16.00%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60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OD600 범위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0.346–0.758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0.571–0.879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전반적 상승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60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OD600 ≥ 0.700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 / 12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10 / 12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+8조건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A5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4" name="Group 24"/>
          <p:cNvGrpSpPr/>
          <p:nvPr/>
        </p:nvGrpSpPr>
        <p:grpSpPr>
          <a:xfrm>
            <a:off x="9395460" y="7199473"/>
            <a:ext cx="8023860" cy="2127220"/>
            <a:chOff x="0" y="0"/>
            <a:chExt cx="10698480" cy="283629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698480" cy="2836293"/>
            </a:xfrm>
            <a:custGeom>
              <a:avLst/>
              <a:gdLst/>
              <a:ahLst/>
              <a:cxnLst/>
              <a:rect l="l" t="t" r="r" b="b"/>
              <a:pathLst>
                <a:path w="10698480" h="2836293">
                  <a:moveTo>
                    <a:pt x="0" y="0"/>
                  </a:moveTo>
                  <a:lnTo>
                    <a:pt x="10698480" y="0"/>
                  </a:lnTo>
                  <a:lnTo>
                    <a:pt x="10698480" y="2836293"/>
                  </a:lnTo>
                  <a:lnTo>
                    <a:pt x="0" y="2836293"/>
                  </a:lnTo>
                  <a:close/>
                </a:path>
              </a:pathLst>
            </a:custGeom>
            <a:solidFill>
              <a:srgbClr val="D9DFF7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648825" y="7357778"/>
            <a:ext cx="7517130" cy="1686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399" b="1">
                <a:solidFill>
                  <a:srgbClr val="1E36C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주요 관찰 결과</a:t>
            </a:r>
          </a:p>
          <a:p>
            <a:pPr algn="l">
              <a:lnSpc>
                <a:spcPts val="935"/>
              </a:lnSpc>
            </a:pPr>
            <a:endParaRPr lang="en-US" sz="2399" b="1">
              <a:solidFill>
                <a:srgbClr val="1E36C4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  <a:p>
            <a:pPr marL="405892" lvl="1" indent="-202946" algn="l">
              <a:lnSpc>
                <a:spcPts val="2932"/>
              </a:lnSpc>
              <a:buFont typeface="Arial"/>
              <a:buChar char="•"/>
            </a:pPr>
            <a:r>
              <a:rPr lang="en-US" sz="187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2차 배양에서 1차 대비 전반적으로 높은 OD600 분포 확인</a:t>
            </a:r>
          </a:p>
          <a:p>
            <a:pPr marL="405892" lvl="1" indent="-202946" algn="l">
              <a:lnSpc>
                <a:spcPts val="2932"/>
              </a:lnSpc>
              <a:buFont typeface="Arial"/>
              <a:buChar char="•"/>
            </a:pPr>
            <a:r>
              <a:rPr lang="en-US" sz="187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서로 다른 배지 조합이므로 조건별 직접 비교가 아닌 전체 생장 경향으로 해석</a:t>
            </a:r>
          </a:p>
          <a:p>
            <a:pPr marL="405892" lvl="1" indent="-202946" algn="l">
              <a:lnSpc>
                <a:spcPts val="2932"/>
              </a:lnSpc>
              <a:buFont typeface="Arial"/>
              <a:buChar char="•"/>
            </a:pPr>
            <a:r>
              <a:rPr lang="en-US" sz="1879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2차 배양의 성분 농도와 실측 OD600을 후속 XGBoost 분석에 활용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/home/claude/ppt/compare_assets/Compare_Feature_Importance.png">
            <a:extLst>
              <a:ext uri="{FF2B5EF4-FFF2-40B4-BE49-F238E27FC236}">
                <a16:creationId xmlns:a16="http://schemas.microsoft.com/office/drawing/2014/main" id="{929ED7DB-1799-DC84-DA68-6F990122D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03" y="2144515"/>
            <a:ext cx="10424160" cy="640945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E45E475-A762-2B52-83B1-E64597720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84" y="2221420"/>
            <a:ext cx="10462915" cy="640945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39430" b="-33942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22960" y="568928"/>
            <a:ext cx="10972800" cy="555784"/>
            <a:chOff x="0" y="0"/>
            <a:chExt cx="14630400" cy="741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741045"/>
            </a:xfrm>
            <a:custGeom>
              <a:avLst/>
              <a:gdLst/>
              <a:ahLst/>
              <a:cxnLst/>
              <a:rect l="l" t="t" r="r" b="b"/>
              <a:pathLst>
                <a:path w="14630400" h="741045">
                  <a:moveTo>
                    <a:pt x="0" y="0"/>
                  </a:moveTo>
                  <a:lnTo>
                    <a:pt x="14630400" y="0"/>
                  </a:lnTo>
                  <a:lnTo>
                    <a:pt x="1463040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34691" b="-33469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3-4  RESULT 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56351" b="-2563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2960" y="1158716"/>
            <a:ext cx="16184880" cy="1035844"/>
            <a:chOff x="0" y="0"/>
            <a:chExt cx="21579840" cy="13811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579839" cy="1381125"/>
            </a:xfrm>
            <a:custGeom>
              <a:avLst/>
              <a:gdLst/>
              <a:ahLst/>
              <a:cxnLst/>
              <a:rect l="l" t="t" r="r" b="b"/>
              <a:pathLst>
                <a:path w="21579839" h="1381125">
                  <a:moveTo>
                    <a:pt x="0" y="0"/>
                  </a:moveTo>
                  <a:lnTo>
                    <a:pt x="21579839" y="0"/>
                  </a:lnTo>
                  <a:lnTo>
                    <a:pt x="21579839" y="1381125"/>
                  </a:lnTo>
                  <a:lnTo>
                    <a:pt x="0" y="13811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54450" b="-2544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157984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어떤 배지 성분이 가장 중요한가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52860" y="2743200"/>
            <a:ext cx="6035040" cy="5212080"/>
            <a:chOff x="0" y="0"/>
            <a:chExt cx="8046720" cy="6949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046720" cy="6949440"/>
            </a:xfrm>
            <a:custGeom>
              <a:avLst/>
              <a:gdLst/>
              <a:ahLst/>
              <a:cxnLst/>
              <a:rect l="l" t="t" r="r" b="b"/>
              <a:pathLst>
                <a:path w="8046720" h="6949440">
                  <a:moveTo>
                    <a:pt x="0" y="0"/>
                  </a:moveTo>
                  <a:lnTo>
                    <a:pt x="8046720" y="0"/>
                  </a:lnTo>
                  <a:lnTo>
                    <a:pt x="8046720" y="6949440"/>
                  </a:lnTo>
                  <a:lnTo>
                    <a:pt x="0" y="694944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864340" y="3086100"/>
            <a:ext cx="5280660" cy="685800"/>
            <a:chOff x="0" y="0"/>
            <a:chExt cx="7040880" cy="914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40880" cy="914400"/>
            </a:xfrm>
            <a:custGeom>
              <a:avLst/>
              <a:gdLst/>
              <a:ahLst/>
              <a:cxnLst/>
              <a:rect l="l" t="t" r="r" b="b"/>
              <a:pathLst>
                <a:path w="7040880" h="914400">
                  <a:moveTo>
                    <a:pt x="0" y="0"/>
                  </a:moveTo>
                  <a:lnTo>
                    <a:pt x="7040880" y="0"/>
                  </a:lnTo>
                  <a:lnTo>
                    <a:pt x="7040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9930" b="-9993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864340" y="3078956"/>
            <a:ext cx="5280660" cy="692944"/>
            <a:chOff x="0" y="0"/>
            <a:chExt cx="7040880" cy="9239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040880" cy="923925"/>
            </a:xfrm>
            <a:custGeom>
              <a:avLst/>
              <a:gdLst/>
              <a:ahLst/>
              <a:cxnLst/>
              <a:rect l="l" t="t" r="r" b="b"/>
              <a:pathLst>
                <a:path w="7040880" h="923925">
                  <a:moveTo>
                    <a:pt x="0" y="0"/>
                  </a:moveTo>
                  <a:lnTo>
                    <a:pt x="7040880" y="0"/>
                  </a:lnTo>
                  <a:lnTo>
                    <a:pt x="704088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98488" b="-9848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704088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8"/>
                </a:lnSpc>
              </a:pPr>
              <a:r>
                <a:rPr lang="en-US" sz="2400" b="1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Meat extract가 1위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864340" y="3775710"/>
            <a:ext cx="5143499" cy="3797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1718" lvl="1" indent="-205859" algn="l">
              <a:lnSpc>
                <a:spcPts val="3042"/>
              </a:lnSpc>
              <a:buFont typeface="Arial"/>
              <a:buChar char="•"/>
            </a:pP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OD600 </a:t>
            </a:r>
            <a:r>
              <a:rPr lang="en-US" sz="1950" dirty="0" err="1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예측에서</a:t>
            </a: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950" dirty="0" err="1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가장</a:t>
            </a: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950" dirty="0" err="1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높은</a:t>
            </a: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950" dirty="0" err="1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변수</a:t>
            </a: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950" dirty="0" err="1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중요도를</a:t>
            </a: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950" dirty="0" err="1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보임</a:t>
            </a: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(</a:t>
            </a:r>
            <a:r>
              <a:rPr lang="en-US" sz="1950" dirty="0" err="1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중요도</a:t>
            </a: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0.36)</a:t>
            </a:r>
          </a:p>
          <a:p>
            <a:pPr marL="411718" lvl="1" indent="-205859" algn="l">
              <a:lnSpc>
                <a:spcPts val="3042"/>
              </a:lnSpc>
              <a:buFont typeface="Arial"/>
              <a:buChar char="•"/>
            </a:pP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Yeast extract(0.28) &gt; Glucose(0.25) &gt; Peptone(0.11)</a:t>
            </a:r>
          </a:p>
          <a:p>
            <a:pPr marL="411594" lvl="1" indent="-205797" algn="l">
              <a:lnSpc>
                <a:spcPts val="3042"/>
              </a:lnSpc>
              <a:buFont typeface="Arial"/>
              <a:buChar char="•"/>
            </a:pP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20개 </a:t>
            </a:r>
            <a:r>
              <a:rPr lang="en-US" sz="1950" dirty="0" err="1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XGBoost</a:t>
            </a: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950" dirty="0" err="1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모델의</a:t>
            </a: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Feature Importance</a:t>
            </a:r>
          </a:p>
          <a:p>
            <a:pPr algn="l">
              <a:lnSpc>
                <a:spcPts val="3042"/>
              </a:lnSpc>
            </a:pP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      </a:t>
            </a:r>
            <a:r>
              <a:rPr lang="en-US" sz="1950" dirty="0" err="1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평균</a:t>
            </a: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± </a:t>
            </a:r>
            <a:r>
              <a:rPr lang="en-US" sz="1950" dirty="0" err="1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표준편차로</a:t>
            </a: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950" dirty="0" err="1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산출</a:t>
            </a:r>
            <a:endParaRPr lang="en-US" sz="1950" dirty="0">
              <a:solidFill>
                <a:srgbClr val="1A1A1A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  <a:p>
            <a:pPr algn="l">
              <a:lnSpc>
                <a:spcPts val="3042"/>
              </a:lnSpc>
            </a:pPr>
            <a:endParaRPr lang="en-US" sz="1950" dirty="0">
              <a:solidFill>
                <a:srgbClr val="1A1A1A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  <a:p>
            <a:pPr algn="l">
              <a:lnSpc>
                <a:spcPts val="3042"/>
              </a:lnSpc>
            </a:pPr>
            <a:r>
              <a:rPr lang="en-US" sz="1950" b="1" dirty="0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   → </a:t>
            </a:r>
            <a:r>
              <a:rPr lang="en-US" sz="1950" b="1" dirty="0" err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단일</a:t>
            </a:r>
            <a:r>
              <a:rPr lang="en-US" sz="1950" b="1" dirty="0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950" b="1" dirty="0" err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모델에</a:t>
            </a:r>
            <a:r>
              <a:rPr lang="en-US" sz="1950" b="1" dirty="0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950" b="1" dirty="0" err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따른</a:t>
            </a:r>
            <a:r>
              <a:rPr lang="en-US" sz="1950" b="1" dirty="0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950" b="1" dirty="0" err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변동성을</a:t>
            </a:r>
            <a:r>
              <a:rPr lang="en-US" sz="1950" b="1" dirty="0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sz="1950" b="1" dirty="0" err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완화</a:t>
            </a:r>
            <a:endParaRPr lang="en-US" sz="1950" b="1" dirty="0">
              <a:solidFill>
                <a:srgbClr val="1A1A1A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  <a:p>
            <a:pPr marL="411718" lvl="1" indent="-205859" algn="l">
              <a:lnSpc>
                <a:spcPts val="3042"/>
              </a:lnSpc>
            </a:pPr>
            <a:endParaRPr lang="en-US" sz="1950" b="1" dirty="0">
              <a:solidFill>
                <a:srgbClr val="1A1A1A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  <a:p>
            <a:pPr marL="411718" lvl="1" indent="-205859" algn="l">
              <a:lnSpc>
                <a:spcPts val="3042"/>
              </a:lnSpc>
            </a:pPr>
            <a:r>
              <a:rPr lang="en-US" sz="195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    </a:t>
            </a:r>
            <a:r>
              <a:rPr lang="en-US" sz="1950" dirty="0">
                <a:solidFill>
                  <a:srgbClr val="C7CFFF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P. megaterium </a:t>
            </a:r>
            <a:r>
              <a:rPr lang="en-US" sz="1950" dirty="0" err="1">
                <a:solidFill>
                  <a:srgbClr val="C7CFFF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배양</a:t>
            </a:r>
            <a:r>
              <a:rPr lang="en-US" sz="1950" dirty="0">
                <a:solidFill>
                  <a:srgbClr val="C7CFFF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950" dirty="0" err="1">
                <a:solidFill>
                  <a:srgbClr val="C7CFFF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데이터에</a:t>
            </a:r>
            <a:r>
              <a:rPr lang="en-US" sz="1950" dirty="0">
                <a:solidFill>
                  <a:srgbClr val="C7CFFF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1950" dirty="0" err="1">
                <a:solidFill>
                  <a:srgbClr val="C7CFFF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한정</a:t>
            </a:r>
            <a:endParaRPr lang="en-US" sz="1950" dirty="0">
              <a:solidFill>
                <a:srgbClr val="C7CFFF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414" b="-84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459200" y="9703784"/>
            <a:ext cx="1234440" cy="418624"/>
            <a:chOff x="0" y="0"/>
            <a:chExt cx="1645920" cy="55816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45920" cy="558165"/>
            </a:xfrm>
            <a:custGeom>
              <a:avLst/>
              <a:gdLst/>
              <a:ahLst/>
              <a:cxnLst/>
              <a:rect l="l" t="t" r="r" b="b"/>
              <a:pathLst>
                <a:path w="1645920" h="558165">
                  <a:moveTo>
                    <a:pt x="0" y="0"/>
                  </a:moveTo>
                  <a:lnTo>
                    <a:pt x="1645920" y="0"/>
                  </a:lnTo>
                  <a:lnTo>
                    <a:pt x="16459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457" b="-74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64592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21/32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AF9F48BA-3939-0848-8494-007268CA1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276877"/>
            <a:ext cx="7049177" cy="6729524"/>
          </a:xfrm>
          <a:prstGeom prst="rect">
            <a:avLst/>
          </a:prstGeom>
        </p:spPr>
      </p:pic>
      <p:pic>
        <p:nvPicPr>
          <p:cNvPr id="31" name="Image 0" descr="/home/claude/ppt/compare_assets/Compare_Metabolite_Yield_Scatter.png">
            <a:extLst>
              <a:ext uri="{FF2B5EF4-FFF2-40B4-BE49-F238E27FC236}">
                <a16:creationId xmlns:a16="http://schemas.microsoft.com/office/drawing/2014/main" id="{6EDDB810-28B9-F685-C2C2-D76384735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104" y="2293620"/>
            <a:ext cx="9692639" cy="6932077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39430" b="-33942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22960" y="568928"/>
            <a:ext cx="10972800" cy="555784"/>
            <a:chOff x="0" y="0"/>
            <a:chExt cx="14630400" cy="741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741045"/>
            </a:xfrm>
            <a:custGeom>
              <a:avLst/>
              <a:gdLst/>
              <a:ahLst/>
              <a:cxnLst/>
              <a:rect l="l" t="t" r="r" b="b"/>
              <a:pathLst>
                <a:path w="14630400" h="741045">
                  <a:moveTo>
                    <a:pt x="0" y="0"/>
                  </a:moveTo>
                  <a:lnTo>
                    <a:pt x="14630400" y="0"/>
                  </a:lnTo>
                  <a:lnTo>
                    <a:pt x="1463040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34691" b="-33469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3-4  RESULT 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56351" b="-2563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2960" y="1158716"/>
            <a:ext cx="16184880" cy="1035844"/>
            <a:chOff x="0" y="0"/>
            <a:chExt cx="21579840" cy="13811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579839" cy="1381125"/>
            </a:xfrm>
            <a:custGeom>
              <a:avLst/>
              <a:gdLst/>
              <a:ahLst/>
              <a:cxnLst/>
              <a:rect l="l" t="t" r="r" b="b"/>
              <a:pathLst>
                <a:path w="21579839" h="1381125">
                  <a:moveTo>
                    <a:pt x="0" y="0"/>
                  </a:moveTo>
                  <a:lnTo>
                    <a:pt x="21579839" y="0"/>
                  </a:lnTo>
                  <a:lnTo>
                    <a:pt x="21579839" y="1381125"/>
                  </a:lnTo>
                  <a:lnTo>
                    <a:pt x="0" y="13811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54450" b="-2544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157984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원자료 분포로 다시 확인하기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414" b="-84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459200" y="9703784"/>
            <a:ext cx="1234440" cy="418624"/>
            <a:chOff x="0" y="0"/>
            <a:chExt cx="1645920" cy="55816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45920" cy="558165"/>
            </a:xfrm>
            <a:custGeom>
              <a:avLst/>
              <a:gdLst/>
              <a:ahLst/>
              <a:cxnLst/>
              <a:rect l="l" t="t" r="r" b="b"/>
              <a:pathLst>
                <a:path w="1645920" h="558165">
                  <a:moveTo>
                    <a:pt x="0" y="0"/>
                  </a:moveTo>
                  <a:lnTo>
                    <a:pt x="1645920" y="0"/>
                  </a:lnTo>
                  <a:lnTo>
                    <a:pt x="16459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457" b="-74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164592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22/32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430" b="-33942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22960" y="568928"/>
            <a:ext cx="10972800" cy="555784"/>
            <a:chOff x="0" y="0"/>
            <a:chExt cx="14630400" cy="741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741045"/>
            </a:xfrm>
            <a:custGeom>
              <a:avLst/>
              <a:gdLst/>
              <a:ahLst/>
              <a:cxnLst/>
              <a:rect l="l" t="t" r="r" b="b"/>
              <a:pathLst>
                <a:path w="14630400" h="741045">
                  <a:moveTo>
                    <a:pt x="0" y="0"/>
                  </a:moveTo>
                  <a:lnTo>
                    <a:pt x="14630400" y="0"/>
                  </a:lnTo>
                  <a:lnTo>
                    <a:pt x="1463040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4691" b="-33469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3-4  RESULT 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351" b="-2563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2960" y="1158716"/>
            <a:ext cx="16184880" cy="1035844"/>
            <a:chOff x="0" y="0"/>
            <a:chExt cx="21579840" cy="13811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579839" cy="1381125"/>
            </a:xfrm>
            <a:custGeom>
              <a:avLst/>
              <a:gdLst/>
              <a:ahLst/>
              <a:cxnLst/>
              <a:rect l="l" t="t" r="r" b="b"/>
              <a:pathLst>
                <a:path w="21579839" h="1381125">
                  <a:moveTo>
                    <a:pt x="0" y="0"/>
                  </a:moveTo>
                  <a:lnTo>
                    <a:pt x="21579839" y="0"/>
                  </a:lnTo>
                  <a:lnTo>
                    <a:pt x="21579839" y="1381125"/>
                  </a:lnTo>
                  <a:lnTo>
                    <a:pt x="0" y="13811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4450" b="-2544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157984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예측 최적 배지 조성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5800" y="2947340"/>
            <a:ext cx="6309360" cy="5280660"/>
            <a:chOff x="0" y="0"/>
            <a:chExt cx="8412480" cy="7040880"/>
          </a:xfrm>
        </p:grpSpPr>
        <p:sp>
          <p:nvSpPr>
            <p:cNvPr id="13" name="Freeform 13" descr="/home/claude/ppt/assets/predicted_vs_observed.png"/>
            <p:cNvSpPr/>
            <p:nvPr/>
          </p:nvSpPr>
          <p:spPr>
            <a:xfrm>
              <a:off x="0" y="0"/>
              <a:ext cx="8412480" cy="7040880"/>
            </a:xfrm>
            <a:custGeom>
              <a:avLst/>
              <a:gdLst/>
              <a:ahLst/>
              <a:cxnLst/>
              <a:rect l="l" t="t" r="r" b="b"/>
              <a:pathLst>
                <a:path w="8412480" h="7040880">
                  <a:moveTo>
                    <a:pt x="0" y="0"/>
                  </a:moveTo>
                  <a:lnTo>
                    <a:pt x="8412480" y="0"/>
                  </a:lnTo>
                  <a:lnTo>
                    <a:pt x="8412480" y="7040880"/>
                  </a:lnTo>
                  <a:lnTo>
                    <a:pt x="0" y="704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45" r="-94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7338060" y="3198965"/>
          <a:ext cx="10096500" cy="2336800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Peptone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Meat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Yeast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Glucose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1">
                          <a:solidFill>
                            <a:srgbClr val="FFFFFF"/>
                          </a:solidFill>
                          <a:latin typeface="프리텐다드 Bold"/>
                          <a:ea typeface="프리텐다드 Bold"/>
                          <a:cs typeface="프리텐다드 Bold"/>
                          <a:sym typeface="프리텐다드 Bold"/>
                        </a:rPr>
                        <a:t>예측 OD600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5.0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9.92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1.68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60.0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0.854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5.0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9.92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0.96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60.0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0.854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5.0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10.72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2.24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60.0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A1A1A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0.854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5" name="Group 15"/>
          <p:cNvGrpSpPr/>
          <p:nvPr/>
        </p:nvGrpSpPr>
        <p:grpSpPr>
          <a:xfrm>
            <a:off x="7338060" y="5621960"/>
            <a:ext cx="10149840" cy="548640"/>
            <a:chOff x="0" y="0"/>
            <a:chExt cx="13533120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533120" cy="731520"/>
            </a:xfrm>
            <a:custGeom>
              <a:avLst/>
              <a:gdLst/>
              <a:ahLst/>
              <a:cxnLst/>
              <a:rect l="l" t="t" r="r" b="b"/>
              <a:pathLst>
                <a:path w="13533120" h="731520">
                  <a:moveTo>
                    <a:pt x="0" y="0"/>
                  </a:moveTo>
                  <a:lnTo>
                    <a:pt x="13533120" y="0"/>
                  </a:lnTo>
                  <a:lnTo>
                    <a:pt x="13533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0222" b="-31022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38060" y="5614816"/>
            <a:ext cx="10149840" cy="555784"/>
            <a:chOff x="0" y="0"/>
            <a:chExt cx="13533120" cy="74104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533120" cy="741045"/>
            </a:xfrm>
            <a:custGeom>
              <a:avLst/>
              <a:gdLst/>
              <a:ahLst/>
              <a:cxnLst/>
              <a:rect l="l" t="t" r="r" b="b"/>
              <a:pathLst>
                <a:path w="13533120" h="741045">
                  <a:moveTo>
                    <a:pt x="0" y="0"/>
                  </a:moveTo>
                  <a:lnTo>
                    <a:pt x="13533120" y="0"/>
                  </a:lnTo>
                  <a:lnTo>
                    <a:pt x="1353312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5839" b="-30583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35331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예측 최적 조건: Glucose 최댓값(60) + Yeast 낮음(1–2대) + Meat 중간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338060" y="6444920"/>
            <a:ext cx="10149840" cy="2426360"/>
            <a:chOff x="0" y="0"/>
            <a:chExt cx="13533120" cy="323514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533120" cy="3235198"/>
            </a:xfrm>
            <a:custGeom>
              <a:avLst/>
              <a:gdLst/>
              <a:ahLst/>
              <a:cxnLst/>
              <a:rect l="l" t="t" r="r" b="b"/>
              <a:pathLst>
                <a:path w="13533120" h="3235198">
                  <a:moveTo>
                    <a:pt x="0" y="0"/>
                  </a:moveTo>
                  <a:lnTo>
                    <a:pt x="13533120" y="0"/>
                  </a:lnTo>
                  <a:lnTo>
                    <a:pt x="13533120" y="3235198"/>
                  </a:lnTo>
                  <a:lnTo>
                    <a:pt x="0" y="3235198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749540" y="6694475"/>
            <a:ext cx="5486400" cy="548640"/>
            <a:chOff x="0" y="0"/>
            <a:chExt cx="7315200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15200" cy="731520"/>
            </a:xfrm>
            <a:custGeom>
              <a:avLst/>
              <a:gdLst/>
              <a:ahLst/>
              <a:cxnLst/>
              <a:rect l="l" t="t" r="r" b="b"/>
              <a:pathLst>
                <a:path w="7315200" h="73152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715" b="-14471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749540" y="6687331"/>
            <a:ext cx="5486400" cy="555784"/>
            <a:chOff x="0" y="0"/>
            <a:chExt cx="7315200" cy="74104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315200" cy="741045"/>
            </a:xfrm>
            <a:custGeom>
              <a:avLst/>
              <a:gdLst/>
              <a:ahLst/>
              <a:cxnLst/>
              <a:rect l="l" t="t" r="r" b="b"/>
              <a:pathLst>
                <a:path w="7315200" h="741045">
                  <a:moveTo>
                    <a:pt x="0" y="0"/>
                  </a:moveTo>
                  <a:lnTo>
                    <a:pt x="7315200" y="0"/>
                  </a:lnTo>
                  <a:lnTo>
                    <a:pt x="731520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2345" b="-14234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73152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해석 포인트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749540" y="7262165"/>
            <a:ext cx="9464040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5883" lvl="1" indent="-197941" algn="l">
              <a:lnSpc>
                <a:spcPts val="2925"/>
              </a:lnSpc>
              <a:buFont typeface="Arial"/>
              <a:buChar char="•"/>
            </a:pPr>
            <a:r>
              <a:rPr lang="en-US" sz="1875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모델 예측 최댓값(0.854)이 실측 최고값(0.879)을 넘지 못함</a:t>
            </a:r>
          </a:p>
          <a:p>
            <a:pPr marL="395883" lvl="1" indent="-197941" algn="l">
              <a:lnSpc>
                <a:spcPts val="2925"/>
              </a:lnSpc>
              <a:buFont typeface="Arial"/>
              <a:buChar char="•"/>
            </a:pPr>
            <a:r>
              <a:rPr lang="en-US" sz="1875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학습 데이터가 12개로 제한, 현재 학습 데이터 범위에서는 예측 최댓값이 실측 최고값보다 낮음</a:t>
            </a:r>
          </a:p>
          <a:p>
            <a:pPr marL="395883" lvl="1" indent="-197941" algn="l">
              <a:lnSpc>
                <a:spcPts val="2925"/>
              </a:lnSpc>
              <a:buFont typeface="Arial"/>
              <a:buChar char="•"/>
            </a:pPr>
            <a:r>
              <a:rPr lang="en-US" sz="1875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추가 라운드로 데이터가 쌓이면 개선 여지가 있음 (향후 연구 방향)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14" b="-84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459200" y="9703784"/>
            <a:ext cx="1234440" cy="418624"/>
            <a:chOff x="0" y="0"/>
            <a:chExt cx="1645920" cy="55816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645920" cy="558165"/>
            </a:xfrm>
            <a:custGeom>
              <a:avLst/>
              <a:gdLst/>
              <a:ahLst/>
              <a:cxnLst/>
              <a:rect l="l" t="t" r="r" b="b"/>
              <a:pathLst>
                <a:path w="1645920" h="558165">
                  <a:moveTo>
                    <a:pt x="0" y="0"/>
                  </a:moveTo>
                  <a:lnTo>
                    <a:pt x="1645920" y="0"/>
                  </a:lnTo>
                  <a:lnTo>
                    <a:pt x="16459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457" b="-74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164592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23/32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/home/claude/ppt/compare_assets/Compare_Interactions.png">
            <a:extLst>
              <a:ext uri="{FF2B5EF4-FFF2-40B4-BE49-F238E27FC236}">
                <a16:creationId xmlns:a16="http://schemas.microsoft.com/office/drawing/2014/main" id="{19F3D784-325D-AB0C-3112-2881B179D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121" y="1349839"/>
            <a:ext cx="14867519" cy="6012361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430" b="-33942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22960" y="568928"/>
            <a:ext cx="10972800" cy="555784"/>
            <a:chOff x="0" y="0"/>
            <a:chExt cx="14630400" cy="741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741045"/>
            </a:xfrm>
            <a:custGeom>
              <a:avLst/>
              <a:gdLst/>
              <a:ahLst/>
              <a:cxnLst/>
              <a:rect l="l" t="t" r="r" b="b"/>
              <a:pathLst>
                <a:path w="14630400" h="741045">
                  <a:moveTo>
                    <a:pt x="0" y="0"/>
                  </a:moveTo>
                  <a:lnTo>
                    <a:pt x="14630400" y="0"/>
                  </a:lnTo>
                  <a:lnTo>
                    <a:pt x="1463040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34691" b="-33469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3-4  RESULT 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6351" b="-2563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8800" y="5932169"/>
            <a:ext cx="16659080" cy="3891253"/>
            <a:chOff x="-11605067" y="457200"/>
            <a:chExt cx="22212107" cy="5188337"/>
          </a:xfrm>
        </p:grpSpPr>
        <p:grpSp>
          <p:nvGrpSpPr>
            <p:cNvPr id="15" name="Group 15"/>
            <p:cNvGrpSpPr/>
            <p:nvPr/>
          </p:nvGrpSpPr>
          <p:grpSpPr>
            <a:xfrm>
              <a:off x="-11605067" y="2618041"/>
              <a:ext cx="21990931" cy="3027496"/>
              <a:chOff x="-11605067" y="2618041"/>
              <a:chExt cx="21990931" cy="302749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11605067" y="2618041"/>
                <a:ext cx="21990931" cy="3027496"/>
              </a:xfrm>
              <a:custGeom>
                <a:avLst/>
                <a:gdLst/>
                <a:ahLst/>
                <a:cxnLst/>
                <a:rect l="l" t="t" r="r" b="b"/>
                <a:pathLst>
                  <a:path w="10789920" h="5097249">
                    <a:moveTo>
                      <a:pt x="0" y="0"/>
                    </a:moveTo>
                    <a:lnTo>
                      <a:pt x="10789920" y="0"/>
                    </a:lnTo>
                    <a:lnTo>
                      <a:pt x="10789920" y="5097249"/>
                    </a:lnTo>
                    <a:lnTo>
                      <a:pt x="0" y="5097249"/>
                    </a:lnTo>
                    <a:close/>
                  </a:path>
                </a:pathLst>
              </a:custGeom>
              <a:solidFill>
                <a:srgbClr val="EEF1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548640" y="457200"/>
              <a:ext cx="10058400" cy="914400"/>
              <a:chOff x="0" y="0"/>
              <a:chExt cx="10058400" cy="914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0058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10058400" h="914400">
                    <a:moveTo>
                      <a:pt x="0" y="0"/>
                    </a:moveTo>
                    <a:lnTo>
                      <a:pt x="10058400" y="0"/>
                    </a:lnTo>
                    <a:lnTo>
                      <a:pt x="10058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164186" b="-164186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-11379200" y="2648521"/>
              <a:ext cx="10058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dirty="0" err="1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Peptone의</a:t>
              </a:r>
              <a:r>
                <a:rPr lang="en-US" sz="2400" b="1" dirty="0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</a:t>
              </a:r>
              <a:r>
                <a:rPr lang="en-US" sz="2400" b="1" dirty="0" err="1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숨은</a:t>
              </a:r>
              <a:r>
                <a:rPr lang="en-US" sz="2400" b="1" dirty="0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</a:t>
              </a:r>
              <a:r>
                <a:rPr lang="en-US" sz="2400" b="1" dirty="0" err="1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역할</a:t>
              </a:r>
              <a:endParaRPr lang="en-US" sz="2400" b="1" dirty="0">
                <a:solidFill>
                  <a:srgbClr val="1E36C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-10995464" y="3710465"/>
              <a:ext cx="14575694" cy="16691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96939" lvl="1" indent="-198470" algn="l">
                <a:lnSpc>
                  <a:spcPct val="150000"/>
                </a:lnSpc>
                <a:buFont typeface="Arial"/>
                <a:buChar char="•"/>
              </a:pPr>
              <a:r>
                <a:rPr lang="en-US" sz="1880" dirty="0" err="1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Peptone은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80" dirty="0" err="1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단독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80" dirty="0" err="1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중요도는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80" dirty="0" err="1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낮음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(11%, 4개 중 4위)</a:t>
              </a:r>
            </a:p>
            <a:p>
              <a:pPr marL="396820" lvl="1" indent="-198410" algn="l">
                <a:lnSpc>
                  <a:spcPct val="150000"/>
                </a:lnSpc>
                <a:buFont typeface="Arial"/>
                <a:buChar char="•"/>
              </a:pPr>
              <a:r>
                <a:rPr lang="en-US" sz="1880" dirty="0" err="1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그러나</a:t>
              </a:r>
              <a:r>
                <a:rPr lang="en-US" sz="1880" b="1" dirty="0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Meat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(+0.146), </a:t>
              </a:r>
              <a:r>
                <a:rPr lang="en-US" sz="1880" b="1" dirty="0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Glucose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(+0.143)</a:t>
              </a:r>
              <a:r>
                <a:rPr lang="en-US" sz="1880" dirty="0" err="1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와의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80" dirty="0" err="1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상호작용은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6개 </a:t>
              </a:r>
              <a:r>
                <a:rPr lang="en-US" sz="1880" dirty="0" err="1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조합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중 </a:t>
              </a:r>
              <a:r>
                <a:rPr lang="en-US" sz="1880" b="1" dirty="0" err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가장</a:t>
              </a:r>
              <a:r>
                <a:rPr lang="en-US" sz="1880" b="1" dirty="0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</a:t>
              </a:r>
              <a:r>
                <a:rPr lang="en-US" sz="1880" b="1" dirty="0" err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강함</a:t>
              </a:r>
              <a:endParaRPr lang="en-US" sz="1880" b="1" dirty="0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endParaRPr>
            </a:p>
            <a:p>
              <a:pPr algn="l">
                <a:lnSpc>
                  <a:spcPct val="150000"/>
                </a:lnSpc>
              </a:pP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 </a:t>
              </a:r>
              <a:r>
                <a:rPr lang="en-US" sz="1880" b="1" dirty="0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→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80" dirty="0" err="1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Peptone의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80" dirty="0" err="1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영향은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Meat &amp; Glucose </a:t>
              </a:r>
              <a:r>
                <a:rPr lang="en-US" sz="1880" dirty="0" err="1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와의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80" dirty="0" err="1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조합에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80" dirty="0" err="1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따라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80" dirty="0" err="1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달라질</a:t>
              </a:r>
              <a:r>
                <a:rPr lang="en-US" sz="1880" dirty="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880" dirty="0" err="1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가능성</a:t>
              </a:r>
              <a:endParaRPr lang="en-US" sz="1880" dirty="0">
                <a:solidFill>
                  <a:srgbClr val="1A1A1A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414" b="-84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459200" y="9703784"/>
            <a:ext cx="1234440" cy="418624"/>
            <a:chOff x="0" y="0"/>
            <a:chExt cx="1645920" cy="55816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45920" cy="558165"/>
            </a:xfrm>
            <a:custGeom>
              <a:avLst/>
              <a:gdLst/>
              <a:ahLst/>
              <a:cxnLst/>
              <a:rect l="l" t="t" r="r" b="b"/>
              <a:pathLst>
                <a:path w="1645920" h="558165">
                  <a:moveTo>
                    <a:pt x="0" y="0"/>
                  </a:moveTo>
                  <a:lnTo>
                    <a:pt x="1645920" y="0"/>
                  </a:lnTo>
                  <a:lnTo>
                    <a:pt x="16459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457" b="-74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164592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24/32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2960" y="1158716"/>
            <a:ext cx="16184880" cy="1035844"/>
            <a:chOff x="0" y="0"/>
            <a:chExt cx="21579840" cy="1381125"/>
          </a:xfrm>
          <a:solidFill>
            <a:schemeClr val="bg1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579839" cy="1381125"/>
            </a:xfrm>
            <a:custGeom>
              <a:avLst/>
              <a:gdLst/>
              <a:ahLst/>
              <a:cxnLst/>
              <a:rect l="l" t="t" r="r" b="b"/>
              <a:pathLst>
                <a:path w="21579839" h="1381125">
                  <a:moveTo>
                    <a:pt x="0" y="0"/>
                  </a:moveTo>
                  <a:lnTo>
                    <a:pt x="21579839" y="0"/>
                  </a:lnTo>
                  <a:lnTo>
                    <a:pt x="21579839" y="1381125"/>
                  </a:lnTo>
                  <a:lnTo>
                    <a:pt x="0" y="138112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1579840" cy="139065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배지 성분 간 pairwise interaction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3-5  LIMITATIONS &amp; NEXT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한계 및 향후 계획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939415"/>
            <a:ext cx="16683990" cy="4956810"/>
            <a:chOff x="0" y="0"/>
            <a:chExt cx="22245320" cy="660908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7066280" cy="6609080"/>
              <a:chOff x="0" y="0"/>
              <a:chExt cx="7066280" cy="66090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066280" cy="6609080"/>
              </a:xfrm>
              <a:custGeom>
                <a:avLst/>
                <a:gdLst/>
                <a:ahLst/>
                <a:cxnLst/>
                <a:rect l="l" t="t" r="r" b="b"/>
                <a:pathLst>
                  <a:path w="7066280" h="6609080">
                    <a:moveTo>
                      <a:pt x="0" y="0"/>
                    </a:moveTo>
                    <a:lnTo>
                      <a:pt x="7066280" y="0"/>
                    </a:lnTo>
                    <a:lnTo>
                      <a:pt x="7066280" y="6609080"/>
                    </a:lnTo>
                    <a:lnTo>
                      <a:pt x="0" y="660908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3E6F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561340" y="314960"/>
              <a:ext cx="914400" cy="914400"/>
              <a:chOff x="0" y="0"/>
              <a:chExt cx="914400" cy="914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457200"/>
                    </a:moveTo>
                    <a:cubicBezTo>
                      <a:pt x="0" y="204724"/>
                      <a:pt x="204724" y="0"/>
                      <a:pt x="457200" y="0"/>
                    </a:cubicBezTo>
                    <a:cubicBezTo>
                      <a:pt x="709676" y="0"/>
                      <a:pt x="914400" y="204724"/>
                      <a:pt x="914400" y="457200"/>
                    </a:cubicBezTo>
                    <a:cubicBezTo>
                      <a:pt x="914400" y="709676"/>
                      <a:pt x="709676" y="914400"/>
                      <a:pt x="457200" y="914400"/>
                    </a:cubicBezTo>
                    <a:cubicBezTo>
                      <a:pt x="204724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2B4A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561340" y="314960"/>
              <a:ext cx="914400" cy="914400"/>
              <a:chOff x="0" y="0"/>
              <a:chExt cx="914400" cy="9144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9525"/>
                <a:ext cx="914400" cy="9239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1">
                    <a:solidFill>
                      <a:srgbClr val="FFFFFF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1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561340" y="1841500"/>
              <a:ext cx="5943600" cy="1097280"/>
              <a:chOff x="0" y="0"/>
              <a:chExt cx="5943600" cy="109728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943600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5943600" h="1097280">
                    <a:moveTo>
                      <a:pt x="0" y="0"/>
                    </a:moveTo>
                    <a:lnTo>
                      <a:pt x="5943600" y="0"/>
                    </a:lnTo>
                    <a:lnTo>
                      <a:pt x="594360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5543" b="-55543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9525"/>
                <a:ext cx="5943600" cy="110680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1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표본 수의 한계</a:t>
                </a: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561340" y="2944495"/>
              <a:ext cx="5943600" cy="198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1875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학습 데이터</a:t>
              </a: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가 </a:t>
              </a:r>
              <a:r>
                <a:rPr lang="en-US" sz="1875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12</a:t>
              </a: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개로 적어, </a:t>
              </a:r>
            </a:p>
            <a:p>
              <a:pPr algn="l">
                <a:lnSpc>
                  <a:spcPts val="3037"/>
                </a:lnSpc>
              </a:pP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K-Most-Informative 등 </a:t>
              </a:r>
            </a:p>
            <a:p>
              <a:pPr algn="l">
                <a:lnSpc>
                  <a:spcPts val="3037"/>
                </a:lnSpc>
              </a:pP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일부 분석은 신뢰도가 </a:t>
              </a:r>
              <a:r>
                <a:rPr lang="en-US" sz="1875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제한적</a:t>
              </a:r>
            </a:p>
            <a:p>
              <a:pPr algn="l">
                <a:lnSpc>
                  <a:spcPts val="3037"/>
                </a:lnSpc>
              </a:pP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(참고용으로만 활용)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589520" y="0"/>
              <a:ext cx="7066280" cy="6609080"/>
              <a:chOff x="0" y="0"/>
              <a:chExt cx="7066280" cy="6609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066280" cy="6609080"/>
              </a:xfrm>
              <a:custGeom>
                <a:avLst/>
                <a:gdLst/>
                <a:ahLst/>
                <a:cxnLst/>
                <a:rect l="l" t="t" r="r" b="b"/>
                <a:pathLst>
                  <a:path w="7066280" h="6609080">
                    <a:moveTo>
                      <a:pt x="0" y="0"/>
                    </a:moveTo>
                    <a:lnTo>
                      <a:pt x="7066280" y="0"/>
                    </a:lnTo>
                    <a:lnTo>
                      <a:pt x="7066280" y="6609080"/>
                    </a:lnTo>
                    <a:lnTo>
                      <a:pt x="0" y="660908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3E6F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150860" y="561340"/>
              <a:ext cx="914400" cy="914400"/>
              <a:chOff x="0" y="0"/>
              <a:chExt cx="914400" cy="9144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457200"/>
                    </a:moveTo>
                    <a:cubicBezTo>
                      <a:pt x="0" y="204724"/>
                      <a:pt x="204724" y="0"/>
                      <a:pt x="457200" y="0"/>
                    </a:cubicBezTo>
                    <a:cubicBezTo>
                      <a:pt x="709676" y="0"/>
                      <a:pt x="914400" y="204724"/>
                      <a:pt x="914400" y="457200"/>
                    </a:cubicBezTo>
                    <a:cubicBezTo>
                      <a:pt x="914400" y="709676"/>
                      <a:pt x="709676" y="914400"/>
                      <a:pt x="457200" y="914400"/>
                    </a:cubicBezTo>
                    <a:cubicBezTo>
                      <a:pt x="204724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2B4A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150860" y="561340"/>
              <a:ext cx="914400" cy="914400"/>
              <a:chOff x="0" y="0"/>
              <a:chExt cx="914400" cy="9144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9525"/>
                <a:ext cx="914400" cy="9239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1">
                    <a:solidFill>
                      <a:srgbClr val="FFFFFF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2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150860" y="1841500"/>
              <a:ext cx="5943600" cy="1097280"/>
              <a:chOff x="0" y="0"/>
              <a:chExt cx="5943600" cy="109728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943600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5943600" h="1097280">
                    <a:moveTo>
                      <a:pt x="0" y="0"/>
                    </a:moveTo>
                    <a:lnTo>
                      <a:pt x="5943600" y="0"/>
                    </a:lnTo>
                    <a:lnTo>
                      <a:pt x="594360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5543" b="-55543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9525"/>
                <a:ext cx="5943600" cy="110680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1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예측 성능의 한계</a:t>
                </a: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8150860" y="2944495"/>
              <a:ext cx="5943600" cy="1476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모델 예측 최적값(0.854)이 </a:t>
              </a:r>
            </a:p>
            <a:p>
              <a:pPr algn="l">
                <a:lnSpc>
                  <a:spcPts val="3037"/>
                </a:lnSpc>
              </a:pP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실측 최고값(0.879)에 못 미침 </a:t>
              </a:r>
            </a:p>
            <a:p>
              <a:pPr algn="l">
                <a:lnSpc>
                  <a:spcPts val="3037"/>
                </a:lnSpc>
              </a:pP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— 추가 라운드 데이터로 개선 여지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5179040" y="0"/>
              <a:ext cx="7066280" cy="6609080"/>
              <a:chOff x="0" y="0"/>
              <a:chExt cx="7066280" cy="660908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7066280" cy="6609080"/>
              </a:xfrm>
              <a:custGeom>
                <a:avLst/>
                <a:gdLst/>
                <a:ahLst/>
                <a:cxnLst/>
                <a:rect l="l" t="t" r="r" b="b"/>
                <a:pathLst>
                  <a:path w="7066280" h="6609080">
                    <a:moveTo>
                      <a:pt x="0" y="0"/>
                    </a:moveTo>
                    <a:lnTo>
                      <a:pt x="7066280" y="0"/>
                    </a:lnTo>
                    <a:lnTo>
                      <a:pt x="7066280" y="6609080"/>
                    </a:lnTo>
                    <a:lnTo>
                      <a:pt x="0" y="660908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3E6F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5740380" y="561340"/>
              <a:ext cx="914400" cy="914400"/>
              <a:chOff x="0" y="0"/>
              <a:chExt cx="914400" cy="9144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457200"/>
                    </a:moveTo>
                    <a:cubicBezTo>
                      <a:pt x="0" y="204724"/>
                      <a:pt x="204724" y="0"/>
                      <a:pt x="457200" y="0"/>
                    </a:cubicBezTo>
                    <a:cubicBezTo>
                      <a:pt x="709676" y="0"/>
                      <a:pt x="914400" y="204724"/>
                      <a:pt x="914400" y="457200"/>
                    </a:cubicBezTo>
                    <a:cubicBezTo>
                      <a:pt x="914400" y="709676"/>
                      <a:pt x="709676" y="914400"/>
                      <a:pt x="457200" y="914400"/>
                    </a:cubicBezTo>
                    <a:cubicBezTo>
                      <a:pt x="204724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2B4A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5740380" y="561340"/>
              <a:ext cx="914400" cy="914400"/>
              <a:chOff x="0" y="0"/>
              <a:chExt cx="914400" cy="9144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9525"/>
                <a:ext cx="914400" cy="9239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1">
                    <a:solidFill>
                      <a:srgbClr val="FFFFFF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3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15740380" y="1831975"/>
              <a:ext cx="5943600" cy="1106805"/>
              <a:chOff x="0" y="-9525"/>
              <a:chExt cx="5943600" cy="110680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5943600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5943600" h="1097280">
                    <a:moveTo>
                      <a:pt x="0" y="0"/>
                    </a:moveTo>
                    <a:lnTo>
                      <a:pt x="5943600" y="0"/>
                    </a:lnTo>
                    <a:lnTo>
                      <a:pt x="594360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5543" b="-55543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9525"/>
                <a:ext cx="5943600" cy="110680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1" dirty="0" err="1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다음</a:t>
                </a:r>
                <a:r>
                  <a:rPr lang="en-US" sz="2400" b="1" dirty="0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 </a:t>
                </a:r>
                <a:r>
                  <a:rPr lang="en-US" sz="2400" b="1" dirty="0" err="1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라운드</a:t>
                </a:r>
                <a:r>
                  <a:rPr lang="en-US" sz="2400" b="1" dirty="0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 </a:t>
                </a:r>
                <a:r>
                  <a:rPr lang="en-US" sz="2400" b="1" dirty="0" err="1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후보</a:t>
                </a:r>
                <a:r>
                  <a:rPr lang="en-US" sz="2400" b="1" dirty="0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 </a:t>
                </a:r>
                <a:r>
                  <a:rPr lang="en-US" sz="2400" b="1" dirty="0" err="1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도출</a:t>
                </a:r>
                <a:endParaRPr lang="en-US" sz="2400" b="1" dirty="0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endParaRP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5740380" y="2944495"/>
              <a:ext cx="5675222" cy="198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Active learning 기반 </a:t>
              </a:r>
            </a:p>
            <a:p>
              <a:pPr algn="l">
                <a:lnSpc>
                  <a:spcPts val="3037"/>
                </a:lnSpc>
              </a:pPr>
              <a:r>
                <a:rPr lang="en-US" sz="1875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다음 라운드 탐색 조합</a:t>
              </a: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4개 </a:t>
              </a:r>
              <a:r>
                <a:rPr lang="en-US" sz="1875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제안</a:t>
              </a:r>
            </a:p>
            <a:p>
              <a:pPr algn="l">
                <a:lnSpc>
                  <a:spcPts val="3037"/>
                </a:lnSpc>
              </a:pP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— 시간 제약으로 습식 실험은 미실행, </a:t>
              </a:r>
            </a:p>
            <a:p>
              <a:pPr algn="l">
                <a:lnSpc>
                  <a:spcPts val="3037"/>
                </a:lnSpc>
              </a:pP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    향후 연구로 제안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25/32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3-5  WRAP-UP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AI 스케일업 — 요약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891028"/>
            <a:ext cx="16596360" cy="1577340"/>
            <a:chOff x="0" y="0"/>
            <a:chExt cx="22128480" cy="2103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28480" cy="2103120"/>
            </a:xfrm>
            <a:custGeom>
              <a:avLst/>
              <a:gdLst/>
              <a:ahLst/>
              <a:cxnLst/>
              <a:rect l="l" t="t" r="r" b="b"/>
              <a:pathLst>
                <a:path w="22128480" h="2103120">
                  <a:moveTo>
                    <a:pt x="0" y="0"/>
                  </a:moveTo>
                  <a:lnTo>
                    <a:pt x="22128480" y="0"/>
                  </a:lnTo>
                  <a:lnTo>
                    <a:pt x="2212848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34440" y="3233928"/>
            <a:ext cx="891540" cy="891540"/>
            <a:chOff x="0" y="0"/>
            <a:chExt cx="1188720" cy="11887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2B4A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34440" y="3233928"/>
            <a:ext cx="891540" cy="891540"/>
            <a:chOff x="0" y="0"/>
            <a:chExt cx="1188720" cy="11887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188720" cy="11982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537460" y="2959608"/>
            <a:ext cx="14538960" cy="1440180"/>
            <a:chOff x="0" y="0"/>
            <a:chExt cx="19385280" cy="19202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385280" cy="1920240"/>
            </a:xfrm>
            <a:custGeom>
              <a:avLst/>
              <a:gdLst/>
              <a:ahLst/>
              <a:cxnLst/>
              <a:rect l="l" t="t" r="r" b="b"/>
              <a:pathLst>
                <a:path w="19385280" h="1920240">
                  <a:moveTo>
                    <a:pt x="0" y="0"/>
                  </a:moveTo>
                  <a:lnTo>
                    <a:pt x="19385280" y="0"/>
                  </a:lnTo>
                  <a:lnTo>
                    <a:pt x="193852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706" b="-14670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9385280" cy="1920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Meat extract </a:t>
              </a:r>
              <a:r>
                <a:rPr lang="en-US" sz="2325" b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가 가장 높은 Feature Importance를 보임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22960" y="4811268"/>
            <a:ext cx="16596360" cy="1577340"/>
            <a:chOff x="0" y="0"/>
            <a:chExt cx="22128480" cy="21031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128480" cy="2103120"/>
            </a:xfrm>
            <a:custGeom>
              <a:avLst/>
              <a:gdLst/>
              <a:ahLst/>
              <a:cxnLst/>
              <a:rect l="l" t="t" r="r" b="b"/>
              <a:pathLst>
                <a:path w="22128480" h="2103120">
                  <a:moveTo>
                    <a:pt x="0" y="0"/>
                  </a:moveTo>
                  <a:lnTo>
                    <a:pt x="22128480" y="0"/>
                  </a:lnTo>
                  <a:lnTo>
                    <a:pt x="2212848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34440" y="5154168"/>
            <a:ext cx="891540" cy="891540"/>
            <a:chOff x="0" y="0"/>
            <a:chExt cx="1188720" cy="11887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2B4A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34440" y="5154168"/>
            <a:ext cx="891540" cy="891540"/>
            <a:chOff x="0" y="0"/>
            <a:chExt cx="1188720" cy="11887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188720" cy="11982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537460" y="4879848"/>
            <a:ext cx="14538960" cy="1440180"/>
            <a:chOff x="0" y="0"/>
            <a:chExt cx="19385280" cy="19202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385280" cy="1920240"/>
            </a:xfrm>
            <a:custGeom>
              <a:avLst/>
              <a:gdLst/>
              <a:ahLst/>
              <a:cxnLst/>
              <a:rect l="l" t="t" r="r" b="b"/>
              <a:pathLst>
                <a:path w="19385280" h="1920240">
                  <a:moveTo>
                    <a:pt x="0" y="0"/>
                  </a:moveTo>
                  <a:lnTo>
                    <a:pt x="19385280" y="0"/>
                  </a:lnTo>
                  <a:lnTo>
                    <a:pt x="193852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706" b="-14670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19385280" cy="1920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예측 최적 조성은 Glucose 를 최댓값으로 — 실측 최고값(0.879)에 근접(0.854), 다만 예측 최댓값은 실측치보다 낮음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22960" y="6731508"/>
            <a:ext cx="16596360" cy="1577340"/>
            <a:chOff x="0" y="0"/>
            <a:chExt cx="22128480" cy="21031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128480" cy="2103120"/>
            </a:xfrm>
            <a:custGeom>
              <a:avLst/>
              <a:gdLst/>
              <a:ahLst/>
              <a:cxnLst/>
              <a:rect l="l" t="t" r="r" b="b"/>
              <a:pathLst>
                <a:path w="22128480" h="2103120">
                  <a:moveTo>
                    <a:pt x="0" y="0"/>
                  </a:moveTo>
                  <a:lnTo>
                    <a:pt x="22128480" y="0"/>
                  </a:lnTo>
                  <a:lnTo>
                    <a:pt x="22128480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34440" y="7074408"/>
            <a:ext cx="891540" cy="891540"/>
            <a:chOff x="0" y="0"/>
            <a:chExt cx="1188720" cy="11887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2B4A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34440" y="7074408"/>
            <a:ext cx="891540" cy="891540"/>
            <a:chOff x="0" y="0"/>
            <a:chExt cx="1188720" cy="11887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188720" cy="11982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537460" y="6800088"/>
            <a:ext cx="14538960" cy="1440180"/>
            <a:chOff x="0" y="0"/>
            <a:chExt cx="19385280" cy="19202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9385280" cy="1920240"/>
            </a:xfrm>
            <a:custGeom>
              <a:avLst/>
              <a:gdLst/>
              <a:ahLst/>
              <a:cxnLst/>
              <a:rect l="l" t="t" r="r" b="b"/>
              <a:pathLst>
                <a:path w="19385280" h="1920240">
                  <a:moveTo>
                    <a:pt x="0" y="0"/>
                  </a:moveTo>
                  <a:lnTo>
                    <a:pt x="19385280" y="0"/>
                  </a:lnTo>
                  <a:lnTo>
                    <a:pt x="193852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706" b="-14670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19385280" cy="1920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Peptone 은 단독 중요도 낮지만, Meat &amp; Glucose 와의 높은 상호작용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>
            <a:off x="813431" y="8847918"/>
            <a:ext cx="16615409" cy="19140"/>
          </a:xfrm>
          <a:prstGeom prst="line">
            <a:avLst/>
          </a:prstGeom>
          <a:ln w="9525" cap="rnd">
            <a:solidFill>
              <a:srgbClr val="E3E6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9" name="Group 39"/>
          <p:cNvGrpSpPr/>
          <p:nvPr/>
        </p:nvGrpSpPr>
        <p:grpSpPr>
          <a:xfrm>
            <a:off x="822960" y="9063228"/>
            <a:ext cx="8229600" cy="685800"/>
            <a:chOff x="0" y="0"/>
            <a:chExt cx="10972800" cy="914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972800" cy="914400"/>
            </a:xfrm>
            <a:custGeom>
              <a:avLst/>
              <a:gdLst/>
              <a:ahLst/>
              <a:cxnLst/>
              <a:rect l="l" t="t" r="r" b="b"/>
              <a:pathLst>
                <a:path w="10972800" h="914400">
                  <a:moveTo>
                    <a:pt x="0" y="0"/>
                  </a:moveTo>
                  <a:lnTo>
                    <a:pt x="10972800" y="0"/>
                  </a:lnTo>
                  <a:lnTo>
                    <a:pt x="10972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09728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i="1">
                  <a:solidFill>
                    <a:srgbClr val="1E36C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→ 다음: Part 4. 결론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26/32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430" b="-33942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6351" b="-2563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4160" y="1508760"/>
            <a:ext cx="7543800" cy="7999288"/>
            <a:chOff x="0" y="0"/>
            <a:chExt cx="10058400" cy="10665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0" cy="10665718"/>
            </a:xfrm>
            <a:custGeom>
              <a:avLst/>
              <a:gdLst/>
              <a:ahLst/>
              <a:cxnLst/>
              <a:rect l="l" t="t" r="r" b="b"/>
              <a:pathLst>
                <a:path w="10058400" h="10665718">
                  <a:moveTo>
                    <a:pt x="0" y="0"/>
                  </a:moveTo>
                  <a:lnTo>
                    <a:pt x="10058400" y="0"/>
                  </a:lnTo>
                  <a:lnTo>
                    <a:pt x="10058400" y="10665718"/>
                  </a:lnTo>
                  <a:lnTo>
                    <a:pt x="0" y="106657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 b="569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058400" cy="106752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46800"/>
                </a:lnSpc>
              </a:pPr>
              <a:r>
                <a:rPr lang="en-US" sz="39000" b="1">
                  <a:solidFill>
                    <a:srgbClr val="F1F3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04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4440" y="3429000"/>
            <a:ext cx="2125980" cy="685800"/>
            <a:chOff x="0" y="0"/>
            <a:chExt cx="283464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34640" cy="914400"/>
            </a:xfrm>
            <a:custGeom>
              <a:avLst/>
              <a:gdLst/>
              <a:ahLst/>
              <a:cxnLst/>
              <a:rect l="l" t="t" r="r" b="b"/>
              <a:pathLst>
                <a:path w="2834640" h="914400">
                  <a:moveTo>
                    <a:pt x="0" y="0"/>
                  </a:moveTo>
                  <a:lnTo>
                    <a:pt x="2834640" y="0"/>
                  </a:lnTo>
                  <a:lnTo>
                    <a:pt x="283464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4440" y="3429000"/>
            <a:ext cx="2125980" cy="685800"/>
            <a:chOff x="0" y="0"/>
            <a:chExt cx="283464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34640" cy="914400"/>
            </a:xfrm>
            <a:custGeom>
              <a:avLst/>
              <a:gdLst/>
              <a:ahLst/>
              <a:cxnLst/>
              <a:rect l="l" t="t" r="r" b="b"/>
              <a:pathLst>
                <a:path w="2834640" h="914400">
                  <a:moveTo>
                    <a:pt x="0" y="0"/>
                  </a:moveTo>
                  <a:lnTo>
                    <a:pt x="2834640" y="0"/>
                  </a:lnTo>
                  <a:lnTo>
                    <a:pt x="2834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03" b="-104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83464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spc="149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PART 04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5860" y="4320540"/>
            <a:ext cx="12344400" cy="1783080"/>
            <a:chOff x="0" y="0"/>
            <a:chExt cx="16459200" cy="23774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59200" cy="2377440"/>
            </a:xfrm>
            <a:custGeom>
              <a:avLst/>
              <a:gdLst/>
              <a:ahLst/>
              <a:cxnLst/>
              <a:rect l="l" t="t" r="r" b="b"/>
              <a:pathLst>
                <a:path w="16459200" h="2377440">
                  <a:moveTo>
                    <a:pt x="0" y="0"/>
                  </a:moveTo>
                  <a:lnTo>
                    <a:pt x="16459200" y="0"/>
                  </a:lnTo>
                  <a:lnTo>
                    <a:pt x="16459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896" b="-8489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6459200" cy="2386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000"/>
                </a:lnSpc>
              </a:pPr>
              <a:r>
                <a:rPr lang="en-US" sz="75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결론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34440" y="5897880"/>
            <a:ext cx="13030200" cy="685800"/>
            <a:chOff x="0" y="0"/>
            <a:chExt cx="1737360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373600" cy="914400"/>
            </a:xfrm>
            <a:custGeom>
              <a:avLst/>
              <a:gdLst/>
              <a:ahLst/>
              <a:cxnLst/>
              <a:rect l="l" t="t" r="r" b="b"/>
              <a:pathLst>
                <a:path w="17373600" h="914400">
                  <a:moveTo>
                    <a:pt x="0" y="0"/>
                  </a:moveTo>
                  <a:lnTo>
                    <a:pt x="17373600" y="0"/>
                  </a:lnTo>
                  <a:lnTo>
                    <a:pt x="1737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0215" b="-32021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73736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i="1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종합 및 시사점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4-1  BACK TO THE QUESTIONS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도입에서 던진 질문에 답하면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902839"/>
            <a:ext cx="1440180" cy="1783080"/>
            <a:chOff x="0" y="0"/>
            <a:chExt cx="1920240" cy="2377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20240" cy="2377440"/>
            </a:xfrm>
            <a:custGeom>
              <a:avLst/>
              <a:gdLst/>
              <a:ahLst/>
              <a:cxnLst/>
              <a:rect l="l" t="t" r="r" b="b"/>
              <a:pathLst>
                <a:path w="1920240" h="2377440">
                  <a:moveTo>
                    <a:pt x="0" y="0"/>
                  </a:moveTo>
                  <a:lnTo>
                    <a:pt x="1920240" y="0"/>
                  </a:lnTo>
                  <a:lnTo>
                    <a:pt x="192024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2902839"/>
            <a:ext cx="1440180" cy="1783080"/>
            <a:chOff x="0" y="0"/>
            <a:chExt cx="1920240" cy="23774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20240" cy="2377440"/>
            </a:xfrm>
            <a:custGeom>
              <a:avLst/>
              <a:gdLst/>
              <a:ahLst/>
              <a:cxnLst/>
              <a:rect l="l" t="t" r="r" b="b"/>
              <a:pathLst>
                <a:path w="1920240" h="2377440">
                  <a:moveTo>
                    <a:pt x="0" y="0"/>
                  </a:moveTo>
                  <a:lnTo>
                    <a:pt x="1920240" y="0"/>
                  </a:lnTo>
                  <a:lnTo>
                    <a:pt x="19202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852" r="-10885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920240" cy="2386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Q1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537460" y="3198114"/>
            <a:ext cx="14264640" cy="685800"/>
            <a:chOff x="0" y="0"/>
            <a:chExt cx="1901952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019520" cy="914400"/>
            </a:xfrm>
            <a:custGeom>
              <a:avLst/>
              <a:gdLst/>
              <a:ahLst/>
              <a:cxnLst/>
              <a:rect l="l" t="t" r="r" b="b"/>
              <a:pathLst>
                <a:path w="19019520" h="914400">
                  <a:moveTo>
                    <a:pt x="0" y="0"/>
                  </a:moveTo>
                  <a:lnTo>
                    <a:pt x="19019520" y="0"/>
                  </a:lnTo>
                  <a:lnTo>
                    <a:pt x="19019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288" b="-35528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90195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도로변과 공원 토양의 세균 군집은 서로 다른가?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537460" y="3817239"/>
            <a:ext cx="14264640" cy="34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 b="1">
                <a:solidFill>
                  <a:srgbClr val="2B4A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→ </a:t>
            </a: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다중검정 보정 후 두 환경 간 유의한 차이를 보인 분류군은 확인되지 않음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22960" y="5165979"/>
            <a:ext cx="1440180" cy="1783080"/>
            <a:chOff x="0" y="0"/>
            <a:chExt cx="1920240" cy="23774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20240" cy="2377440"/>
            </a:xfrm>
            <a:custGeom>
              <a:avLst/>
              <a:gdLst/>
              <a:ahLst/>
              <a:cxnLst/>
              <a:rect l="l" t="t" r="r" b="b"/>
              <a:pathLst>
                <a:path w="1920240" h="2377440">
                  <a:moveTo>
                    <a:pt x="0" y="0"/>
                  </a:moveTo>
                  <a:lnTo>
                    <a:pt x="1920240" y="0"/>
                  </a:lnTo>
                  <a:lnTo>
                    <a:pt x="192024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5165979"/>
            <a:ext cx="1440180" cy="1783080"/>
            <a:chOff x="0" y="0"/>
            <a:chExt cx="1920240" cy="23774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20240" cy="2377440"/>
            </a:xfrm>
            <a:custGeom>
              <a:avLst/>
              <a:gdLst/>
              <a:ahLst/>
              <a:cxnLst/>
              <a:rect l="l" t="t" r="r" b="b"/>
              <a:pathLst>
                <a:path w="1920240" h="2377440">
                  <a:moveTo>
                    <a:pt x="0" y="0"/>
                  </a:moveTo>
                  <a:lnTo>
                    <a:pt x="1920240" y="0"/>
                  </a:lnTo>
                  <a:lnTo>
                    <a:pt x="19202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852" r="-10885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920240" cy="2386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Q2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537460" y="5461254"/>
            <a:ext cx="14264640" cy="685800"/>
            <a:chOff x="0" y="0"/>
            <a:chExt cx="19019520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019520" cy="914400"/>
            </a:xfrm>
            <a:custGeom>
              <a:avLst/>
              <a:gdLst/>
              <a:ahLst/>
              <a:cxnLst/>
              <a:rect l="l" t="t" r="r" b="b"/>
              <a:pathLst>
                <a:path w="19019520" h="914400">
                  <a:moveTo>
                    <a:pt x="0" y="0"/>
                  </a:moveTo>
                  <a:lnTo>
                    <a:pt x="19019520" y="0"/>
                  </a:lnTo>
                  <a:lnTo>
                    <a:pt x="19019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288" b="-35528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90195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두 환경을 구분할 수 있는 세균 분류군이 존재하는가?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537460" y="6080379"/>
            <a:ext cx="14264640" cy="34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 b="1">
                <a:solidFill>
                  <a:srgbClr val="2B4A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→ </a:t>
            </a: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Gemmatimonadota 등 일부 분류군에서 시사적 경향(q=0.06–0.29) 확인 — 확정적이진 않음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22960" y="7429119"/>
            <a:ext cx="1440180" cy="1783080"/>
            <a:chOff x="0" y="0"/>
            <a:chExt cx="1920240" cy="23774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20240" cy="2377440"/>
            </a:xfrm>
            <a:custGeom>
              <a:avLst/>
              <a:gdLst/>
              <a:ahLst/>
              <a:cxnLst/>
              <a:rect l="l" t="t" r="r" b="b"/>
              <a:pathLst>
                <a:path w="1920240" h="2377440">
                  <a:moveTo>
                    <a:pt x="0" y="0"/>
                  </a:moveTo>
                  <a:lnTo>
                    <a:pt x="1920240" y="0"/>
                  </a:lnTo>
                  <a:lnTo>
                    <a:pt x="192024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22960" y="7429119"/>
            <a:ext cx="1440180" cy="1783080"/>
            <a:chOff x="0" y="0"/>
            <a:chExt cx="1920240" cy="23774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20240" cy="2377440"/>
            </a:xfrm>
            <a:custGeom>
              <a:avLst/>
              <a:gdLst/>
              <a:ahLst/>
              <a:cxnLst/>
              <a:rect l="l" t="t" r="r" b="b"/>
              <a:pathLst>
                <a:path w="1920240" h="2377440">
                  <a:moveTo>
                    <a:pt x="0" y="0"/>
                  </a:moveTo>
                  <a:lnTo>
                    <a:pt x="1920240" y="0"/>
                  </a:lnTo>
                  <a:lnTo>
                    <a:pt x="19202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852" r="-10885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920240" cy="2386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Q3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537460" y="7724394"/>
            <a:ext cx="14264640" cy="685800"/>
            <a:chOff x="0" y="0"/>
            <a:chExt cx="19019520" cy="914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019520" cy="914400"/>
            </a:xfrm>
            <a:custGeom>
              <a:avLst/>
              <a:gdLst/>
              <a:ahLst/>
              <a:cxnLst/>
              <a:rect l="l" t="t" r="r" b="b"/>
              <a:pathLst>
                <a:path w="19019520" h="914400">
                  <a:moveTo>
                    <a:pt x="0" y="0"/>
                  </a:moveTo>
                  <a:lnTo>
                    <a:pt x="19019520" y="0"/>
                  </a:lnTo>
                  <a:lnTo>
                    <a:pt x="19019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288" b="-35528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190195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배양 가능한 유용 자원을 확보하고 최적화할 수 있는가?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537460" y="8343519"/>
            <a:ext cx="14264640" cy="34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 b="1">
                <a:solidFill>
                  <a:srgbClr val="2B4A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→ </a:t>
            </a: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Priestia megaterium 확보 + METIS로 배양조건 최적 조성 예측, Meat extract가 핵심 변수로 확인됨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28/32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4-2  SUMMARY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연구 요약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870648"/>
            <a:ext cx="16596360" cy="4545704"/>
            <a:chOff x="0" y="0"/>
            <a:chExt cx="22128480" cy="6060939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698480" cy="6060939"/>
              <a:chOff x="0" y="0"/>
              <a:chExt cx="10698480" cy="606093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698480" cy="6060939"/>
              </a:xfrm>
              <a:custGeom>
                <a:avLst/>
                <a:gdLst/>
                <a:ahLst/>
                <a:cxnLst/>
                <a:rect l="l" t="t" r="r" b="b"/>
                <a:pathLst>
                  <a:path w="10698480" h="6060939">
                    <a:moveTo>
                      <a:pt x="0" y="0"/>
                    </a:moveTo>
                    <a:lnTo>
                      <a:pt x="10698480" y="0"/>
                    </a:lnTo>
                    <a:lnTo>
                      <a:pt x="10698480" y="6060939"/>
                    </a:lnTo>
                    <a:lnTo>
                      <a:pt x="0" y="6060939"/>
                    </a:lnTo>
                    <a:close/>
                  </a:path>
                </a:pathLst>
              </a:custGeom>
              <a:solidFill>
                <a:srgbClr val="FAFAFC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548640" y="365760"/>
              <a:ext cx="9509760" cy="914400"/>
              <a:chOff x="0" y="0"/>
              <a:chExt cx="9509760" cy="914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50976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09760" h="914400">
                    <a:moveTo>
                      <a:pt x="0" y="0"/>
                    </a:moveTo>
                    <a:lnTo>
                      <a:pt x="9509760" y="0"/>
                    </a:lnTo>
                    <a:lnTo>
                      <a:pt x="950976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rgbClr val="FAFAFC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9509760" cy="9144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060"/>
                  </a:lnSpc>
                </a:pPr>
                <a:r>
                  <a:rPr lang="en-US" sz="2550" b="1">
                    <a:solidFill>
                      <a:srgbClr val="1E36C4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① NGS 군집 비교</a:t>
                </a: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548640" y="1524479"/>
              <a:ext cx="9509760" cy="3680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52901" lvl="1" indent="-176451" algn="l">
                <a:lnSpc>
                  <a:spcPts val="3159"/>
                </a:lnSpc>
                <a:buFont typeface="Arial"/>
                <a:buChar char="•"/>
              </a:pPr>
              <a:r>
                <a:rPr lang="en-US" sz="195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수도권 도로변(n=16)·공원(n=16) 토양 32개 시료의 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  <a:r>
                <a:rPr lang="en-US" sz="195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     16S rRNA 군집 비교</a:t>
              </a:r>
            </a:p>
            <a:p>
              <a:pPr algn="l">
                <a:lnSpc>
                  <a:spcPts val="3159"/>
                </a:lnSpc>
              </a:pPr>
              <a:endParaRPr lang="en-US" sz="1950" b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endParaRPr>
            </a:p>
            <a:p>
              <a:pPr marL="352901" lvl="1" indent="-176451" algn="l">
                <a:lnSpc>
                  <a:spcPts val="3159"/>
                </a:lnSpc>
                <a:buFont typeface="Arial"/>
                <a:buChar char="•"/>
              </a:pPr>
              <a:r>
                <a:rPr lang="en-US" sz="195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다중검정 보정 후 통계적으로 </a:t>
              </a:r>
              <a:r>
                <a:rPr lang="en-US" sz="195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유의한</a:t>
              </a:r>
              <a:r>
                <a:rPr lang="en-US" sz="195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분류군 </a:t>
              </a:r>
              <a:r>
                <a:rPr lang="en-US" sz="195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차이</a:t>
              </a:r>
              <a:r>
                <a:rPr lang="en-US" sz="195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는 </a:t>
              </a:r>
              <a:r>
                <a:rPr lang="en-US" sz="195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확인되지 않음</a:t>
              </a:r>
            </a:p>
            <a:p>
              <a:pPr algn="l">
                <a:lnSpc>
                  <a:spcPts val="3159"/>
                </a:lnSpc>
              </a:pPr>
              <a:endParaRPr lang="en-US" sz="1950" b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endParaRPr>
            </a:p>
            <a:p>
              <a:pPr marL="352901" lvl="1" indent="-176451" algn="l">
                <a:lnSpc>
                  <a:spcPts val="3159"/>
                </a:lnSpc>
                <a:buFont typeface="Arial"/>
                <a:buChar char="•"/>
              </a:pPr>
              <a:r>
                <a:rPr lang="en-US" sz="195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Gemmatimonadota 등 일부 분류군에서 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1A1A1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     시사적 경향(q=0.06–0.29) 확인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1430000" y="0"/>
              <a:ext cx="10698480" cy="6060939"/>
              <a:chOff x="0" y="0"/>
              <a:chExt cx="10698480" cy="606093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698480" cy="6060939"/>
              </a:xfrm>
              <a:custGeom>
                <a:avLst/>
                <a:gdLst/>
                <a:ahLst/>
                <a:cxnLst/>
                <a:rect l="l" t="t" r="r" b="b"/>
                <a:pathLst>
                  <a:path w="10698480" h="6060939">
                    <a:moveTo>
                      <a:pt x="0" y="0"/>
                    </a:moveTo>
                    <a:lnTo>
                      <a:pt x="10698480" y="0"/>
                    </a:lnTo>
                    <a:lnTo>
                      <a:pt x="10698480" y="6060939"/>
                    </a:lnTo>
                    <a:lnTo>
                      <a:pt x="0" y="6060939"/>
                    </a:lnTo>
                    <a:close/>
                  </a:path>
                </a:pathLst>
              </a:custGeom>
              <a:solidFill>
                <a:srgbClr val="FAFAFC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1978640" y="365760"/>
              <a:ext cx="9509760" cy="914400"/>
              <a:chOff x="0" y="0"/>
              <a:chExt cx="9509760" cy="914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950976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09760" h="914400">
                    <a:moveTo>
                      <a:pt x="0" y="0"/>
                    </a:moveTo>
                    <a:lnTo>
                      <a:pt x="9509760" y="0"/>
                    </a:lnTo>
                    <a:lnTo>
                      <a:pt x="950976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rgbClr val="FAFAFC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0"/>
                <a:ext cx="9509760" cy="9144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060"/>
                  </a:lnSpc>
                </a:pPr>
                <a:r>
                  <a:rPr lang="en-US" sz="2550" b="1">
                    <a:solidFill>
                      <a:srgbClr val="000000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② AI 스케일업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1978640" y="1524479"/>
              <a:ext cx="9509760" cy="31474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52901" lvl="1" indent="-176451" algn="l">
                <a:lnSpc>
                  <a:spcPts val="3159"/>
                </a:lnSpc>
                <a:buFont typeface="Arial"/>
                <a:buChar char="•"/>
              </a:pPr>
              <a:r>
                <a:rPr lang="en-US" sz="195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도로변 &amp; 공원 양쪽에서 분리된 Priestia megaterium 대상 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     배양조건 탐색</a:t>
              </a:r>
            </a:p>
            <a:p>
              <a:pPr algn="l">
                <a:lnSpc>
                  <a:spcPts val="3159"/>
                </a:lnSpc>
              </a:pPr>
              <a:endParaRPr lang="en-US" sz="195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endParaRPr>
            </a:p>
            <a:p>
              <a:pPr marL="352901" lvl="1" indent="-176451" algn="l">
                <a:lnSpc>
                  <a:spcPts val="3159"/>
                </a:lnSpc>
                <a:buFont typeface="Arial"/>
                <a:buChar char="•"/>
              </a:pPr>
              <a:r>
                <a:rPr lang="en-US" sz="195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METIS 능동학습으로 </a:t>
              </a:r>
              <a:r>
                <a:rPr lang="en-US" sz="1950" b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Meat extract</a:t>
              </a:r>
              <a:r>
                <a:rPr lang="en-US" sz="195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가 </a:t>
              </a:r>
              <a:r>
                <a:rPr lang="en-US" sz="1950" b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핵심 변수</a:t>
              </a:r>
              <a:r>
                <a:rPr lang="en-US" sz="195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임을 확인 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</a:t>
              </a:r>
            </a:p>
            <a:p>
              <a:pPr marL="352901" lvl="1" indent="-176451" algn="l">
                <a:lnSpc>
                  <a:spcPts val="3159"/>
                </a:lnSpc>
                <a:buFont typeface="Arial"/>
                <a:buChar char="•"/>
              </a:pPr>
              <a:r>
                <a:rPr lang="en-US" sz="1950" b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최적 예측 조성</a:t>
              </a:r>
              <a:r>
                <a:rPr lang="en-US" sz="195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및 </a:t>
              </a:r>
              <a:r>
                <a:rPr lang="en-US" sz="1950" b="1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다음 라운드 추천 조합</a:t>
              </a:r>
              <a:r>
                <a:rPr lang="en-US" sz="195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까지 도출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29/32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4-3  SIGNIFICANCE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종합 결론 및 의의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3048449"/>
            <a:ext cx="15910560" cy="5154930"/>
            <a:chOff x="0" y="0"/>
            <a:chExt cx="21214080" cy="687324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54864"/>
              <a:ext cx="914400" cy="914400"/>
              <a:chOff x="0" y="0"/>
              <a:chExt cx="914400" cy="914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457200"/>
                    </a:moveTo>
                    <a:cubicBezTo>
                      <a:pt x="0" y="204724"/>
                      <a:pt x="204724" y="0"/>
                      <a:pt x="457200" y="0"/>
                    </a:cubicBezTo>
                    <a:cubicBezTo>
                      <a:pt x="709676" y="0"/>
                      <a:pt x="914400" y="204724"/>
                      <a:pt x="914400" y="457200"/>
                    </a:cubicBezTo>
                    <a:cubicBezTo>
                      <a:pt x="914400" y="709676"/>
                      <a:pt x="709676" y="914400"/>
                      <a:pt x="457200" y="914400"/>
                    </a:cubicBezTo>
                    <a:cubicBezTo>
                      <a:pt x="204724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EEF1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54864"/>
              <a:ext cx="914400" cy="914400"/>
              <a:chOff x="0" y="0"/>
              <a:chExt cx="914400" cy="914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914400" cy="9715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 b="1">
                    <a:solidFill>
                      <a:srgbClr val="2B4A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280160" y="0"/>
              <a:ext cx="19933920" cy="731520"/>
              <a:chOff x="0" y="0"/>
              <a:chExt cx="19933920" cy="73152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9933920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19933920" h="731520">
                    <a:moveTo>
                      <a:pt x="0" y="0"/>
                    </a:moveTo>
                    <a:lnTo>
                      <a:pt x="19933920" y="0"/>
                    </a:lnTo>
                    <a:lnTo>
                      <a:pt x="1993392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480967" b="-480967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9525"/>
                <a:ext cx="19933920" cy="7410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1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국내 최초 시도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280160" y="746760"/>
              <a:ext cx="19933920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수도권 도로변·공원 토양 세균 군집을 직접 비교한 국내 연구는 아직 보고된 바 없음 — 학술적 공백을 메우는 파일럿 연구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0" y="2889504"/>
              <a:ext cx="914400" cy="914400"/>
              <a:chOff x="0" y="0"/>
              <a:chExt cx="914400" cy="914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457200"/>
                    </a:moveTo>
                    <a:cubicBezTo>
                      <a:pt x="0" y="204724"/>
                      <a:pt x="204724" y="0"/>
                      <a:pt x="457200" y="0"/>
                    </a:cubicBezTo>
                    <a:cubicBezTo>
                      <a:pt x="709676" y="0"/>
                      <a:pt x="914400" y="204724"/>
                      <a:pt x="914400" y="457200"/>
                    </a:cubicBezTo>
                    <a:cubicBezTo>
                      <a:pt x="914400" y="709676"/>
                      <a:pt x="709676" y="914400"/>
                      <a:pt x="457200" y="914400"/>
                    </a:cubicBezTo>
                    <a:cubicBezTo>
                      <a:pt x="204724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EEF1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2889504"/>
              <a:ext cx="914400" cy="914400"/>
              <a:chOff x="0" y="0"/>
              <a:chExt cx="914400" cy="9144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57150"/>
                <a:ext cx="914400" cy="9715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 b="1">
                    <a:solidFill>
                      <a:srgbClr val="2B4A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280160" y="2834640"/>
              <a:ext cx="19933920" cy="731520"/>
              <a:chOff x="0" y="0"/>
              <a:chExt cx="19933920" cy="73152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9933920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19933920" h="731520">
                    <a:moveTo>
                      <a:pt x="0" y="0"/>
                    </a:moveTo>
                    <a:lnTo>
                      <a:pt x="19933920" y="0"/>
                    </a:lnTo>
                    <a:lnTo>
                      <a:pt x="1993392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480967" b="-480967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9525"/>
                <a:ext cx="19933920" cy="7410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1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예비적, 탐색적 위치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280160" y="3581400"/>
              <a:ext cx="19933920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통계적으로 강력한 발견을 제시하는 논문이 아니라, 국내 미개척 주제(NGS 비교)를 국제적으로 활발한 방법론(</a:t>
              </a:r>
              <a:r>
                <a:rPr lang="en-US" sz="1875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AI</a:t>
              </a: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 능동학습)과 결합해 시연한 연구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0" y="5724144"/>
              <a:ext cx="914400" cy="914400"/>
              <a:chOff x="0" y="0"/>
              <a:chExt cx="914400" cy="9144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457200"/>
                    </a:moveTo>
                    <a:cubicBezTo>
                      <a:pt x="0" y="204724"/>
                      <a:pt x="204724" y="0"/>
                      <a:pt x="457200" y="0"/>
                    </a:cubicBezTo>
                    <a:cubicBezTo>
                      <a:pt x="709676" y="0"/>
                      <a:pt x="914400" y="204724"/>
                      <a:pt x="914400" y="457200"/>
                    </a:cubicBezTo>
                    <a:cubicBezTo>
                      <a:pt x="914400" y="709676"/>
                      <a:pt x="709676" y="914400"/>
                      <a:pt x="457200" y="914400"/>
                    </a:cubicBezTo>
                    <a:cubicBezTo>
                      <a:pt x="204724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EEF1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5724144"/>
              <a:ext cx="914400" cy="914400"/>
              <a:chOff x="0" y="0"/>
              <a:chExt cx="914400" cy="9144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r="-78303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57150"/>
                <a:ext cx="914400" cy="9715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 b="1">
                    <a:solidFill>
                      <a:srgbClr val="2B4A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280160" y="5669280"/>
              <a:ext cx="19933920" cy="731520"/>
              <a:chOff x="0" y="0"/>
              <a:chExt cx="19933920" cy="73152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9933920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19933920" h="731520">
                    <a:moveTo>
                      <a:pt x="0" y="0"/>
                    </a:moveTo>
                    <a:lnTo>
                      <a:pt x="19933920" y="0"/>
                    </a:lnTo>
                    <a:lnTo>
                      <a:pt x="1993392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480967" b="-480967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9525"/>
                <a:ext cx="19933920" cy="7410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b="1">
                    <a:solidFill>
                      <a:srgbClr val="1A1A1A"/>
                    </a:solidFill>
                    <a:latin typeface="프리텐다드 Bold"/>
                    <a:ea typeface="프리텐다드 Bold"/>
                    <a:cs typeface="프리텐다드 Bold"/>
                    <a:sym typeface="프리텐다드 Bold"/>
                  </a:rPr>
                  <a:t>실용적 확장 가능성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280160" y="6416040"/>
              <a:ext cx="19933920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도로변 &amp; 공원 양쪽에서 재현적으로 검출된 Priestia megaterium은 비료·바이오시멘트 등 </a:t>
              </a:r>
              <a:r>
                <a:rPr lang="en-US" sz="1875" b="1">
                  <a:solidFill>
                    <a:srgbClr val="5A5A5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후속 응용 연구의 기초 자원</a:t>
              </a:r>
              <a:r>
                <a:rPr lang="en-US" sz="1875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이 될 수 있음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30/32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25">
                  <a:solidFill>
                    <a:srgbClr val="2B4A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4-4  LIMITATIONS &amp; FUTURE WORK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184880" cy="1028700"/>
            <a:chOff x="0" y="0"/>
            <a:chExt cx="2157984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9839" cy="1371600"/>
            </a:xfrm>
            <a:custGeom>
              <a:avLst/>
              <a:gdLst/>
              <a:ahLst/>
              <a:cxnLst/>
              <a:rect l="l" t="t" r="r" b="b"/>
              <a:pathLst>
                <a:path w="21579839" h="1371600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57984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한계 및 향후 연구 방향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939415"/>
            <a:ext cx="5299710" cy="4956810"/>
            <a:chOff x="0" y="0"/>
            <a:chExt cx="7066280" cy="66090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66280" cy="6609080"/>
            </a:xfrm>
            <a:custGeom>
              <a:avLst/>
              <a:gdLst/>
              <a:ahLst/>
              <a:cxnLst/>
              <a:rect l="l" t="t" r="r" b="b"/>
              <a:pathLst>
                <a:path w="7066280" h="6609080">
                  <a:moveTo>
                    <a:pt x="0" y="0"/>
                  </a:moveTo>
                  <a:lnTo>
                    <a:pt x="7066280" y="0"/>
                  </a:lnTo>
                  <a:lnTo>
                    <a:pt x="7066280" y="6609080"/>
                  </a:lnTo>
                  <a:lnTo>
                    <a:pt x="0" y="66090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6F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43965" y="3360420"/>
            <a:ext cx="685800" cy="685800"/>
            <a:chOff x="0" y="0"/>
            <a:chExt cx="91440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B4A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3965" y="3360420"/>
            <a:ext cx="685800" cy="685800"/>
            <a:chOff x="0" y="0"/>
            <a:chExt cx="914400" cy="91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43965" y="4320540"/>
            <a:ext cx="4457700" cy="822960"/>
            <a:chOff x="0" y="0"/>
            <a:chExt cx="5943600" cy="10972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943600" cy="1097280"/>
            </a:xfrm>
            <a:custGeom>
              <a:avLst/>
              <a:gdLst/>
              <a:ahLst/>
              <a:cxnLst/>
              <a:rect l="l" t="t" r="r" b="b"/>
              <a:pathLst>
                <a:path w="5943600" h="1097280">
                  <a:moveTo>
                    <a:pt x="0" y="0"/>
                  </a:moveTo>
                  <a:lnTo>
                    <a:pt x="5943600" y="0"/>
                  </a:lnTo>
                  <a:lnTo>
                    <a:pt x="594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543" b="-555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59436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표본 및 변수의 한계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43965" y="5345525"/>
            <a:ext cx="4457700" cy="747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토양 32개·배양조건 12개로 </a:t>
            </a:r>
            <a:r>
              <a:rPr lang="en-US" sz="1875" b="1">
                <a:solidFill>
                  <a:srgbClr val="5A5A5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표본이 제한적</a:t>
            </a: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토양 물리화학적 변수(pH, 유기탄소 등) 미측정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515100" y="2939415"/>
            <a:ext cx="5299710" cy="4956810"/>
            <a:chOff x="0" y="0"/>
            <a:chExt cx="7066280" cy="66090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066280" cy="6609080"/>
            </a:xfrm>
            <a:custGeom>
              <a:avLst/>
              <a:gdLst/>
              <a:ahLst/>
              <a:cxnLst/>
              <a:rect l="l" t="t" r="r" b="b"/>
              <a:pathLst>
                <a:path w="7066280" h="6609080">
                  <a:moveTo>
                    <a:pt x="0" y="0"/>
                  </a:moveTo>
                  <a:lnTo>
                    <a:pt x="7066280" y="0"/>
                  </a:lnTo>
                  <a:lnTo>
                    <a:pt x="7066280" y="6609080"/>
                  </a:lnTo>
                  <a:lnTo>
                    <a:pt x="0" y="66090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6F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36105" y="3360420"/>
            <a:ext cx="685800" cy="685800"/>
            <a:chOff x="0" y="0"/>
            <a:chExt cx="91440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B4A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936105" y="3360420"/>
            <a:ext cx="685800" cy="685800"/>
            <a:chOff x="0" y="0"/>
            <a:chExt cx="914400" cy="91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936105" y="4320540"/>
            <a:ext cx="4457700" cy="822960"/>
            <a:chOff x="0" y="0"/>
            <a:chExt cx="5943600" cy="10972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943600" cy="1097280"/>
            </a:xfrm>
            <a:custGeom>
              <a:avLst/>
              <a:gdLst/>
              <a:ahLst/>
              <a:cxnLst/>
              <a:rect l="l" t="t" r="r" b="b"/>
              <a:pathLst>
                <a:path w="5943600" h="1097280">
                  <a:moveTo>
                    <a:pt x="0" y="0"/>
                  </a:moveTo>
                  <a:lnTo>
                    <a:pt x="5943600" y="0"/>
                  </a:lnTo>
                  <a:lnTo>
                    <a:pt x="594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543" b="-555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59436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검증이 더 필요한 후보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936105" y="5345525"/>
            <a:ext cx="4457700" cy="1128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Gemmatimonadota 등 NGS 후보 분류군, 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K-Most-Informative 분석은 </a:t>
            </a:r>
            <a:r>
              <a:rPr lang="en-US" sz="1875" b="1">
                <a:solidFill>
                  <a:srgbClr val="5A5A5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추가 표본</a:t>
            </a: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으로 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재검증 필요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2207240" y="2939415"/>
            <a:ext cx="5299710" cy="4956810"/>
            <a:chOff x="0" y="0"/>
            <a:chExt cx="7066280" cy="66090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066280" cy="6609080"/>
            </a:xfrm>
            <a:custGeom>
              <a:avLst/>
              <a:gdLst/>
              <a:ahLst/>
              <a:cxnLst/>
              <a:rect l="l" t="t" r="r" b="b"/>
              <a:pathLst>
                <a:path w="7066280" h="6609080">
                  <a:moveTo>
                    <a:pt x="0" y="0"/>
                  </a:moveTo>
                  <a:lnTo>
                    <a:pt x="7066280" y="0"/>
                  </a:lnTo>
                  <a:lnTo>
                    <a:pt x="7066280" y="6609080"/>
                  </a:lnTo>
                  <a:lnTo>
                    <a:pt x="0" y="66090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6F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628245" y="3360420"/>
            <a:ext cx="685800" cy="685800"/>
            <a:chOff x="0" y="0"/>
            <a:chExt cx="91440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B4A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628245" y="3360420"/>
            <a:ext cx="685800" cy="685800"/>
            <a:chOff x="0" y="0"/>
            <a:chExt cx="914400" cy="914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3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628245" y="4320540"/>
            <a:ext cx="4457700" cy="822960"/>
            <a:chOff x="0" y="0"/>
            <a:chExt cx="5943600" cy="109728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943600" cy="1097280"/>
            </a:xfrm>
            <a:custGeom>
              <a:avLst/>
              <a:gdLst/>
              <a:ahLst/>
              <a:cxnLst/>
              <a:rect l="l" t="t" r="r" b="b"/>
              <a:pathLst>
                <a:path w="5943600" h="1097280">
                  <a:moveTo>
                    <a:pt x="0" y="0"/>
                  </a:moveTo>
                  <a:lnTo>
                    <a:pt x="5943600" y="0"/>
                  </a:lnTo>
                  <a:lnTo>
                    <a:pt x="594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543" b="-555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59436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다음 단계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628245" y="5345525"/>
            <a:ext cx="4457700" cy="747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3라운드 습식실험, 물리화학 변수 측정, </a:t>
            </a:r>
          </a:p>
          <a:p>
            <a:pPr algn="l">
              <a:lnSpc>
                <a:spcPts val="3037"/>
              </a:lnSpc>
            </a:pPr>
            <a:r>
              <a:rPr lang="en-US" sz="1875">
                <a:solidFill>
                  <a:srgbClr val="5A5A5A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분리주의 인산가용화능 등 </a:t>
            </a:r>
            <a:r>
              <a:rPr lang="en-US" sz="1875" b="1">
                <a:solidFill>
                  <a:srgbClr val="5A5A5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기능적 특성 검증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6459200" y="9710928"/>
            <a:ext cx="1234440" cy="411480"/>
            <a:chOff x="0" y="0"/>
            <a:chExt cx="1645920" cy="5486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645920" cy="548640"/>
            </a:xfrm>
            <a:custGeom>
              <a:avLst/>
              <a:gdLst/>
              <a:ahLst/>
              <a:cxnLst/>
              <a:rect l="l" t="t" r="r" b="b"/>
              <a:pathLst>
                <a:path w="1645920" h="548640">
                  <a:moveTo>
                    <a:pt x="0" y="0"/>
                  </a:moveTo>
                  <a:lnTo>
                    <a:pt x="1645920" y="0"/>
                  </a:lnTo>
                  <a:lnTo>
                    <a:pt x="1645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164592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79"/>
                </a:lnSpc>
              </a:pPr>
              <a:r>
                <a:rPr lang="en-US" sz="1649" dirty="0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31/32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17520" y="7132320"/>
            <a:ext cx="6309360" cy="6309360"/>
            <a:chOff x="0" y="0"/>
            <a:chExt cx="8412480" cy="8412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12480" cy="8412480"/>
            </a:xfrm>
            <a:custGeom>
              <a:avLst/>
              <a:gdLst/>
              <a:ahLst/>
              <a:cxnLst/>
              <a:rect l="l" t="t" r="r" b="b"/>
              <a:pathLst>
                <a:path w="8412480" h="8412480">
                  <a:moveTo>
                    <a:pt x="0" y="4206240"/>
                  </a:moveTo>
                  <a:cubicBezTo>
                    <a:pt x="0" y="1883156"/>
                    <a:pt x="1883156" y="0"/>
                    <a:pt x="4206240" y="0"/>
                  </a:cubicBezTo>
                  <a:cubicBezTo>
                    <a:pt x="6529325" y="0"/>
                    <a:pt x="8412480" y="1883156"/>
                    <a:pt x="8412480" y="4206240"/>
                  </a:cubicBezTo>
                  <a:cubicBezTo>
                    <a:pt x="8412480" y="6529325"/>
                    <a:pt x="6529324" y="8412480"/>
                    <a:pt x="4206240" y="8412480"/>
                  </a:cubicBezTo>
                  <a:cubicBezTo>
                    <a:pt x="1883156" y="8412480"/>
                    <a:pt x="0" y="6529324"/>
                    <a:pt x="0" y="4206240"/>
                  </a:cubicBez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386951" y="197974"/>
            <a:ext cx="2807101" cy="538632"/>
          </a:xfrm>
          <a:custGeom>
            <a:avLst/>
            <a:gdLst/>
            <a:ahLst/>
            <a:cxnLst/>
            <a:rect l="l" t="t" r="r" b="b"/>
            <a:pathLst>
              <a:path w="2807101" h="538632">
                <a:moveTo>
                  <a:pt x="0" y="0"/>
                </a:moveTo>
                <a:lnTo>
                  <a:pt x="2807101" y="0"/>
                </a:lnTo>
                <a:lnTo>
                  <a:pt x="2807101" y="538632"/>
                </a:lnTo>
                <a:lnTo>
                  <a:pt x="0" y="5386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1165860" y="3977640"/>
            <a:ext cx="15087600" cy="1645920"/>
            <a:chOff x="0" y="0"/>
            <a:chExt cx="20116800" cy="21945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116800" cy="2194560"/>
            </a:xfrm>
            <a:custGeom>
              <a:avLst/>
              <a:gdLst/>
              <a:ahLst/>
              <a:cxnLst/>
              <a:rect l="l" t="t" r="r" b="b"/>
              <a:pathLst>
                <a:path w="20116800" h="2194560">
                  <a:moveTo>
                    <a:pt x="0" y="0"/>
                  </a:moveTo>
                  <a:lnTo>
                    <a:pt x="20116800" y="0"/>
                  </a:lnTo>
                  <a:lnTo>
                    <a:pt x="20116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8612" b="-12861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116800" cy="2213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20"/>
                </a:lnSpc>
              </a:pPr>
              <a:r>
                <a:rPr lang="en-US" sz="6600" b="1">
                  <a:solidFill>
                    <a:srgbClr val="1A1A1A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감사합니다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65860" y="6200911"/>
            <a:ext cx="14401800" cy="685800"/>
            <a:chOff x="0" y="0"/>
            <a:chExt cx="19202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202400" cy="914400"/>
            </a:xfrm>
            <a:custGeom>
              <a:avLst/>
              <a:gdLst/>
              <a:ahLst/>
              <a:cxnLst/>
              <a:rect l="l" t="t" r="r" b="b"/>
              <a:pathLst>
                <a:path w="19202400" h="914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9185" b="-35918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92024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i="1">
                  <a:solidFill>
                    <a:srgbClr val="5A5A5A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수도권 도로변 &amp; 공원 토양 세균 군집 비교와 AI 기반 배양 최적화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755880" y="-2743200"/>
            <a:ext cx="8915400" cy="8915400"/>
            <a:chOff x="0" y="0"/>
            <a:chExt cx="11887200" cy="11887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887200" cy="11887200"/>
            </a:xfrm>
            <a:custGeom>
              <a:avLst/>
              <a:gdLst/>
              <a:ahLst/>
              <a:cxnLst/>
              <a:rect l="l" t="t" r="r" b="b"/>
              <a:pathLst>
                <a:path w="11887200" h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EEF1F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65860" y="5623560"/>
            <a:ext cx="4399399" cy="548640"/>
            <a:chOff x="0" y="0"/>
            <a:chExt cx="5865865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65865" cy="731520"/>
            </a:xfrm>
            <a:custGeom>
              <a:avLst/>
              <a:gdLst/>
              <a:ahLst/>
              <a:cxnLst/>
              <a:rect l="l" t="t" r="r" b="b"/>
              <a:pathLst>
                <a:path w="5865865" h="731520">
                  <a:moveTo>
                    <a:pt x="0" y="0"/>
                  </a:moveTo>
                  <a:lnTo>
                    <a:pt x="5865865" y="0"/>
                  </a:lnTo>
                  <a:lnTo>
                    <a:pt x="586586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2275" r="-87061" b="-24227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865865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0B2981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오믹스,마이크로바이옴 응용 프로젝트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1224911" y="8557091"/>
            <a:ext cx="15792448" cy="19018"/>
          </a:xfrm>
          <a:prstGeom prst="line">
            <a:avLst/>
          </a:prstGeom>
          <a:ln w="9525" cap="rnd">
            <a:solidFill>
              <a:srgbClr val="E3E6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016003" y="8590397"/>
            <a:ext cx="6615852" cy="83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400" b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Team 1</a:t>
            </a:r>
          </a:p>
          <a:p>
            <a:pPr algn="l">
              <a:lnSpc>
                <a:spcPts val="3346"/>
              </a:lnSpc>
            </a:pPr>
            <a:r>
              <a:rPr lang="en-US" sz="2400" b="1">
                <a:solidFill>
                  <a:srgbClr val="1A1A1A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함정관, 이지민, 윤수진, 황인영, 정유라, 주세린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4207</Words>
  <Application>Microsoft Office PowerPoint</Application>
  <PresentationFormat>사용자 지정</PresentationFormat>
  <Paragraphs>875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9" baseType="lpstr">
      <vt:lpstr>Calibri</vt:lpstr>
      <vt:lpstr>프리텐다드 Medium</vt:lpstr>
      <vt:lpstr>Calibri (MS) Bold</vt:lpstr>
      <vt:lpstr>프리텐다드 Bold</vt:lpstr>
      <vt:lpstr>프리텐다드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1_마이크로바이옴.pptx</dc:title>
  <cp:lastModifiedBy>정관 함</cp:lastModifiedBy>
  <cp:revision>1</cp:revision>
  <dcterms:created xsi:type="dcterms:W3CDTF">2006-08-16T00:00:00Z</dcterms:created>
  <dcterms:modified xsi:type="dcterms:W3CDTF">2026-09-10T05:50:11Z</dcterms:modified>
  <dc:identifier>DAHUOrgrSwc</dc:identifier>
</cp:coreProperties>
</file>