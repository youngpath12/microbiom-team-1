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8288000" cy="10287000"/>
  <p:notesSz cx="6858000" cy="9144000"/>
  <p:embeddedFontLst>
    <p:embeddedFont>
      <p:font typeface="프리텐다드" panose="020B0600000101010101" charset="-127"/>
      <p:regular r:id="rId36"/>
    </p:embeddedFont>
    <p:embeddedFont>
      <p:font typeface="프리텐다드 Bold" panose="020B0600000101010101" charset="-127"/>
      <p:regular r:id="rId37"/>
    </p:embeddedFont>
    <p:embeddedFont>
      <p:font typeface="프리텐다드 Medium" panose="020B0600000101010101" charset="-127"/>
      <p:regular r:id="rId38"/>
    </p:embeddedFont>
    <p:embeddedFont>
      <p:font typeface="Calibri (MS) Bold" panose="020B0600000101010101" charset="0"/>
      <p:regular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{1BD7E111-0CB8-44D6-8891-C1BB2F81B7CC}">
      <p1710:readonlyRecommended xmlns:p1710="http://schemas.microsoft.com/office/powerpoint/2017/10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360311-6D28-4C66-8F93-73978BF99437}" v="10" dt="2026-09-10T02:24:43.0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86788" autoAdjust="0"/>
  </p:normalViewPr>
  <p:slideViewPr>
    <p:cSldViewPr>
      <p:cViewPr varScale="1">
        <p:scale>
          <a:sx n="48" d="100"/>
          <a:sy n="48" d="100"/>
        </p:scale>
        <p:origin x="1090" y="5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정관 함" userId="8509c021bc61990b" providerId="LiveId" clId="{AC9CB4A8-4F96-497B-B902-3710E37C276C}"/>
    <pc:docChg chg="undo custSel modSld">
      <pc:chgData name="정관 함" userId="8509c021bc61990b" providerId="LiveId" clId="{AC9CB4A8-4F96-497B-B902-3710E37C276C}" dt="2026-09-10T02:24:43.082" v="254" actId="767"/>
      <pc:docMkLst>
        <pc:docMk/>
      </pc:docMkLst>
      <pc:sldChg chg="modNotesTx">
        <pc:chgData name="정관 함" userId="8509c021bc61990b" providerId="LiveId" clId="{AC9CB4A8-4F96-497B-B902-3710E37C276C}" dt="2026-09-10T02:06:30.018" v="238" actId="6549"/>
        <pc:sldMkLst>
          <pc:docMk/>
          <pc:sldMk cId="0" sldId="256"/>
        </pc:sldMkLst>
      </pc:sldChg>
      <pc:sldChg chg="addSp delSp modSp mod">
        <pc:chgData name="정관 함" userId="8509c021bc61990b" providerId="LiveId" clId="{AC9CB4A8-4F96-497B-B902-3710E37C276C}" dt="2026-09-10T02:24:43.082" v="254" actId="767"/>
        <pc:sldMkLst>
          <pc:docMk/>
          <pc:sldMk cId="0" sldId="260"/>
        </pc:sldMkLst>
        <pc:spChg chg="del">
          <ac:chgData name="정관 함" userId="8509c021bc61990b" providerId="LiveId" clId="{AC9CB4A8-4F96-497B-B902-3710E37C276C}" dt="2026-09-10T02:24:27.167" v="249" actId="478"/>
          <ac:spMkLst>
            <pc:docMk/>
            <pc:sldMk cId="0" sldId="260"/>
            <ac:spMk id="35" creationId="{00000000-0000-0000-0000-000000000000}"/>
          </ac:spMkLst>
        </pc:spChg>
        <pc:spChg chg="del">
          <ac:chgData name="정관 함" userId="8509c021bc61990b" providerId="LiveId" clId="{AC9CB4A8-4F96-497B-B902-3710E37C276C}" dt="2026-09-10T02:24:34.861" v="251" actId="478"/>
          <ac:spMkLst>
            <pc:docMk/>
            <pc:sldMk cId="0" sldId="260"/>
            <ac:spMk id="36" creationId="{00000000-0000-0000-0000-000000000000}"/>
          </ac:spMkLst>
        </pc:spChg>
        <pc:spChg chg="del">
          <ac:chgData name="정관 함" userId="8509c021bc61990b" providerId="LiveId" clId="{AC9CB4A8-4F96-497B-B902-3710E37C276C}" dt="2026-09-10T02:24:12.993" v="247" actId="478"/>
          <ac:spMkLst>
            <pc:docMk/>
            <pc:sldMk cId="0" sldId="260"/>
            <ac:spMk id="37" creationId="{00000000-0000-0000-0000-000000000000}"/>
          </ac:spMkLst>
        </pc:spChg>
        <pc:spChg chg="add">
          <ac:chgData name="정관 함" userId="8509c021bc61990b" providerId="LiveId" clId="{AC9CB4A8-4F96-497B-B902-3710E37C276C}" dt="2026-09-10T02:24:14.389" v="248" actId="22"/>
          <ac:spMkLst>
            <pc:docMk/>
            <pc:sldMk cId="0" sldId="260"/>
            <ac:spMk id="58" creationId="{41491123-4686-1440-8D63-4A285CFEA3FD}"/>
          </ac:spMkLst>
        </pc:spChg>
        <pc:spChg chg="add">
          <ac:chgData name="정관 함" userId="8509c021bc61990b" providerId="LiveId" clId="{AC9CB4A8-4F96-497B-B902-3710E37C276C}" dt="2026-09-10T02:24:14.389" v="248" actId="22"/>
          <ac:spMkLst>
            <pc:docMk/>
            <pc:sldMk cId="0" sldId="260"/>
            <ac:spMk id="60" creationId="{BFB38CCA-7021-3EF1-5B8E-3B2BB362BCED}"/>
          </ac:spMkLst>
        </pc:spChg>
        <pc:spChg chg="add">
          <ac:chgData name="정관 함" userId="8509c021bc61990b" providerId="LiveId" clId="{AC9CB4A8-4F96-497B-B902-3710E37C276C}" dt="2026-09-10T02:24:14.389" v="248" actId="22"/>
          <ac:spMkLst>
            <pc:docMk/>
            <pc:sldMk cId="0" sldId="260"/>
            <ac:spMk id="62" creationId="{6A28BED4-045C-3B71-DFAA-71FEFECE0BA1}"/>
          </ac:spMkLst>
        </pc:spChg>
        <pc:spChg chg="add">
          <ac:chgData name="정관 함" userId="8509c021bc61990b" providerId="LiveId" clId="{AC9CB4A8-4F96-497B-B902-3710E37C276C}" dt="2026-09-10T02:24:27.632" v="250" actId="22"/>
          <ac:spMkLst>
            <pc:docMk/>
            <pc:sldMk cId="0" sldId="260"/>
            <ac:spMk id="64" creationId="{FC835A0E-D5DD-65A2-513B-12E9973A18D0}"/>
          </ac:spMkLst>
        </pc:spChg>
        <pc:spChg chg="add">
          <ac:chgData name="정관 함" userId="8509c021bc61990b" providerId="LiveId" clId="{AC9CB4A8-4F96-497B-B902-3710E37C276C}" dt="2026-09-10T02:24:35.351" v="252" actId="22"/>
          <ac:spMkLst>
            <pc:docMk/>
            <pc:sldMk cId="0" sldId="260"/>
            <ac:spMk id="66" creationId="{1D185656-590D-B173-14C6-E03EDA616EFF}"/>
          </ac:spMkLst>
        </pc:spChg>
        <pc:spChg chg="add mod">
          <ac:chgData name="정관 함" userId="8509c021bc61990b" providerId="LiveId" clId="{AC9CB4A8-4F96-497B-B902-3710E37C276C}" dt="2026-09-10T02:24:43.082" v="254" actId="767"/>
          <ac:spMkLst>
            <pc:docMk/>
            <pc:sldMk cId="0" sldId="260"/>
            <ac:spMk id="67" creationId="{D9BCE8B5-D7F2-4387-FDDE-448B4138DAE2}"/>
          </ac:spMkLst>
        </pc:spChg>
      </pc:sldChg>
      <pc:sldChg chg="addSp delSp modSp mod">
        <pc:chgData name="정관 함" userId="8509c021bc61990b" providerId="LiveId" clId="{AC9CB4A8-4F96-497B-B902-3710E37C276C}" dt="2026-09-10T02:16:14.966" v="246" actId="22"/>
        <pc:sldMkLst>
          <pc:docMk/>
          <pc:sldMk cId="0" sldId="261"/>
        </pc:sldMkLst>
        <pc:spChg chg="del mod">
          <ac:chgData name="정관 함" userId="8509c021bc61990b" providerId="LiveId" clId="{AC9CB4A8-4F96-497B-B902-3710E37C276C}" dt="2026-09-10T02:15:55.475" v="243" actId="478"/>
          <ac:spMkLst>
            <pc:docMk/>
            <pc:sldMk cId="0" sldId="261"/>
            <ac:spMk id="27" creationId="{00000000-0000-0000-0000-000000000000}"/>
          </ac:spMkLst>
        </pc:spChg>
        <pc:spChg chg="del">
          <ac:chgData name="정관 함" userId="8509c021bc61990b" providerId="LiveId" clId="{AC9CB4A8-4F96-497B-B902-3710E37C276C}" dt="2026-09-10T02:16:14.598" v="245" actId="478"/>
          <ac:spMkLst>
            <pc:docMk/>
            <pc:sldMk cId="0" sldId="261"/>
            <ac:spMk id="34" creationId="{00000000-0000-0000-0000-000000000000}"/>
          </ac:spMkLst>
        </pc:spChg>
        <pc:spChg chg="add del">
          <ac:chgData name="정관 함" userId="8509c021bc61990b" providerId="LiveId" clId="{AC9CB4A8-4F96-497B-B902-3710E37C276C}" dt="2026-09-10T02:15:52.683" v="242" actId="22"/>
          <ac:spMkLst>
            <pc:docMk/>
            <pc:sldMk cId="0" sldId="261"/>
            <ac:spMk id="37" creationId="{C0A31BC6-0A3E-6824-4DB0-0F44D7F2FD2A}"/>
          </ac:spMkLst>
        </pc:spChg>
        <pc:spChg chg="add">
          <ac:chgData name="정관 함" userId="8509c021bc61990b" providerId="LiveId" clId="{AC9CB4A8-4F96-497B-B902-3710E37C276C}" dt="2026-09-10T02:15:56.375" v="244" actId="22"/>
          <ac:spMkLst>
            <pc:docMk/>
            <pc:sldMk cId="0" sldId="261"/>
            <ac:spMk id="39" creationId="{9177FF8B-EE5E-C530-DD8E-A34920C13C5D}"/>
          </ac:spMkLst>
        </pc:spChg>
        <pc:spChg chg="add">
          <ac:chgData name="정관 함" userId="8509c021bc61990b" providerId="LiveId" clId="{AC9CB4A8-4F96-497B-B902-3710E37C276C}" dt="2026-09-10T02:16:14.966" v="246" actId="22"/>
          <ac:spMkLst>
            <pc:docMk/>
            <pc:sldMk cId="0" sldId="261"/>
            <ac:spMk id="41" creationId="{BA25582E-668B-F957-DA04-FEFA5B3AC158}"/>
          </ac:spMkLst>
        </pc:spChg>
      </pc:sldChg>
      <pc:sldChg chg="addSp delSp modSp mod modNotesTx">
        <pc:chgData name="정관 함" userId="8509c021bc61990b" providerId="LiveId" clId="{AC9CB4A8-4F96-497B-B902-3710E37C276C}" dt="2026-09-10T02:04:32.653" v="35" actId="20577"/>
        <pc:sldMkLst>
          <pc:docMk/>
          <pc:sldMk cId="0" sldId="268"/>
        </pc:sldMkLst>
        <pc:grpChg chg="del mod">
          <ac:chgData name="정관 함" userId="8509c021bc61990b" providerId="LiveId" clId="{AC9CB4A8-4F96-497B-B902-3710E37C276C}" dt="2026-09-10T02:04:18.177" v="24" actId="478"/>
          <ac:grpSpMkLst>
            <pc:docMk/>
            <pc:sldMk cId="0" sldId="268"/>
            <ac:grpSpMk id="8" creationId="{00000000-0000-0000-0000-000000000000}"/>
          </ac:grpSpMkLst>
        </pc:grpChg>
        <pc:picChg chg="add mod ord">
          <ac:chgData name="정관 함" userId="8509c021bc61990b" providerId="LiveId" clId="{AC9CB4A8-4F96-497B-B902-3710E37C276C}" dt="2026-09-10T02:04:12.607" v="22" actId="167"/>
          <ac:picMkLst>
            <pc:docMk/>
            <pc:sldMk cId="0" sldId="268"/>
            <ac:picMk id="14" creationId="{BD924835-6C80-A775-502B-F68088108259}"/>
          </ac:picMkLst>
        </pc:picChg>
      </pc:sldChg>
      <pc:sldChg chg="modSp mod">
        <pc:chgData name="정관 함" userId="8509c021bc61990b" providerId="LiveId" clId="{AC9CB4A8-4F96-497B-B902-3710E37C276C}" dt="2026-09-10T00:49:59.616" v="8"/>
        <pc:sldMkLst>
          <pc:docMk/>
          <pc:sldMk cId="0" sldId="272"/>
        </pc:sldMkLst>
        <pc:graphicFrameChg chg="mod modGraphic">
          <ac:chgData name="정관 함" userId="8509c021bc61990b" providerId="LiveId" clId="{AC9CB4A8-4F96-497B-B902-3710E37C276C}" dt="2026-09-10T00:49:59.616" v="8"/>
          <ac:graphicFrameMkLst>
            <pc:docMk/>
            <pc:sldMk cId="0" sldId="272"/>
            <ac:graphicFrameMk id="16" creationId="{00000000-0000-0000-0000-000000000000}"/>
          </ac:graphicFrameMkLst>
        </pc:graphicFrameChg>
      </pc:sldChg>
      <pc:sldChg chg="modSp mod">
        <pc:chgData name="정관 함" userId="8509c021bc61990b" providerId="LiveId" clId="{AC9CB4A8-4F96-497B-B902-3710E37C276C}" dt="2026-09-10T00:50:45.368" v="12" actId="14100"/>
        <pc:sldMkLst>
          <pc:docMk/>
          <pc:sldMk cId="0" sldId="277"/>
        </pc:sldMkLst>
        <pc:spChg chg="mod">
          <ac:chgData name="정관 함" userId="8509c021bc61990b" providerId="LiveId" clId="{AC9CB4A8-4F96-497B-B902-3710E37C276C}" dt="2026-09-10T00:50:45.368" v="12" actId="14100"/>
          <ac:spMkLst>
            <pc:docMk/>
            <pc:sldMk cId="0" sldId="277"/>
            <ac:spMk id="21" creationId="{00000000-0000-0000-0000-000000000000}"/>
          </ac:spMkLst>
        </pc:spChg>
      </pc:sldChg>
    </pc:docChg>
  </pc:docChgLst>
  <pc:docChgLst>
    <pc:chgData name="정관 함" userId="8509c021bc61990b" providerId="LiveId" clId="{2FAE2BBA-E993-4551-80AA-695860CA3A74}"/>
    <pc:docChg chg="undo custSel mod modSld">
      <pc:chgData name="정관 함" userId="8509c021bc61990b" providerId="LiveId" clId="{2FAE2BBA-E993-4551-80AA-695860CA3A74}" dt="2026-09-09T18:31:58.495" v="39"/>
      <pc:docMkLst>
        <pc:docMk/>
      </pc:docMkLst>
      <pc:sldChg chg="modSp mod">
        <pc:chgData name="정관 함" userId="8509c021bc61990b" providerId="LiveId" clId="{2FAE2BBA-E993-4551-80AA-695860CA3A74}" dt="2026-09-09T18:31:31.920" v="38" actId="14100"/>
        <pc:sldMkLst>
          <pc:docMk/>
          <pc:sldMk cId="0" sldId="256"/>
        </pc:sldMkLst>
        <pc:spChg chg="mod">
          <ac:chgData name="정관 함" userId="8509c021bc61990b" providerId="LiveId" clId="{2FAE2BBA-E993-4551-80AA-695860CA3A74}" dt="2026-09-09T18:31:31.920" v="38" actId="14100"/>
          <ac:spMkLst>
            <pc:docMk/>
            <pc:sldMk cId="0" sldId="256"/>
            <ac:spMk id="17" creationId="{00000000-0000-0000-0000-000000000000}"/>
          </ac:spMkLst>
        </pc:spChg>
      </pc:sldChg>
      <pc:sldChg chg="modNotesTx">
        <pc:chgData name="정관 함" userId="8509c021bc61990b" providerId="LiveId" clId="{2FAE2BBA-E993-4551-80AA-695860CA3A74}" dt="2026-09-09T18:17:47.728" v="7" actId="20577"/>
        <pc:sldMkLst>
          <pc:docMk/>
          <pc:sldMk cId="0" sldId="259"/>
        </pc:sldMkLst>
      </pc:sldChg>
      <pc:sldChg chg="modSp mod">
        <pc:chgData name="정관 함" userId="8509c021bc61990b" providerId="LiveId" clId="{2FAE2BBA-E993-4551-80AA-695860CA3A74}" dt="2026-09-09T18:22:38.409" v="17" actId="14100"/>
        <pc:sldMkLst>
          <pc:docMk/>
          <pc:sldMk cId="0" sldId="267"/>
        </pc:sldMkLst>
        <pc:spChg chg="mod">
          <ac:chgData name="정관 함" userId="8509c021bc61990b" providerId="LiveId" clId="{2FAE2BBA-E993-4551-80AA-695860CA3A74}" dt="2026-09-09T18:22:38.409" v="17" actId="14100"/>
          <ac:spMkLst>
            <pc:docMk/>
            <pc:sldMk cId="0" sldId="267"/>
            <ac:spMk id="15" creationId="{00000000-0000-0000-0000-000000000000}"/>
          </ac:spMkLst>
        </pc:spChg>
        <pc:grpChg chg="mod">
          <ac:chgData name="정관 함" userId="8509c021bc61990b" providerId="LiveId" clId="{2FAE2BBA-E993-4551-80AA-695860CA3A74}" dt="2026-09-09T18:21:38.367" v="15" actId="1076"/>
          <ac:grpSpMkLst>
            <pc:docMk/>
            <pc:sldMk cId="0" sldId="267"/>
            <ac:grpSpMk id="7" creationId="{00000000-0000-0000-0000-000000000000}"/>
          </ac:grpSpMkLst>
        </pc:grpChg>
        <pc:grpChg chg="mod">
          <ac:chgData name="정관 함" userId="8509c021bc61990b" providerId="LiveId" clId="{2FAE2BBA-E993-4551-80AA-695860CA3A74}" dt="2026-09-09T18:21:38.959" v="16" actId="1076"/>
          <ac:grpSpMkLst>
            <pc:docMk/>
            <pc:sldMk cId="0" sldId="267"/>
            <ac:grpSpMk id="9" creationId="{00000000-0000-0000-0000-000000000000}"/>
          </ac:grpSpMkLst>
        </pc:grpChg>
      </pc:sldChg>
      <pc:sldChg chg="modSp mod">
        <pc:chgData name="정관 함" userId="8509c021bc61990b" providerId="LiveId" clId="{2FAE2BBA-E993-4551-80AA-695860CA3A74}" dt="2026-09-09T18:23:25.683" v="24" actId="14100"/>
        <pc:sldMkLst>
          <pc:docMk/>
          <pc:sldMk cId="0" sldId="268"/>
        </pc:sldMkLst>
        <pc:grpChg chg="mod">
          <ac:chgData name="정관 함" userId="8509c021bc61990b" providerId="LiveId" clId="{2FAE2BBA-E993-4551-80AA-695860CA3A74}" dt="2026-09-09T18:23:25.683" v="24" actId="14100"/>
          <ac:grpSpMkLst>
            <pc:docMk/>
            <pc:sldMk cId="0" sldId="268"/>
            <ac:grpSpMk id="8" creationId="{00000000-0000-0000-0000-000000000000}"/>
          </ac:grpSpMkLst>
        </pc:grpChg>
      </pc:sldChg>
      <pc:sldChg chg="modSp mod">
        <pc:chgData name="정관 함" userId="8509c021bc61990b" providerId="LiveId" clId="{2FAE2BBA-E993-4551-80AA-695860CA3A74}" dt="2026-09-09T18:24:30.767" v="31" actId="114"/>
        <pc:sldMkLst>
          <pc:docMk/>
          <pc:sldMk cId="0" sldId="272"/>
        </pc:sldMkLst>
        <pc:spChg chg="mod">
          <ac:chgData name="정관 함" userId="8509c021bc61990b" providerId="LiveId" clId="{2FAE2BBA-E993-4551-80AA-695860CA3A74}" dt="2026-09-09T18:23:56.697" v="27" actId="1076"/>
          <ac:spMkLst>
            <pc:docMk/>
            <pc:sldMk cId="0" sldId="272"/>
            <ac:spMk id="10" creationId="{00000000-0000-0000-0000-000000000000}"/>
          </ac:spMkLst>
        </pc:spChg>
        <pc:spChg chg="mod">
          <ac:chgData name="정관 함" userId="8509c021bc61990b" providerId="LiveId" clId="{2FAE2BBA-E993-4551-80AA-695860CA3A74}" dt="2026-09-09T18:24:09.375" v="29" actId="1076"/>
          <ac:spMkLst>
            <pc:docMk/>
            <pc:sldMk cId="0" sldId="272"/>
            <ac:spMk id="11" creationId="{00000000-0000-0000-0000-000000000000}"/>
          </ac:spMkLst>
        </pc:spChg>
        <pc:spChg chg="mod">
          <ac:chgData name="정관 함" userId="8509c021bc61990b" providerId="LiveId" clId="{2FAE2BBA-E993-4551-80AA-695860CA3A74}" dt="2026-09-09T18:24:30.767" v="31" actId="114"/>
          <ac:spMkLst>
            <pc:docMk/>
            <pc:sldMk cId="0" sldId="272"/>
            <ac:spMk id="12" creationId="{00000000-0000-0000-0000-000000000000}"/>
          </ac:spMkLst>
        </pc:spChg>
        <pc:graphicFrameChg chg="modGraphic">
          <ac:chgData name="정관 함" userId="8509c021bc61990b" providerId="LiveId" clId="{2FAE2BBA-E993-4551-80AA-695860CA3A74}" dt="2026-09-09T18:23:45.765" v="26" actId="14734"/>
          <ac:graphicFrameMkLst>
            <pc:docMk/>
            <pc:sldMk cId="0" sldId="272"/>
            <ac:graphicFrameMk id="16" creationId="{00000000-0000-0000-0000-000000000000}"/>
          </ac:graphicFrameMkLst>
        </pc:graphicFrameChg>
      </pc:sldChg>
      <pc:sldChg chg="modSp mod">
        <pc:chgData name="정관 함" userId="8509c021bc61990b" providerId="LiveId" clId="{2FAE2BBA-E993-4551-80AA-695860CA3A74}" dt="2026-09-09T18:21:08.089" v="11" actId="14100"/>
        <pc:sldMkLst>
          <pc:docMk/>
          <pc:sldMk cId="0" sldId="275"/>
        </pc:sldMkLst>
        <pc:spChg chg="mod">
          <ac:chgData name="정관 함" userId="8509c021bc61990b" providerId="LiveId" clId="{2FAE2BBA-E993-4551-80AA-695860CA3A74}" dt="2026-09-09T18:21:08.089" v="11" actId="14100"/>
          <ac:spMkLst>
            <pc:docMk/>
            <pc:sldMk cId="0" sldId="275"/>
            <ac:spMk id="20" creationId="{00000000-0000-0000-0000-000000000000}"/>
          </ac:spMkLst>
        </pc:spChg>
        <pc:graphicFrameChg chg="mod">
          <ac:chgData name="정관 함" userId="8509c021bc61990b" providerId="LiveId" clId="{2FAE2BBA-E993-4551-80AA-695860CA3A74}" dt="2026-09-09T18:21:02.392" v="10" actId="1076"/>
          <ac:graphicFrameMkLst>
            <pc:docMk/>
            <pc:sldMk cId="0" sldId="275"/>
            <ac:graphicFrameMk id="13" creationId="{00000000-0000-0000-0000-000000000000}"/>
          </ac:graphicFrameMkLst>
        </pc:graphicFrameChg>
        <pc:graphicFrameChg chg="mod">
          <ac:chgData name="정관 함" userId="8509c021bc61990b" providerId="LiveId" clId="{2FAE2BBA-E993-4551-80AA-695860CA3A74}" dt="2026-09-09T18:21:02.392" v="10" actId="1076"/>
          <ac:graphicFrameMkLst>
            <pc:docMk/>
            <pc:sldMk cId="0" sldId="275"/>
            <ac:graphicFrameMk id="17" creationId="{00000000-0000-0000-0000-000000000000}"/>
          </ac:graphicFrameMkLst>
        </pc:graphicFrameChg>
        <pc:graphicFrameChg chg="mod">
          <ac:chgData name="정관 함" userId="8509c021bc61990b" providerId="LiveId" clId="{2FAE2BBA-E993-4551-80AA-695860CA3A74}" dt="2026-09-09T18:21:02.392" v="10" actId="1076"/>
          <ac:graphicFrameMkLst>
            <pc:docMk/>
            <pc:sldMk cId="0" sldId="275"/>
            <ac:graphicFrameMk id="18" creationId="{00000000-0000-0000-0000-000000000000}"/>
          </ac:graphicFrameMkLst>
        </pc:graphicFrameChg>
      </pc:sldChg>
      <pc:sldChg chg="modSp mod">
        <pc:chgData name="정관 함" userId="8509c021bc61990b" providerId="LiveId" clId="{2FAE2BBA-E993-4551-80AA-695860CA3A74}" dt="2026-09-09T18:25:18.563" v="33" actId="403"/>
        <pc:sldMkLst>
          <pc:docMk/>
          <pc:sldMk cId="0" sldId="276"/>
        </pc:sldMkLst>
        <pc:spChg chg="mod">
          <ac:chgData name="정관 함" userId="8509c021bc61990b" providerId="LiveId" clId="{2FAE2BBA-E993-4551-80AA-695860CA3A74}" dt="2026-09-09T18:21:21.190" v="12" actId="14100"/>
          <ac:spMkLst>
            <pc:docMk/>
            <pc:sldMk cId="0" sldId="276"/>
            <ac:spMk id="22" creationId="{00000000-0000-0000-0000-000000000000}"/>
          </ac:spMkLst>
        </pc:spChg>
        <pc:graphicFrameChg chg="modGraphic">
          <ac:chgData name="정관 함" userId="8509c021bc61990b" providerId="LiveId" clId="{2FAE2BBA-E993-4551-80AA-695860CA3A74}" dt="2026-09-09T18:25:18.563" v="33" actId="403"/>
          <ac:graphicFrameMkLst>
            <pc:docMk/>
            <pc:sldMk cId="0" sldId="276"/>
            <ac:graphicFrameMk id="23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10.09.2026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안녕하십니까</a:t>
            </a:r>
            <a:r>
              <a:rPr lang="en-US" dirty="0"/>
              <a:t>. </a:t>
            </a:r>
            <a:r>
              <a:rPr lang="ko-KR" altLang="en-US" dirty="0" err="1"/>
              <a:t>오믹스</a:t>
            </a:r>
            <a:r>
              <a:rPr lang="en-US" altLang="ko-KR" dirty="0"/>
              <a:t>, </a:t>
            </a:r>
            <a:r>
              <a:rPr lang="ko-KR" altLang="en-US" dirty="0" err="1"/>
              <a:t>마이크로바이옴</a:t>
            </a:r>
            <a:r>
              <a:rPr lang="ko-KR" altLang="en-US" dirty="0"/>
              <a:t> 응용 프로젝트로 </a:t>
            </a:r>
            <a:r>
              <a:rPr lang="en-US" altLang="ko-KR" dirty="0"/>
              <a:t>1</a:t>
            </a:r>
            <a:r>
              <a:rPr lang="ko-KR" altLang="en-US" dirty="0"/>
              <a:t>조의 발표를 맞게 된 함정관 입니다</a:t>
            </a:r>
            <a:r>
              <a:rPr lang="en-US" altLang="ko-KR" dirty="0"/>
              <a:t>.</a:t>
            </a:r>
            <a:endParaRPr lang="en-US" dirty="0"/>
          </a:p>
          <a:p>
            <a:r>
              <a:rPr lang="en-US" dirty="0" err="1"/>
              <a:t>저희는</a:t>
            </a:r>
            <a:r>
              <a:rPr lang="en-US" dirty="0"/>
              <a:t> </a:t>
            </a:r>
            <a:r>
              <a:rPr lang="en-US" dirty="0" err="1"/>
              <a:t>수도권에서의</a:t>
            </a:r>
            <a:r>
              <a:rPr lang="en-US" dirty="0"/>
              <a:t> </a:t>
            </a:r>
            <a:r>
              <a:rPr lang="en-US" dirty="0" err="1"/>
              <a:t>도로변과</a:t>
            </a:r>
            <a:r>
              <a:rPr lang="en-US" dirty="0"/>
              <a:t> </a:t>
            </a:r>
            <a:r>
              <a:rPr lang="en-US" dirty="0" err="1"/>
              <a:t>공원</a:t>
            </a:r>
            <a:r>
              <a:rPr lang="en-US" dirty="0"/>
              <a:t> </a:t>
            </a:r>
            <a:r>
              <a:rPr lang="en-US" dirty="0" err="1"/>
              <a:t>토양의</a:t>
            </a:r>
            <a:r>
              <a:rPr lang="en-US" dirty="0"/>
              <a:t> </a:t>
            </a:r>
            <a:r>
              <a:rPr lang="en-US" dirty="0" err="1"/>
              <a:t>세균</a:t>
            </a:r>
            <a:r>
              <a:rPr lang="en-US" dirty="0"/>
              <a:t> </a:t>
            </a:r>
            <a:r>
              <a:rPr lang="en-US" dirty="0" err="1"/>
              <a:t>군집을</a:t>
            </a:r>
            <a:r>
              <a:rPr lang="en-US" dirty="0"/>
              <a:t> </a:t>
            </a:r>
            <a:r>
              <a:rPr lang="en-US" dirty="0" err="1"/>
              <a:t>비교하고</a:t>
            </a:r>
            <a:r>
              <a:rPr lang="en-US" dirty="0"/>
              <a:t>,</a:t>
            </a:r>
          </a:p>
          <a:p>
            <a:r>
              <a:rPr lang="en-US" dirty="0" err="1"/>
              <a:t>AI를</a:t>
            </a:r>
            <a:r>
              <a:rPr lang="en-US" dirty="0"/>
              <a:t> </a:t>
            </a:r>
            <a:r>
              <a:rPr lang="en-US" dirty="0" err="1"/>
              <a:t>활용해</a:t>
            </a:r>
            <a:r>
              <a:rPr lang="en-US" dirty="0"/>
              <a:t> </a:t>
            </a:r>
            <a:r>
              <a:rPr lang="en-US" dirty="0" err="1"/>
              <a:t>미생물</a:t>
            </a:r>
            <a:r>
              <a:rPr lang="en-US" dirty="0"/>
              <a:t> </a:t>
            </a:r>
            <a:r>
              <a:rPr lang="en-US" dirty="0" err="1"/>
              <a:t>배양</a:t>
            </a:r>
            <a:r>
              <a:rPr lang="en-US" dirty="0"/>
              <a:t> </a:t>
            </a:r>
            <a:r>
              <a:rPr lang="en-US" dirty="0" err="1"/>
              <a:t>조건을</a:t>
            </a:r>
            <a:r>
              <a:rPr lang="en-US" dirty="0"/>
              <a:t> </a:t>
            </a:r>
            <a:r>
              <a:rPr lang="en-US" dirty="0" err="1"/>
              <a:t>최적화하는</a:t>
            </a:r>
            <a:r>
              <a:rPr lang="en-US" dirty="0"/>
              <a:t> </a:t>
            </a:r>
            <a:r>
              <a:rPr lang="en-US" dirty="0" err="1"/>
              <a:t>프로젝트를</a:t>
            </a:r>
            <a:r>
              <a:rPr lang="en-US" dirty="0"/>
              <a:t> </a:t>
            </a:r>
            <a:r>
              <a:rPr lang="ko-KR" altLang="en-US" dirty="0" err="1"/>
              <a:t>수행하였습니</a:t>
            </a:r>
            <a:r>
              <a:rPr lang="en-US"/>
              <a:t>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발표는 우선 도시 토양 마이크로바이옴을 연구하게 된 배경을 설명하고,</a:t>
            </a:r>
          </a:p>
          <a:p>
            <a:r>
              <a:rPr lang="en-US"/>
              <a:t>시료 채취와 분석 방법을 소개하겠습니다.</a:t>
            </a:r>
          </a:p>
          <a:p>
            <a:endParaRPr lang="en-US"/>
          </a:p>
          <a:p>
            <a:r>
              <a:rPr lang="en-US"/>
              <a:t>이후에는 METIS를 이용한 배양 최적화 결과와 연구의 의의 및 한계를 말씀드리겠습니다.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먼저 연구 배경입니다.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마이크로바이옴은</a:t>
            </a:r>
            <a:r>
              <a:rPr lang="en-US" dirty="0"/>
              <a:t> </a:t>
            </a:r>
            <a:r>
              <a:rPr lang="en-US" dirty="0" err="1"/>
              <a:t>특정</a:t>
            </a:r>
            <a:r>
              <a:rPr lang="en-US" dirty="0"/>
              <a:t> </a:t>
            </a:r>
            <a:r>
              <a:rPr lang="en-US" dirty="0" err="1"/>
              <a:t>환경에</a:t>
            </a:r>
            <a:r>
              <a:rPr lang="en-US" dirty="0"/>
              <a:t> </a:t>
            </a:r>
            <a:r>
              <a:rPr lang="en-US" dirty="0" err="1"/>
              <a:t>존재하는</a:t>
            </a:r>
            <a:r>
              <a:rPr lang="en-US" dirty="0"/>
              <a:t> </a:t>
            </a:r>
            <a:r>
              <a:rPr lang="en-US" dirty="0" err="1"/>
              <a:t>미생물</a:t>
            </a:r>
            <a:r>
              <a:rPr lang="en-US" dirty="0"/>
              <a:t> </a:t>
            </a:r>
            <a:r>
              <a:rPr lang="en-US" dirty="0" err="1"/>
              <a:t>군집</a:t>
            </a:r>
            <a:r>
              <a:rPr lang="en-US" dirty="0"/>
              <a:t> </a:t>
            </a:r>
            <a:r>
              <a:rPr lang="en-US" dirty="0" err="1"/>
              <a:t>뿐만</a:t>
            </a:r>
            <a:r>
              <a:rPr lang="en-US" dirty="0"/>
              <a:t> </a:t>
            </a:r>
            <a:r>
              <a:rPr lang="en-US" dirty="0" err="1"/>
              <a:t>아니라</a:t>
            </a:r>
            <a:r>
              <a:rPr lang="en-US" dirty="0"/>
              <a:t> / </a:t>
            </a:r>
            <a:r>
              <a:rPr lang="en-US" dirty="0" err="1"/>
              <a:t>이들의</a:t>
            </a:r>
            <a:r>
              <a:rPr lang="en-US" dirty="0"/>
              <a:t> </a:t>
            </a:r>
            <a:r>
              <a:rPr lang="en-US" dirty="0" err="1"/>
              <a:t>유전</a:t>
            </a:r>
            <a:r>
              <a:rPr lang="en-US" dirty="0"/>
              <a:t> </a:t>
            </a:r>
            <a:r>
              <a:rPr lang="en-US" dirty="0" err="1"/>
              <a:t>정보와</a:t>
            </a:r>
            <a:r>
              <a:rPr lang="en-US" dirty="0"/>
              <a:t> </a:t>
            </a:r>
            <a:r>
              <a:rPr lang="en-US" dirty="0" err="1"/>
              <a:t>기능까지</a:t>
            </a:r>
            <a:r>
              <a:rPr lang="en-US" dirty="0"/>
              <a:t> </a:t>
            </a:r>
            <a:r>
              <a:rPr lang="en-US" dirty="0" err="1"/>
              <a:t>포괄하는</a:t>
            </a:r>
            <a:r>
              <a:rPr lang="en-US" dirty="0"/>
              <a:t> </a:t>
            </a:r>
            <a:r>
              <a:rPr lang="en-US" dirty="0" err="1"/>
              <a:t>개념입니다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장이나</a:t>
            </a:r>
            <a:r>
              <a:rPr lang="en-US" dirty="0"/>
              <a:t> </a:t>
            </a:r>
            <a:r>
              <a:rPr lang="en-US" dirty="0" err="1"/>
              <a:t>피부</a:t>
            </a:r>
            <a:r>
              <a:rPr lang="en-US" dirty="0"/>
              <a:t> </a:t>
            </a:r>
            <a:r>
              <a:rPr lang="en-US" dirty="0" err="1"/>
              <a:t>같은</a:t>
            </a:r>
            <a:r>
              <a:rPr lang="en-US" dirty="0"/>
              <a:t> </a:t>
            </a:r>
            <a:r>
              <a:rPr lang="en-US" dirty="0" err="1"/>
              <a:t>인체</a:t>
            </a:r>
            <a:r>
              <a:rPr lang="en-US" dirty="0"/>
              <a:t> </a:t>
            </a:r>
            <a:r>
              <a:rPr lang="en-US" dirty="0" err="1"/>
              <a:t>부위</a:t>
            </a:r>
            <a:r>
              <a:rPr lang="en-US" dirty="0"/>
              <a:t> </a:t>
            </a:r>
            <a:r>
              <a:rPr lang="en-US" dirty="0" err="1"/>
              <a:t>뿐만</a:t>
            </a:r>
            <a:r>
              <a:rPr lang="en-US" dirty="0"/>
              <a:t> </a:t>
            </a:r>
            <a:r>
              <a:rPr lang="en-US" dirty="0" err="1"/>
              <a:t>아니라</a:t>
            </a:r>
            <a:r>
              <a:rPr lang="en-US" dirty="0"/>
              <a:t> / </a:t>
            </a:r>
            <a:r>
              <a:rPr lang="en-US" dirty="0" err="1"/>
              <a:t>토양</a:t>
            </a:r>
            <a:r>
              <a:rPr lang="en-US" dirty="0"/>
              <a:t>, 물, </a:t>
            </a:r>
            <a:r>
              <a:rPr lang="en-US" dirty="0" err="1"/>
              <a:t>공기에도</a:t>
            </a:r>
            <a:r>
              <a:rPr lang="en-US" dirty="0"/>
              <a:t> </a:t>
            </a:r>
            <a:r>
              <a:rPr lang="en-US" dirty="0" err="1"/>
              <a:t>각각</a:t>
            </a:r>
            <a:r>
              <a:rPr lang="en-US" dirty="0"/>
              <a:t> </a:t>
            </a:r>
            <a:r>
              <a:rPr lang="en-US" dirty="0" err="1"/>
              <a:t>고유한</a:t>
            </a:r>
            <a:r>
              <a:rPr lang="en-US" dirty="0"/>
              <a:t> </a:t>
            </a:r>
            <a:r>
              <a:rPr lang="en-US" dirty="0" err="1"/>
              <a:t>마이크로바이옴이</a:t>
            </a:r>
            <a:r>
              <a:rPr lang="en-US" dirty="0"/>
              <a:t> </a:t>
            </a:r>
            <a:r>
              <a:rPr lang="en-US" dirty="0" err="1"/>
              <a:t>형성됩니다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최근에는</a:t>
            </a:r>
            <a:r>
              <a:rPr lang="en-US" dirty="0"/>
              <a:t> </a:t>
            </a:r>
            <a:r>
              <a:rPr lang="en-US" dirty="0" err="1"/>
              <a:t>인체</a:t>
            </a:r>
            <a:r>
              <a:rPr lang="en-US" dirty="0"/>
              <a:t> </a:t>
            </a:r>
            <a:r>
              <a:rPr lang="en-US" dirty="0" err="1"/>
              <a:t>내부만</a:t>
            </a:r>
            <a:r>
              <a:rPr lang="en-US" dirty="0"/>
              <a:t> </a:t>
            </a:r>
            <a:r>
              <a:rPr lang="en-US" dirty="0" err="1"/>
              <a:t>따로</a:t>
            </a:r>
            <a:r>
              <a:rPr lang="en-US" dirty="0"/>
              <a:t> </a:t>
            </a:r>
            <a:r>
              <a:rPr lang="en-US" dirty="0" err="1"/>
              <a:t>보는</a:t>
            </a:r>
            <a:r>
              <a:rPr lang="en-US" dirty="0"/>
              <a:t> </a:t>
            </a:r>
            <a:r>
              <a:rPr lang="en-US" dirty="0" err="1"/>
              <a:t>것을</a:t>
            </a:r>
            <a:r>
              <a:rPr lang="en-US" dirty="0"/>
              <a:t> </a:t>
            </a:r>
            <a:r>
              <a:rPr lang="en-US" dirty="0" err="1"/>
              <a:t>넘어</a:t>
            </a:r>
            <a:r>
              <a:rPr lang="en-US" dirty="0"/>
              <a:t>,</a:t>
            </a:r>
          </a:p>
          <a:p>
            <a:r>
              <a:rPr lang="en-US" dirty="0" err="1"/>
              <a:t>주변</a:t>
            </a:r>
            <a:r>
              <a:rPr lang="en-US" dirty="0"/>
              <a:t> </a:t>
            </a:r>
            <a:r>
              <a:rPr lang="en-US" dirty="0" err="1"/>
              <a:t>환경과</a:t>
            </a:r>
            <a:r>
              <a:rPr lang="en-US" dirty="0"/>
              <a:t> </a:t>
            </a:r>
            <a:r>
              <a:rPr lang="en-US" dirty="0" err="1"/>
              <a:t>인체</a:t>
            </a:r>
            <a:r>
              <a:rPr lang="en-US" dirty="0"/>
              <a:t> </a:t>
            </a:r>
            <a:r>
              <a:rPr lang="en-US" dirty="0" err="1"/>
              <a:t>사이의</a:t>
            </a:r>
            <a:r>
              <a:rPr lang="en-US" dirty="0"/>
              <a:t> </a:t>
            </a:r>
            <a:r>
              <a:rPr lang="en-US" dirty="0" err="1"/>
              <a:t>미생물</a:t>
            </a:r>
            <a:r>
              <a:rPr lang="en-US" dirty="0"/>
              <a:t> </a:t>
            </a:r>
            <a:r>
              <a:rPr lang="en-US" dirty="0" err="1"/>
              <a:t>노출</a:t>
            </a:r>
            <a:r>
              <a:rPr lang="en-US" dirty="0"/>
              <a:t> 및 </a:t>
            </a:r>
            <a:r>
              <a:rPr lang="en-US" dirty="0" err="1"/>
              <a:t>교환을</a:t>
            </a:r>
            <a:endParaRPr lang="en-US" dirty="0"/>
          </a:p>
          <a:p>
            <a:r>
              <a:rPr lang="en-US" dirty="0" err="1"/>
              <a:t>함께</a:t>
            </a:r>
            <a:r>
              <a:rPr lang="en-US" dirty="0"/>
              <a:t> / </a:t>
            </a:r>
            <a:r>
              <a:rPr lang="en-US" dirty="0" err="1"/>
              <a:t>이해하려는</a:t>
            </a:r>
            <a:r>
              <a:rPr lang="en-US" dirty="0"/>
              <a:t> </a:t>
            </a:r>
            <a:r>
              <a:rPr lang="en-US" dirty="0" err="1"/>
              <a:t>방향으로</a:t>
            </a:r>
            <a:r>
              <a:rPr lang="en-US" dirty="0"/>
              <a:t> </a:t>
            </a:r>
            <a:r>
              <a:rPr lang="en-US" dirty="0" err="1"/>
              <a:t>연구가</a:t>
            </a:r>
            <a:r>
              <a:rPr lang="en-US" dirty="0"/>
              <a:t> </a:t>
            </a:r>
            <a:r>
              <a:rPr lang="en-US" dirty="0" err="1"/>
              <a:t>확장되고</a:t>
            </a:r>
            <a:r>
              <a:rPr lang="en-US" dirty="0"/>
              <a:t> </a:t>
            </a:r>
            <a:r>
              <a:rPr lang="en-US" dirty="0" err="1"/>
              <a:t>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사람은 토양과 식생에 직접 접촉하거나 공기와 먼지를 흡입하면서 환경 미생물에 계속 노출됩니다.</a:t>
            </a:r>
          </a:p>
          <a:p>
            <a:endParaRPr lang="en-US"/>
          </a:p>
          <a:p>
            <a:r>
              <a:rPr lang="en-US"/>
              <a:t>선행연구에서는 녹지 노출 이후</a:t>
            </a:r>
          </a:p>
          <a:p>
            <a:r>
              <a:rPr lang="en-US"/>
              <a:t>비강 마이크로바이옴은 대기와,</a:t>
            </a:r>
          </a:p>
          <a:p>
            <a:r>
              <a:rPr lang="en-US"/>
              <a:t>피부 마이크로바이옴은 토양과 더 유사해지는 양상이 관찰됐습니다.</a:t>
            </a:r>
          </a:p>
          <a:p>
            <a:endParaRPr lang="en-US"/>
          </a:p>
          <a:p>
            <a:r>
              <a:rPr lang="en-US"/>
              <a:t>다만 환경 미생물이 인체에 장기간 정착한다는 뜻은 아니며,</a:t>
            </a:r>
          </a:p>
          <a:p>
            <a:r>
              <a:rPr lang="en-US"/>
              <a:t>주변 환경의 미생물 조성이 우리가 접하는 노출 패턴에 영향을 줄 수 있다는 의미입니다.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도시</a:t>
            </a:r>
            <a:r>
              <a:rPr lang="en-US" dirty="0"/>
              <a:t> </a:t>
            </a:r>
            <a:r>
              <a:rPr lang="en-US" dirty="0" err="1"/>
              <a:t>안에서도</a:t>
            </a:r>
            <a:r>
              <a:rPr lang="en-US" dirty="0"/>
              <a:t> </a:t>
            </a:r>
            <a:r>
              <a:rPr lang="en-US" dirty="0" err="1"/>
              <a:t>토양이</a:t>
            </a:r>
            <a:r>
              <a:rPr lang="en-US" dirty="0"/>
              <a:t> </a:t>
            </a:r>
            <a:r>
              <a:rPr lang="en-US" dirty="0" err="1"/>
              <a:t>받는</a:t>
            </a:r>
            <a:r>
              <a:rPr lang="en-US" dirty="0"/>
              <a:t> </a:t>
            </a:r>
            <a:r>
              <a:rPr lang="en-US" dirty="0" err="1"/>
              <a:t>선택</a:t>
            </a:r>
            <a:r>
              <a:rPr lang="en-US" dirty="0"/>
              <a:t> </a:t>
            </a:r>
            <a:r>
              <a:rPr lang="en-US" dirty="0" err="1"/>
              <a:t>압력은</a:t>
            </a:r>
            <a:r>
              <a:rPr lang="en-US" dirty="0"/>
              <a:t> </a:t>
            </a:r>
            <a:r>
              <a:rPr lang="en-US" dirty="0" err="1"/>
              <a:t>다릅니다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도로변</a:t>
            </a:r>
            <a:r>
              <a:rPr lang="en-US" dirty="0"/>
              <a:t> </a:t>
            </a:r>
            <a:r>
              <a:rPr lang="en-US" dirty="0" err="1"/>
              <a:t>토양은</a:t>
            </a:r>
            <a:r>
              <a:rPr lang="en-US" dirty="0"/>
              <a:t> </a:t>
            </a:r>
            <a:r>
              <a:rPr lang="en-US" dirty="0" err="1"/>
              <a:t>차량</a:t>
            </a:r>
            <a:r>
              <a:rPr lang="en-US" dirty="0"/>
              <a:t> </a:t>
            </a:r>
            <a:r>
              <a:rPr lang="en-US" dirty="0" err="1"/>
              <a:t>배기가스와</a:t>
            </a:r>
            <a:r>
              <a:rPr lang="en-US" dirty="0"/>
              <a:t> </a:t>
            </a:r>
            <a:r>
              <a:rPr lang="en-US" dirty="0" err="1"/>
              <a:t>도로</a:t>
            </a:r>
            <a:r>
              <a:rPr lang="en-US" dirty="0"/>
              <a:t> </a:t>
            </a:r>
            <a:r>
              <a:rPr lang="en-US" dirty="0" err="1"/>
              <a:t>먼지에서</a:t>
            </a:r>
            <a:r>
              <a:rPr lang="en-US" dirty="0"/>
              <a:t> </a:t>
            </a:r>
            <a:r>
              <a:rPr lang="en-US" dirty="0" err="1"/>
              <a:t>유래한</a:t>
            </a:r>
            <a:endParaRPr lang="en-US" dirty="0"/>
          </a:p>
          <a:p>
            <a:r>
              <a:rPr lang="en-US" dirty="0" err="1"/>
              <a:t>중금속</a:t>
            </a:r>
            <a:r>
              <a:rPr lang="en-US" dirty="0"/>
              <a:t>, </a:t>
            </a:r>
            <a:r>
              <a:rPr lang="en-US" dirty="0" err="1"/>
              <a:t>석유계</a:t>
            </a:r>
            <a:r>
              <a:rPr lang="en-US" dirty="0"/>
              <a:t> </a:t>
            </a:r>
            <a:r>
              <a:rPr lang="en-US" dirty="0" err="1"/>
              <a:t>탄화수소</a:t>
            </a:r>
            <a:r>
              <a:rPr lang="en-US" dirty="0"/>
              <a:t>, </a:t>
            </a:r>
            <a:r>
              <a:rPr lang="en-US" dirty="0" err="1"/>
              <a:t>다환</a:t>
            </a:r>
            <a:r>
              <a:rPr lang="en-US" dirty="0"/>
              <a:t> </a:t>
            </a:r>
            <a:r>
              <a:rPr lang="en-US" dirty="0" err="1"/>
              <a:t>방향족</a:t>
            </a:r>
            <a:r>
              <a:rPr lang="en-US" dirty="0"/>
              <a:t> </a:t>
            </a:r>
            <a:r>
              <a:rPr lang="en-US" dirty="0" err="1"/>
              <a:t>탄화수소에</a:t>
            </a:r>
            <a:r>
              <a:rPr lang="en-US" dirty="0"/>
              <a:t> </a:t>
            </a:r>
            <a:r>
              <a:rPr lang="en-US" dirty="0" err="1"/>
              <a:t>노출될</a:t>
            </a:r>
            <a:r>
              <a:rPr lang="en-US" dirty="0"/>
              <a:t> </a:t>
            </a:r>
            <a:r>
              <a:rPr lang="en-US" dirty="0" err="1"/>
              <a:t>가능성이</a:t>
            </a:r>
            <a:r>
              <a:rPr lang="en-US" dirty="0"/>
              <a:t> </a:t>
            </a:r>
            <a:r>
              <a:rPr lang="en-US" dirty="0" err="1"/>
              <a:t>큽니다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반면</a:t>
            </a:r>
            <a:r>
              <a:rPr lang="en-US" dirty="0"/>
              <a:t> </a:t>
            </a:r>
            <a:r>
              <a:rPr lang="en-US" dirty="0" err="1"/>
              <a:t>공원</a:t>
            </a:r>
            <a:r>
              <a:rPr lang="en-US" dirty="0"/>
              <a:t> </a:t>
            </a:r>
            <a:r>
              <a:rPr lang="en-US" dirty="0" err="1"/>
              <a:t>토양은</a:t>
            </a:r>
            <a:endParaRPr lang="en-US" dirty="0"/>
          </a:p>
          <a:p>
            <a:r>
              <a:rPr lang="en-US" dirty="0" err="1"/>
              <a:t>차량에</a:t>
            </a:r>
            <a:r>
              <a:rPr lang="en-US" dirty="0"/>
              <a:t> </a:t>
            </a:r>
            <a:r>
              <a:rPr lang="en-US" dirty="0" err="1"/>
              <a:t>직접</a:t>
            </a:r>
            <a:r>
              <a:rPr lang="en-US" dirty="0"/>
              <a:t> </a:t>
            </a:r>
            <a:r>
              <a:rPr lang="en-US" dirty="0" err="1"/>
              <a:t>받는</a:t>
            </a:r>
            <a:r>
              <a:rPr lang="en-US" dirty="0"/>
              <a:t> </a:t>
            </a:r>
            <a:r>
              <a:rPr lang="en-US" dirty="0" err="1"/>
              <a:t>영향이</a:t>
            </a:r>
            <a:r>
              <a:rPr lang="en-US" dirty="0"/>
              <a:t> </a:t>
            </a:r>
            <a:r>
              <a:rPr lang="en-US" dirty="0" err="1"/>
              <a:t>비교적</a:t>
            </a:r>
            <a:r>
              <a:rPr lang="en-US" dirty="0"/>
              <a:t> </a:t>
            </a:r>
            <a:r>
              <a:rPr lang="en-US" dirty="0" err="1"/>
              <a:t>적고</a:t>
            </a:r>
            <a:endParaRPr lang="en-US" dirty="0"/>
          </a:p>
          <a:p>
            <a:r>
              <a:rPr lang="en-US" dirty="0" err="1"/>
              <a:t>식생과</a:t>
            </a:r>
            <a:r>
              <a:rPr lang="en-US" dirty="0"/>
              <a:t> </a:t>
            </a:r>
            <a:r>
              <a:rPr lang="en-US" dirty="0" err="1"/>
              <a:t>녹지</a:t>
            </a:r>
            <a:r>
              <a:rPr lang="en-US" dirty="0"/>
              <a:t> </a:t>
            </a:r>
            <a:r>
              <a:rPr lang="en-US" dirty="0" err="1"/>
              <a:t>관리의</a:t>
            </a:r>
            <a:r>
              <a:rPr lang="en-US" dirty="0"/>
              <a:t> </a:t>
            </a:r>
            <a:r>
              <a:rPr lang="en-US" dirty="0" err="1"/>
              <a:t>영향을</a:t>
            </a:r>
            <a:r>
              <a:rPr lang="en-US" dirty="0"/>
              <a:t> </a:t>
            </a:r>
            <a:r>
              <a:rPr lang="en-US" dirty="0" err="1"/>
              <a:t>받습니다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저희는</a:t>
            </a:r>
            <a:r>
              <a:rPr lang="en-US" dirty="0"/>
              <a:t> 이 </a:t>
            </a:r>
            <a:r>
              <a:rPr lang="en-US" dirty="0" err="1"/>
              <a:t>차이가</a:t>
            </a:r>
            <a:r>
              <a:rPr lang="en-US" dirty="0"/>
              <a:t> </a:t>
            </a:r>
            <a:r>
              <a:rPr lang="en-US" dirty="0" err="1"/>
              <a:t>세균</a:t>
            </a:r>
            <a:r>
              <a:rPr lang="en-US" dirty="0"/>
              <a:t> </a:t>
            </a:r>
            <a:r>
              <a:rPr lang="en-US" dirty="0" err="1"/>
              <a:t>군집의</a:t>
            </a:r>
            <a:r>
              <a:rPr lang="en-US" dirty="0"/>
              <a:t> </a:t>
            </a:r>
            <a:r>
              <a:rPr lang="en-US" dirty="0" err="1"/>
              <a:t>다양성과</a:t>
            </a:r>
            <a:r>
              <a:rPr lang="en-US" dirty="0"/>
              <a:t> </a:t>
            </a:r>
            <a:r>
              <a:rPr lang="en-US" dirty="0" err="1"/>
              <a:t>조성에</a:t>
            </a:r>
            <a:r>
              <a:rPr lang="en-US" dirty="0"/>
              <a:t> </a:t>
            </a:r>
            <a:r>
              <a:rPr lang="en-US" dirty="0" err="1"/>
              <a:t>반영되는지</a:t>
            </a:r>
            <a:r>
              <a:rPr lang="en-US" dirty="0"/>
              <a:t> </a:t>
            </a:r>
            <a:r>
              <a:rPr lang="en-US" dirty="0" err="1"/>
              <a:t>비교하고자</a:t>
            </a:r>
            <a:r>
              <a:rPr lang="en-US" dirty="0"/>
              <a:t> </a:t>
            </a:r>
            <a:r>
              <a:rPr lang="en-US" dirty="0" err="1"/>
              <a:t>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토양은 영양 염류 순환과 생태계 기능을 담당하고,</a:t>
            </a:r>
          </a:p>
          <a:p>
            <a:r>
              <a:rPr lang="en-US"/>
              <a:t>도시에서는 미기후 조절과 탄소 격리, 빗물 관리에도 기여합니다.</a:t>
            </a:r>
          </a:p>
          <a:p>
            <a:endParaRPr lang="en-US"/>
          </a:p>
          <a:p>
            <a:r>
              <a:rPr lang="en-US"/>
              <a:t>그러나 도시 토양 미생물 연구는 비교적 산발적이고,</a:t>
            </a:r>
          </a:p>
          <a:p>
            <a:r>
              <a:rPr lang="en-US"/>
              <a:t>세균 군집의 복잡성과 기능적 잠재력은 충분히 규명되지 않았습니다.</a:t>
            </a:r>
          </a:p>
          <a:p>
            <a:endParaRPr lang="en-US"/>
          </a:p>
          <a:p>
            <a:r>
              <a:rPr lang="en-US"/>
              <a:t>생물학적 복잡성과 방대한 탐색 공간 때문에 기존 방식만으로는 많은 시간과 자원이 필요합니다.</a:t>
            </a:r>
          </a:p>
          <a:p>
            <a:endParaRPr lang="en-US"/>
          </a:p>
          <a:p>
            <a:r>
              <a:rPr lang="en-US"/>
              <a:t>따라서 저희는 도시 토양의 복잡한 세균 군집을 배양 없이 한 번에 비교하기 위해 NGS 기반 16S rRNA 분석을 사용했습니다.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저희가 사용한 방법을 이해하려면 먼저 NGS라는 기술과 16S 앰플리콘 분석을 구분할 필요가 있습니다.</a:t>
            </a:r>
          </a:p>
          <a:p>
            <a:endParaRPr lang="en-US"/>
          </a:p>
          <a:p>
            <a:r>
              <a:rPr lang="en-US"/>
              <a:t>NGS는 수많은 DNA 조각을 동시에 읽는 시퀀싱 기술이고,</a:t>
            </a:r>
          </a:p>
          <a:p>
            <a:r>
              <a:rPr lang="en-US"/>
              <a:t>16S 앰플리콘은 그 기술을 이용하는 분석 전략입니다.</a:t>
            </a:r>
          </a:p>
          <a:p>
            <a:endParaRPr lang="en-US"/>
          </a:p>
          <a:p>
            <a:r>
              <a:rPr lang="en-US"/>
              <a:t>저희는 개별 미생물의 전체 유전체를 읽는 홀 지놈 시퀀싱이나 토양 DNA 전체를 읽는 샷건 메타지놈 분석이 아니라,</a:t>
            </a:r>
          </a:p>
          <a:p>
            <a:r>
              <a:rPr lang="en-US"/>
              <a:t>세균에 공통으로 존재하는 16S rRNA 유전자의 V4 영역을 PCR로 증폭했습니다.</a:t>
            </a:r>
          </a:p>
          <a:p>
            <a:endParaRPr lang="en-US"/>
          </a:p>
          <a:p>
            <a:r>
              <a:rPr lang="en-US"/>
              <a:t>각 시료에는 고유 인덱스를 붙여 함께 시퀀싱한 뒤, 다시 시료별로 분리했습니다.</a:t>
            </a:r>
          </a:p>
          <a:p>
            <a:endParaRPr lang="en-US"/>
          </a:p>
          <a:p>
            <a:r>
              <a:rPr lang="en-US"/>
              <a:t>이를 통해 배양 없이 서른두개 토양 시료의 세균 군집을 비교할 수 있었습니다.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NGS 프로파일링을 통해 유용한 토양 미생물을 발굴하더라도,</a:t>
            </a:r>
          </a:p>
          <a:p>
            <a:r>
              <a:rPr lang="en-US"/>
              <a:t>실질적인 토양 복원을 위해 배양 조건을 최적화하는 데는 기존 방식의 한계가 있었습니다.</a:t>
            </a:r>
          </a:p>
          <a:p>
            <a:endParaRPr lang="en-US"/>
          </a:p>
          <a:p>
            <a:r>
              <a:rPr lang="en-US"/>
              <a:t>저희는 이를 극복하기 위해 능동 머신러닝 프레임워크인 메티스를 사용했습니다.</a:t>
            </a:r>
          </a:p>
          <a:p>
            <a:endParaRPr lang="en-US"/>
          </a:p>
          <a:p>
            <a:r>
              <a:rPr lang="en-US"/>
              <a:t>최소한의 실험으로 최적의 배양 조건을 정밀하게 예측함으로써,</a:t>
            </a:r>
          </a:p>
          <a:p>
            <a:r>
              <a:rPr lang="en-US"/>
              <a:t>미생물 발굴에서 실제 도시의 토양 복원 바이오프로세스로 이어지는 기술적 격차를 효과적으로 해소하고자 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이에 따라 세 가지 질문을 설정했습니다.</a:t>
            </a:r>
          </a:p>
          <a:p>
            <a:endParaRPr lang="en-US"/>
          </a:p>
          <a:p>
            <a:r>
              <a:rPr lang="en-US"/>
              <a:t>첫째, 도로변과 공원 토양의 세균 군집이 실제로 다른가.</a:t>
            </a:r>
          </a:p>
          <a:p>
            <a:endParaRPr lang="en-US"/>
          </a:p>
          <a:p>
            <a:r>
              <a:rPr lang="en-US"/>
              <a:t>둘째, 두 환경을 구분할 수 있는 세균 분류군이 존재하는가.</a:t>
            </a:r>
          </a:p>
          <a:p>
            <a:endParaRPr lang="en-US"/>
          </a:p>
          <a:p>
            <a:r>
              <a:rPr lang="en-US"/>
              <a:t>셋째, 배양 가능한 유용 미생물을 확보하고 AI로 배양 조건을 최적화할 수 있는가입니다.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이제 시료 채취와 시퀀싱 방법을 설명드리겠습니다.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저희는 2026년 7월 18일부터 20일까지 서울과 수도권에서 총 서른두개의 토양 시료를 채취했습니다.</a:t>
            </a:r>
          </a:p>
          <a:p>
            <a:endParaRPr lang="en-US"/>
          </a:p>
          <a:p>
            <a:r>
              <a:rPr lang="en-US"/>
              <a:t>도로변은 주요 간선도로 연석 1미터 이내로 정해, 차량 통행의 영향을 많이 받는 지점을 선정했고,</a:t>
            </a:r>
          </a:p>
          <a:p>
            <a:r>
              <a:rPr lang="en-US"/>
              <a:t>공원은 차량의 직접 노출이 최소화된 지정 녹지를 선정했습니다.</a:t>
            </a:r>
          </a:p>
          <a:p>
            <a:endParaRPr lang="en-US"/>
          </a:p>
          <a:p>
            <a:r>
              <a:rPr lang="en-US"/>
              <a:t>이후 토지 이용 유형을 기준으로 두 군집을 비교했습니다.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채취는</a:t>
            </a:r>
            <a:r>
              <a:rPr lang="en-US" dirty="0"/>
              <a:t> </a:t>
            </a:r>
            <a:r>
              <a:rPr lang="en-US" dirty="0" err="1"/>
              <a:t>의정부시</a:t>
            </a:r>
            <a:r>
              <a:rPr lang="en-US" dirty="0"/>
              <a:t>, </a:t>
            </a:r>
            <a:r>
              <a:rPr lang="en-US" dirty="0" err="1"/>
              <a:t>고양시</a:t>
            </a:r>
            <a:r>
              <a:rPr lang="en-US" dirty="0"/>
              <a:t>, </a:t>
            </a:r>
            <a:r>
              <a:rPr lang="ko-KR" altLang="en-US" dirty="0"/>
              <a:t>동작</a:t>
            </a:r>
            <a:r>
              <a:rPr lang="en-US" dirty="0" err="1"/>
              <a:t>구의</a:t>
            </a:r>
            <a:r>
              <a:rPr lang="en-US" dirty="0"/>
              <a:t> </a:t>
            </a:r>
            <a:r>
              <a:rPr lang="en-US" dirty="0" err="1"/>
              <a:t>도로변과</a:t>
            </a:r>
            <a:endParaRPr lang="en-US" dirty="0"/>
          </a:p>
          <a:p>
            <a:r>
              <a:rPr lang="en-US" dirty="0" err="1"/>
              <a:t>광진구</a:t>
            </a:r>
            <a:r>
              <a:rPr lang="en-US" dirty="0"/>
              <a:t>, </a:t>
            </a:r>
            <a:r>
              <a:rPr lang="en-US" dirty="0" err="1"/>
              <a:t>봉천동</a:t>
            </a:r>
            <a:r>
              <a:rPr lang="en-US" dirty="0"/>
              <a:t>, </a:t>
            </a:r>
            <a:r>
              <a:rPr lang="en-US" dirty="0" err="1"/>
              <a:t>광명시의</a:t>
            </a:r>
            <a:r>
              <a:rPr lang="en-US" dirty="0"/>
              <a:t> </a:t>
            </a:r>
            <a:r>
              <a:rPr lang="en-US" dirty="0" err="1"/>
              <a:t>공원에서</a:t>
            </a:r>
            <a:r>
              <a:rPr lang="en-US" dirty="0"/>
              <a:t> </a:t>
            </a:r>
            <a:r>
              <a:rPr lang="en-US" dirty="0" err="1"/>
              <a:t>진행했습니다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지도에</a:t>
            </a:r>
            <a:r>
              <a:rPr lang="en-US" dirty="0"/>
              <a:t> </a:t>
            </a:r>
            <a:r>
              <a:rPr lang="en-US" dirty="0" err="1"/>
              <a:t>표시된</a:t>
            </a:r>
            <a:r>
              <a:rPr lang="en-US" dirty="0"/>
              <a:t> </a:t>
            </a:r>
            <a:r>
              <a:rPr lang="en-US" dirty="0" err="1"/>
              <a:t>것처럼</a:t>
            </a:r>
            <a:r>
              <a:rPr lang="en-US" dirty="0"/>
              <a:t> </a:t>
            </a:r>
            <a:r>
              <a:rPr lang="en-US" dirty="0" err="1"/>
              <a:t>서울과</a:t>
            </a:r>
            <a:r>
              <a:rPr lang="en-US" dirty="0"/>
              <a:t> </a:t>
            </a:r>
            <a:r>
              <a:rPr lang="en-US" dirty="0" err="1"/>
              <a:t>경기도의</a:t>
            </a:r>
            <a:r>
              <a:rPr lang="en-US" dirty="0"/>
              <a:t> </a:t>
            </a:r>
            <a:r>
              <a:rPr lang="en-US" dirty="0" err="1"/>
              <a:t>여섯</a:t>
            </a:r>
            <a:r>
              <a:rPr lang="en-US" dirty="0"/>
              <a:t> </a:t>
            </a:r>
            <a:r>
              <a:rPr lang="en-US" dirty="0" err="1"/>
              <a:t>지역에서</a:t>
            </a:r>
            <a:r>
              <a:rPr lang="en-US" dirty="0"/>
              <a:t> </a:t>
            </a:r>
            <a:r>
              <a:rPr lang="en-US" dirty="0" err="1"/>
              <a:t>시료를</a:t>
            </a:r>
            <a:r>
              <a:rPr lang="en-US" dirty="0"/>
              <a:t> </a:t>
            </a:r>
            <a:r>
              <a:rPr lang="en-US" dirty="0" err="1"/>
              <a:t>확보해</a:t>
            </a:r>
            <a:endParaRPr lang="en-US" dirty="0"/>
          </a:p>
          <a:p>
            <a:r>
              <a:rPr lang="en-US" dirty="0" err="1"/>
              <a:t>수도권</a:t>
            </a:r>
            <a:r>
              <a:rPr lang="en-US" dirty="0"/>
              <a:t> 내 </a:t>
            </a:r>
            <a:r>
              <a:rPr lang="en-US" dirty="0" err="1"/>
              <a:t>서로</a:t>
            </a:r>
            <a:r>
              <a:rPr lang="en-US" dirty="0"/>
              <a:t> </a:t>
            </a:r>
            <a:r>
              <a:rPr lang="en-US" dirty="0" err="1"/>
              <a:t>다른</a:t>
            </a:r>
            <a:r>
              <a:rPr lang="en-US" dirty="0"/>
              <a:t> </a:t>
            </a:r>
            <a:r>
              <a:rPr lang="en-US" dirty="0" err="1"/>
              <a:t>도시</a:t>
            </a:r>
            <a:r>
              <a:rPr lang="en-US" dirty="0"/>
              <a:t> </a:t>
            </a:r>
            <a:r>
              <a:rPr lang="en-US" dirty="0" err="1"/>
              <a:t>환경을</a:t>
            </a:r>
            <a:r>
              <a:rPr lang="en-US" dirty="0"/>
              <a:t> </a:t>
            </a:r>
            <a:r>
              <a:rPr lang="en-US" dirty="0" err="1"/>
              <a:t>포함하고자</a:t>
            </a:r>
            <a:r>
              <a:rPr lang="en-US" dirty="0"/>
              <a:t> </a:t>
            </a:r>
            <a:r>
              <a:rPr lang="en-US" dirty="0" err="1"/>
              <a:t>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시료는 무작위로 선정한 도로변과 공원 구역에서 표토층 2에서 5센티미터 깊이로 채취했습니다.</a:t>
            </a:r>
          </a:p>
          <a:p>
            <a:endParaRPr lang="en-US"/>
          </a:p>
          <a:p>
            <a:r>
              <a:rPr lang="en-US"/>
              <a:t>라텍스 장갑을 착용하고 지표의 이물질을 제거한 뒤,</a:t>
            </a:r>
          </a:p>
          <a:p>
            <a:r>
              <a:rPr lang="en-US"/>
              <a:t>여러 지점의 토양을 합친 복합시료로 만들었습니다.</a:t>
            </a:r>
          </a:p>
          <a:p>
            <a:endParaRPr lang="en-US"/>
          </a:p>
          <a:p>
            <a:r>
              <a:rPr lang="en-US"/>
              <a:t>시료는 멸균 용기에 밀봉해 냉동한 상태로 아이스박스에 넣어 이송했습니다.</a:t>
            </a:r>
          </a:p>
          <a:p>
            <a:endParaRPr lang="en-US"/>
          </a:p>
          <a:p>
            <a:r>
              <a:rPr lang="en-US"/>
              <a:t>배양용 분취시료는 영하 20도에서 보관하고 24시간 이내에 처리했으며,</a:t>
            </a:r>
          </a:p>
          <a:p>
            <a:r>
              <a:rPr lang="en-US"/>
              <a:t>메타지놈 분석을 위한 DNA 추출용 시료는 영하 80도에 보관했습니다.</a:t>
            </a:r>
          </a:p>
          <a:p>
            <a:endParaRPr lang="en-US"/>
          </a:p>
          <a:p>
            <a:r>
              <a:rPr lang="en-US"/>
              <a:t>시료 간 교차오염을 막기 위해 채취 도구는 매번 96퍼센트 에탄올로 세척했습니다.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토양 에서 DNA 추출 후, </a:t>
            </a:r>
          </a:p>
          <a:p>
            <a:r>
              <a:rPr lang="en-US"/>
              <a:t>16S rRNA의 V4 영역을 PCR했고,</a:t>
            </a:r>
          </a:p>
          <a:p>
            <a:r>
              <a:rPr lang="en-US"/>
              <a:t>각 시료에 고유 인덱스를 부착해, </a:t>
            </a:r>
          </a:p>
          <a:p>
            <a:r>
              <a:rPr lang="en-US"/>
              <a:t>Illumina 플랫폼에서 싱글엔드 방식으로 시퀀싱했습니다.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군집 분석과는 별도로,</a:t>
            </a:r>
          </a:p>
          <a:p>
            <a:r>
              <a:rPr lang="en-US"/>
              <a:t>배양 가능한 균주도 확보했습니다.</a:t>
            </a:r>
          </a:p>
          <a:p>
            <a:endParaRPr lang="en-US"/>
          </a:p>
          <a:p>
            <a:r>
              <a:rPr lang="en-US"/>
              <a:t>팀원별로 대표 토양 시료 한 개를 선택해 스톡을 만들고,</a:t>
            </a:r>
          </a:p>
          <a:p>
            <a:r>
              <a:rPr lang="en-US"/>
              <a:t>MRS agar와 Nutrient agar에 스트리킹했습니다.</a:t>
            </a:r>
          </a:p>
          <a:p>
            <a:endParaRPr lang="en-US"/>
          </a:p>
          <a:p>
            <a:r>
              <a:rPr lang="en-US"/>
              <a:t>배양 후 분리 가능한 콜로니를 확보한 다음,</a:t>
            </a:r>
          </a:p>
          <a:p>
            <a:r>
              <a:rPr lang="en-US"/>
              <a:t>16S rRNA 기반으로 균주를 동정하고 후속 배양 최적화 후보를 선정했습니다.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분리한 균주에서는 </a:t>
            </a:r>
          </a:p>
          <a:p>
            <a:r>
              <a:rPr lang="en-US"/>
              <a:t>바실러스, 마이코플라나, 패니바실러스 등 다양한 균주가 확인되었습니다.</a:t>
            </a:r>
          </a:p>
          <a:p>
            <a:endParaRPr lang="en-US"/>
          </a:p>
          <a:p>
            <a:r>
              <a:rPr lang="en-US"/>
              <a:t>이 가운데 MRS 배지에서는, 도로변과 공원 토양 모두에서, 프리스티아 메가테리움이 분리되었습니다.</a:t>
            </a:r>
          </a:p>
          <a:p>
            <a:endParaRPr lang="en-US"/>
          </a:p>
          <a:p>
            <a:r>
              <a:rPr lang="en-US"/>
              <a:t>두 환경에서 공통으로 확인됐다는 점을 고려해, 프리스티아 메가테리움을 배양 최적화 대상 균주로 선정했습니다.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다음은 AI 기반으로 진행한</a:t>
            </a:r>
          </a:p>
          <a:p>
            <a:r>
              <a:rPr lang="en-US"/>
              <a:t>프리스티아 메가테리움의 배양 최적화 과정입니다.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최적화는 네 단계로 진행했습니다.</a:t>
            </a:r>
          </a:p>
          <a:p>
            <a:endParaRPr lang="en-US"/>
          </a:p>
          <a:p>
            <a:r>
              <a:rPr lang="en-US"/>
              <a:t>먼저 수동으로 설계한 열두개 배지 조합에서 1차 배양과 OD600값을 측정을 수행했습니다.</a:t>
            </a:r>
          </a:p>
          <a:p>
            <a:endParaRPr lang="en-US"/>
          </a:p>
          <a:p>
            <a:r>
              <a:rPr lang="en-US"/>
              <a:t>이 결과를 METIS에 입력해 새로운 열두개 조건을 추천 받고 2차 배양을 진행했습니다.</a:t>
            </a:r>
          </a:p>
          <a:p>
            <a:endParaRPr lang="en-US"/>
          </a:p>
          <a:p>
            <a:r>
              <a:rPr lang="en-US"/>
              <a:t>마지막으로 2차 배양 데이터를 XGBoost로 분석해</a:t>
            </a:r>
          </a:p>
          <a:p>
            <a:r>
              <a:rPr lang="en-US"/>
              <a:t>변수 중요도와 성분 간 상호작용을 확인하고,</a:t>
            </a:r>
          </a:p>
          <a:p>
            <a:r>
              <a:rPr lang="en-US"/>
              <a:t>후속 후보 조건을 제안했습니다.</a:t>
            </a:r>
          </a:p>
          <a:p>
            <a:endParaRPr lang="en-US"/>
          </a:p>
          <a:p>
            <a:r>
              <a:rPr lang="en-US"/>
              <a:t>분석 변수는 MRS 배지 성분 중 일부인 Peptone, Meat extract, Yeast extract, Glucose 네 가지입니다.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1차 스크리닝의 열두개 조건은 세 가지 원칙으로 구성했습니다.</a:t>
            </a:r>
          </a:p>
          <a:p>
            <a:endParaRPr lang="en-US"/>
          </a:p>
          <a:p>
            <a:r>
              <a:rPr lang="en-US"/>
              <a:t>먼저 모든 성분을 함께 변화시켜 전체 영양 수준을 탐색했고,</a:t>
            </a:r>
          </a:p>
          <a:p>
            <a:r>
              <a:rPr lang="en-US"/>
              <a:t>다음으로 한 성분씩 증가시켜 단일 변수의 효과를 보았습니다.</a:t>
            </a:r>
          </a:p>
          <a:p>
            <a:endParaRPr lang="en-US"/>
          </a:p>
          <a:p>
            <a:r>
              <a:rPr lang="en-US"/>
              <a:t>마지막으로 선택한 두 성분을 동시에 변화시켜 조합 효과를 살펴봤습니다.</a:t>
            </a:r>
          </a:p>
          <a:p>
            <a:endParaRPr lang="en-US"/>
          </a:p>
          <a:p>
            <a:r>
              <a:rPr lang="en-US"/>
              <a:t>각 조건은 스무배 농축 스톡을 사용해 1밀리리터 배지를 만들었고,</a:t>
            </a:r>
          </a:p>
          <a:p>
            <a:r>
              <a:rPr lang="en-US"/>
              <a:t>균액 50마이크로리터를 접종해 하룻밤 배양했습니다.</a:t>
            </a:r>
          </a:p>
          <a:p>
            <a:r>
              <a:rPr lang="en-US"/>
              <a:t>그 후 OD600값을 측정하였고,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이를 기반으로 METIS를 사용해서 2차 배양에 대한 추천 배지 구성 조합을 만들었습니다.</a:t>
            </a:r>
          </a:p>
          <a:p>
            <a:endParaRPr lang="en-US"/>
          </a:p>
          <a:p>
            <a:r>
              <a:rPr lang="en-US"/>
              <a:t>왼쪽은 METIS가 추천한 열두개 배지 조합으로, 이를 사용해 앞과 같은 방법으로 2차 배양을 진행 했습니다.</a:t>
            </a:r>
          </a:p>
          <a:p>
            <a:endParaRPr lang="en-US"/>
          </a:p>
          <a:p>
            <a:r>
              <a:rPr lang="en-US"/>
              <a:t>오른쪽은 1차와 2차 배양 결과의 요약입니다.</a:t>
            </a:r>
          </a:p>
          <a:p>
            <a:endParaRPr lang="en-US"/>
          </a:p>
          <a:p>
            <a:r>
              <a:rPr lang="en-US"/>
              <a:t>2차 배양의 평균 OD값은 0.578에서 0.743으로 약 28.6퍼센트 상승했고, 최고값도 0.758에서 0.879로 높아졌습니다.</a:t>
            </a:r>
          </a:p>
          <a:p>
            <a:endParaRPr lang="en-US"/>
          </a:p>
          <a:p>
            <a:r>
              <a:rPr lang="en-US"/>
              <a:t>OD값이 0.7 이상인 조건은 두개에서 열개로 늘었습니다.</a:t>
            </a:r>
          </a:p>
          <a:p>
            <a:endParaRPr lang="en-US"/>
          </a:p>
          <a:p>
            <a:r>
              <a:rPr lang="en-US"/>
              <a:t>다만 1차와 2차는 서로 다른 조합이므로, 개별 조건을 일대일로 비교하기보다,</a:t>
            </a:r>
          </a:p>
          <a:p>
            <a:r>
              <a:rPr lang="en-US"/>
              <a:t>전체적인 생장 분포가 개선됐다고 해석했습니다.</a:t>
            </a:r>
          </a:p>
          <a:p>
            <a:endParaRPr lang="en-US"/>
          </a:p>
          <a:p>
            <a:r>
              <a:rPr lang="en-US"/>
              <a:t>이 2차 배양의 실측값을 XGBoost 분석에 사용했습니다.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다음으로, 배지 성분 가운데 균의 생장에 가장 큰 영향을 미친 성분을 확인했습니다.</a:t>
            </a:r>
          </a:p>
          <a:p>
            <a:endParaRPr lang="en-US"/>
          </a:p>
          <a:p>
            <a:r>
              <a:rPr lang="en-US"/>
              <a:t>이 결과는 스무개의 XGBoost 모델에서 계산한 변수 중요도의 평균값으로,</a:t>
            </a:r>
          </a:p>
          <a:p>
            <a:r>
              <a:rPr lang="en-US"/>
              <a:t>Meat extract의 변수 중요도가 0.36으로 가장 높게 나타났습니다.</a:t>
            </a:r>
          </a:p>
          <a:p>
            <a:endParaRPr lang="en-US"/>
          </a:p>
          <a:p>
            <a:r>
              <a:rPr lang="en-US"/>
              <a:t>그다음은 Yeast extract가 0.28, Glucose가 0.25였으며, Peptone은 0.11로 가장 낮았습니다.</a:t>
            </a:r>
          </a:p>
          <a:p>
            <a:endParaRPr lang="en-US"/>
          </a:p>
          <a:p>
            <a:r>
              <a:rPr lang="en-US"/>
              <a:t>따라서 이번 분석에서는 Meat extract가 OD값을 예측하는 데 가장 중요한 변수로 나타났습니다.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모델 결과를 원자료와 함께 확인했습니다.</a:t>
            </a:r>
          </a:p>
          <a:p>
            <a:endParaRPr lang="en-US"/>
          </a:p>
          <a:p>
            <a:r>
              <a:rPr lang="en-US"/>
              <a:t>열두개 조건의 OD값은 약 0.57에서 0.88 범위였고,</a:t>
            </a:r>
          </a:p>
          <a:p>
            <a:r>
              <a:rPr lang="en-US"/>
              <a:t>Glucose가 60그램 퍼 리터인 고농도 조건에서 높은 OD값이 모이는 경향이 보였습니다.</a:t>
            </a:r>
          </a:p>
          <a:p>
            <a:endParaRPr lang="en-US"/>
          </a:p>
          <a:p>
            <a:r>
              <a:rPr lang="en-US"/>
              <a:t>다만 표본이 열두개뿐이므로 이 경향만으로 인과관계를 확정할 수는 없습니다.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그렇다면 모델이 예측한 최적의 배지 조성은 무엇인지 살펴보겠습니다.</a:t>
            </a:r>
          </a:p>
          <a:p>
            <a:endParaRPr lang="en-US"/>
          </a:p>
          <a:p>
            <a:r>
              <a:rPr lang="en-US"/>
              <a:t>모델이 제시한 상위 세 조건에는 공통적으로 Glucose가 최대 농도인 60그램 퍼 리터로 포함됐습니다.</a:t>
            </a:r>
          </a:p>
          <a:p>
            <a:endParaRPr lang="en-US"/>
          </a:p>
          <a:p>
            <a:r>
              <a:rPr lang="en-US"/>
              <a:t>반면 Yeast extract는 낮은 수준으로, </a:t>
            </a:r>
          </a:p>
          <a:p>
            <a:r>
              <a:rPr lang="en-US"/>
              <a:t>Meat extract는 중간 수준으로 예측됐습니다.</a:t>
            </a:r>
          </a:p>
          <a:p>
            <a:endParaRPr lang="en-US"/>
          </a:p>
          <a:p>
            <a:r>
              <a:rPr lang="en-US"/>
              <a:t>이 때 예측된 OD600의 최댓값은 0.854였습니다.</a:t>
            </a:r>
          </a:p>
          <a:p>
            <a:endParaRPr lang="en-US"/>
          </a:p>
          <a:p>
            <a:r>
              <a:rPr lang="en-US"/>
              <a:t>이 값은 실측 최고값 0.879보다 낮았는데,</a:t>
            </a:r>
          </a:p>
          <a:p>
            <a:r>
              <a:rPr lang="en-US"/>
              <a:t>학습 데이터가 12개로 제한되어 있기 때문으로 판단하였습니다.</a:t>
            </a:r>
          </a:p>
          <a:p>
            <a:endParaRPr lang="en-US"/>
          </a:p>
          <a:p>
            <a:r>
              <a:rPr lang="en-US"/>
              <a:t>추가 실험으로 데이터가 축적되면 예측을 개선할 여지가 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이번에는 배지 성분을 함께 사용했을 때 나타나는 상호작용을 살펴보겠습니다.</a:t>
            </a:r>
          </a:p>
          <a:p>
            <a:endParaRPr lang="en-US"/>
          </a:p>
          <a:p>
            <a:r>
              <a:rPr lang="en-US"/>
              <a:t>앞선 변수 중요도 분석에서 Peptone의 단독 중요도는 11퍼센트로 네 성분 중 가장 낮았습니다.</a:t>
            </a:r>
          </a:p>
          <a:p>
            <a:endParaRPr lang="en-US"/>
          </a:p>
          <a:p>
            <a:r>
              <a:rPr lang="en-US"/>
              <a:t>그러나 성분 간 상호작용을 분석한 결과,</a:t>
            </a:r>
          </a:p>
          <a:p>
            <a:r>
              <a:rPr lang="en-US"/>
              <a:t>Peptone과 Meat extract의 조합은 0.146,</a:t>
            </a:r>
          </a:p>
          <a:p>
            <a:r>
              <a:rPr lang="en-US"/>
              <a:t>Peptone과 Glucose의 조합은 0.143으로 가장 강한 상호작용을 보였습니다.</a:t>
            </a:r>
          </a:p>
          <a:p>
            <a:endParaRPr lang="en-US"/>
          </a:p>
          <a:p>
            <a:r>
              <a:rPr lang="en-US"/>
              <a:t>즉 Peptone은 단독으로는 영향이 작아 보이지만,</a:t>
            </a:r>
          </a:p>
          <a:p>
            <a:r>
              <a:rPr lang="en-US"/>
              <a:t>Meat extract나 Glucose와 함께 사용될 때 생장에 미치는 영향이 달라질 가능성이 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앞선 분석을 통해 각 배지 성분의 중요도뿐만 아니라,</a:t>
            </a:r>
          </a:p>
          <a:p>
            <a:r>
              <a:rPr lang="en-US"/>
              <a:t>성분 간 상호작용도 확인할 수 있었습니다.</a:t>
            </a:r>
          </a:p>
          <a:p>
            <a:endParaRPr lang="en-US"/>
          </a:p>
          <a:p>
            <a:r>
              <a:rPr lang="en-US"/>
              <a:t>다만 이번 결과를 해석할 때는 몇 가지 한계를 함께 고려해야 합니다.</a:t>
            </a:r>
          </a:p>
          <a:p>
            <a:endParaRPr lang="en-US"/>
          </a:p>
          <a:p>
            <a:r>
              <a:rPr lang="en-US"/>
              <a:t>먼저 모델 학습에 사용한 배양 조건이 열두개로 적어,</a:t>
            </a:r>
          </a:p>
          <a:p>
            <a:r>
              <a:rPr lang="en-US"/>
              <a:t>일부 분석 결과의 신뢰도가 제한적입니다.</a:t>
            </a:r>
          </a:p>
          <a:p>
            <a:endParaRPr lang="en-US"/>
          </a:p>
          <a:p>
            <a:r>
              <a:rPr lang="en-US"/>
              <a:t>또한 모델이 예측한 최적 OD값은 0.854로,</a:t>
            </a:r>
          </a:p>
          <a:p>
            <a:r>
              <a:rPr lang="en-US"/>
              <a:t>실제 실험에서 확인된 최고값인 0.879보다 낮았습니다.</a:t>
            </a:r>
          </a:p>
          <a:p>
            <a:endParaRPr lang="en-US"/>
          </a:p>
          <a:p>
            <a:r>
              <a:rPr lang="en-US"/>
              <a:t>능동학습을 통해 다음 배양에 적용할 후보 조합 네 개를 추가로 도출했지만,</a:t>
            </a:r>
          </a:p>
          <a:p>
            <a:r>
              <a:rPr lang="en-US"/>
              <a:t>연구 기간의 제약으로 실제 배양 실험까지 진행하지는 못했습니다.</a:t>
            </a:r>
          </a:p>
          <a:p>
            <a:endParaRPr lang="en-US"/>
          </a:p>
          <a:p>
            <a:r>
              <a:rPr lang="en-US"/>
              <a:t>따라서 후속 연구에서는 추천된 조건을 실제로 배양해 모델의 예측 결과를 검증할 필요가 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지금까지의 AI 기반 배양 최적화 결과를 정리하면 다음과 같습니다.</a:t>
            </a:r>
          </a:p>
          <a:p>
            <a:endParaRPr lang="en-US"/>
          </a:p>
          <a:p>
            <a:r>
              <a:rPr lang="en-US"/>
              <a:t>먼저 배지 성분 가운데 Meat extract가 가장 높은 변수 중요도를 보였습니다.</a:t>
            </a:r>
          </a:p>
          <a:p>
            <a:endParaRPr lang="en-US"/>
          </a:p>
          <a:p>
            <a:r>
              <a:rPr lang="en-US"/>
              <a:t>모델이 예측한 최적 조성에서는 Glucose가 최대 농도로 포함됐으며,</a:t>
            </a:r>
          </a:p>
          <a:p>
            <a:r>
              <a:rPr lang="en-US"/>
              <a:t>예측 OD값은 0.854로 실측 최고값인 0.879에 근접했습니다.</a:t>
            </a:r>
          </a:p>
          <a:p>
            <a:endParaRPr lang="en-US"/>
          </a:p>
          <a:p>
            <a:r>
              <a:rPr lang="en-US"/>
              <a:t>또한 Peptone은 개별적인 중요도는 낮았지만,</a:t>
            </a:r>
          </a:p>
          <a:p>
            <a:r>
              <a:rPr lang="en-US"/>
              <a:t>Meat extract 및 Glucose와 함께 사용했을 때 높은 상호작용을 보였습니다.</a:t>
            </a:r>
          </a:p>
          <a:p>
            <a:endParaRPr lang="en-US"/>
          </a:p>
          <a:p>
            <a:r>
              <a:rPr lang="en-US"/>
              <a:t>이러한 결과를 바탕으로 다음 배양 실험에 적용할 후보 조건을 제안할 수 있었습니다.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마지막으로 연구 결과를 종합하겠습니다.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앞서 제시한 세 가지 연구 질문에 대해 결과를 정리하겠습니다.</a:t>
            </a:r>
          </a:p>
          <a:p>
            <a:endParaRPr lang="en-US"/>
          </a:p>
          <a:p>
            <a:r>
              <a:rPr lang="en-US"/>
              <a:t>먼저, 도로변과 공원 토양의 세균 군집이 서로 다른지 비교 했을 때,</a:t>
            </a:r>
          </a:p>
          <a:p>
            <a:r>
              <a:rPr lang="en-US"/>
              <a:t>두 환경 사이에서 통계적으로 유의한 차이를 보인 분류군은 확인되지 않았습니다.</a:t>
            </a:r>
          </a:p>
          <a:p>
            <a:endParaRPr lang="en-US"/>
          </a:p>
          <a:p>
            <a:r>
              <a:rPr lang="en-US"/>
              <a:t>다음으로, 두 환경을 구분할 수 있는 세균 분류군이 있는지 확인했을 때는,</a:t>
            </a:r>
          </a:p>
          <a:p>
            <a:r>
              <a:rPr lang="en-US"/>
              <a:t>일부 분류군에서 차이가 나타나는 경향은 확인했지만,</a:t>
            </a:r>
          </a:p>
          <a:p>
            <a:r>
              <a:rPr lang="en-US"/>
              <a:t>통계적으로 유의한 수준에는 도달하지 못했습니다.</a:t>
            </a:r>
          </a:p>
          <a:p>
            <a:r>
              <a:rPr lang="en-US"/>
              <a:t>따라서 현 단계에서는 두 환경을 구분하는 지표가 존재한다고 단정 짓기에는 근거가 부족했습니다.</a:t>
            </a:r>
          </a:p>
          <a:p>
            <a:endParaRPr lang="en-US"/>
          </a:p>
          <a:p>
            <a:r>
              <a:rPr lang="en-US"/>
              <a:t>마지막으로, 배양 가능한 균주를 확보하고 배양 조건을 최적화할 수 있는지 살펴 봤을 때,</a:t>
            </a:r>
          </a:p>
          <a:p>
            <a:r>
              <a:rPr lang="en-US"/>
              <a:t>프리스티아 메가테리움을 분리했고,</a:t>
            </a:r>
          </a:p>
          <a:p>
            <a:r>
              <a:rPr lang="en-US"/>
              <a:t>METIS와 XGBoost를 통해 배양 조건과 주요 배지 성분을 탐색할 수 있었습니다.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이번에는 전체 연구 과정을 크게 두 부분으로 나누어 요약하겠습니다.</a:t>
            </a:r>
          </a:p>
          <a:p>
            <a:endParaRPr lang="en-US"/>
          </a:p>
          <a:p>
            <a:r>
              <a:rPr lang="en-US"/>
              <a:t>첫 번째로, 총 32개의 토양 시료를 분석했을 때,</a:t>
            </a:r>
          </a:p>
          <a:p>
            <a:r>
              <a:rPr lang="en-US"/>
              <a:t>통계적으로 유의한 분류군 차이는 확인되지 않았습니다.</a:t>
            </a:r>
          </a:p>
          <a:p>
            <a:endParaRPr lang="en-US"/>
          </a:p>
          <a:p>
            <a:r>
              <a:rPr lang="en-US"/>
              <a:t>다만 일부 분류군에서는 두 환경 사이에 차이가 나타나는 경향을 확인했습니다.</a:t>
            </a:r>
          </a:p>
          <a:p>
            <a:endParaRPr lang="en-US"/>
          </a:p>
          <a:p>
            <a:r>
              <a:rPr lang="en-US"/>
              <a:t>두 번째로, 프리스티아 메가테리움을 대상으로 AI를 활용해 최적의 배양 조건을 탐색하였을 때,</a:t>
            </a:r>
          </a:p>
          <a:p>
            <a:r>
              <a:rPr lang="en-US"/>
              <a:t>Meat extract가 생장 예측에 가장 중요한 변수로 나타났으며,</a:t>
            </a:r>
          </a:p>
          <a:p>
            <a:r>
              <a:rPr lang="en-US"/>
              <a:t>최적 배지 조성과 다음 배양을 위한 후보 조건까지 도출할 수 있었습니다.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이번에 저희가 조사한 범위에서는 수도권의 도로변과 공원 토양의 세균 군집을 직접 비교한 국내 연구가 아직 충분히 보고되지 않았습니다.</a:t>
            </a:r>
          </a:p>
          <a:p>
            <a:endParaRPr lang="en-US"/>
          </a:p>
          <a:p>
            <a:r>
              <a:rPr lang="en-US"/>
              <a:t>따라서 이번 연구는 확정적인 결론을 제시하기보다,</a:t>
            </a:r>
          </a:p>
          <a:p>
            <a:r>
              <a:rPr lang="en-US"/>
              <a:t>국내에서 상대적으로 덜 연구된 도시 토양을 NGS로 비교하고,</a:t>
            </a:r>
          </a:p>
          <a:p>
            <a:r>
              <a:rPr lang="en-US"/>
              <a:t>ai 기반으로 배양 최적화까지 연결한 파일럿 연구라는 데 의미가 있습니다.</a:t>
            </a:r>
          </a:p>
          <a:p>
            <a:endParaRPr lang="en-US"/>
          </a:p>
          <a:p>
            <a:r>
              <a:rPr lang="en-US"/>
              <a:t>그리고 저희 조에서 선택한 프리스티아 메가테리움은 향후 비료나 바이오시멘트 등 응용 가능성을 검토할 수 있는 기초 자원이 될 수 있다라고 생각했습니다.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다만 이러한 의미에도 불구하고,</a:t>
            </a:r>
          </a:p>
          <a:p>
            <a:r>
              <a:rPr lang="en-US"/>
              <a:t>연구 결과를 해석하고 일반화할 때는 몇 가지 한계를 고려해야 합니다.</a:t>
            </a:r>
          </a:p>
          <a:p>
            <a:endParaRPr lang="en-US"/>
          </a:p>
          <a:p>
            <a:r>
              <a:rPr lang="en-US"/>
              <a:t>이 프로젝트에서는 토양 시료 32개와 배양 조건 12개로 표본이 제한적이었으며,</a:t>
            </a:r>
          </a:p>
          <a:p>
            <a:r>
              <a:rPr lang="en-US"/>
              <a:t>pH와 유기탄소 같은 토양의  물리화학적 변수를 함께 측정하지 못했습니다.</a:t>
            </a:r>
          </a:p>
          <a:p>
            <a:endParaRPr lang="en-US"/>
          </a:p>
          <a:p>
            <a:r>
              <a:rPr lang="en-US"/>
              <a:t>그리고 두 환경에서 차이를 보인 특정 후보 분류군과 일부 AI 분석은 추가 표본으로 재검증을 해야 합니다.</a:t>
            </a:r>
          </a:p>
          <a:p>
            <a:endParaRPr lang="en-US"/>
          </a:p>
          <a:p>
            <a:r>
              <a:rPr lang="en-US"/>
              <a:t>후속 연구에서는 프리스티아 메가테리움의 3차 배양 실험을 수행하고 토양 환경 변수를 함께 측정하며,</a:t>
            </a:r>
          </a:p>
          <a:p>
            <a:r>
              <a:rPr lang="en-US"/>
              <a:t>해당 균의 기능적 특성도 검증해야 한다고 생각됩니다.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이상으로</a:t>
            </a:r>
            <a:r>
              <a:rPr lang="en-US" dirty="0"/>
              <a:t> </a:t>
            </a:r>
            <a:r>
              <a:rPr lang="en-US" dirty="0" err="1"/>
              <a:t>발표를</a:t>
            </a:r>
            <a:r>
              <a:rPr lang="en-US" dirty="0"/>
              <a:t> </a:t>
            </a:r>
            <a:r>
              <a:rPr lang="en-US" dirty="0" err="1"/>
              <a:t>마치겠습니다</a:t>
            </a:r>
            <a:r>
              <a:rPr lang="en-US" dirty="0"/>
              <a:t>.</a:t>
            </a:r>
          </a:p>
          <a:p>
            <a:r>
              <a:rPr lang="en-US" dirty="0" err="1"/>
              <a:t>경청해</a:t>
            </a:r>
            <a:r>
              <a:rPr lang="en-US" dirty="0"/>
              <a:t> </a:t>
            </a:r>
            <a:r>
              <a:rPr lang="en-US" dirty="0" err="1"/>
              <a:t>주셔서</a:t>
            </a:r>
            <a:r>
              <a:rPr lang="en-US" dirty="0"/>
              <a:t> </a:t>
            </a:r>
            <a:r>
              <a:rPr lang="en-US" dirty="0" err="1"/>
              <a:t>감사합니다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1.jpe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1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1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1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1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755880" y="-2743200"/>
            <a:ext cx="8915400" cy="8915400"/>
            <a:chOff x="0" y="0"/>
            <a:chExt cx="11887200" cy="1188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887200" cy="11887200"/>
            </a:xfrm>
            <a:custGeom>
              <a:avLst/>
              <a:gdLst/>
              <a:ahLst/>
              <a:cxnLst/>
              <a:rect l="l" t="t" r="r" b="b"/>
              <a:pathLst>
                <a:path w="11887200" h="11887200">
                  <a:moveTo>
                    <a:pt x="0" y="5943600"/>
                  </a:moveTo>
                  <a:cubicBezTo>
                    <a:pt x="0" y="2661031"/>
                    <a:pt x="2661031" y="0"/>
                    <a:pt x="5943600" y="0"/>
                  </a:cubicBezTo>
                  <a:cubicBezTo>
                    <a:pt x="9226169" y="0"/>
                    <a:pt x="11887200" y="2661031"/>
                    <a:pt x="11887200" y="5943600"/>
                  </a:cubicBezTo>
                  <a:cubicBezTo>
                    <a:pt x="11887200" y="9226169"/>
                    <a:pt x="9226169" y="11887200"/>
                    <a:pt x="5943600" y="11887200"/>
                  </a:cubicBezTo>
                  <a:cubicBezTo>
                    <a:pt x="2661031" y="11887200"/>
                    <a:pt x="0" y="9226169"/>
                    <a:pt x="0" y="594360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3017520" y="7132320"/>
            <a:ext cx="6309360" cy="6309360"/>
            <a:chOff x="0" y="0"/>
            <a:chExt cx="8412480" cy="841248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412480" cy="8412480"/>
            </a:xfrm>
            <a:custGeom>
              <a:avLst/>
              <a:gdLst/>
              <a:ahLst/>
              <a:cxnLst/>
              <a:rect l="l" t="t" r="r" b="b"/>
              <a:pathLst>
                <a:path w="8412480" h="8412480">
                  <a:moveTo>
                    <a:pt x="0" y="4206240"/>
                  </a:moveTo>
                  <a:cubicBezTo>
                    <a:pt x="0" y="1883156"/>
                    <a:pt x="1883156" y="0"/>
                    <a:pt x="4206240" y="0"/>
                  </a:cubicBezTo>
                  <a:cubicBezTo>
                    <a:pt x="6529325" y="0"/>
                    <a:pt x="8412480" y="1883156"/>
                    <a:pt x="8412480" y="4206240"/>
                  </a:cubicBezTo>
                  <a:cubicBezTo>
                    <a:pt x="8412480" y="6529325"/>
                    <a:pt x="6529324" y="8412480"/>
                    <a:pt x="4206240" y="8412480"/>
                  </a:cubicBezTo>
                  <a:cubicBezTo>
                    <a:pt x="1883156" y="8412480"/>
                    <a:pt x="0" y="6529324"/>
                    <a:pt x="0" y="420624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165860" y="3566160"/>
            <a:ext cx="15087600" cy="2743200"/>
            <a:chOff x="0" y="0"/>
            <a:chExt cx="20116800" cy="3657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116800" cy="3657600"/>
            </a:xfrm>
            <a:custGeom>
              <a:avLst/>
              <a:gdLst/>
              <a:ahLst/>
              <a:cxnLst/>
              <a:rect l="l" t="t" r="r" b="b"/>
              <a:pathLst>
                <a:path w="20116800" h="3657600">
                  <a:moveTo>
                    <a:pt x="0" y="0"/>
                  </a:moveTo>
                  <a:lnTo>
                    <a:pt x="20116800" y="0"/>
                  </a:lnTo>
                  <a:lnTo>
                    <a:pt x="20116800" y="3657600"/>
                  </a:lnTo>
                  <a:lnTo>
                    <a:pt x="0" y="3657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7167" b="-5716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0116800" cy="37623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8280"/>
                </a:lnSpc>
              </a:pPr>
              <a:r>
                <a:rPr lang="en-US" sz="60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수도권 도로변 &amp; 공원 토양</a:t>
              </a:r>
            </a:p>
            <a:p>
              <a:pPr algn="l">
                <a:lnSpc>
                  <a:spcPts val="8280"/>
                </a:lnSpc>
              </a:pPr>
              <a:r>
                <a:rPr lang="en-US" sz="60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세균 군집 비교와 AI 기반 배양 최적화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34440" y="6377940"/>
            <a:ext cx="14401800" cy="685800"/>
            <a:chOff x="0" y="0"/>
            <a:chExt cx="19202400" cy="9144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9202400" cy="914400"/>
            </a:xfrm>
            <a:custGeom>
              <a:avLst/>
              <a:gdLst/>
              <a:ahLst/>
              <a:cxnLst/>
              <a:rect l="l" t="t" r="r" b="b"/>
              <a:pathLst>
                <a:path w="19202400" h="914400">
                  <a:moveTo>
                    <a:pt x="0" y="0"/>
                  </a:moveTo>
                  <a:lnTo>
                    <a:pt x="19202400" y="0"/>
                  </a:lnTo>
                  <a:lnTo>
                    <a:pt x="19202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9185" b="-35918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19202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16S rRNA gene amplicon sequencing &amp; METIS active learning</a:t>
              </a:r>
            </a:p>
          </p:txBody>
        </p:sp>
      </p:grpSp>
      <p:sp>
        <p:nvSpPr>
          <p:cNvPr id="12" name="AutoShape 12"/>
          <p:cNvSpPr/>
          <p:nvPr/>
        </p:nvSpPr>
        <p:spPr>
          <a:xfrm>
            <a:off x="1224911" y="8557091"/>
            <a:ext cx="15792448" cy="19018"/>
          </a:xfrm>
          <a:prstGeom prst="line">
            <a:avLst/>
          </a:prstGeom>
          <a:ln w="9525" cap="rnd">
            <a:solidFill>
              <a:srgbClr val="E3E6F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13" name="Group 13"/>
          <p:cNvGrpSpPr/>
          <p:nvPr/>
        </p:nvGrpSpPr>
        <p:grpSpPr>
          <a:xfrm>
            <a:off x="1165860" y="3291840"/>
            <a:ext cx="4399399" cy="548640"/>
            <a:chOff x="0" y="0"/>
            <a:chExt cx="5865865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865865" cy="731520"/>
            </a:xfrm>
            <a:custGeom>
              <a:avLst/>
              <a:gdLst/>
              <a:ahLst/>
              <a:cxnLst/>
              <a:rect l="l" t="t" r="r" b="b"/>
              <a:pathLst>
                <a:path w="5865865" h="731520">
                  <a:moveTo>
                    <a:pt x="0" y="0"/>
                  </a:moveTo>
                  <a:lnTo>
                    <a:pt x="5865865" y="0"/>
                  </a:lnTo>
                  <a:lnTo>
                    <a:pt x="5865865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r="-87061" b="-24227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865865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 spc="299">
                  <a:solidFill>
                    <a:srgbClr val="0B2981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오믹스,마이크로바이옴 응용 프로젝트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016003" y="8590397"/>
            <a:ext cx="6615852" cy="836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46"/>
              </a:lnSpc>
            </a:pPr>
            <a:r>
              <a:rPr lang="en-US" sz="240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Team 1</a:t>
            </a:r>
          </a:p>
          <a:p>
            <a:pPr algn="l">
              <a:lnSpc>
                <a:spcPts val="3346"/>
              </a:lnSpc>
            </a:pPr>
            <a:r>
              <a:rPr lang="en-US" sz="240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함정관, 이지민, 윤수진, 황인영, 정유라, 주세린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240000" y="9158700"/>
            <a:ext cx="1777359" cy="2675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2151"/>
              </a:lnSpc>
            </a:pPr>
            <a:r>
              <a:rPr lang="en-US" sz="1800" b="1" dirty="0">
                <a:solidFill>
                  <a:srgbClr val="1A1A1A"/>
                </a:solidFill>
                <a:latin typeface="프리텐다드 Medium"/>
                <a:ea typeface="프리텐다드 Medium"/>
                <a:cs typeface="프리텐다드 Medium"/>
                <a:sym typeface="프리텐다드 Medium"/>
              </a:rPr>
              <a:t>2026.09.11</a:t>
            </a:r>
          </a:p>
        </p:txBody>
      </p:sp>
      <p:sp>
        <p:nvSpPr>
          <p:cNvPr id="18" name="Freeform 18"/>
          <p:cNvSpPr/>
          <p:nvPr/>
        </p:nvSpPr>
        <p:spPr>
          <a:xfrm>
            <a:off x="386951" y="197974"/>
            <a:ext cx="2807101" cy="538632"/>
          </a:xfrm>
          <a:custGeom>
            <a:avLst/>
            <a:gdLst/>
            <a:ahLst/>
            <a:cxnLst/>
            <a:rect l="l" t="t" r="r" b="b"/>
            <a:pathLst>
              <a:path w="2807101" h="538632">
                <a:moveTo>
                  <a:pt x="0" y="0"/>
                </a:moveTo>
                <a:lnTo>
                  <a:pt x="2807101" y="0"/>
                </a:lnTo>
                <a:lnTo>
                  <a:pt x="2807101" y="538632"/>
                </a:lnTo>
                <a:lnTo>
                  <a:pt x="0" y="5386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2/33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8229600" cy="1165860"/>
            <a:chOff x="0" y="0"/>
            <a:chExt cx="10972800" cy="15544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972800" cy="1554480"/>
            </a:xfrm>
            <a:custGeom>
              <a:avLst/>
              <a:gdLst/>
              <a:ahLst/>
              <a:cxnLst/>
              <a:rect l="l" t="t" r="r" b="b"/>
              <a:pathLst>
                <a:path w="10972800" h="1554480">
                  <a:moveTo>
                    <a:pt x="0" y="0"/>
                  </a:moveTo>
                  <a:lnTo>
                    <a:pt x="10972800" y="0"/>
                  </a:lnTo>
                  <a:lnTo>
                    <a:pt x="1097280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7541" b="-8754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0972800" cy="15640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120"/>
                </a:lnSpc>
              </a:pPr>
              <a:r>
                <a:rPr lang="en-US" sz="51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목차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13435" y="2870835"/>
            <a:ext cx="8042910" cy="2762250"/>
            <a:chOff x="0" y="0"/>
            <a:chExt cx="10723880" cy="3683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3880" cy="3683000"/>
            </a:xfrm>
            <a:custGeom>
              <a:avLst/>
              <a:gdLst/>
              <a:ahLst/>
              <a:cxnLst/>
              <a:rect l="l" t="t" r="r" b="b"/>
              <a:pathLst>
                <a:path w="10723880" h="3683000">
                  <a:moveTo>
                    <a:pt x="0" y="0"/>
                  </a:moveTo>
                  <a:lnTo>
                    <a:pt x="10723880" y="0"/>
                  </a:lnTo>
                  <a:lnTo>
                    <a:pt x="10723880" y="3683000"/>
                  </a:lnTo>
                  <a:lnTo>
                    <a:pt x="0" y="3683000"/>
                  </a:lnTo>
                  <a:close/>
                </a:path>
              </a:pathLst>
            </a:custGeom>
            <a:solidFill>
              <a:srgbClr val="FAFAFC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317355" y="2870835"/>
            <a:ext cx="8042910" cy="2762250"/>
            <a:chOff x="0" y="0"/>
            <a:chExt cx="10723880" cy="3683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3880" cy="3683000"/>
            </a:xfrm>
            <a:custGeom>
              <a:avLst/>
              <a:gdLst/>
              <a:ahLst/>
              <a:cxnLst/>
              <a:rect l="l" t="t" r="r" b="b"/>
              <a:pathLst>
                <a:path w="10723880" h="3683000">
                  <a:moveTo>
                    <a:pt x="0" y="0"/>
                  </a:moveTo>
                  <a:lnTo>
                    <a:pt x="10723880" y="0"/>
                  </a:lnTo>
                  <a:lnTo>
                    <a:pt x="10723880" y="3683000"/>
                  </a:lnTo>
                  <a:lnTo>
                    <a:pt x="0" y="3683000"/>
                  </a:lnTo>
                  <a:close/>
                </a:path>
              </a:pathLst>
            </a:custGeom>
            <a:solidFill>
              <a:srgbClr val="FAFAFC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71600" y="3257550"/>
            <a:ext cx="8103348" cy="1234440"/>
            <a:chOff x="0" y="0"/>
            <a:chExt cx="10804464" cy="1645920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0"/>
              <a:ext cx="2377440" cy="1645920"/>
              <a:chOff x="0" y="0"/>
              <a:chExt cx="2377440" cy="164592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2377440" cy="1645920"/>
              </a:xfrm>
              <a:custGeom>
                <a:avLst/>
                <a:gdLst/>
                <a:ahLst/>
                <a:cxnLst/>
                <a:rect l="l" t="t" r="r" b="b"/>
                <a:pathLst>
                  <a:path w="2377440" h="1645920">
                    <a:moveTo>
                      <a:pt x="0" y="0"/>
                    </a:moveTo>
                    <a:lnTo>
                      <a:pt x="2377440" y="0"/>
                    </a:lnTo>
                    <a:lnTo>
                      <a:pt x="2377440" y="1645920"/>
                    </a:lnTo>
                    <a:lnTo>
                      <a:pt x="0" y="16459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38825" r="-38825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9525"/>
                <a:ext cx="2377440" cy="16554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6120"/>
                  </a:lnSpc>
                </a:pPr>
                <a:r>
                  <a:rPr lang="en-US" sz="5100" b="1">
                    <a:solidFill>
                      <a:srgbClr val="2B4A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01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1569024" y="411480"/>
              <a:ext cx="9235440" cy="914400"/>
              <a:chOff x="0" y="0"/>
              <a:chExt cx="9235440" cy="9144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923544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235440" h="914400">
                    <a:moveTo>
                      <a:pt x="0" y="0"/>
                    </a:moveTo>
                    <a:lnTo>
                      <a:pt x="9235440" y="0"/>
                    </a:lnTo>
                    <a:lnTo>
                      <a:pt x="923544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46798" b="-146798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9525"/>
                <a:ext cx="923544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419"/>
                  </a:lnSpc>
                </a:pPr>
                <a:r>
                  <a:rPr lang="en-US" sz="285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서론</a:t>
                </a:r>
              </a:p>
            </p:txBody>
          </p:sp>
        </p:grpSp>
      </p:grpSp>
      <p:grpSp>
        <p:nvGrpSpPr>
          <p:cNvPr id="19" name="Group 19"/>
          <p:cNvGrpSpPr/>
          <p:nvPr/>
        </p:nvGrpSpPr>
        <p:grpSpPr>
          <a:xfrm>
            <a:off x="2548368" y="4491990"/>
            <a:ext cx="6926580" cy="480060"/>
            <a:chOff x="0" y="0"/>
            <a:chExt cx="9235440" cy="64008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9235440" cy="640080"/>
            </a:xfrm>
            <a:custGeom>
              <a:avLst/>
              <a:gdLst/>
              <a:ahLst/>
              <a:cxnLst/>
              <a:rect l="l" t="t" r="r" b="b"/>
              <a:pathLst>
                <a:path w="9235440" h="640080">
                  <a:moveTo>
                    <a:pt x="0" y="0"/>
                  </a:moveTo>
                  <a:lnTo>
                    <a:pt x="9235440" y="0"/>
                  </a:lnTo>
                  <a:lnTo>
                    <a:pt x="92354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1141" b="-23114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0"/>
              <a:ext cx="9235440" cy="6400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Background, 선행연구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875520" y="3257550"/>
            <a:ext cx="1783080" cy="1234440"/>
            <a:chOff x="0" y="0"/>
            <a:chExt cx="2377440" cy="16459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377440" cy="1645920"/>
            </a:xfrm>
            <a:custGeom>
              <a:avLst/>
              <a:gdLst/>
              <a:ahLst/>
              <a:cxnLst/>
              <a:rect l="l" t="t" r="r" b="b"/>
              <a:pathLst>
                <a:path w="2377440" h="1645920">
                  <a:moveTo>
                    <a:pt x="0" y="0"/>
                  </a:moveTo>
                  <a:lnTo>
                    <a:pt x="2377440" y="0"/>
                  </a:lnTo>
                  <a:lnTo>
                    <a:pt x="237744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8825" r="-3882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9525"/>
              <a:ext cx="2377440" cy="16554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120"/>
                </a:lnSpc>
              </a:pPr>
              <a:r>
                <a:rPr lang="en-US" sz="51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1052288" y="3566160"/>
            <a:ext cx="6926580" cy="685800"/>
            <a:chOff x="0" y="0"/>
            <a:chExt cx="9235440" cy="9144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9235440" cy="914400"/>
            </a:xfrm>
            <a:custGeom>
              <a:avLst/>
              <a:gdLst/>
              <a:ahLst/>
              <a:cxnLst/>
              <a:rect l="l" t="t" r="r" b="b"/>
              <a:pathLst>
                <a:path w="9235440" h="914400">
                  <a:moveTo>
                    <a:pt x="0" y="0"/>
                  </a:moveTo>
                  <a:lnTo>
                    <a:pt x="9235440" y="0"/>
                  </a:lnTo>
                  <a:lnTo>
                    <a:pt x="92354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798" b="-14679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923544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샘플링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052288" y="4491990"/>
            <a:ext cx="6926580" cy="480060"/>
            <a:chOff x="0" y="0"/>
            <a:chExt cx="9235440" cy="64008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9235440" cy="640080"/>
            </a:xfrm>
            <a:custGeom>
              <a:avLst/>
              <a:gdLst/>
              <a:ahLst/>
              <a:cxnLst/>
              <a:rect l="l" t="t" r="r" b="b"/>
              <a:pathLst>
                <a:path w="9235440" h="640080">
                  <a:moveTo>
                    <a:pt x="0" y="0"/>
                  </a:moveTo>
                  <a:lnTo>
                    <a:pt x="9235440" y="0"/>
                  </a:lnTo>
                  <a:lnTo>
                    <a:pt x="92354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1141" b="-23114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0"/>
              <a:ext cx="9235440" cy="6400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채취, 시퀀싱 방법론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813435" y="6094095"/>
            <a:ext cx="8042910" cy="2762250"/>
            <a:chOff x="0" y="0"/>
            <a:chExt cx="10723880" cy="36830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0723880" cy="3683000"/>
            </a:xfrm>
            <a:custGeom>
              <a:avLst/>
              <a:gdLst/>
              <a:ahLst/>
              <a:cxnLst/>
              <a:rect l="l" t="t" r="r" b="b"/>
              <a:pathLst>
                <a:path w="10723880" h="3683000">
                  <a:moveTo>
                    <a:pt x="0" y="0"/>
                  </a:moveTo>
                  <a:lnTo>
                    <a:pt x="10723880" y="0"/>
                  </a:lnTo>
                  <a:lnTo>
                    <a:pt x="10723880" y="3683000"/>
                  </a:lnTo>
                  <a:lnTo>
                    <a:pt x="0" y="3683000"/>
                  </a:lnTo>
                  <a:close/>
                </a:path>
              </a:pathLst>
            </a:custGeom>
            <a:solidFill>
              <a:srgbClr val="FAFAFC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9317355" y="6094095"/>
            <a:ext cx="8042910" cy="2762250"/>
            <a:chOff x="0" y="0"/>
            <a:chExt cx="10723880" cy="36830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0723880" cy="3683000"/>
            </a:xfrm>
            <a:custGeom>
              <a:avLst/>
              <a:gdLst/>
              <a:ahLst/>
              <a:cxnLst/>
              <a:rect l="l" t="t" r="r" b="b"/>
              <a:pathLst>
                <a:path w="10723880" h="3683000">
                  <a:moveTo>
                    <a:pt x="0" y="0"/>
                  </a:moveTo>
                  <a:lnTo>
                    <a:pt x="10723880" y="0"/>
                  </a:lnTo>
                  <a:lnTo>
                    <a:pt x="10723880" y="3683000"/>
                  </a:lnTo>
                  <a:lnTo>
                    <a:pt x="0" y="3683000"/>
                  </a:lnTo>
                  <a:close/>
                </a:path>
              </a:pathLst>
            </a:custGeom>
            <a:solidFill>
              <a:srgbClr val="FAFAFC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371600" y="6636068"/>
            <a:ext cx="16607268" cy="1678305"/>
            <a:chOff x="0" y="0"/>
            <a:chExt cx="22143024" cy="2237740"/>
          </a:xfrm>
        </p:grpSpPr>
        <p:grpSp>
          <p:nvGrpSpPr>
            <p:cNvPr id="36" name="Group 36"/>
            <p:cNvGrpSpPr/>
            <p:nvPr/>
          </p:nvGrpSpPr>
          <p:grpSpPr>
            <a:xfrm>
              <a:off x="0" y="0"/>
              <a:ext cx="2377440" cy="1645920"/>
              <a:chOff x="0" y="0"/>
              <a:chExt cx="2377440" cy="164592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2377440" cy="1645920"/>
              </a:xfrm>
              <a:custGeom>
                <a:avLst/>
                <a:gdLst/>
                <a:ahLst/>
                <a:cxnLst/>
                <a:rect l="l" t="t" r="r" b="b"/>
                <a:pathLst>
                  <a:path w="2377440" h="1645920">
                    <a:moveTo>
                      <a:pt x="0" y="0"/>
                    </a:moveTo>
                    <a:lnTo>
                      <a:pt x="2377440" y="0"/>
                    </a:lnTo>
                    <a:lnTo>
                      <a:pt x="2377440" y="1645920"/>
                    </a:lnTo>
                    <a:lnTo>
                      <a:pt x="0" y="16459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38825" r="-38825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9525"/>
                <a:ext cx="2377440" cy="16554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6120"/>
                  </a:lnSpc>
                </a:pPr>
                <a:r>
                  <a:rPr lang="en-US" sz="5100" b="1">
                    <a:solidFill>
                      <a:srgbClr val="2B4A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03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1569024" y="365760"/>
              <a:ext cx="9235440" cy="914400"/>
              <a:chOff x="0" y="0"/>
              <a:chExt cx="9235440" cy="91440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923544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235440" h="914400">
                    <a:moveTo>
                      <a:pt x="0" y="0"/>
                    </a:moveTo>
                    <a:lnTo>
                      <a:pt x="9235440" y="0"/>
                    </a:lnTo>
                    <a:lnTo>
                      <a:pt x="923544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46798" b="-146798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0" y="-9525"/>
                <a:ext cx="923544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419"/>
                  </a:lnSpc>
                </a:pPr>
                <a:r>
                  <a:rPr lang="en-US" sz="285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AI 스케일업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1569024" y="1597660"/>
              <a:ext cx="9235440" cy="640080"/>
              <a:chOff x="0" y="0"/>
              <a:chExt cx="9235440" cy="640080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9235440" cy="640080"/>
              </a:xfrm>
              <a:custGeom>
                <a:avLst/>
                <a:gdLst/>
                <a:ahLst/>
                <a:cxnLst/>
                <a:rect l="l" t="t" r="r" b="b"/>
                <a:pathLst>
                  <a:path w="9235440" h="640080">
                    <a:moveTo>
                      <a:pt x="0" y="0"/>
                    </a:moveTo>
                    <a:lnTo>
                      <a:pt x="9235440" y="0"/>
                    </a:lnTo>
                    <a:lnTo>
                      <a:pt x="9235440" y="640080"/>
                    </a:lnTo>
                    <a:lnTo>
                      <a:pt x="0" y="6400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31141" b="-231141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0" y="0"/>
                <a:ext cx="9235440" cy="64008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160"/>
                  </a:lnSpc>
                </a:pPr>
                <a:r>
                  <a:rPr lang="en-US" sz="1800" b="1">
                    <a:solidFill>
                      <a:srgbClr val="5A5A5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METIS 배양 최적화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11338560" y="0"/>
              <a:ext cx="2377440" cy="1645920"/>
              <a:chOff x="0" y="0"/>
              <a:chExt cx="2377440" cy="164592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0" y="0"/>
                <a:ext cx="2377440" cy="1645920"/>
              </a:xfrm>
              <a:custGeom>
                <a:avLst/>
                <a:gdLst/>
                <a:ahLst/>
                <a:cxnLst/>
                <a:rect l="l" t="t" r="r" b="b"/>
                <a:pathLst>
                  <a:path w="2377440" h="1645920">
                    <a:moveTo>
                      <a:pt x="0" y="0"/>
                    </a:moveTo>
                    <a:lnTo>
                      <a:pt x="2377440" y="0"/>
                    </a:lnTo>
                    <a:lnTo>
                      <a:pt x="2377440" y="1645920"/>
                    </a:lnTo>
                    <a:lnTo>
                      <a:pt x="0" y="16459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38825" r="-38825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0" y="-9525"/>
                <a:ext cx="2377440" cy="16554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6120"/>
                  </a:lnSpc>
                </a:pPr>
                <a:r>
                  <a:rPr lang="en-US" sz="5100" b="1">
                    <a:solidFill>
                      <a:srgbClr val="2B4A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04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12907584" y="365760"/>
              <a:ext cx="9235440" cy="914400"/>
              <a:chOff x="0" y="0"/>
              <a:chExt cx="9235440" cy="914400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923544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235440" h="914400">
                    <a:moveTo>
                      <a:pt x="0" y="0"/>
                    </a:moveTo>
                    <a:lnTo>
                      <a:pt x="9235440" y="0"/>
                    </a:lnTo>
                    <a:lnTo>
                      <a:pt x="923544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46798" b="-146798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9525"/>
                <a:ext cx="923544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419"/>
                  </a:lnSpc>
                </a:pPr>
                <a:r>
                  <a:rPr lang="en-US" sz="285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결론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12907584" y="1597660"/>
              <a:ext cx="9235440" cy="640080"/>
              <a:chOff x="0" y="0"/>
              <a:chExt cx="9235440" cy="64008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9235440" cy="640080"/>
              </a:xfrm>
              <a:custGeom>
                <a:avLst/>
                <a:gdLst/>
                <a:ahLst/>
                <a:cxnLst/>
                <a:rect l="l" t="t" r="r" b="b"/>
                <a:pathLst>
                  <a:path w="9235440" h="640080">
                    <a:moveTo>
                      <a:pt x="0" y="0"/>
                    </a:moveTo>
                    <a:lnTo>
                      <a:pt x="9235440" y="0"/>
                    </a:lnTo>
                    <a:lnTo>
                      <a:pt x="9235440" y="640080"/>
                    </a:lnTo>
                    <a:lnTo>
                      <a:pt x="0" y="6400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31141" b="-231141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0" y="0"/>
                <a:ext cx="9235440" cy="64008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160"/>
                  </a:lnSpc>
                </a:pPr>
                <a:r>
                  <a:rPr lang="en-US" sz="1800" b="1">
                    <a:solidFill>
                      <a:srgbClr val="5A5A5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종합 및 시사점</a:t>
                </a: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24160" y="1508760"/>
            <a:ext cx="7543800" cy="7999288"/>
            <a:chOff x="0" y="0"/>
            <a:chExt cx="10058400" cy="106657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058400" cy="10665718"/>
            </a:xfrm>
            <a:custGeom>
              <a:avLst/>
              <a:gdLst/>
              <a:ahLst/>
              <a:cxnLst/>
              <a:rect l="l" t="t" r="r" b="b"/>
              <a:pathLst>
                <a:path w="10058400" h="10665718">
                  <a:moveTo>
                    <a:pt x="0" y="0"/>
                  </a:moveTo>
                  <a:lnTo>
                    <a:pt x="10058400" y="0"/>
                  </a:lnTo>
                  <a:lnTo>
                    <a:pt x="10058400" y="10665718"/>
                  </a:lnTo>
                  <a:lnTo>
                    <a:pt x="0" y="106657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 b="569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0058400" cy="106752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46800"/>
                </a:lnSpc>
              </a:pPr>
              <a:r>
                <a:rPr lang="en-US" sz="39000" b="1">
                  <a:solidFill>
                    <a:srgbClr val="F1F3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01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03" b="-104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0"/>
              <a:ext cx="2834640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spc="149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PART 01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860" y="4320540"/>
            <a:ext cx="12344400" cy="1783080"/>
            <a:chOff x="0" y="0"/>
            <a:chExt cx="16459200" cy="23774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459200" cy="2377440"/>
            </a:xfrm>
            <a:custGeom>
              <a:avLst/>
              <a:gdLst/>
              <a:ahLst/>
              <a:cxnLst/>
              <a:rect l="l" t="t" r="r" b="b"/>
              <a:pathLst>
                <a:path w="16459200" h="2377440">
                  <a:moveTo>
                    <a:pt x="0" y="0"/>
                  </a:moveTo>
                  <a:lnTo>
                    <a:pt x="16459200" y="0"/>
                  </a:lnTo>
                  <a:lnTo>
                    <a:pt x="1645920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896" b="-848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645920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9000"/>
                </a:lnSpc>
              </a:pPr>
              <a:r>
                <a:rPr lang="en-US" sz="75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서론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34440" y="5897880"/>
            <a:ext cx="13030200" cy="685800"/>
            <a:chOff x="0" y="0"/>
            <a:chExt cx="1737360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7373600" cy="914400"/>
            </a:xfrm>
            <a:custGeom>
              <a:avLst/>
              <a:gdLst/>
              <a:ahLst/>
              <a:cxnLst/>
              <a:rect l="l" t="t" r="r" b="b"/>
              <a:pathLst>
                <a:path w="17373600" h="914400">
                  <a:moveTo>
                    <a:pt x="0" y="0"/>
                  </a:moveTo>
                  <a:lnTo>
                    <a:pt x="17373600" y="0"/>
                  </a:lnTo>
                  <a:lnTo>
                    <a:pt x="1737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0215" b="-32021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737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연구배경 및 선행연구 — 수도권 도로변 &amp; 공원 토양 세균 군집 비교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1-1  MICROBIOME CONCEPT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마이크로바이옴, 그리고 인체-환경의 연결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3050667"/>
            <a:ext cx="685800" cy="685800"/>
            <a:chOff x="0" y="0"/>
            <a:chExt cx="914400" cy="9144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60120" y="3050667"/>
            <a:ext cx="685800" cy="685800"/>
            <a:chOff x="0" y="0"/>
            <a:chExt cx="914400" cy="91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700"/>
                </a:lnSpc>
              </a:pPr>
              <a:r>
                <a:rPr lang="en-US" sz="225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①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920240" y="3009519"/>
            <a:ext cx="14950440" cy="548640"/>
            <a:chOff x="0" y="0"/>
            <a:chExt cx="1993392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933920" cy="731520"/>
            </a:xfrm>
            <a:custGeom>
              <a:avLst/>
              <a:gdLst/>
              <a:ahLst/>
              <a:cxnLst/>
              <a:rect l="l" t="t" r="r" b="b"/>
              <a:pathLst>
                <a:path w="19933920" h="731520">
                  <a:moveTo>
                    <a:pt x="0" y="0"/>
                  </a:moveTo>
                  <a:lnTo>
                    <a:pt x="19933920" y="0"/>
                  </a:lnTo>
                  <a:lnTo>
                    <a:pt x="199339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0967" b="-48096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993392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마이크로바이옴이란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920240" y="3550539"/>
            <a:ext cx="14950440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25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특정 환경에 서식하는 미생물군 및 유전 및 기능 정보를 포괄하며, 장·피부·구강·호흡기뿐만 아니라 토양·물·공기 등 </a:t>
            </a:r>
            <a:r>
              <a:rPr lang="en-US" sz="1875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다양한 환경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에 형성됨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60120" y="4998339"/>
            <a:ext cx="685800" cy="685800"/>
            <a:chOff x="0" y="0"/>
            <a:chExt cx="914400" cy="9144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60120" y="4998339"/>
            <a:ext cx="685800" cy="685800"/>
            <a:chOff x="0" y="0"/>
            <a:chExt cx="914400" cy="9144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700"/>
                </a:lnSpc>
              </a:pPr>
              <a:r>
                <a:rPr lang="en-US" sz="225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②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920240" y="4957191"/>
            <a:ext cx="14950440" cy="548640"/>
            <a:chOff x="0" y="0"/>
            <a:chExt cx="19933920" cy="7315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9933920" cy="731520"/>
            </a:xfrm>
            <a:custGeom>
              <a:avLst/>
              <a:gdLst/>
              <a:ahLst/>
              <a:cxnLst/>
              <a:rect l="l" t="t" r="r" b="b"/>
              <a:pathLst>
                <a:path w="19933920" h="731520">
                  <a:moveTo>
                    <a:pt x="0" y="0"/>
                  </a:moveTo>
                  <a:lnTo>
                    <a:pt x="19933920" y="0"/>
                  </a:lnTo>
                  <a:lnTo>
                    <a:pt x="199339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0967" b="-48096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9525"/>
              <a:ext cx="1993392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건강한 사람도 부위별로 다르다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920240" y="5498211"/>
            <a:ext cx="14950440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25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건강한 개인 간에도 </a:t>
            </a:r>
            <a:r>
              <a:rPr lang="en-US" sz="1875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신체 부위별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미생물 군집의 조성·다양성이 크게 다르며, 숙주의 생리 및 건강과 밀접하게 연관됨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822960" y="9710928"/>
            <a:ext cx="10972800" cy="411480"/>
            <a:chOff x="0" y="0"/>
            <a:chExt cx="14630400" cy="54864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4630400" cy="548640"/>
            </a:xfrm>
            <a:custGeom>
              <a:avLst/>
              <a:gdLst/>
              <a:ahLst/>
              <a:cxnLst/>
              <a:rect l="l" t="t" r="r" b="b"/>
              <a:pathLst>
                <a:path w="14630400" h="54864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9601" b="-46960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1463040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0"/>
                </a:lnSpc>
              </a:pPr>
              <a:r>
                <a:rPr lang="en-US" sz="150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Human Microbiome Project Consortium, Nature, 2012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60120" y="6949059"/>
            <a:ext cx="685800" cy="685800"/>
            <a:chOff x="0" y="0"/>
            <a:chExt cx="914400" cy="9144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60120" y="6949059"/>
            <a:ext cx="685800" cy="685800"/>
            <a:chOff x="0" y="0"/>
            <a:chExt cx="914400" cy="9144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700"/>
                </a:lnSpc>
              </a:pPr>
              <a:r>
                <a:rPr lang="en-US" sz="225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③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920240" y="6907911"/>
            <a:ext cx="14950440" cy="548640"/>
            <a:chOff x="0" y="0"/>
            <a:chExt cx="19933920" cy="73152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9933920" cy="731520"/>
            </a:xfrm>
            <a:custGeom>
              <a:avLst/>
              <a:gdLst/>
              <a:ahLst/>
              <a:cxnLst/>
              <a:rect l="l" t="t" r="r" b="b"/>
              <a:pathLst>
                <a:path w="19933920" h="731520">
                  <a:moveTo>
                    <a:pt x="0" y="0"/>
                  </a:moveTo>
                  <a:lnTo>
                    <a:pt x="19933920" y="0"/>
                  </a:lnTo>
                  <a:lnTo>
                    <a:pt x="199339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0967" b="-48096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9525"/>
              <a:ext cx="1993392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연구 흐름의 확장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920240" y="7448931"/>
            <a:ext cx="14950440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25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인체 내부 미생물 군집의 독립적 분석을 넘어, </a:t>
            </a:r>
            <a:r>
              <a:rPr lang="en-US" sz="1875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'주변 환경 ↔ 인체'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간 미생물 노출과 교환을 이해하려는 방향으로 최근 연구가 확장되는 중</a:t>
            </a:r>
          </a:p>
        </p:txBody>
      </p:sp>
      <p:grpSp>
        <p:nvGrpSpPr>
          <p:cNvPr id="38" name="Group 38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4/33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1-1  MICROBIOME CONCEPT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환경 노출이 인체 마이크로바이옴을 바꾼다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5/33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11530" y="2773908"/>
            <a:ext cx="5280660" cy="4869180"/>
            <a:chOff x="0" y="0"/>
            <a:chExt cx="7040880" cy="64922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040880" cy="6492240"/>
            </a:xfrm>
            <a:custGeom>
              <a:avLst/>
              <a:gdLst/>
              <a:ahLst/>
              <a:cxnLst/>
              <a:rect l="l" t="t" r="r" b="b"/>
              <a:pathLst>
                <a:path w="7040880" h="6492240">
                  <a:moveTo>
                    <a:pt x="0" y="0"/>
                  </a:moveTo>
                  <a:lnTo>
                    <a:pt x="7040880" y="0"/>
                  </a:lnTo>
                  <a:lnTo>
                    <a:pt x="7040880" y="6492240"/>
                  </a:lnTo>
                  <a:lnTo>
                    <a:pt x="0" y="64922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503670" y="2773908"/>
            <a:ext cx="5280660" cy="4869180"/>
            <a:chOff x="0" y="0"/>
            <a:chExt cx="7040880" cy="649224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7040880" cy="6492240"/>
            </a:xfrm>
            <a:custGeom>
              <a:avLst/>
              <a:gdLst/>
              <a:ahLst/>
              <a:cxnLst/>
              <a:rect l="l" t="t" r="r" b="b"/>
              <a:pathLst>
                <a:path w="7040880" h="6492240">
                  <a:moveTo>
                    <a:pt x="0" y="0"/>
                  </a:moveTo>
                  <a:lnTo>
                    <a:pt x="7040880" y="0"/>
                  </a:lnTo>
                  <a:lnTo>
                    <a:pt x="7040880" y="6492240"/>
                  </a:lnTo>
                  <a:lnTo>
                    <a:pt x="0" y="64922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195810" y="2773908"/>
            <a:ext cx="5280660" cy="4869180"/>
            <a:chOff x="0" y="0"/>
            <a:chExt cx="7040880" cy="649224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040880" cy="6492240"/>
            </a:xfrm>
            <a:custGeom>
              <a:avLst/>
              <a:gdLst/>
              <a:ahLst/>
              <a:cxnLst/>
              <a:rect l="l" t="t" r="r" b="b"/>
              <a:pathLst>
                <a:path w="7040880" h="6492240">
                  <a:moveTo>
                    <a:pt x="0" y="0"/>
                  </a:moveTo>
                  <a:lnTo>
                    <a:pt x="7040880" y="0"/>
                  </a:lnTo>
                  <a:lnTo>
                    <a:pt x="7040880" y="6492240"/>
                  </a:lnTo>
                  <a:lnTo>
                    <a:pt x="0" y="64922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223010" y="4145508"/>
            <a:ext cx="4457700" cy="685800"/>
            <a:chOff x="0" y="0"/>
            <a:chExt cx="5943600" cy="9144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5943600" cy="914400"/>
            </a:xfrm>
            <a:custGeom>
              <a:avLst/>
              <a:gdLst/>
              <a:ahLst/>
              <a:cxnLst/>
              <a:rect l="l" t="t" r="r" b="b"/>
              <a:pathLst>
                <a:path w="5943600" h="914400">
                  <a:moveTo>
                    <a:pt x="0" y="0"/>
                  </a:moveTo>
                  <a:lnTo>
                    <a:pt x="5943600" y="0"/>
                  </a:lnTo>
                  <a:lnTo>
                    <a:pt x="594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6652" b="-766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9525"/>
              <a:ext cx="594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피부 → 토양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23010" y="6888708"/>
            <a:ext cx="4457700" cy="411480"/>
            <a:chOff x="0" y="0"/>
            <a:chExt cx="5943600" cy="54864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943600" cy="548640"/>
            </a:xfrm>
            <a:custGeom>
              <a:avLst/>
              <a:gdLst/>
              <a:ahLst/>
              <a:cxnLst/>
              <a:rect l="l" t="t" r="r" b="b"/>
              <a:pathLst>
                <a:path w="5943600" h="548640">
                  <a:moveTo>
                    <a:pt x="0" y="0"/>
                  </a:moveTo>
                  <a:lnTo>
                    <a:pt x="5943600" y="0"/>
                  </a:lnTo>
                  <a:lnTo>
                    <a:pt x="5943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1087" b="-16108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594360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0"/>
                </a:lnSpc>
              </a:pPr>
              <a:r>
                <a:rPr lang="en-US" sz="150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Selway et al., Environ. Int., 2020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915150" y="6888708"/>
            <a:ext cx="4457700" cy="411480"/>
            <a:chOff x="0" y="0"/>
            <a:chExt cx="5943600" cy="54864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5943600" cy="548640"/>
            </a:xfrm>
            <a:custGeom>
              <a:avLst/>
              <a:gdLst/>
              <a:ahLst/>
              <a:cxnLst/>
              <a:rect l="l" t="t" r="r" b="b"/>
              <a:pathLst>
                <a:path w="5943600" h="548640">
                  <a:moveTo>
                    <a:pt x="0" y="0"/>
                  </a:moveTo>
                  <a:lnTo>
                    <a:pt x="5943600" y="0"/>
                  </a:lnTo>
                  <a:lnTo>
                    <a:pt x="5943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1087" b="-16108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594360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0"/>
                </a:lnSpc>
              </a:pPr>
              <a:r>
                <a:rPr lang="en-US" sz="150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Selway et al., Environ. Int., 2020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607290" y="4145508"/>
            <a:ext cx="4457700" cy="685800"/>
            <a:chOff x="0" y="0"/>
            <a:chExt cx="5943600" cy="9144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943600" cy="914400"/>
            </a:xfrm>
            <a:custGeom>
              <a:avLst/>
              <a:gdLst/>
              <a:ahLst/>
              <a:cxnLst/>
              <a:rect l="l" t="t" r="r" b="b"/>
              <a:pathLst>
                <a:path w="5943600" h="914400">
                  <a:moveTo>
                    <a:pt x="0" y="0"/>
                  </a:moveTo>
                  <a:lnTo>
                    <a:pt x="5943600" y="0"/>
                  </a:lnTo>
                  <a:lnTo>
                    <a:pt x="594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6652" b="-766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594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장·피부 다양성 변화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2607290" y="6888708"/>
            <a:ext cx="4457700" cy="411480"/>
            <a:chOff x="0" y="0"/>
            <a:chExt cx="5943600" cy="54864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5943600" cy="548640"/>
            </a:xfrm>
            <a:custGeom>
              <a:avLst/>
              <a:gdLst/>
              <a:ahLst/>
              <a:cxnLst/>
              <a:rect l="l" t="t" r="r" b="b"/>
              <a:pathLst>
                <a:path w="5943600" h="548640">
                  <a:moveTo>
                    <a:pt x="0" y="0"/>
                  </a:moveTo>
                  <a:lnTo>
                    <a:pt x="5943600" y="0"/>
                  </a:lnTo>
                  <a:lnTo>
                    <a:pt x="5943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1087" b="-16108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9525"/>
              <a:ext cx="594360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0"/>
                </a:lnSpc>
              </a:pPr>
              <a:r>
                <a:rPr lang="en-US" sz="150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Zhang et al., Environ. Int., 2024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2063578" y="3185388"/>
            <a:ext cx="2776565" cy="685800"/>
            <a:chOff x="0" y="0"/>
            <a:chExt cx="3702086" cy="9144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3702086" cy="914400"/>
            </a:xfrm>
            <a:custGeom>
              <a:avLst/>
              <a:gdLst/>
              <a:ahLst/>
              <a:cxnLst/>
              <a:rect l="l" t="t" r="r" b="b"/>
              <a:pathLst>
                <a:path w="3702086" h="914400">
                  <a:moveTo>
                    <a:pt x="0" y="0"/>
                  </a:moveTo>
                  <a:lnTo>
                    <a:pt x="3702086" y="0"/>
                  </a:lnTo>
                  <a:lnTo>
                    <a:pt x="3702086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6652" r="-60547" b="-766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0"/>
              <a:ext cx="3702086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환경 미생물 노출 경로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7589520" y="3185388"/>
            <a:ext cx="2776565" cy="685800"/>
            <a:chOff x="0" y="0"/>
            <a:chExt cx="3702086" cy="9144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3702086" cy="914400"/>
            </a:xfrm>
            <a:custGeom>
              <a:avLst/>
              <a:gdLst/>
              <a:ahLst/>
              <a:cxnLst/>
              <a:rect l="l" t="t" r="r" b="b"/>
              <a:pathLst>
                <a:path w="3702086" h="914400">
                  <a:moveTo>
                    <a:pt x="0" y="0"/>
                  </a:moveTo>
                  <a:lnTo>
                    <a:pt x="3702086" y="0"/>
                  </a:lnTo>
                  <a:lnTo>
                    <a:pt x="3702086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6652" r="-60547" b="-766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0"/>
              <a:ext cx="3702086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도시 녹지 노출 및 미생물 변화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3452692" y="3185388"/>
            <a:ext cx="2776565" cy="685800"/>
            <a:chOff x="0" y="0"/>
            <a:chExt cx="3702086" cy="9144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702086" cy="914400"/>
            </a:xfrm>
            <a:custGeom>
              <a:avLst/>
              <a:gdLst/>
              <a:ahLst/>
              <a:cxnLst/>
              <a:rect l="l" t="t" r="r" b="b"/>
              <a:pathLst>
                <a:path w="3702086" h="914400">
                  <a:moveTo>
                    <a:pt x="0" y="0"/>
                  </a:moveTo>
                  <a:lnTo>
                    <a:pt x="3702086" y="0"/>
                  </a:lnTo>
                  <a:lnTo>
                    <a:pt x="3702086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6652" r="-60547" b="-766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0"/>
              <a:ext cx="3702086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핵심 공급원으로서의 토양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1223010" y="4882743"/>
            <a:ext cx="4457700" cy="1128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인간은 토양·식생과의 직접 접촉,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공기·먼지흡입을 통해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환경 미생물에 지속적으로 노출됨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915150" y="4882743"/>
            <a:ext cx="4457700" cy="1128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동일 노출 후, 비강(코) 마이크로바이옴은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대기 마이크로바이옴과,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피부는 토양 마이크로바이옴과 더 유사해짐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2607290" y="4882743"/>
            <a:ext cx="4457700" cy="1509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토양은 생태계 기능유지 및 영양염 순환을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주도하며, 녹지 노출을 통해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인체 장·피부 미생물의 다양성 및 군집 조성 변화와 연관됨</a:t>
            </a:r>
          </a:p>
        </p:txBody>
      </p:sp>
      <p:grpSp>
        <p:nvGrpSpPr>
          <p:cNvPr id="47" name="Group 47"/>
          <p:cNvGrpSpPr/>
          <p:nvPr/>
        </p:nvGrpSpPr>
        <p:grpSpPr>
          <a:xfrm>
            <a:off x="6915150" y="4145508"/>
            <a:ext cx="4457700" cy="685800"/>
            <a:chOff x="0" y="0"/>
            <a:chExt cx="5943600" cy="9144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5943600" cy="914400"/>
            </a:xfrm>
            <a:custGeom>
              <a:avLst/>
              <a:gdLst/>
              <a:ahLst/>
              <a:cxnLst/>
              <a:rect l="l" t="t" r="r" b="b"/>
              <a:pathLst>
                <a:path w="5943600" h="914400">
                  <a:moveTo>
                    <a:pt x="0" y="0"/>
                  </a:moveTo>
                  <a:lnTo>
                    <a:pt x="5943600" y="0"/>
                  </a:lnTo>
                  <a:lnTo>
                    <a:pt x="594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44642" b="-34464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9525"/>
              <a:ext cx="594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코 → 대기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811530" y="7985988"/>
            <a:ext cx="16847820" cy="1440180"/>
            <a:chOff x="0" y="0"/>
            <a:chExt cx="22463760" cy="1920240"/>
          </a:xfrm>
        </p:grpSpPr>
        <p:grpSp>
          <p:nvGrpSpPr>
            <p:cNvPr id="51" name="Group 51"/>
            <p:cNvGrpSpPr/>
            <p:nvPr/>
          </p:nvGrpSpPr>
          <p:grpSpPr>
            <a:xfrm>
              <a:off x="0" y="0"/>
              <a:ext cx="22128480" cy="1920240"/>
              <a:chOff x="0" y="0"/>
              <a:chExt cx="22128480" cy="192024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22128480" cy="1920240"/>
              </a:xfrm>
              <a:custGeom>
                <a:avLst/>
                <a:gdLst/>
                <a:ahLst/>
                <a:cxnLst/>
                <a:rect l="l" t="t" r="r" b="b"/>
                <a:pathLst>
                  <a:path w="22128480" h="1920240">
                    <a:moveTo>
                      <a:pt x="0" y="0"/>
                    </a:moveTo>
                    <a:lnTo>
                      <a:pt x="22128480" y="0"/>
                    </a:lnTo>
                    <a:lnTo>
                      <a:pt x="22128480" y="1920240"/>
                    </a:lnTo>
                    <a:lnTo>
                      <a:pt x="0" y="1920240"/>
                    </a:lnTo>
                    <a:close/>
                  </a:path>
                </a:pathLst>
              </a:custGeom>
              <a:solidFill>
                <a:srgbClr val="2B4A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53" name="Group 53"/>
            <p:cNvGrpSpPr/>
            <p:nvPr/>
          </p:nvGrpSpPr>
          <p:grpSpPr>
            <a:xfrm>
              <a:off x="1432560" y="329184"/>
              <a:ext cx="21031200" cy="1280160"/>
              <a:chOff x="0" y="0"/>
              <a:chExt cx="21031200" cy="128016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0" y="0"/>
                <a:ext cx="21031200" cy="1280160"/>
              </a:xfrm>
              <a:custGeom>
                <a:avLst/>
                <a:gdLst/>
                <a:ahLst/>
                <a:cxnLst/>
                <a:rect l="l" t="t" r="r" b="b"/>
                <a:pathLst>
                  <a:path w="21031200" h="1280160">
                    <a:moveTo>
                      <a:pt x="0" y="0"/>
                    </a:moveTo>
                    <a:lnTo>
                      <a:pt x="21031200" y="0"/>
                    </a:lnTo>
                    <a:lnTo>
                      <a:pt x="21031200" y="1280160"/>
                    </a:lnTo>
                    <a:lnTo>
                      <a:pt x="0" y="128016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70111" b="-270111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0" y="-9525"/>
                <a:ext cx="21031200" cy="128968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환경 미생물이 인체에 장기 정착한다는 뜻은 아니지만, 주변 환경의 미생물 조성이 인체가 접하는 노출 패턴에 영향을 준다는 것을 시사함</a:t>
                </a:r>
              </a:p>
            </p:txBody>
          </p:sp>
        </p:grpSp>
        <p:sp>
          <p:nvSpPr>
            <p:cNvPr id="56" name="Freeform 56"/>
            <p:cNvSpPr/>
            <p:nvPr/>
          </p:nvSpPr>
          <p:spPr>
            <a:xfrm>
              <a:off x="464630" y="590455"/>
              <a:ext cx="739330" cy="739330"/>
            </a:xfrm>
            <a:custGeom>
              <a:avLst/>
              <a:gdLst/>
              <a:ahLst/>
              <a:cxnLst/>
              <a:rect l="l" t="t" r="r" b="b"/>
              <a:pathLst>
                <a:path w="739330" h="739330">
                  <a:moveTo>
                    <a:pt x="0" y="0"/>
                  </a:moveTo>
                  <a:lnTo>
                    <a:pt x="739330" y="0"/>
                  </a:lnTo>
                  <a:lnTo>
                    <a:pt x="739330" y="739330"/>
                  </a:lnTo>
                  <a:lnTo>
                    <a:pt x="0" y="73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58" name="Freeform 53">
            <a:extLst>
              <a:ext uri="{FF2B5EF4-FFF2-40B4-BE49-F238E27FC236}">
                <a16:creationId xmlns:a16="http://schemas.microsoft.com/office/drawing/2014/main" id="{41491123-4686-1440-8D63-4A285CFEA3FD}"/>
              </a:ext>
            </a:extLst>
          </p:cNvPr>
          <p:cNvSpPr/>
          <p:nvPr/>
        </p:nvSpPr>
        <p:spPr>
          <a:xfrm>
            <a:off x="1299840" y="3350800"/>
            <a:ext cx="355174" cy="446760"/>
          </a:xfrm>
          <a:custGeom>
            <a:avLst/>
            <a:gdLst/>
            <a:ahLst/>
            <a:cxnLst/>
            <a:rect l="l" t="t" r="r" b="b"/>
            <a:pathLst>
              <a:path w="355174" h="446760">
                <a:moveTo>
                  <a:pt x="0" y="0"/>
                </a:moveTo>
                <a:lnTo>
                  <a:pt x="355174" y="0"/>
                </a:lnTo>
                <a:lnTo>
                  <a:pt x="355174" y="446760"/>
                </a:lnTo>
                <a:lnTo>
                  <a:pt x="0" y="4467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60" name="Freeform 54">
            <a:extLst>
              <a:ext uri="{FF2B5EF4-FFF2-40B4-BE49-F238E27FC236}">
                <a16:creationId xmlns:a16="http://schemas.microsoft.com/office/drawing/2014/main" id="{BFB38CCA-7021-3EF1-5B8E-3B2BB362BCED}"/>
              </a:ext>
            </a:extLst>
          </p:cNvPr>
          <p:cNvSpPr/>
          <p:nvPr/>
        </p:nvSpPr>
        <p:spPr>
          <a:xfrm>
            <a:off x="1564985" y="3185388"/>
            <a:ext cx="180058" cy="272815"/>
          </a:xfrm>
          <a:custGeom>
            <a:avLst/>
            <a:gdLst/>
            <a:ahLst/>
            <a:cxnLst/>
            <a:rect l="l" t="t" r="r" b="b"/>
            <a:pathLst>
              <a:path w="180058" h="272815">
                <a:moveTo>
                  <a:pt x="0" y="0"/>
                </a:moveTo>
                <a:lnTo>
                  <a:pt x="180058" y="0"/>
                </a:lnTo>
                <a:lnTo>
                  <a:pt x="180058" y="272814"/>
                </a:lnTo>
                <a:lnTo>
                  <a:pt x="0" y="27281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62" name="Freeform 58">
            <a:extLst>
              <a:ext uri="{FF2B5EF4-FFF2-40B4-BE49-F238E27FC236}">
                <a16:creationId xmlns:a16="http://schemas.microsoft.com/office/drawing/2014/main" id="{6A28BED4-045C-3B71-DFAA-71FEFECE0BA1}"/>
              </a:ext>
            </a:extLst>
          </p:cNvPr>
          <p:cNvSpPr/>
          <p:nvPr/>
        </p:nvSpPr>
        <p:spPr>
          <a:xfrm>
            <a:off x="1223010" y="3437772"/>
            <a:ext cx="180058" cy="272815"/>
          </a:xfrm>
          <a:custGeom>
            <a:avLst/>
            <a:gdLst/>
            <a:ahLst/>
            <a:cxnLst/>
            <a:rect l="l" t="t" r="r" b="b"/>
            <a:pathLst>
              <a:path w="180058" h="272815">
                <a:moveTo>
                  <a:pt x="0" y="0"/>
                </a:moveTo>
                <a:lnTo>
                  <a:pt x="180058" y="0"/>
                </a:lnTo>
                <a:lnTo>
                  <a:pt x="180058" y="272815"/>
                </a:lnTo>
                <a:lnTo>
                  <a:pt x="0" y="27281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64" name="Freeform 51">
            <a:extLst>
              <a:ext uri="{FF2B5EF4-FFF2-40B4-BE49-F238E27FC236}">
                <a16:creationId xmlns:a16="http://schemas.microsoft.com/office/drawing/2014/main" id="{FC835A0E-D5DD-65A2-513B-12E9973A18D0}"/>
              </a:ext>
            </a:extLst>
          </p:cNvPr>
          <p:cNvSpPr/>
          <p:nvPr/>
        </p:nvSpPr>
        <p:spPr>
          <a:xfrm>
            <a:off x="6943958" y="3259016"/>
            <a:ext cx="350053" cy="538543"/>
          </a:xfrm>
          <a:custGeom>
            <a:avLst/>
            <a:gdLst/>
            <a:ahLst/>
            <a:cxnLst/>
            <a:rect l="l" t="t" r="r" b="b"/>
            <a:pathLst>
              <a:path w="350053" h="538543">
                <a:moveTo>
                  <a:pt x="0" y="0"/>
                </a:moveTo>
                <a:lnTo>
                  <a:pt x="350054" y="0"/>
                </a:lnTo>
                <a:lnTo>
                  <a:pt x="350054" y="538544"/>
                </a:lnTo>
                <a:lnTo>
                  <a:pt x="0" y="5385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66" name="Freeform 52">
            <a:extLst>
              <a:ext uri="{FF2B5EF4-FFF2-40B4-BE49-F238E27FC236}">
                <a16:creationId xmlns:a16="http://schemas.microsoft.com/office/drawing/2014/main" id="{1D185656-590D-B173-14C6-E03EDA616EFF}"/>
              </a:ext>
            </a:extLst>
          </p:cNvPr>
          <p:cNvSpPr/>
          <p:nvPr/>
        </p:nvSpPr>
        <p:spPr>
          <a:xfrm>
            <a:off x="12786219" y="3259016"/>
            <a:ext cx="344668" cy="538543"/>
          </a:xfrm>
          <a:custGeom>
            <a:avLst/>
            <a:gdLst/>
            <a:ahLst/>
            <a:cxnLst/>
            <a:rect l="l" t="t" r="r" b="b"/>
            <a:pathLst>
              <a:path w="344668" h="538543">
                <a:moveTo>
                  <a:pt x="0" y="0"/>
                </a:moveTo>
                <a:lnTo>
                  <a:pt x="344668" y="0"/>
                </a:lnTo>
                <a:lnTo>
                  <a:pt x="344668" y="538544"/>
                </a:lnTo>
                <a:lnTo>
                  <a:pt x="0" y="53854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1-2  RESEARCH GAP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도시 토양 특성 (도로변 vs 공원)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6/33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22960" y="3048973"/>
            <a:ext cx="17596454" cy="5363146"/>
            <a:chOff x="0" y="0"/>
            <a:chExt cx="23461939" cy="7150862"/>
          </a:xfrm>
        </p:grpSpPr>
        <p:sp>
          <p:nvSpPr>
            <p:cNvPr id="12" name="Freeform 12"/>
            <p:cNvSpPr/>
            <p:nvPr/>
          </p:nvSpPr>
          <p:spPr>
            <a:xfrm>
              <a:off x="10789920" y="2310895"/>
              <a:ext cx="1746490" cy="2619735"/>
            </a:xfrm>
            <a:custGeom>
              <a:avLst/>
              <a:gdLst/>
              <a:ahLst/>
              <a:cxnLst/>
              <a:rect l="l" t="t" r="r" b="b"/>
              <a:pathLst>
                <a:path w="1746490" h="2619735">
                  <a:moveTo>
                    <a:pt x="0" y="0"/>
                  </a:moveTo>
                  <a:lnTo>
                    <a:pt x="1746490" y="0"/>
                  </a:lnTo>
                  <a:lnTo>
                    <a:pt x="1746490" y="2619735"/>
                  </a:lnTo>
                  <a:lnTo>
                    <a:pt x="0" y="26197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grpSp>
          <p:nvGrpSpPr>
            <p:cNvPr id="13" name="Group 13"/>
            <p:cNvGrpSpPr/>
            <p:nvPr/>
          </p:nvGrpSpPr>
          <p:grpSpPr>
            <a:xfrm>
              <a:off x="12917410" y="2026531"/>
              <a:ext cx="9576830" cy="3188462"/>
              <a:chOff x="0" y="0"/>
              <a:chExt cx="9576830" cy="3188462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9576830" cy="3188462"/>
              </a:xfrm>
              <a:custGeom>
                <a:avLst/>
                <a:gdLst/>
                <a:ahLst/>
                <a:cxnLst/>
                <a:rect l="l" t="t" r="r" b="b"/>
                <a:pathLst>
                  <a:path w="9576830" h="3188462">
                    <a:moveTo>
                      <a:pt x="0" y="0"/>
                    </a:moveTo>
                    <a:lnTo>
                      <a:pt x="9576830" y="0"/>
                    </a:lnTo>
                    <a:lnTo>
                      <a:pt x="9576830" y="3188462"/>
                    </a:lnTo>
                    <a:lnTo>
                      <a:pt x="0" y="3188462"/>
                    </a:ln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14317939" y="3239262"/>
              <a:ext cx="8843319" cy="2084654"/>
              <a:chOff x="0" y="0"/>
              <a:chExt cx="8843319" cy="208465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8843319" cy="2084655"/>
              </a:xfrm>
              <a:custGeom>
                <a:avLst/>
                <a:gdLst/>
                <a:ahLst/>
                <a:cxnLst/>
                <a:rect l="l" t="t" r="r" b="b"/>
                <a:pathLst>
                  <a:path w="8843319" h="2084655">
                    <a:moveTo>
                      <a:pt x="0" y="0"/>
                    </a:moveTo>
                    <a:lnTo>
                      <a:pt x="8843319" y="0"/>
                    </a:lnTo>
                    <a:lnTo>
                      <a:pt x="8843319" y="2084655"/>
                    </a:lnTo>
                    <a:lnTo>
                      <a:pt x="0" y="2084655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53196" r="-135752" b="-136537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9525"/>
                <a:ext cx="8843319" cy="20941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610"/>
                  </a:lnSpc>
                </a:pPr>
                <a:r>
                  <a:rPr lang="en-US" sz="2175">
                    <a:solidFill>
                      <a:srgbClr val="000000"/>
                    </a:solidFill>
                    <a:latin typeface="프리텐다드"/>
                    <a:ea typeface="프리텐다드"/>
                    <a:cs typeface="프리텐다드"/>
                    <a:sym typeface="프리텐다드"/>
                  </a:rPr>
                  <a:t>토지 이용 형태 및 인위적 교란에 따른 </a:t>
                </a:r>
              </a:p>
              <a:p>
                <a:pPr algn="l">
                  <a:lnSpc>
                    <a:spcPts val="2610"/>
                  </a:lnSpc>
                </a:pPr>
                <a:r>
                  <a:rPr lang="en-US" sz="2175">
                    <a:solidFill>
                      <a:srgbClr val="000000"/>
                    </a:solidFill>
                    <a:latin typeface="프리텐다드"/>
                    <a:ea typeface="프리텐다드"/>
                    <a:cs typeface="프리텐다드"/>
                    <a:sym typeface="프리텐다드"/>
                  </a:rPr>
                  <a:t>토양 미생물 다양성 차이를 규명하고, </a:t>
                </a:r>
              </a:p>
              <a:p>
                <a:pPr algn="l">
                  <a:lnSpc>
                    <a:spcPts val="2610"/>
                  </a:lnSpc>
                </a:pPr>
                <a:r>
                  <a:rPr lang="en-US" sz="2175">
                    <a:solidFill>
                      <a:srgbClr val="000000"/>
                    </a:solidFill>
                    <a:latin typeface="프리텐다드"/>
                    <a:ea typeface="프리텐다드"/>
                    <a:cs typeface="프리텐다드"/>
                    <a:sym typeface="프리텐다드"/>
                  </a:rPr>
                  <a:t>도시 주민이 접하는 </a:t>
                </a:r>
                <a:r>
                  <a:rPr lang="en-US" sz="2175" b="1">
                    <a:solidFill>
                      <a:srgbClr val="000000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환경 미생물의 공간적 차이</a:t>
                </a:r>
                <a:r>
                  <a:rPr lang="en-US" sz="2175">
                    <a:solidFill>
                      <a:srgbClr val="000000"/>
                    </a:solidFill>
                    <a:latin typeface="프리텐다드"/>
                    <a:ea typeface="프리텐다드"/>
                    <a:cs typeface="프리텐다드"/>
                    <a:sym typeface="프리텐다드"/>
                  </a:rPr>
                  <a:t>를 이해</a:t>
                </a:r>
              </a:p>
              <a:p>
                <a:pPr algn="l">
                  <a:lnSpc>
                    <a:spcPts val="2610"/>
                  </a:lnSpc>
                </a:pPr>
                <a:endParaRPr lang="en-US" sz="2175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endParaRPr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14317939" y="2456942"/>
              <a:ext cx="9144000" cy="731520"/>
              <a:chOff x="0" y="0"/>
              <a:chExt cx="9144000" cy="73152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914400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9144000" h="731520">
                    <a:moveTo>
                      <a:pt x="0" y="0"/>
                    </a:moveTo>
                    <a:lnTo>
                      <a:pt x="9144000" y="0"/>
                    </a:lnTo>
                    <a:lnTo>
                      <a:pt x="914400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93562" b="-193562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9525"/>
                <a:ext cx="914400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수도권 토양 마이크로바이옴 비교 목적</a:t>
                </a:r>
              </a:p>
            </p:txBody>
          </p:sp>
        </p:grpSp>
        <p:sp>
          <p:nvSpPr>
            <p:cNvPr id="21" name="Freeform 21"/>
            <p:cNvSpPr/>
            <p:nvPr/>
          </p:nvSpPr>
          <p:spPr>
            <a:xfrm>
              <a:off x="13427405" y="2349696"/>
              <a:ext cx="567207" cy="713468"/>
            </a:xfrm>
            <a:custGeom>
              <a:avLst/>
              <a:gdLst/>
              <a:ahLst/>
              <a:cxnLst/>
              <a:rect l="l" t="t" r="r" b="b"/>
              <a:pathLst>
                <a:path w="567207" h="713468">
                  <a:moveTo>
                    <a:pt x="0" y="0"/>
                  </a:moveTo>
                  <a:lnTo>
                    <a:pt x="567207" y="0"/>
                  </a:lnTo>
                  <a:lnTo>
                    <a:pt x="567207" y="713468"/>
                  </a:lnTo>
                  <a:lnTo>
                    <a:pt x="0" y="7134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0" y="0"/>
              <a:ext cx="10409247" cy="3188462"/>
              <a:chOff x="0" y="0"/>
              <a:chExt cx="10409247" cy="3188462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0409248" cy="3188462"/>
              </a:xfrm>
              <a:custGeom>
                <a:avLst/>
                <a:gdLst/>
                <a:ahLst/>
                <a:cxnLst/>
                <a:rect l="l" t="t" r="r" b="b"/>
                <a:pathLst>
                  <a:path w="10409248" h="3188462">
                    <a:moveTo>
                      <a:pt x="0" y="0"/>
                    </a:moveTo>
                    <a:lnTo>
                      <a:pt x="10409248" y="0"/>
                    </a:lnTo>
                    <a:lnTo>
                      <a:pt x="10409248" y="3188462"/>
                    </a:lnTo>
                    <a:lnTo>
                      <a:pt x="0" y="3188462"/>
                    </a:lnTo>
                    <a:close/>
                  </a:path>
                </a:pathLst>
              </a:custGeom>
              <a:solidFill>
                <a:srgbClr val="FAFAFC"/>
              </a:solidFill>
              <a:ln w="19050" cap="sq">
                <a:solidFill>
                  <a:srgbClr val="E3E6F5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1265247" y="364998"/>
              <a:ext cx="9144000" cy="731520"/>
              <a:chOff x="0" y="0"/>
              <a:chExt cx="9144000" cy="73152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914400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9144000" h="731520">
                    <a:moveTo>
                      <a:pt x="0" y="0"/>
                    </a:moveTo>
                    <a:lnTo>
                      <a:pt x="9144000" y="0"/>
                    </a:lnTo>
                    <a:lnTo>
                      <a:pt x="914400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93562" b="-193562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9525"/>
                <a:ext cx="914400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도로변 토양(Roadside Soil)</a:t>
                </a:r>
              </a:p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1554480" y="1099693"/>
              <a:ext cx="9692640" cy="19840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차량 배기가스 및 도로 먼지 유래 중금속, 석유계 탄화수소, 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다환방향족탄화수소(PAHs) 축적 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→ </a:t>
              </a: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세균 및 진균의 다양성 및 군집 구조 변형</a:t>
              </a:r>
            </a:p>
            <a:p>
              <a:pPr algn="l">
                <a:lnSpc>
                  <a:spcPts val="3045"/>
                </a:lnSpc>
              </a:pPr>
              <a:endParaRPr lang="en-US" sz="188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</p:txBody>
        </p:sp>
        <p:grpSp>
          <p:nvGrpSpPr>
            <p:cNvPr id="29" name="Group 29"/>
            <p:cNvGrpSpPr/>
            <p:nvPr/>
          </p:nvGrpSpPr>
          <p:grpSpPr>
            <a:xfrm>
              <a:off x="0" y="3962400"/>
              <a:ext cx="10409247" cy="3188462"/>
              <a:chOff x="0" y="0"/>
              <a:chExt cx="10409247" cy="3188462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10409248" cy="3188462"/>
              </a:xfrm>
              <a:custGeom>
                <a:avLst/>
                <a:gdLst/>
                <a:ahLst/>
                <a:cxnLst/>
                <a:rect l="l" t="t" r="r" b="b"/>
                <a:pathLst>
                  <a:path w="10409248" h="3188462">
                    <a:moveTo>
                      <a:pt x="0" y="0"/>
                    </a:moveTo>
                    <a:lnTo>
                      <a:pt x="10409248" y="0"/>
                    </a:lnTo>
                    <a:lnTo>
                      <a:pt x="10409248" y="3188462"/>
                    </a:lnTo>
                    <a:lnTo>
                      <a:pt x="0" y="3188462"/>
                    </a:lnTo>
                    <a:close/>
                  </a:path>
                </a:pathLst>
              </a:custGeom>
              <a:solidFill>
                <a:srgbClr val="FAFAFC"/>
              </a:solidFill>
              <a:ln w="19050" cap="sq">
                <a:solidFill>
                  <a:srgbClr val="E3E6F5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265247" y="4318000"/>
              <a:ext cx="9144000" cy="731520"/>
              <a:chOff x="0" y="0"/>
              <a:chExt cx="9144000" cy="73152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914400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9144000" h="731520">
                    <a:moveTo>
                      <a:pt x="0" y="0"/>
                    </a:moveTo>
                    <a:lnTo>
                      <a:pt x="9144000" y="0"/>
                    </a:lnTo>
                    <a:lnTo>
                      <a:pt x="914400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93562" b="-193562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9525"/>
                <a:ext cx="914400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공원 토양(Park Soil)</a:t>
                </a:r>
              </a:p>
            </p:txBody>
          </p:sp>
        </p:grpSp>
        <p:sp>
          <p:nvSpPr>
            <p:cNvPr id="35" name="TextBox 35"/>
            <p:cNvSpPr txBox="1"/>
            <p:nvPr/>
          </p:nvSpPr>
          <p:spPr>
            <a:xfrm>
              <a:off x="1554480" y="5074793"/>
              <a:ext cx="9692640" cy="19840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식생 조성 및 녹지 관리에 영향을 받는 도시 토양으로, 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도로변 토양과 상이한 </a:t>
              </a:r>
            </a:p>
            <a:p>
              <a:pPr algn="l">
                <a:lnSpc>
                  <a:spcPts val="3045"/>
                </a:lnSpc>
              </a:pP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환경적선택 압력</a:t>
              </a: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(Environmental Selective Pressures) 작용</a:t>
              </a:r>
            </a:p>
            <a:p>
              <a:pPr algn="l">
                <a:lnSpc>
                  <a:spcPts val="3045"/>
                </a:lnSpc>
              </a:pPr>
              <a:endPara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</p:txBody>
        </p:sp>
      </p:grpSp>
      <p:sp>
        <p:nvSpPr>
          <p:cNvPr id="39" name="Freeform 31">
            <a:extLst>
              <a:ext uri="{FF2B5EF4-FFF2-40B4-BE49-F238E27FC236}">
                <a16:creationId xmlns:a16="http://schemas.microsoft.com/office/drawing/2014/main" id="{9177FF8B-EE5E-C530-DD8E-A34920C13C5D}"/>
              </a:ext>
            </a:extLst>
          </p:cNvPr>
          <p:cNvSpPr/>
          <p:nvPr/>
        </p:nvSpPr>
        <p:spPr>
          <a:xfrm>
            <a:off x="1079698" y="3268252"/>
            <a:ext cx="449702" cy="449702"/>
          </a:xfrm>
          <a:custGeom>
            <a:avLst/>
            <a:gdLst/>
            <a:ahLst/>
            <a:cxnLst/>
            <a:rect l="l" t="t" r="r" b="b"/>
            <a:pathLst>
              <a:path w="449702" h="449702">
                <a:moveTo>
                  <a:pt x="0" y="0"/>
                </a:moveTo>
                <a:lnTo>
                  <a:pt x="449702" y="0"/>
                </a:lnTo>
                <a:lnTo>
                  <a:pt x="449702" y="449702"/>
                </a:lnTo>
                <a:lnTo>
                  <a:pt x="0" y="44970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41" name="Freeform 34">
            <a:extLst>
              <a:ext uri="{FF2B5EF4-FFF2-40B4-BE49-F238E27FC236}">
                <a16:creationId xmlns:a16="http://schemas.microsoft.com/office/drawing/2014/main" id="{BA25582E-668B-F957-DA04-FEFA5B3AC158}"/>
              </a:ext>
            </a:extLst>
          </p:cNvPr>
          <p:cNvSpPr/>
          <p:nvPr/>
        </p:nvSpPr>
        <p:spPr>
          <a:xfrm>
            <a:off x="1129523" y="6208401"/>
            <a:ext cx="350053" cy="538543"/>
          </a:xfrm>
          <a:custGeom>
            <a:avLst/>
            <a:gdLst/>
            <a:ahLst/>
            <a:cxnLst/>
            <a:rect l="l" t="t" r="r" b="b"/>
            <a:pathLst>
              <a:path w="350053" h="538543">
                <a:moveTo>
                  <a:pt x="0" y="0"/>
                </a:moveTo>
                <a:lnTo>
                  <a:pt x="350053" y="0"/>
                </a:lnTo>
                <a:lnTo>
                  <a:pt x="350053" y="538544"/>
                </a:lnTo>
                <a:lnTo>
                  <a:pt x="0" y="5385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5040"/>
                </a:lnSpc>
                <a:spcBef>
                  <a:spcPct val="0"/>
                </a:spcBef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도시</a:t>
              </a:r>
              <a:r>
                <a:rPr lang="en-US" sz="4200" b="1" u="none" strike="noStrike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토양, 아직 덜 알려진 영역과 한계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2971800"/>
            <a:ext cx="754380" cy="754380"/>
            <a:chOff x="0" y="0"/>
            <a:chExt cx="1005840" cy="100584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960120" y="2971800"/>
            <a:ext cx="754380" cy="754380"/>
            <a:chOff x="0" y="0"/>
            <a:chExt cx="1005840" cy="100584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1005840" cy="10153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✓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988820" y="2971800"/>
            <a:ext cx="6858000" cy="548640"/>
            <a:chOff x="0" y="0"/>
            <a:chExt cx="914400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0" cy="731520"/>
            </a:xfrm>
            <a:custGeom>
              <a:avLst/>
              <a:gdLst/>
              <a:ahLst/>
              <a:cxnLst/>
              <a:rect l="l" t="t" r="r" b="b"/>
              <a:pathLst>
                <a:path w="9144000" h="731520">
                  <a:moveTo>
                    <a:pt x="0" y="0"/>
                  </a:moveTo>
                  <a:lnTo>
                    <a:pt x="9144000" y="0"/>
                  </a:lnTo>
                  <a:lnTo>
                    <a:pt x="9144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3562" b="-19356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91440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토양의 역할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988820" y="3571875"/>
            <a:ext cx="7269480" cy="1128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0233" lvl="1" indent="-170117" algn="l">
              <a:lnSpc>
                <a:spcPts val="3045"/>
              </a:lnSpc>
              <a:buFont typeface="Arial"/>
              <a:buChar char="•"/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생태계 기능·영양염류 순환의 </a:t>
            </a:r>
            <a:r>
              <a:rPr lang="en-US" sz="188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핵심 환경 요소</a:t>
            </a:r>
          </a:p>
          <a:p>
            <a:pPr marL="340233" lvl="1" indent="-170117" algn="l">
              <a:lnSpc>
                <a:spcPts val="3045"/>
              </a:lnSpc>
              <a:buFont typeface="Arial"/>
              <a:buChar char="•"/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도시에서는 미기후 조절, 탄소 격리, 우수(빗물) 관리 등 </a:t>
            </a:r>
          </a:p>
          <a:p>
            <a:pPr algn="l">
              <a:lnSpc>
                <a:spcPts val="3045"/>
              </a:lnSpc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     부가적 역할까지 수행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8641080" y="2971800"/>
            <a:ext cx="754380" cy="754380"/>
            <a:chOff x="0" y="0"/>
            <a:chExt cx="1005840" cy="1005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8641080" y="2971800"/>
            <a:ext cx="754380" cy="754380"/>
            <a:chOff x="0" y="0"/>
            <a:chExt cx="1005840" cy="100584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9525"/>
              <a:ext cx="1005840" cy="10153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✕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669780" y="2971800"/>
            <a:ext cx="6858000" cy="548640"/>
            <a:chOff x="0" y="0"/>
            <a:chExt cx="9144000" cy="73152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9144000" cy="731520"/>
            </a:xfrm>
            <a:custGeom>
              <a:avLst/>
              <a:gdLst/>
              <a:ahLst/>
              <a:cxnLst/>
              <a:rect l="l" t="t" r="r" b="b"/>
              <a:pathLst>
                <a:path w="9144000" h="731520">
                  <a:moveTo>
                    <a:pt x="0" y="0"/>
                  </a:moveTo>
                  <a:lnTo>
                    <a:pt x="9144000" y="0"/>
                  </a:lnTo>
                  <a:lnTo>
                    <a:pt x="9144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3562" b="-19356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91440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그러나 남은 공백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822960" y="9710928"/>
            <a:ext cx="7269480" cy="411480"/>
            <a:chOff x="0" y="0"/>
            <a:chExt cx="9692640" cy="54864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9692640" cy="548640"/>
            </a:xfrm>
            <a:custGeom>
              <a:avLst/>
              <a:gdLst/>
              <a:ahLst/>
              <a:cxnLst/>
              <a:rect l="l" t="t" r="r" b="b"/>
              <a:pathLst>
                <a:path w="9692640" h="548640">
                  <a:moveTo>
                    <a:pt x="0" y="0"/>
                  </a:moveTo>
                  <a:lnTo>
                    <a:pt x="9692640" y="0"/>
                  </a:lnTo>
                  <a:lnTo>
                    <a:pt x="96926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94235" b="-29423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9525"/>
              <a:ext cx="969264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0"/>
                </a:lnSpc>
              </a:pPr>
              <a:r>
                <a:rPr lang="en-US" sz="150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Whitehead et al., Front. Microbiol., 2022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759315" y="5241624"/>
            <a:ext cx="5800249" cy="1371402"/>
            <a:chOff x="0" y="0"/>
            <a:chExt cx="7733666" cy="1828537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7733666" cy="1828537"/>
            </a:xfrm>
            <a:custGeom>
              <a:avLst/>
              <a:gdLst/>
              <a:ahLst/>
              <a:cxnLst/>
              <a:rect l="l" t="t" r="r" b="b"/>
              <a:pathLst>
                <a:path w="7733666" h="1828537">
                  <a:moveTo>
                    <a:pt x="0" y="0"/>
                  </a:moveTo>
                  <a:lnTo>
                    <a:pt x="7733666" y="0"/>
                  </a:lnTo>
                  <a:lnTo>
                    <a:pt x="7733666" y="1828537"/>
                  </a:lnTo>
                  <a:lnTo>
                    <a:pt x="0" y="1828537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0024501" y="5478073"/>
            <a:ext cx="5535063" cy="898505"/>
            <a:chOff x="0" y="0"/>
            <a:chExt cx="7380084" cy="119800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7380084" cy="1198007"/>
            </a:xfrm>
            <a:custGeom>
              <a:avLst/>
              <a:gdLst/>
              <a:ahLst/>
              <a:cxnLst/>
              <a:rect l="l" t="t" r="r" b="b"/>
              <a:pathLst>
                <a:path w="7380084" h="1198007">
                  <a:moveTo>
                    <a:pt x="0" y="0"/>
                  </a:moveTo>
                  <a:lnTo>
                    <a:pt x="7380084" y="0"/>
                  </a:lnTo>
                  <a:lnTo>
                    <a:pt x="7380084" y="1198007"/>
                  </a:lnTo>
                  <a:lnTo>
                    <a:pt x="0" y="119800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6578" r="-182494" b="-31159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7380084" cy="120753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0"/>
                </a:lnSpc>
              </a:pPr>
              <a:r>
                <a:rPr lang="en-US" sz="2175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  인위적 교란이 심한 도시 토양의 세균 군집은 </a:t>
              </a:r>
            </a:p>
            <a:p>
              <a:pPr algn="l">
                <a:lnSpc>
                  <a:spcPts val="2610"/>
                </a:lnSpc>
              </a:pPr>
              <a:r>
                <a:rPr lang="en-US" sz="2175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   구조와 기능 모두 충분히 규명되지 않은 상태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7/33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22960" y="7644765"/>
            <a:ext cx="16823055" cy="1440180"/>
            <a:chOff x="0" y="0"/>
            <a:chExt cx="22430740" cy="1920240"/>
          </a:xfrm>
        </p:grpSpPr>
        <p:grpSp>
          <p:nvGrpSpPr>
            <p:cNvPr id="34" name="Group 34"/>
            <p:cNvGrpSpPr/>
            <p:nvPr/>
          </p:nvGrpSpPr>
          <p:grpSpPr>
            <a:xfrm>
              <a:off x="0" y="0"/>
              <a:ext cx="22128480" cy="1920240"/>
              <a:chOff x="0" y="0"/>
              <a:chExt cx="22128480" cy="192024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22128480" cy="1920240"/>
              </a:xfrm>
              <a:custGeom>
                <a:avLst/>
                <a:gdLst/>
                <a:ahLst/>
                <a:cxnLst/>
                <a:rect l="l" t="t" r="r" b="b"/>
                <a:pathLst>
                  <a:path w="22128480" h="1920240">
                    <a:moveTo>
                      <a:pt x="0" y="0"/>
                    </a:moveTo>
                    <a:lnTo>
                      <a:pt x="22128480" y="0"/>
                    </a:lnTo>
                    <a:lnTo>
                      <a:pt x="22128480" y="1920240"/>
                    </a:lnTo>
                    <a:lnTo>
                      <a:pt x="0" y="1920240"/>
                    </a:lnTo>
                    <a:close/>
                  </a:path>
                </a:pathLst>
              </a:custGeom>
              <a:solidFill>
                <a:srgbClr val="2B4A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1399540" y="320040"/>
              <a:ext cx="21031200" cy="1280160"/>
              <a:chOff x="0" y="0"/>
              <a:chExt cx="21031200" cy="128016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21031200" cy="1280160"/>
              </a:xfrm>
              <a:custGeom>
                <a:avLst/>
                <a:gdLst/>
                <a:ahLst/>
                <a:cxnLst/>
                <a:rect l="l" t="t" r="r" b="b"/>
                <a:pathLst>
                  <a:path w="21031200" h="1280160">
                    <a:moveTo>
                      <a:pt x="0" y="0"/>
                    </a:moveTo>
                    <a:lnTo>
                      <a:pt x="21031200" y="0"/>
                    </a:lnTo>
                    <a:lnTo>
                      <a:pt x="21031200" y="1280160"/>
                    </a:lnTo>
                    <a:lnTo>
                      <a:pt x="0" y="128016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70111" b="-270111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9525"/>
                <a:ext cx="21031200" cy="128968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주요 제약요인: 높은 생물학적 복잡성 (Biological Complexity), 방대한 조합 탐색 공간 (Vast Search Space), 막대한 시간 및 자원 소모</a:t>
                </a:r>
              </a:p>
            </p:txBody>
          </p:sp>
        </p:grpSp>
        <p:sp>
          <p:nvSpPr>
            <p:cNvPr id="39" name="Freeform 39"/>
            <p:cNvSpPr/>
            <p:nvPr/>
          </p:nvSpPr>
          <p:spPr>
            <a:xfrm>
              <a:off x="449390" y="590455"/>
              <a:ext cx="739330" cy="739330"/>
            </a:xfrm>
            <a:custGeom>
              <a:avLst/>
              <a:gdLst/>
              <a:ahLst/>
              <a:cxnLst/>
              <a:rect l="l" t="t" r="r" b="b"/>
              <a:pathLst>
                <a:path w="739330" h="739330">
                  <a:moveTo>
                    <a:pt x="0" y="0"/>
                  </a:moveTo>
                  <a:lnTo>
                    <a:pt x="739330" y="0"/>
                  </a:lnTo>
                  <a:lnTo>
                    <a:pt x="739330" y="739330"/>
                  </a:lnTo>
                  <a:lnTo>
                    <a:pt x="0" y="73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9669780" y="3571875"/>
            <a:ext cx="7269480" cy="1128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0233" lvl="1" indent="-170117" algn="l">
              <a:lnSpc>
                <a:spcPts val="3045"/>
              </a:lnSpc>
              <a:buFont typeface="Arial"/>
              <a:buChar char="•"/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도시 토양 미생물 연구는 상대적으로 </a:t>
            </a:r>
            <a:r>
              <a:rPr lang="en-US" sz="1880" b="1">
                <a:solidFill>
                  <a:srgbClr val="2B4AFF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산발적</a:t>
            </a:r>
          </a:p>
          <a:p>
            <a:pPr marL="340233" lvl="1" indent="-170117" algn="l">
              <a:lnSpc>
                <a:spcPts val="3045"/>
              </a:lnSpc>
              <a:buFont typeface="Arial"/>
              <a:buChar char="•"/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대부분 거시적(macro) 수준의 생태계 서비스에 초점 </a:t>
            </a:r>
          </a:p>
          <a:p>
            <a:pPr algn="l">
              <a:lnSpc>
                <a:spcPts val="3045"/>
              </a:lnSpc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     — 세균 군집의 </a:t>
            </a:r>
            <a:r>
              <a:rPr lang="en-US" sz="188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구조적 복잡성·기능적</a:t>
            </a: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88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잠재력은</a:t>
            </a: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880" b="1">
                <a:solidFill>
                  <a:srgbClr val="2B4AFF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저평가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1-2  RESEARCH GAP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1980"/>
                </a:lnSpc>
                <a:spcBef>
                  <a:spcPct val="0"/>
                </a:spcBef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  <a:r>
                <a:rPr lang="en-US" sz="1650" b="1" u="none" strike="noStrike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-3  METHOD PREVIEW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비교 — NGS 기반 16S rRNA 분석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908755"/>
            <a:ext cx="16596360" cy="5349240"/>
            <a:chOff x="0" y="0"/>
            <a:chExt cx="22128480" cy="7132320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10698480" cy="7132320"/>
              <a:chOff x="0" y="0"/>
              <a:chExt cx="10698480" cy="713232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0698480" cy="7132320"/>
              </a:xfrm>
              <a:custGeom>
                <a:avLst/>
                <a:gdLst/>
                <a:ahLst/>
                <a:cxnLst/>
                <a:rect l="l" t="t" r="r" b="b"/>
                <a:pathLst>
                  <a:path w="10698480" h="7132320">
                    <a:moveTo>
                      <a:pt x="0" y="0"/>
                    </a:moveTo>
                    <a:lnTo>
                      <a:pt x="10698480" y="0"/>
                    </a:lnTo>
                    <a:lnTo>
                      <a:pt x="10698480" y="7132320"/>
                    </a:lnTo>
                    <a:lnTo>
                      <a:pt x="0" y="7132320"/>
                    </a:ln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548640" y="365760"/>
              <a:ext cx="9509760" cy="914400"/>
              <a:chOff x="0" y="0"/>
              <a:chExt cx="9509760" cy="9144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950976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509760" h="914400">
                    <a:moveTo>
                      <a:pt x="0" y="0"/>
                    </a:moveTo>
                    <a:lnTo>
                      <a:pt x="9509760" y="0"/>
                    </a:lnTo>
                    <a:lnTo>
                      <a:pt x="950976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52644" b="-152644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9509760" cy="9144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060"/>
                  </a:lnSpc>
                </a:pPr>
                <a:r>
                  <a:rPr lang="en-US" sz="2550" b="1">
                    <a:solidFill>
                      <a:srgbClr val="1E36C4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NGS = 시퀀싱 기술</a:t>
                </a:r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548640" y="1377315"/>
              <a:ext cx="9509760" cy="26140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수백만 개의 DNA 조각을 동시에 병렬로 읽어내는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고속·대량 시퀀싱 기술</a:t>
              </a:r>
            </a:p>
            <a:p>
              <a:pPr algn="l">
                <a:lnSpc>
                  <a:spcPts val="3159"/>
                </a:lnSpc>
              </a:pPr>
              <a:endParaRPr lang="en-US" sz="195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본 연구는</a:t>
              </a:r>
              <a:r>
                <a:rPr lang="en-US" sz="19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Illumina NGS</a:t>
              </a: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를 이용해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32개 토양 시료의 16S 서열을 대량 분석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11430000" y="0"/>
              <a:ext cx="10698480" cy="7132320"/>
              <a:chOff x="0" y="0"/>
              <a:chExt cx="10698480" cy="713232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0698480" cy="7132320"/>
              </a:xfrm>
              <a:custGeom>
                <a:avLst/>
                <a:gdLst/>
                <a:ahLst/>
                <a:cxnLst/>
                <a:rect l="l" t="t" r="r" b="b"/>
                <a:pathLst>
                  <a:path w="10698480" h="7132320">
                    <a:moveTo>
                      <a:pt x="0" y="0"/>
                    </a:moveTo>
                    <a:lnTo>
                      <a:pt x="10698480" y="0"/>
                    </a:lnTo>
                    <a:lnTo>
                      <a:pt x="10698480" y="7132320"/>
                    </a:lnTo>
                    <a:lnTo>
                      <a:pt x="0" y="7132320"/>
                    </a:lnTo>
                    <a:close/>
                  </a:path>
                </a:pathLst>
              </a:custGeom>
              <a:solidFill>
                <a:srgbClr val="FAFAFC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11978640" y="365760"/>
              <a:ext cx="9509760" cy="914400"/>
              <a:chOff x="0" y="0"/>
              <a:chExt cx="9509760" cy="91440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950976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509760" h="914400">
                    <a:moveTo>
                      <a:pt x="0" y="0"/>
                    </a:moveTo>
                    <a:lnTo>
                      <a:pt x="9509760" y="0"/>
                    </a:lnTo>
                    <a:lnTo>
                      <a:pt x="950976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52644" b="-152644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9509760" cy="9144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060"/>
                  </a:lnSpc>
                </a:pPr>
                <a:r>
                  <a:rPr lang="en-US" sz="2550" b="1">
                    <a:solidFill>
                      <a:srgbClr val="000000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16S amplicon = 분석 전략</a:t>
                </a:r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1978640" y="1377315"/>
              <a:ext cx="9509760" cy="52810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개별 미생물의 WGS나 토양 DNA 전체를 읽는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shotgun metagenomics가 아님</a:t>
              </a:r>
            </a:p>
            <a:p>
              <a:pPr algn="l">
                <a:lnSpc>
                  <a:spcPts val="3159"/>
                </a:lnSpc>
              </a:pPr>
              <a:endParaRPr lang="en-US" sz="195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세균에서 널리 보존된 16S rRNA 유전자의 V4 영역을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PCR로 증폭하는 Amplicon sequencing</a:t>
              </a:r>
            </a:p>
            <a:p>
              <a:pPr algn="l">
                <a:lnSpc>
                  <a:spcPts val="3159"/>
                </a:lnSpc>
              </a:pPr>
              <a:endParaRPr lang="en-US" sz="195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시료별 고유 index를 부착해 함께 시퀀싱한 뒤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시료별로 분리(demultiplexing)</a:t>
              </a:r>
            </a:p>
            <a:p>
              <a:pPr algn="l">
                <a:lnSpc>
                  <a:spcPts val="3159"/>
                </a:lnSpc>
              </a:pPr>
              <a:endParaRPr lang="en-US" sz="195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배양 없이 세균 군집의 구성과 시료 간 차이를 비교 가능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8/33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1980"/>
                </a:lnSpc>
                <a:spcBef>
                  <a:spcPct val="0"/>
                </a:spcBef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  <a:r>
                <a:rPr lang="en-US" sz="1650" b="1" u="none" strike="noStrike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-3  METHOD PREVIEW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NGS 및 능동 머신러닝(METIS) 융합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2805027"/>
            <a:ext cx="10082432" cy="6303093"/>
            <a:chOff x="0" y="0"/>
            <a:chExt cx="13443242" cy="8404123"/>
          </a:xfrm>
        </p:grpSpPr>
        <p:sp>
          <p:nvSpPr>
            <p:cNvPr id="9" name="Freeform 9" descr="image.png"/>
            <p:cNvSpPr/>
            <p:nvPr/>
          </p:nvSpPr>
          <p:spPr>
            <a:xfrm>
              <a:off x="0" y="0"/>
              <a:ext cx="13443204" cy="8404098"/>
            </a:xfrm>
            <a:custGeom>
              <a:avLst/>
              <a:gdLst/>
              <a:ahLst/>
              <a:cxnLst/>
              <a:rect l="l" t="t" r="r" b="b"/>
              <a:pathLst>
                <a:path w="13443204" h="8404098">
                  <a:moveTo>
                    <a:pt x="0" y="0"/>
                  </a:moveTo>
                  <a:lnTo>
                    <a:pt x="13443204" y="0"/>
                  </a:lnTo>
                  <a:lnTo>
                    <a:pt x="13443204" y="8404098"/>
                  </a:lnTo>
                  <a:lnTo>
                    <a:pt x="0" y="84040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48752" r="-98689" b="-3002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00150" y="3411141"/>
            <a:ext cx="222352" cy="285750"/>
            <a:chOff x="0" y="0"/>
            <a:chExt cx="296469" cy="381000"/>
          </a:xfrm>
        </p:grpSpPr>
        <p:sp>
          <p:nvSpPr>
            <p:cNvPr id="11" name="Freeform 11" descr="image.png"/>
            <p:cNvSpPr/>
            <p:nvPr/>
          </p:nvSpPr>
          <p:spPr>
            <a:xfrm>
              <a:off x="0" y="0"/>
              <a:ext cx="296418" cy="381000"/>
            </a:xfrm>
            <a:custGeom>
              <a:avLst/>
              <a:gdLst/>
              <a:ahLst/>
              <a:cxnLst/>
              <a:rect l="l" t="t" r="r" b="b"/>
              <a:pathLst>
                <a:path w="296418" h="381000">
                  <a:moveTo>
                    <a:pt x="0" y="0"/>
                  </a:moveTo>
                  <a:lnTo>
                    <a:pt x="296418" y="0"/>
                  </a:lnTo>
                  <a:lnTo>
                    <a:pt x="296418" y="381000"/>
                  </a:lnTo>
                  <a:lnTo>
                    <a:pt x="0" y="38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5077" r="-509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00150" y="5325666"/>
            <a:ext cx="222352" cy="285750"/>
            <a:chOff x="0" y="0"/>
            <a:chExt cx="296469" cy="381000"/>
          </a:xfrm>
        </p:grpSpPr>
        <p:sp>
          <p:nvSpPr>
            <p:cNvPr id="13" name="Freeform 13" descr="image.png"/>
            <p:cNvSpPr/>
            <p:nvPr/>
          </p:nvSpPr>
          <p:spPr>
            <a:xfrm>
              <a:off x="0" y="0"/>
              <a:ext cx="296418" cy="381000"/>
            </a:xfrm>
            <a:custGeom>
              <a:avLst/>
              <a:gdLst/>
              <a:ahLst/>
              <a:cxnLst/>
              <a:rect l="l" t="t" r="r" b="b"/>
              <a:pathLst>
                <a:path w="296418" h="381000">
                  <a:moveTo>
                    <a:pt x="0" y="0"/>
                  </a:moveTo>
                  <a:lnTo>
                    <a:pt x="296418" y="0"/>
                  </a:lnTo>
                  <a:lnTo>
                    <a:pt x="296418" y="381000"/>
                  </a:lnTo>
                  <a:lnTo>
                    <a:pt x="0" y="38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6499" r="-2651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200150" y="7197328"/>
            <a:ext cx="222352" cy="285750"/>
            <a:chOff x="0" y="0"/>
            <a:chExt cx="296469" cy="381000"/>
          </a:xfrm>
        </p:grpSpPr>
        <p:sp>
          <p:nvSpPr>
            <p:cNvPr id="15" name="Freeform 15" descr="image.png"/>
            <p:cNvSpPr/>
            <p:nvPr/>
          </p:nvSpPr>
          <p:spPr>
            <a:xfrm>
              <a:off x="0" y="0"/>
              <a:ext cx="296418" cy="381000"/>
            </a:xfrm>
            <a:custGeom>
              <a:avLst/>
              <a:gdLst/>
              <a:ahLst/>
              <a:cxnLst/>
              <a:rect l="l" t="t" r="r" b="b"/>
              <a:pathLst>
                <a:path w="296418" h="381000">
                  <a:moveTo>
                    <a:pt x="0" y="0"/>
                  </a:moveTo>
                  <a:lnTo>
                    <a:pt x="296418" y="0"/>
                  </a:lnTo>
                  <a:lnTo>
                    <a:pt x="296418" y="381000"/>
                  </a:lnTo>
                  <a:lnTo>
                    <a:pt x="0" y="38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20381" r="-2039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651102" y="3358753"/>
            <a:ext cx="3880247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0F172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NGS 분석 기반 타깃 미생물 발굴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651102" y="3843365"/>
            <a:ext cx="8103365" cy="659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lang="en-US" sz="188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NGS 프로파일링으로 토양 세균 군집과 후보 분류군을 탐색, 스케일업을 위한 </a:t>
            </a:r>
          </a:p>
          <a:p>
            <a:pPr algn="l">
              <a:lnSpc>
                <a:spcPts val="2691"/>
              </a:lnSpc>
            </a:pPr>
            <a:r>
              <a:rPr lang="en-US" sz="188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다변수 배양 조건 최적화는 기존 반응표면분석법(RSM)으로 한계 존재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651102" y="5273278"/>
            <a:ext cx="616833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0F172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METIS 프레임워크 (Active Machine Learning)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651102" y="5692378"/>
            <a:ext cx="8103365" cy="1045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lang="en-US" sz="188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생장 성능을 반복 예측하고 최소 실험 횟수로 최적 배양 조건</a:t>
            </a:r>
          </a:p>
          <a:p>
            <a:pPr algn="l">
              <a:lnSpc>
                <a:spcPts val="2690"/>
              </a:lnSpc>
            </a:pPr>
            <a:r>
              <a:rPr lang="en-US" sz="188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(탄소원, pH, 미량영양소 등)을 능동 샘플링하는 데이터 기반 최적화 기법 </a:t>
            </a:r>
          </a:p>
          <a:p>
            <a:pPr algn="l">
              <a:lnSpc>
                <a:spcPts val="858"/>
              </a:lnSpc>
            </a:pPr>
            <a:endParaRPr lang="en-US" sz="1880">
              <a:solidFill>
                <a:srgbClr val="475569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  <a:p>
            <a:pPr algn="l">
              <a:lnSpc>
                <a:spcPts val="2147"/>
              </a:lnSpc>
            </a:pPr>
            <a:r>
              <a:rPr lang="en-US" sz="150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Pandi et al., 2022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651102" y="7144941"/>
            <a:ext cx="4636294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0F172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기술 융합을 통한 도시 토양 복원 실용화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651102" y="7630716"/>
            <a:ext cx="8103365" cy="659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lang="en-US" sz="188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NGS 커뮤니티 프로파일링과 METIS 기반 배양 최적화의 결합을 통해, </a:t>
            </a:r>
          </a:p>
          <a:p>
            <a:pPr algn="l">
              <a:lnSpc>
                <a:spcPts val="2691"/>
              </a:lnSpc>
            </a:pPr>
            <a:r>
              <a:rPr lang="en-US" sz="188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마이크로바이옴 발굴부터 실질적인 도시 토양 복원 바이오프로세스까지의 격차 해소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9903590" y="3661467"/>
            <a:ext cx="7961309" cy="4480617"/>
            <a:chOff x="0" y="0"/>
            <a:chExt cx="10615079" cy="597415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0615041" cy="5974207"/>
            </a:xfrm>
            <a:custGeom>
              <a:avLst/>
              <a:gdLst/>
              <a:ahLst/>
              <a:cxnLst/>
              <a:rect l="l" t="t" r="r" b="b"/>
              <a:pathLst>
                <a:path w="10615041" h="5974207">
                  <a:moveTo>
                    <a:pt x="0" y="0"/>
                  </a:moveTo>
                  <a:lnTo>
                    <a:pt x="10615041" y="0"/>
                  </a:lnTo>
                  <a:lnTo>
                    <a:pt x="10615041" y="5974207"/>
                  </a:lnTo>
                  <a:lnTo>
                    <a:pt x="0" y="59742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9/33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1980"/>
                </a:lnSpc>
                <a:spcBef>
                  <a:spcPct val="0"/>
                </a:spcBef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  <a:r>
                <a:rPr lang="en-US" sz="1650" b="1" u="none" strike="noStrike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-4  RESEARCH QUESTIONS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2912745"/>
            <a:ext cx="1440180" cy="1577340"/>
            <a:chOff x="0" y="0"/>
            <a:chExt cx="1920240" cy="210312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20240" cy="2103120"/>
            </a:xfrm>
            <a:custGeom>
              <a:avLst/>
              <a:gdLst/>
              <a:ahLst/>
              <a:cxnLst/>
              <a:rect l="l" t="t" r="r" b="b"/>
              <a:pathLst>
                <a:path w="1920240" h="2103120">
                  <a:moveTo>
                    <a:pt x="0" y="0"/>
                  </a:moveTo>
                  <a:lnTo>
                    <a:pt x="1920240" y="0"/>
                  </a:lnTo>
                  <a:lnTo>
                    <a:pt x="1920240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22960" y="2912745"/>
            <a:ext cx="1440180" cy="1577340"/>
            <a:chOff x="0" y="0"/>
            <a:chExt cx="1920240" cy="210312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920240" cy="2103120"/>
            </a:xfrm>
            <a:custGeom>
              <a:avLst/>
              <a:gdLst/>
              <a:ahLst/>
              <a:cxnLst/>
              <a:rect l="l" t="t" r="r" b="b"/>
              <a:pathLst>
                <a:path w="1920240" h="2103120">
                  <a:moveTo>
                    <a:pt x="0" y="0"/>
                  </a:moveTo>
                  <a:lnTo>
                    <a:pt x="1920240" y="0"/>
                  </a:lnTo>
                  <a:lnTo>
                    <a:pt x="1920240" y="2103120"/>
                  </a:lnTo>
                  <a:lnTo>
                    <a:pt x="0" y="2103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0522" r="-9052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1920240" cy="21126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Q1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22960" y="4970145"/>
            <a:ext cx="1440180" cy="1577340"/>
            <a:chOff x="0" y="0"/>
            <a:chExt cx="1920240" cy="21031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920240" cy="2103120"/>
            </a:xfrm>
            <a:custGeom>
              <a:avLst/>
              <a:gdLst/>
              <a:ahLst/>
              <a:cxnLst/>
              <a:rect l="l" t="t" r="r" b="b"/>
              <a:pathLst>
                <a:path w="1920240" h="2103120">
                  <a:moveTo>
                    <a:pt x="0" y="0"/>
                  </a:moveTo>
                  <a:lnTo>
                    <a:pt x="1920240" y="0"/>
                  </a:lnTo>
                  <a:lnTo>
                    <a:pt x="1920240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822960" y="4970145"/>
            <a:ext cx="1440180" cy="1577340"/>
            <a:chOff x="0" y="0"/>
            <a:chExt cx="1920240" cy="21031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20240" cy="2103120"/>
            </a:xfrm>
            <a:custGeom>
              <a:avLst/>
              <a:gdLst/>
              <a:ahLst/>
              <a:cxnLst/>
              <a:rect l="l" t="t" r="r" b="b"/>
              <a:pathLst>
                <a:path w="1920240" h="2103120">
                  <a:moveTo>
                    <a:pt x="0" y="0"/>
                  </a:moveTo>
                  <a:lnTo>
                    <a:pt x="1920240" y="0"/>
                  </a:lnTo>
                  <a:lnTo>
                    <a:pt x="1920240" y="2103120"/>
                  </a:lnTo>
                  <a:lnTo>
                    <a:pt x="0" y="2103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0522" r="-9052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1920240" cy="21126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Q2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822960" y="7027545"/>
            <a:ext cx="1440180" cy="1577340"/>
            <a:chOff x="0" y="0"/>
            <a:chExt cx="1920240" cy="21031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20240" cy="2103120"/>
            </a:xfrm>
            <a:custGeom>
              <a:avLst/>
              <a:gdLst/>
              <a:ahLst/>
              <a:cxnLst/>
              <a:rect l="l" t="t" r="r" b="b"/>
              <a:pathLst>
                <a:path w="1920240" h="2103120">
                  <a:moveTo>
                    <a:pt x="0" y="0"/>
                  </a:moveTo>
                  <a:lnTo>
                    <a:pt x="1920240" y="0"/>
                  </a:lnTo>
                  <a:lnTo>
                    <a:pt x="1920240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22960" y="7027545"/>
            <a:ext cx="1440180" cy="1577340"/>
            <a:chOff x="0" y="0"/>
            <a:chExt cx="1920240" cy="210312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920240" cy="2103120"/>
            </a:xfrm>
            <a:custGeom>
              <a:avLst/>
              <a:gdLst/>
              <a:ahLst/>
              <a:cxnLst/>
              <a:rect l="l" t="t" r="r" b="b"/>
              <a:pathLst>
                <a:path w="1920240" h="2103120">
                  <a:moveTo>
                    <a:pt x="0" y="0"/>
                  </a:moveTo>
                  <a:lnTo>
                    <a:pt x="1920240" y="0"/>
                  </a:lnTo>
                  <a:lnTo>
                    <a:pt x="1920240" y="2103120"/>
                  </a:lnTo>
                  <a:lnTo>
                    <a:pt x="0" y="2103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0522" r="-9052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9525"/>
              <a:ext cx="1920240" cy="21126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Q3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2516734" y="3112770"/>
            <a:ext cx="14264640" cy="685800"/>
            <a:chOff x="0" y="0"/>
            <a:chExt cx="19019520" cy="9144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9019520" cy="914400"/>
            </a:xfrm>
            <a:custGeom>
              <a:avLst/>
              <a:gdLst/>
              <a:ahLst/>
              <a:cxnLst/>
              <a:rect l="l" t="t" r="r" b="b"/>
              <a:pathLst>
                <a:path w="19019520" h="914400">
                  <a:moveTo>
                    <a:pt x="0" y="0"/>
                  </a:moveTo>
                  <a:lnTo>
                    <a:pt x="19019520" y="0"/>
                  </a:lnTo>
                  <a:lnTo>
                    <a:pt x="190195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5288" b="-3552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1901952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도로변과 공원 토양의 세균 군집은 서로 다른가?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516734" y="3789045"/>
            <a:ext cx="1426464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토지이용에 따른 인위적 교란이 실제로 군집 조성·다양성 차이를 만드는지 확인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2516734" y="5170170"/>
            <a:ext cx="14264640" cy="685800"/>
            <a:chOff x="0" y="0"/>
            <a:chExt cx="19019520" cy="9144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9019520" cy="914400"/>
            </a:xfrm>
            <a:custGeom>
              <a:avLst/>
              <a:gdLst/>
              <a:ahLst/>
              <a:cxnLst/>
              <a:rect l="l" t="t" r="r" b="b"/>
              <a:pathLst>
                <a:path w="19019520" h="914400">
                  <a:moveTo>
                    <a:pt x="0" y="0"/>
                  </a:moveTo>
                  <a:lnTo>
                    <a:pt x="19019520" y="0"/>
                  </a:lnTo>
                  <a:lnTo>
                    <a:pt x="190195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5288" b="-3552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1901952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두 환경을 구분할 수 있는 세균 분류군이 존재하는가?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2516734" y="5846445"/>
            <a:ext cx="1426464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환경 모니터링 지표로 활용 가능한 후보 분류군 탐색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2516734" y="7227570"/>
            <a:ext cx="14264640" cy="685800"/>
            <a:chOff x="0" y="0"/>
            <a:chExt cx="19019520" cy="9144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9019520" cy="914400"/>
            </a:xfrm>
            <a:custGeom>
              <a:avLst/>
              <a:gdLst/>
              <a:ahLst/>
              <a:cxnLst/>
              <a:rect l="l" t="t" r="r" b="b"/>
              <a:pathLst>
                <a:path w="19019520" h="914400">
                  <a:moveTo>
                    <a:pt x="0" y="0"/>
                  </a:moveTo>
                  <a:lnTo>
                    <a:pt x="19019520" y="0"/>
                  </a:lnTo>
                  <a:lnTo>
                    <a:pt x="190195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5288" b="-3552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901952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배양 가능한 유용 자원을 확보하고 최적화할 수 있는가?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2516734" y="7903845"/>
            <a:ext cx="1426464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분리주를 실제로 확보하고, AI 기반 배양 최적화로 실용화 가능성 검토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10/33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그래서, 이 연구가 답하려는 질문은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24160" y="1508760"/>
            <a:ext cx="7543800" cy="7999288"/>
            <a:chOff x="0" y="0"/>
            <a:chExt cx="10058400" cy="106657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058400" cy="10665718"/>
            </a:xfrm>
            <a:custGeom>
              <a:avLst/>
              <a:gdLst/>
              <a:ahLst/>
              <a:cxnLst/>
              <a:rect l="l" t="t" r="r" b="b"/>
              <a:pathLst>
                <a:path w="10058400" h="10665718">
                  <a:moveTo>
                    <a:pt x="0" y="0"/>
                  </a:moveTo>
                  <a:lnTo>
                    <a:pt x="10058400" y="0"/>
                  </a:lnTo>
                  <a:lnTo>
                    <a:pt x="10058400" y="10665718"/>
                  </a:lnTo>
                  <a:lnTo>
                    <a:pt x="0" y="106657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 b="569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0058400" cy="106752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46800"/>
                </a:lnSpc>
              </a:pPr>
              <a:r>
                <a:rPr lang="en-US" sz="39000" b="1">
                  <a:solidFill>
                    <a:srgbClr val="F1F3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02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03" b="-104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0"/>
              <a:ext cx="2834640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spc="149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PART 02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860" y="4320540"/>
            <a:ext cx="12344400" cy="1783080"/>
            <a:chOff x="0" y="0"/>
            <a:chExt cx="16459200" cy="23774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459200" cy="2377440"/>
            </a:xfrm>
            <a:custGeom>
              <a:avLst/>
              <a:gdLst/>
              <a:ahLst/>
              <a:cxnLst/>
              <a:rect l="l" t="t" r="r" b="b"/>
              <a:pathLst>
                <a:path w="16459200" h="2377440">
                  <a:moveTo>
                    <a:pt x="0" y="0"/>
                  </a:moveTo>
                  <a:lnTo>
                    <a:pt x="16459200" y="0"/>
                  </a:lnTo>
                  <a:lnTo>
                    <a:pt x="1645920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896" b="-848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645920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9000"/>
                </a:lnSpc>
              </a:pPr>
              <a:r>
                <a:rPr lang="en-US" sz="75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샘플링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34440" y="5897880"/>
            <a:ext cx="13030200" cy="685800"/>
            <a:chOff x="0" y="0"/>
            <a:chExt cx="1737360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7373600" cy="914400"/>
            </a:xfrm>
            <a:custGeom>
              <a:avLst/>
              <a:gdLst/>
              <a:ahLst/>
              <a:cxnLst/>
              <a:rect l="l" t="t" r="r" b="b"/>
              <a:pathLst>
                <a:path w="17373600" h="914400">
                  <a:moveTo>
                    <a:pt x="0" y="0"/>
                  </a:moveTo>
                  <a:lnTo>
                    <a:pt x="17373600" y="0"/>
                  </a:lnTo>
                  <a:lnTo>
                    <a:pt x="1737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0215" b="-32021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737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채취 및 시퀀싱 방법론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연구지역 및 샘플링 설계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2711958"/>
            <a:ext cx="5020056" cy="1618488"/>
            <a:chOff x="0" y="0"/>
            <a:chExt cx="6693408" cy="215798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693408" cy="2157984"/>
            </a:xfrm>
            <a:custGeom>
              <a:avLst/>
              <a:gdLst/>
              <a:ahLst/>
              <a:cxnLst/>
              <a:rect l="l" t="t" r="r" b="b"/>
              <a:pathLst>
                <a:path w="6693408" h="2157984">
                  <a:moveTo>
                    <a:pt x="0" y="359664"/>
                  </a:moveTo>
                  <a:cubicBezTo>
                    <a:pt x="0" y="161036"/>
                    <a:pt x="161036" y="0"/>
                    <a:pt x="359664" y="0"/>
                  </a:cubicBezTo>
                  <a:lnTo>
                    <a:pt x="6333744" y="0"/>
                  </a:lnTo>
                  <a:cubicBezTo>
                    <a:pt x="6532372" y="0"/>
                    <a:pt x="6693408" y="161036"/>
                    <a:pt x="6693408" y="359664"/>
                  </a:cubicBezTo>
                  <a:lnTo>
                    <a:pt x="6693408" y="1798320"/>
                  </a:lnTo>
                  <a:cubicBezTo>
                    <a:pt x="6693408" y="1996948"/>
                    <a:pt x="6532372" y="2157984"/>
                    <a:pt x="6333744" y="2157984"/>
                  </a:cubicBezTo>
                  <a:lnTo>
                    <a:pt x="359664" y="2157984"/>
                  </a:lnTo>
                  <a:cubicBezTo>
                    <a:pt x="161036" y="2157984"/>
                    <a:pt x="0" y="1996948"/>
                    <a:pt x="0" y="179832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144768" y="2711958"/>
            <a:ext cx="5020056" cy="1618488"/>
            <a:chOff x="0" y="0"/>
            <a:chExt cx="6693408" cy="215798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693408" cy="2157984"/>
            </a:xfrm>
            <a:custGeom>
              <a:avLst/>
              <a:gdLst/>
              <a:ahLst/>
              <a:cxnLst/>
              <a:rect l="l" t="t" r="r" b="b"/>
              <a:pathLst>
                <a:path w="6693408" h="2157984">
                  <a:moveTo>
                    <a:pt x="0" y="359664"/>
                  </a:moveTo>
                  <a:cubicBezTo>
                    <a:pt x="0" y="161036"/>
                    <a:pt x="161036" y="0"/>
                    <a:pt x="359664" y="0"/>
                  </a:cubicBezTo>
                  <a:lnTo>
                    <a:pt x="6333744" y="0"/>
                  </a:lnTo>
                  <a:cubicBezTo>
                    <a:pt x="6532372" y="0"/>
                    <a:pt x="6693408" y="161036"/>
                    <a:pt x="6693408" y="359664"/>
                  </a:cubicBezTo>
                  <a:lnTo>
                    <a:pt x="6693408" y="1798320"/>
                  </a:lnTo>
                  <a:cubicBezTo>
                    <a:pt x="6693408" y="1996948"/>
                    <a:pt x="6532372" y="2157984"/>
                    <a:pt x="6333744" y="2157984"/>
                  </a:cubicBezTo>
                  <a:lnTo>
                    <a:pt x="359664" y="2157984"/>
                  </a:lnTo>
                  <a:cubicBezTo>
                    <a:pt x="161036" y="2157984"/>
                    <a:pt x="0" y="1996948"/>
                    <a:pt x="0" y="179832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1466576" y="2711958"/>
            <a:ext cx="5020056" cy="1618488"/>
            <a:chOff x="0" y="0"/>
            <a:chExt cx="6693408" cy="215798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693408" cy="2157984"/>
            </a:xfrm>
            <a:custGeom>
              <a:avLst/>
              <a:gdLst/>
              <a:ahLst/>
              <a:cxnLst/>
              <a:rect l="l" t="t" r="r" b="b"/>
              <a:pathLst>
                <a:path w="6693408" h="2157984">
                  <a:moveTo>
                    <a:pt x="0" y="359664"/>
                  </a:moveTo>
                  <a:cubicBezTo>
                    <a:pt x="0" y="161036"/>
                    <a:pt x="161036" y="0"/>
                    <a:pt x="359664" y="0"/>
                  </a:cubicBezTo>
                  <a:lnTo>
                    <a:pt x="6333744" y="0"/>
                  </a:lnTo>
                  <a:cubicBezTo>
                    <a:pt x="6532372" y="0"/>
                    <a:pt x="6693408" y="161036"/>
                    <a:pt x="6693408" y="359664"/>
                  </a:cubicBezTo>
                  <a:lnTo>
                    <a:pt x="6693408" y="1798320"/>
                  </a:lnTo>
                  <a:cubicBezTo>
                    <a:pt x="6693408" y="1996948"/>
                    <a:pt x="6532372" y="2157984"/>
                    <a:pt x="6333744" y="2157984"/>
                  </a:cubicBezTo>
                  <a:lnTo>
                    <a:pt x="359664" y="2157984"/>
                  </a:lnTo>
                  <a:cubicBezTo>
                    <a:pt x="161036" y="2157984"/>
                    <a:pt x="0" y="1996948"/>
                    <a:pt x="0" y="179832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08532" y="3054858"/>
            <a:ext cx="603504" cy="603504"/>
            <a:chOff x="0" y="0"/>
            <a:chExt cx="804672" cy="80467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04672" cy="804672"/>
            </a:xfrm>
            <a:custGeom>
              <a:avLst/>
              <a:gdLst/>
              <a:ahLst/>
              <a:cxnLst/>
              <a:rect l="l" t="t" r="r" b="b"/>
              <a:pathLst>
                <a:path w="804672" h="804672">
                  <a:moveTo>
                    <a:pt x="0" y="402336"/>
                  </a:moveTo>
                  <a:cubicBezTo>
                    <a:pt x="0" y="180086"/>
                    <a:pt x="180086" y="0"/>
                    <a:pt x="402336" y="0"/>
                  </a:cubicBezTo>
                  <a:cubicBezTo>
                    <a:pt x="624586" y="0"/>
                    <a:pt x="804672" y="180086"/>
                    <a:pt x="804672" y="402336"/>
                  </a:cubicBezTo>
                  <a:cubicBezTo>
                    <a:pt x="804672" y="624586"/>
                    <a:pt x="624586" y="804672"/>
                    <a:pt x="402336" y="804672"/>
                  </a:cubicBezTo>
                  <a:cubicBezTo>
                    <a:pt x="180086" y="804672"/>
                    <a:pt x="0" y="624586"/>
                    <a:pt x="0" y="402336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9525"/>
              <a:ext cx="804672" cy="8141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r>
                <a:rPr lang="en-US" sz="15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002536" y="3153537"/>
            <a:ext cx="34290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연구지역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002536" y="3734562"/>
            <a:ext cx="1883664" cy="2796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256"/>
              </a:lnSpc>
            </a:pPr>
            <a:r>
              <a:rPr lang="en-US" sz="188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서울</a:t>
            </a:r>
            <a:r>
              <a:rPr lang="en-US" sz="188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, </a:t>
            </a:r>
            <a:r>
              <a:rPr lang="en-US" sz="188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경기</a:t>
            </a:r>
            <a:r>
              <a:rPr lang="en-US" sz="188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88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수도권</a:t>
            </a:r>
            <a:endParaRPr lang="en-US" sz="1880" dirty="0">
              <a:solidFill>
                <a:srgbClr val="1A1A1A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6528816" y="3054858"/>
            <a:ext cx="603504" cy="603504"/>
            <a:chOff x="0" y="0"/>
            <a:chExt cx="804672" cy="80467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04672" cy="804672"/>
            </a:xfrm>
            <a:custGeom>
              <a:avLst/>
              <a:gdLst/>
              <a:ahLst/>
              <a:cxnLst/>
              <a:rect l="l" t="t" r="r" b="b"/>
              <a:pathLst>
                <a:path w="804672" h="804672">
                  <a:moveTo>
                    <a:pt x="0" y="402336"/>
                  </a:moveTo>
                  <a:cubicBezTo>
                    <a:pt x="0" y="180086"/>
                    <a:pt x="180086" y="0"/>
                    <a:pt x="402336" y="0"/>
                  </a:cubicBezTo>
                  <a:cubicBezTo>
                    <a:pt x="624586" y="0"/>
                    <a:pt x="804672" y="180086"/>
                    <a:pt x="804672" y="402336"/>
                  </a:cubicBezTo>
                  <a:cubicBezTo>
                    <a:pt x="804672" y="624586"/>
                    <a:pt x="624586" y="804672"/>
                    <a:pt x="402336" y="804672"/>
                  </a:cubicBezTo>
                  <a:cubicBezTo>
                    <a:pt x="180086" y="804672"/>
                    <a:pt x="0" y="624586"/>
                    <a:pt x="0" y="402336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9525"/>
              <a:ext cx="804672" cy="8141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r>
                <a:rPr lang="en-US" sz="15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7322820" y="3153537"/>
            <a:ext cx="34290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채취 기간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322820" y="3734562"/>
            <a:ext cx="349758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6"/>
              </a:lnSpc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2026.07.18 ~ 20.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1850624" y="3054858"/>
            <a:ext cx="603504" cy="603504"/>
            <a:chOff x="0" y="0"/>
            <a:chExt cx="804672" cy="80467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04672" cy="804672"/>
            </a:xfrm>
            <a:custGeom>
              <a:avLst/>
              <a:gdLst/>
              <a:ahLst/>
              <a:cxnLst/>
              <a:rect l="l" t="t" r="r" b="b"/>
              <a:pathLst>
                <a:path w="804672" h="804672">
                  <a:moveTo>
                    <a:pt x="0" y="402336"/>
                  </a:moveTo>
                  <a:cubicBezTo>
                    <a:pt x="0" y="180086"/>
                    <a:pt x="180086" y="0"/>
                    <a:pt x="402336" y="0"/>
                  </a:cubicBezTo>
                  <a:cubicBezTo>
                    <a:pt x="624586" y="0"/>
                    <a:pt x="804672" y="180086"/>
                    <a:pt x="804672" y="402336"/>
                  </a:cubicBezTo>
                  <a:cubicBezTo>
                    <a:pt x="804672" y="624586"/>
                    <a:pt x="624586" y="804672"/>
                    <a:pt x="402336" y="804672"/>
                  </a:cubicBezTo>
                  <a:cubicBezTo>
                    <a:pt x="180086" y="804672"/>
                    <a:pt x="0" y="624586"/>
                    <a:pt x="0" y="402336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9525"/>
              <a:ext cx="804672" cy="8141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r>
                <a:rPr lang="en-US" sz="15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2644628" y="3149727"/>
            <a:ext cx="34290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비교 설계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2644628" y="3576066"/>
            <a:ext cx="3497580" cy="644271"/>
            <a:chOff x="0" y="0"/>
            <a:chExt cx="4663440" cy="859028"/>
          </a:xfrm>
        </p:grpSpPr>
        <p:sp>
          <p:nvSpPr>
            <p:cNvPr id="26" name="TextBox 26"/>
            <p:cNvSpPr txBox="1"/>
            <p:nvPr/>
          </p:nvSpPr>
          <p:spPr>
            <a:xfrm>
              <a:off x="0" y="0"/>
              <a:ext cx="4663440" cy="431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80"/>
                </a:lnSpc>
              </a:pPr>
              <a:r>
                <a:rPr lang="en-US" sz="21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Roadside vs Park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532003"/>
              <a:ext cx="4663440" cy="3270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총 32개 토양 시료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813435" y="4677537"/>
            <a:ext cx="16656558" cy="3420618"/>
            <a:chOff x="0" y="0"/>
            <a:chExt cx="22208744" cy="4560824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2208744" cy="4560824"/>
            </a:xfrm>
            <a:custGeom>
              <a:avLst/>
              <a:gdLst/>
              <a:ahLst/>
              <a:cxnLst/>
              <a:rect l="l" t="t" r="r" b="b"/>
              <a:pathLst>
                <a:path w="22208744" h="4560824">
                  <a:moveTo>
                    <a:pt x="0" y="0"/>
                  </a:moveTo>
                  <a:lnTo>
                    <a:pt x="22208744" y="0"/>
                  </a:lnTo>
                  <a:lnTo>
                    <a:pt x="22208744" y="4560824"/>
                  </a:lnTo>
                  <a:lnTo>
                    <a:pt x="0" y="4560824"/>
                  </a:lnTo>
                  <a:close/>
                </a:path>
              </a:pathLst>
            </a:custGeom>
            <a:solidFill>
              <a:srgbClr val="F7F8FD"/>
            </a:solidFill>
            <a:ln w="19050" cap="sq">
              <a:solidFill>
                <a:srgbClr val="D9DFF7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1234440" y="4979289"/>
            <a:ext cx="411480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6"/>
              </a:lnSpc>
            </a:pPr>
            <a:r>
              <a:rPr lang="en-US" sz="1880" b="1">
                <a:solidFill>
                  <a:srgbClr val="2B4AFF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SAMPLING FRAMEWORK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224915" y="5610225"/>
            <a:ext cx="7357110" cy="1966722"/>
            <a:chOff x="0" y="0"/>
            <a:chExt cx="9809480" cy="2622296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9809480" cy="2622296"/>
            </a:xfrm>
            <a:custGeom>
              <a:avLst/>
              <a:gdLst/>
              <a:ahLst/>
              <a:cxnLst/>
              <a:rect l="l" t="t" r="r" b="b"/>
              <a:pathLst>
                <a:path w="9809480" h="2622296">
                  <a:moveTo>
                    <a:pt x="0" y="437007"/>
                  </a:moveTo>
                  <a:cubicBezTo>
                    <a:pt x="0" y="195707"/>
                    <a:pt x="195707" y="0"/>
                    <a:pt x="437007" y="0"/>
                  </a:cubicBezTo>
                  <a:lnTo>
                    <a:pt x="9372473" y="0"/>
                  </a:lnTo>
                  <a:cubicBezTo>
                    <a:pt x="9613900" y="0"/>
                    <a:pt x="9809480" y="195707"/>
                    <a:pt x="9809480" y="437007"/>
                  </a:cubicBezTo>
                  <a:lnTo>
                    <a:pt x="9809480" y="2185289"/>
                  </a:lnTo>
                  <a:cubicBezTo>
                    <a:pt x="9809480" y="2426716"/>
                    <a:pt x="9613773" y="2622296"/>
                    <a:pt x="9372473" y="2622296"/>
                  </a:cubicBezTo>
                  <a:lnTo>
                    <a:pt x="437007" y="2622296"/>
                  </a:lnTo>
                  <a:cubicBezTo>
                    <a:pt x="195707" y="2622296"/>
                    <a:pt x="0" y="2426589"/>
                    <a:pt x="0" y="2185289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9DFF7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573530" y="5839206"/>
            <a:ext cx="658368" cy="658368"/>
            <a:chOff x="0" y="0"/>
            <a:chExt cx="877824" cy="877824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77824" cy="877824"/>
            </a:xfrm>
            <a:custGeom>
              <a:avLst/>
              <a:gdLst/>
              <a:ahLst/>
              <a:cxnLst/>
              <a:rect l="l" t="t" r="r" b="b"/>
              <a:pathLst>
                <a:path w="877824" h="877824">
                  <a:moveTo>
                    <a:pt x="0" y="438912"/>
                  </a:moveTo>
                  <a:cubicBezTo>
                    <a:pt x="0" y="196469"/>
                    <a:pt x="196469" y="0"/>
                    <a:pt x="438912" y="0"/>
                  </a:cubicBezTo>
                  <a:cubicBezTo>
                    <a:pt x="681355" y="0"/>
                    <a:pt x="877824" y="196469"/>
                    <a:pt x="877824" y="438912"/>
                  </a:cubicBezTo>
                  <a:cubicBezTo>
                    <a:pt x="877824" y="681355"/>
                    <a:pt x="681355" y="877824"/>
                    <a:pt x="438912" y="877824"/>
                  </a:cubicBezTo>
                  <a:cubicBezTo>
                    <a:pt x="196469" y="877824"/>
                    <a:pt x="0" y="681355"/>
                    <a:pt x="0" y="438912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877824" cy="88734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r>
                <a:rPr lang="en-US" sz="195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R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2441448" y="5946267"/>
            <a:ext cx="521208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도로변  |  Roadside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441448" y="6566154"/>
            <a:ext cx="562356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주요 간선도로 연석 1 m 이내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2441448" y="7018782"/>
            <a:ext cx="562356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교통·도로 관련 인위적 교란에 직접 노출</a:t>
            </a:r>
          </a:p>
        </p:txBody>
      </p:sp>
      <p:grpSp>
        <p:nvGrpSpPr>
          <p:cNvPr id="39" name="Group 39"/>
          <p:cNvGrpSpPr/>
          <p:nvPr/>
        </p:nvGrpSpPr>
        <p:grpSpPr>
          <a:xfrm>
            <a:off x="8613648" y="6195822"/>
            <a:ext cx="1042416" cy="603504"/>
            <a:chOff x="0" y="0"/>
            <a:chExt cx="1389888" cy="804672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389888" cy="804672"/>
            </a:xfrm>
            <a:custGeom>
              <a:avLst/>
              <a:gdLst/>
              <a:ahLst/>
              <a:cxnLst/>
              <a:rect l="l" t="t" r="r" b="b"/>
              <a:pathLst>
                <a:path w="1389888" h="804672">
                  <a:moveTo>
                    <a:pt x="0" y="0"/>
                  </a:moveTo>
                  <a:lnTo>
                    <a:pt x="1389888" y="0"/>
                  </a:lnTo>
                  <a:lnTo>
                    <a:pt x="1389888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4281" r="-2428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1389888" cy="8141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VS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9093708" y="6881622"/>
            <a:ext cx="16459" cy="822960"/>
            <a:chOff x="0" y="0"/>
            <a:chExt cx="21946" cy="109728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21971" cy="1097280"/>
            </a:xfrm>
            <a:custGeom>
              <a:avLst/>
              <a:gdLst/>
              <a:ahLst/>
              <a:cxnLst/>
              <a:rect l="l" t="t" r="r" b="b"/>
              <a:pathLst>
                <a:path w="21971" h="1097280">
                  <a:moveTo>
                    <a:pt x="0" y="0"/>
                  </a:moveTo>
                  <a:lnTo>
                    <a:pt x="21971" y="0"/>
                  </a:lnTo>
                  <a:lnTo>
                    <a:pt x="21971" y="1097280"/>
                  </a:lnTo>
                  <a:lnTo>
                    <a:pt x="0" y="1097280"/>
                  </a:lnTo>
                  <a:close/>
                </a:path>
              </a:pathLst>
            </a:custGeom>
            <a:solidFill>
              <a:srgbClr val="D9DFF7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701403" y="5610225"/>
            <a:ext cx="7357110" cy="1966722"/>
            <a:chOff x="0" y="0"/>
            <a:chExt cx="9809480" cy="2622296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9809480" cy="2622296"/>
            </a:xfrm>
            <a:custGeom>
              <a:avLst/>
              <a:gdLst/>
              <a:ahLst/>
              <a:cxnLst/>
              <a:rect l="l" t="t" r="r" b="b"/>
              <a:pathLst>
                <a:path w="9809480" h="2622296">
                  <a:moveTo>
                    <a:pt x="0" y="437007"/>
                  </a:moveTo>
                  <a:cubicBezTo>
                    <a:pt x="0" y="195707"/>
                    <a:pt x="195707" y="0"/>
                    <a:pt x="437007" y="0"/>
                  </a:cubicBezTo>
                  <a:lnTo>
                    <a:pt x="9372473" y="0"/>
                  </a:lnTo>
                  <a:cubicBezTo>
                    <a:pt x="9613900" y="0"/>
                    <a:pt x="9809480" y="195707"/>
                    <a:pt x="9809480" y="437007"/>
                  </a:cubicBezTo>
                  <a:lnTo>
                    <a:pt x="9809480" y="2185289"/>
                  </a:lnTo>
                  <a:cubicBezTo>
                    <a:pt x="9809480" y="2426716"/>
                    <a:pt x="9613773" y="2622296"/>
                    <a:pt x="9372473" y="2622296"/>
                  </a:cubicBezTo>
                  <a:lnTo>
                    <a:pt x="437007" y="2622296"/>
                  </a:lnTo>
                  <a:cubicBezTo>
                    <a:pt x="195707" y="2622296"/>
                    <a:pt x="0" y="2426589"/>
                    <a:pt x="0" y="2185289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9DFF7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0070944" y="5839206"/>
            <a:ext cx="658368" cy="658368"/>
            <a:chOff x="0" y="0"/>
            <a:chExt cx="877824" cy="87782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7824" cy="877824"/>
            </a:xfrm>
            <a:custGeom>
              <a:avLst/>
              <a:gdLst/>
              <a:ahLst/>
              <a:cxnLst/>
              <a:rect l="l" t="t" r="r" b="b"/>
              <a:pathLst>
                <a:path w="877824" h="877824">
                  <a:moveTo>
                    <a:pt x="0" y="438912"/>
                  </a:moveTo>
                  <a:cubicBezTo>
                    <a:pt x="0" y="196469"/>
                    <a:pt x="196469" y="0"/>
                    <a:pt x="438912" y="0"/>
                  </a:cubicBezTo>
                  <a:cubicBezTo>
                    <a:pt x="681355" y="0"/>
                    <a:pt x="877824" y="196469"/>
                    <a:pt x="877824" y="438912"/>
                  </a:cubicBezTo>
                  <a:cubicBezTo>
                    <a:pt x="877824" y="681355"/>
                    <a:pt x="681355" y="877824"/>
                    <a:pt x="438912" y="877824"/>
                  </a:cubicBezTo>
                  <a:cubicBezTo>
                    <a:pt x="196469" y="877824"/>
                    <a:pt x="0" y="681355"/>
                    <a:pt x="0" y="438912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9525"/>
              <a:ext cx="877824" cy="88734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r>
                <a:rPr lang="en-US" sz="195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</a:t>
              </a:r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10917936" y="5946267"/>
            <a:ext cx="521208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공원  |  Park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917936" y="6566154"/>
            <a:ext cx="562356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차량 직접 노출이 최소화된 지정 녹지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0917936" y="7018782"/>
            <a:ext cx="562356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식생·녹지 관리의 영향을 받는 도시 토양</a:t>
            </a:r>
          </a:p>
        </p:txBody>
      </p:sp>
      <p:grpSp>
        <p:nvGrpSpPr>
          <p:cNvPr id="52" name="Group 52"/>
          <p:cNvGrpSpPr/>
          <p:nvPr/>
        </p:nvGrpSpPr>
        <p:grpSpPr>
          <a:xfrm>
            <a:off x="822960" y="8321802"/>
            <a:ext cx="16637508" cy="850392"/>
            <a:chOff x="0" y="0"/>
            <a:chExt cx="22183344" cy="1133856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22183344" cy="1133856"/>
            </a:xfrm>
            <a:custGeom>
              <a:avLst/>
              <a:gdLst/>
              <a:ahLst/>
              <a:cxnLst/>
              <a:rect l="l" t="t" r="r" b="b"/>
              <a:pathLst>
                <a:path w="22183344" h="1133856">
                  <a:moveTo>
                    <a:pt x="0" y="0"/>
                  </a:moveTo>
                  <a:lnTo>
                    <a:pt x="22183344" y="0"/>
                  </a:lnTo>
                  <a:lnTo>
                    <a:pt x="22183344" y="1133856"/>
                  </a:lnTo>
                  <a:lnTo>
                    <a:pt x="0" y="1133856"/>
                  </a:lnTo>
                  <a:close/>
                </a:path>
              </a:pathLst>
            </a:custGeom>
            <a:solidFill>
              <a:srgbClr val="1A1A1A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234440" y="8541258"/>
            <a:ext cx="15841980" cy="411480"/>
            <a:chOff x="0" y="0"/>
            <a:chExt cx="21122640" cy="54864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21122639" cy="548640"/>
            </a:xfrm>
            <a:custGeom>
              <a:avLst/>
              <a:gdLst/>
              <a:ahLst/>
              <a:cxnLst/>
              <a:rect l="l" t="t" r="r" b="b"/>
              <a:pathLst>
                <a:path w="21122639" h="548640">
                  <a:moveTo>
                    <a:pt x="0" y="0"/>
                  </a:moveTo>
                  <a:lnTo>
                    <a:pt x="21122639" y="0"/>
                  </a:lnTo>
                  <a:lnTo>
                    <a:pt x="2112263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00173" b="-70017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0"/>
              <a:ext cx="21122640" cy="5486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95"/>
                </a:lnSpc>
              </a:pPr>
              <a:r>
                <a:rPr lang="en-US" sz="1829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토지이용 유형(Roadside vs Park)을 기준으로 수도권 도시 토양의 세균 군집을 비교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12/33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2-1  STUDY AREA &amp; DESIGN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BD924835-6C80-A775-502B-F680881082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3405" y="2111943"/>
            <a:ext cx="11121190" cy="7324665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2-1  STUDY AREA &amp; DESIGN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실제 채취 지점 — 서울·경기 6개 지역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13/33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2-2  SOIL SAMPLING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시료 채취 프로토콜</a:t>
              </a:r>
            </a:p>
          </p:txBody>
        </p:sp>
      </p:grpSp>
      <p:sp>
        <p:nvSpPr>
          <p:cNvPr id="8" name="Freeform 8"/>
          <p:cNvSpPr/>
          <p:nvPr/>
        </p:nvSpPr>
        <p:spPr>
          <a:xfrm>
            <a:off x="1904309" y="2194560"/>
            <a:ext cx="13733978" cy="7175093"/>
          </a:xfrm>
          <a:custGeom>
            <a:avLst/>
            <a:gdLst/>
            <a:ahLst/>
            <a:cxnLst/>
            <a:rect l="l" t="t" r="r" b="b"/>
            <a:pathLst>
              <a:path w="13733978" h="7175093">
                <a:moveTo>
                  <a:pt x="0" y="0"/>
                </a:moveTo>
                <a:lnTo>
                  <a:pt x="13733977" y="0"/>
                </a:lnTo>
                <a:lnTo>
                  <a:pt x="13733977" y="7175093"/>
                </a:lnTo>
                <a:lnTo>
                  <a:pt x="0" y="717509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053" t="-31704" r="-1157" b="-16464"/>
            </a:stretch>
          </a:blipFill>
        </p:spPr>
        <p:txBody>
          <a:bodyPr/>
          <a:lstStyle/>
          <a:p>
            <a:endParaRPr lang="ko-KR" altLang="en-US"/>
          </a:p>
        </p:txBody>
      </p:sp>
      <p:grpSp>
        <p:nvGrpSpPr>
          <p:cNvPr id="9" name="Group 9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14/33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2-3  DNA EXTRACTION &amp; SEQUENCING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DNA 추출 및 16S rRNA 시퀀싱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13435" y="3360420"/>
            <a:ext cx="3790950" cy="3585210"/>
            <a:chOff x="0" y="0"/>
            <a:chExt cx="5054600" cy="4780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54600" cy="4780280"/>
            </a:xfrm>
            <a:custGeom>
              <a:avLst/>
              <a:gdLst/>
              <a:ahLst/>
              <a:cxnLst/>
              <a:rect l="l" t="t" r="r" b="b"/>
              <a:pathLst>
                <a:path w="5054600" h="4780280">
                  <a:moveTo>
                    <a:pt x="0" y="0"/>
                  </a:moveTo>
                  <a:lnTo>
                    <a:pt x="5054600" y="0"/>
                  </a:lnTo>
                  <a:lnTo>
                    <a:pt x="5054600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24712" y="3671697"/>
            <a:ext cx="3168396" cy="617220"/>
            <a:chOff x="0" y="0"/>
            <a:chExt cx="4224528" cy="82296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224528" cy="822960"/>
            </a:xfrm>
            <a:custGeom>
              <a:avLst/>
              <a:gdLst/>
              <a:ahLst/>
              <a:cxnLst/>
              <a:rect l="l" t="t" r="r" b="b"/>
              <a:pathLst>
                <a:path w="4224528" h="822960">
                  <a:moveTo>
                    <a:pt x="0" y="0"/>
                  </a:moveTo>
                  <a:lnTo>
                    <a:pt x="4224528" y="0"/>
                  </a:lnTo>
                  <a:lnTo>
                    <a:pt x="4224528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0023" b="-5002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4224528" cy="8324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24712" y="4604385"/>
            <a:ext cx="3168396" cy="548640"/>
            <a:chOff x="0" y="0"/>
            <a:chExt cx="4224528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DNA 추출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124712" y="5221605"/>
            <a:ext cx="3168396" cy="1508760"/>
            <a:chOff x="0" y="0"/>
            <a:chExt cx="4224528" cy="201168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224528" cy="2011680"/>
            </a:xfrm>
            <a:custGeom>
              <a:avLst/>
              <a:gdLst/>
              <a:ahLst/>
              <a:cxnLst/>
              <a:rect l="l" t="t" r="r" b="b"/>
              <a:pathLst>
                <a:path w="4224528" h="2011680">
                  <a:moveTo>
                    <a:pt x="0" y="0"/>
                  </a:moveTo>
                  <a:lnTo>
                    <a:pt x="4224528" y="0"/>
                  </a:lnTo>
                  <a:lnTo>
                    <a:pt x="422452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96" r="-110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85725"/>
              <a:ext cx="4224528" cy="20974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DNeasy PowerSoil Pro Kit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(Qiagen)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622292" y="4810125"/>
            <a:ext cx="329184" cy="685800"/>
            <a:chOff x="0" y="0"/>
            <a:chExt cx="438912" cy="9144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38912" cy="914400"/>
            </a:xfrm>
            <a:custGeom>
              <a:avLst/>
              <a:gdLst/>
              <a:ahLst/>
              <a:cxnLst/>
              <a:rect l="l" t="t" r="r" b="b"/>
              <a:pathLst>
                <a:path w="438912" h="914400">
                  <a:moveTo>
                    <a:pt x="0" y="0"/>
                  </a:moveTo>
                  <a:lnTo>
                    <a:pt x="438912" y="0"/>
                  </a:lnTo>
                  <a:lnTo>
                    <a:pt x="43891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7299" r="-21729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438912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969383" y="3360420"/>
            <a:ext cx="3790950" cy="3585210"/>
            <a:chOff x="0" y="0"/>
            <a:chExt cx="5054600" cy="478028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054600" cy="4780280"/>
            </a:xfrm>
            <a:custGeom>
              <a:avLst/>
              <a:gdLst/>
              <a:ahLst/>
              <a:cxnLst/>
              <a:rect l="l" t="t" r="r" b="b"/>
              <a:pathLst>
                <a:path w="5054600" h="4780280">
                  <a:moveTo>
                    <a:pt x="0" y="0"/>
                  </a:moveTo>
                  <a:lnTo>
                    <a:pt x="5054600" y="0"/>
                  </a:lnTo>
                  <a:lnTo>
                    <a:pt x="5054600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280660" y="3671697"/>
            <a:ext cx="3168396" cy="617220"/>
            <a:chOff x="0" y="0"/>
            <a:chExt cx="4224528" cy="82296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224528" cy="822960"/>
            </a:xfrm>
            <a:custGeom>
              <a:avLst/>
              <a:gdLst/>
              <a:ahLst/>
              <a:cxnLst/>
              <a:rect l="l" t="t" r="r" b="b"/>
              <a:pathLst>
                <a:path w="4224528" h="822960">
                  <a:moveTo>
                    <a:pt x="0" y="0"/>
                  </a:moveTo>
                  <a:lnTo>
                    <a:pt x="4224528" y="0"/>
                  </a:lnTo>
                  <a:lnTo>
                    <a:pt x="4224528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0023" b="-5002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4224528" cy="8324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02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280660" y="4604385"/>
            <a:ext cx="3168396" cy="548640"/>
            <a:chOff x="0" y="0"/>
            <a:chExt cx="4224528" cy="7315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PCR 증폭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5280660" y="5221605"/>
            <a:ext cx="3168396" cy="1508760"/>
            <a:chOff x="0" y="0"/>
            <a:chExt cx="4224528" cy="201168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4224528" cy="2011680"/>
            </a:xfrm>
            <a:custGeom>
              <a:avLst/>
              <a:gdLst/>
              <a:ahLst/>
              <a:cxnLst/>
              <a:rect l="l" t="t" r="r" b="b"/>
              <a:pathLst>
                <a:path w="4224528" h="2011680">
                  <a:moveTo>
                    <a:pt x="0" y="0"/>
                  </a:moveTo>
                  <a:lnTo>
                    <a:pt x="4224528" y="0"/>
                  </a:lnTo>
                  <a:lnTo>
                    <a:pt x="422452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96" r="-110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85725"/>
              <a:ext cx="4224528" cy="20974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515F/806R 프라이머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16S rRNA V4 영역 (~292bp)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778240" y="4810125"/>
            <a:ext cx="329184" cy="685800"/>
            <a:chOff x="0" y="0"/>
            <a:chExt cx="438912" cy="9144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438912" cy="914400"/>
            </a:xfrm>
            <a:custGeom>
              <a:avLst/>
              <a:gdLst/>
              <a:ahLst/>
              <a:cxnLst/>
              <a:rect l="l" t="t" r="r" b="b"/>
              <a:pathLst>
                <a:path w="438912" h="914400">
                  <a:moveTo>
                    <a:pt x="0" y="0"/>
                  </a:moveTo>
                  <a:lnTo>
                    <a:pt x="438912" y="0"/>
                  </a:lnTo>
                  <a:lnTo>
                    <a:pt x="43891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7299" r="-21729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438912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125331" y="3360420"/>
            <a:ext cx="3790950" cy="3585210"/>
            <a:chOff x="0" y="0"/>
            <a:chExt cx="5054600" cy="478028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054600" cy="4780280"/>
            </a:xfrm>
            <a:custGeom>
              <a:avLst/>
              <a:gdLst/>
              <a:ahLst/>
              <a:cxnLst/>
              <a:rect l="l" t="t" r="r" b="b"/>
              <a:pathLst>
                <a:path w="5054600" h="4780280">
                  <a:moveTo>
                    <a:pt x="0" y="0"/>
                  </a:moveTo>
                  <a:lnTo>
                    <a:pt x="5054600" y="0"/>
                  </a:lnTo>
                  <a:lnTo>
                    <a:pt x="5054600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436608" y="3671697"/>
            <a:ext cx="3168396" cy="617220"/>
            <a:chOff x="0" y="0"/>
            <a:chExt cx="4224528" cy="82296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4224528" cy="822960"/>
            </a:xfrm>
            <a:custGeom>
              <a:avLst/>
              <a:gdLst/>
              <a:ahLst/>
              <a:cxnLst/>
              <a:rect l="l" t="t" r="r" b="b"/>
              <a:pathLst>
                <a:path w="4224528" h="822960">
                  <a:moveTo>
                    <a:pt x="0" y="0"/>
                  </a:moveTo>
                  <a:lnTo>
                    <a:pt x="4224528" y="0"/>
                  </a:lnTo>
                  <a:lnTo>
                    <a:pt x="4224528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0023" b="-5002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9525"/>
              <a:ext cx="4224528" cy="8324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03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436608" y="4604385"/>
            <a:ext cx="3168396" cy="548640"/>
            <a:chOff x="0" y="0"/>
            <a:chExt cx="4224528" cy="73152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Index 부착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436608" y="5221605"/>
            <a:ext cx="3168396" cy="1508760"/>
            <a:chOff x="0" y="0"/>
            <a:chExt cx="4224528" cy="201168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4224528" cy="2011680"/>
            </a:xfrm>
            <a:custGeom>
              <a:avLst/>
              <a:gdLst/>
              <a:ahLst/>
              <a:cxnLst/>
              <a:rect l="l" t="t" r="r" b="b"/>
              <a:pathLst>
                <a:path w="4224528" h="2011680">
                  <a:moveTo>
                    <a:pt x="0" y="0"/>
                  </a:moveTo>
                  <a:lnTo>
                    <a:pt x="4224528" y="0"/>
                  </a:lnTo>
                  <a:lnTo>
                    <a:pt x="422452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96" r="-110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85725"/>
              <a:ext cx="4224528" cy="20974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시료별 고유 index로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다중 시료 동시 시퀀싱 준비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2934188" y="4810125"/>
            <a:ext cx="329184" cy="685800"/>
            <a:chOff x="0" y="0"/>
            <a:chExt cx="438912" cy="9144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438912" cy="914400"/>
            </a:xfrm>
            <a:custGeom>
              <a:avLst/>
              <a:gdLst/>
              <a:ahLst/>
              <a:cxnLst/>
              <a:rect l="l" t="t" r="r" b="b"/>
              <a:pathLst>
                <a:path w="438912" h="914400">
                  <a:moveTo>
                    <a:pt x="0" y="0"/>
                  </a:moveTo>
                  <a:lnTo>
                    <a:pt x="438912" y="0"/>
                  </a:lnTo>
                  <a:lnTo>
                    <a:pt x="43891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7299" r="-21729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9525"/>
              <a:ext cx="438912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281279" y="3360420"/>
            <a:ext cx="3790950" cy="3585210"/>
            <a:chOff x="0" y="0"/>
            <a:chExt cx="5054600" cy="478028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5054600" cy="4780280"/>
            </a:xfrm>
            <a:custGeom>
              <a:avLst/>
              <a:gdLst/>
              <a:ahLst/>
              <a:cxnLst/>
              <a:rect l="l" t="t" r="r" b="b"/>
              <a:pathLst>
                <a:path w="5054600" h="4780280">
                  <a:moveTo>
                    <a:pt x="0" y="0"/>
                  </a:moveTo>
                  <a:lnTo>
                    <a:pt x="5054600" y="0"/>
                  </a:lnTo>
                  <a:lnTo>
                    <a:pt x="5054600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2B4A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3592556" y="3671697"/>
            <a:ext cx="3168396" cy="617220"/>
            <a:chOff x="0" y="0"/>
            <a:chExt cx="4224528" cy="82296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224528" cy="822960"/>
            </a:xfrm>
            <a:custGeom>
              <a:avLst/>
              <a:gdLst/>
              <a:ahLst/>
              <a:cxnLst/>
              <a:rect l="l" t="t" r="r" b="b"/>
              <a:pathLst>
                <a:path w="4224528" h="822960">
                  <a:moveTo>
                    <a:pt x="0" y="0"/>
                  </a:moveTo>
                  <a:lnTo>
                    <a:pt x="4224528" y="0"/>
                  </a:lnTo>
                  <a:lnTo>
                    <a:pt x="4224528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0023" b="-5002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9525"/>
              <a:ext cx="4224528" cy="8324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C7C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04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3592556" y="4604385"/>
            <a:ext cx="3168396" cy="548640"/>
            <a:chOff x="0" y="0"/>
            <a:chExt cx="4224528" cy="73152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시퀀싱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592556" y="5143500"/>
            <a:ext cx="3168396" cy="1508760"/>
            <a:chOff x="0" y="0"/>
            <a:chExt cx="4224528" cy="201168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4224528" cy="2011680"/>
            </a:xfrm>
            <a:custGeom>
              <a:avLst/>
              <a:gdLst/>
              <a:ahLst/>
              <a:cxnLst/>
              <a:rect l="l" t="t" r="r" b="b"/>
              <a:pathLst>
                <a:path w="4224528" h="2011680">
                  <a:moveTo>
                    <a:pt x="0" y="0"/>
                  </a:moveTo>
                  <a:lnTo>
                    <a:pt x="4224528" y="0"/>
                  </a:lnTo>
                  <a:lnTo>
                    <a:pt x="422452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96" r="-110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85725"/>
              <a:ext cx="4224528" cy="20974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Illumina 플랫폼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싱글엔드 시퀀싱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15/33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6184880" cy="1618488"/>
            <a:chOff x="0" y="0"/>
            <a:chExt cx="21579840" cy="2157984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14630400" cy="731520"/>
              <a:chOff x="0" y="0"/>
              <a:chExt cx="14630400" cy="73152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1463040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14630400" h="731520">
                    <a:moveTo>
                      <a:pt x="0" y="0"/>
                    </a:moveTo>
                    <a:lnTo>
                      <a:pt x="14630400" y="0"/>
                    </a:lnTo>
                    <a:lnTo>
                      <a:pt x="1463040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339700" b="-339700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9525"/>
                <a:ext cx="1463040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l">
                  <a:lnSpc>
                    <a:spcPts val="1980"/>
                  </a:lnSpc>
                  <a:spcBef>
                    <a:spcPct val="0"/>
                  </a:spcBef>
                </a:pPr>
                <a:r>
                  <a:rPr lang="en-US" sz="1650" b="1" u="none" strike="noStrike" spc="225">
                    <a:solidFill>
                      <a:srgbClr val="2B4A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2-4  CULTURE &amp; ISOLATION</a:t>
                </a:r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0" y="786384"/>
              <a:ext cx="21579840" cy="1371600"/>
              <a:chOff x="0" y="0"/>
              <a:chExt cx="21579840" cy="13716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21579839" cy="1371600"/>
              </a:xfrm>
              <a:custGeom>
                <a:avLst/>
                <a:gdLst/>
                <a:ahLst/>
                <a:cxnLst/>
                <a:rect l="l" t="t" r="r" b="b"/>
                <a:pathLst>
                  <a:path w="21579839" h="1371600">
                    <a:moveTo>
                      <a:pt x="0" y="0"/>
                    </a:moveTo>
                    <a:lnTo>
                      <a:pt x="21579839" y="0"/>
                    </a:lnTo>
                    <a:lnTo>
                      <a:pt x="21579839" y="1371600"/>
                    </a:lnTo>
                    <a:lnTo>
                      <a:pt x="0" y="13716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56564" b="-256564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9525"/>
                <a:ext cx="21579840" cy="13811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l">
                  <a:lnSpc>
                    <a:spcPts val="5040"/>
                  </a:lnSpc>
                  <a:spcBef>
                    <a:spcPct val="0"/>
                  </a:spcBef>
                </a:pPr>
                <a:r>
                  <a:rPr lang="en-US" sz="4200" b="1" u="none" strike="noStrike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샘플링에서 배양 분리까지</a:t>
                </a:r>
              </a:p>
            </p:txBody>
          </p:sp>
        </p:grpSp>
      </p:grpSp>
      <p:grpSp>
        <p:nvGrpSpPr>
          <p:cNvPr id="9" name="Group 9"/>
          <p:cNvGrpSpPr/>
          <p:nvPr/>
        </p:nvGrpSpPr>
        <p:grpSpPr>
          <a:xfrm>
            <a:off x="9144000" y="2978753"/>
            <a:ext cx="7762875" cy="2686717"/>
            <a:chOff x="0" y="0"/>
            <a:chExt cx="7266051" cy="251476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266051" cy="2514767"/>
            </a:xfrm>
            <a:custGeom>
              <a:avLst/>
              <a:gdLst/>
              <a:ahLst/>
              <a:cxnLst/>
              <a:rect l="l" t="t" r="r" b="b"/>
              <a:pathLst>
                <a:path w="7266051" h="2514767">
                  <a:moveTo>
                    <a:pt x="0" y="0"/>
                  </a:moveTo>
                  <a:lnTo>
                    <a:pt x="7266051" y="0"/>
                  </a:lnTo>
                  <a:lnTo>
                    <a:pt x="7266051" y="2514767"/>
                  </a:lnTo>
                  <a:lnTo>
                    <a:pt x="0" y="2514767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667875" y="3801939"/>
            <a:ext cx="958032" cy="1040346"/>
            <a:chOff x="0" y="0"/>
            <a:chExt cx="1277377" cy="138712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277377" cy="1387128"/>
            </a:xfrm>
            <a:custGeom>
              <a:avLst/>
              <a:gdLst/>
              <a:ahLst/>
              <a:cxnLst/>
              <a:rect l="l" t="t" r="r" b="b"/>
              <a:pathLst>
                <a:path w="1277377" h="1387128">
                  <a:moveTo>
                    <a:pt x="0" y="0"/>
                  </a:moveTo>
                  <a:lnTo>
                    <a:pt x="1277377" y="0"/>
                  </a:lnTo>
                  <a:lnTo>
                    <a:pt x="1277377" y="1387128"/>
                  </a:lnTo>
                  <a:lnTo>
                    <a:pt x="0" y="1387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234" r="-186336" b="247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1277377" cy="14061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5400"/>
                </a:lnSpc>
                <a:spcBef>
                  <a:spcPct val="0"/>
                </a:spcBef>
              </a:pPr>
              <a:r>
                <a:rPr lang="en-US" sz="4500" b="1" u="none" strike="noStrike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02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858500" y="3954505"/>
            <a:ext cx="5905500" cy="685800"/>
            <a:chOff x="0" y="0"/>
            <a:chExt cx="7874000" cy="9144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874000" cy="914400"/>
            </a:xfrm>
            <a:custGeom>
              <a:avLst/>
              <a:gdLst/>
              <a:ahLst/>
              <a:cxnLst/>
              <a:rect l="l" t="t" r="r" b="b"/>
              <a:pathLst>
                <a:path w="7874000" h="914400">
                  <a:moveTo>
                    <a:pt x="0" y="0"/>
                  </a:moveTo>
                  <a:lnTo>
                    <a:pt x="7874000" y="0"/>
                  </a:lnTo>
                  <a:lnTo>
                    <a:pt x="78740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2498" r="21032" b="-8249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78740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 b="1" u="none" strike="noStrike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Stock 제작 및 streaking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667875" y="4625124"/>
            <a:ext cx="958032" cy="1040346"/>
            <a:chOff x="0" y="0"/>
            <a:chExt cx="1277377" cy="138712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277377" cy="1387128"/>
            </a:xfrm>
            <a:custGeom>
              <a:avLst/>
              <a:gdLst/>
              <a:ahLst/>
              <a:cxnLst/>
              <a:rect l="l" t="t" r="r" b="b"/>
              <a:pathLst>
                <a:path w="1277377" h="1387128">
                  <a:moveTo>
                    <a:pt x="0" y="0"/>
                  </a:moveTo>
                  <a:lnTo>
                    <a:pt x="1277377" y="0"/>
                  </a:lnTo>
                  <a:lnTo>
                    <a:pt x="1277377" y="1387128"/>
                  </a:lnTo>
                  <a:lnTo>
                    <a:pt x="0" y="1387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234" r="-186336" b="247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1277377" cy="14061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5400"/>
                </a:lnSpc>
                <a:spcBef>
                  <a:spcPct val="0"/>
                </a:spcBef>
              </a:pPr>
              <a:r>
                <a:rPr lang="en-US" sz="4500" b="1" u="none" strike="noStrike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03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0858500" y="4792872"/>
            <a:ext cx="5905500" cy="685800"/>
            <a:chOff x="0" y="0"/>
            <a:chExt cx="7874000" cy="9144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7874000" cy="914400"/>
            </a:xfrm>
            <a:custGeom>
              <a:avLst/>
              <a:gdLst/>
              <a:ahLst/>
              <a:cxnLst/>
              <a:rect l="l" t="t" r="r" b="b"/>
              <a:pathLst>
                <a:path w="7874000" h="914400">
                  <a:moveTo>
                    <a:pt x="0" y="0"/>
                  </a:moveTo>
                  <a:lnTo>
                    <a:pt x="7874000" y="0"/>
                  </a:lnTo>
                  <a:lnTo>
                    <a:pt x="78740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2498" r="21032" b="-8249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78740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 b="1" u="none" strike="noStrike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배양 및 분리주 확보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0858500" y="3253299"/>
            <a:ext cx="5334000" cy="548640"/>
            <a:chOff x="0" y="0"/>
            <a:chExt cx="7112000" cy="73152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12000" cy="731520"/>
            </a:xfrm>
            <a:custGeom>
              <a:avLst/>
              <a:gdLst/>
              <a:ahLst/>
              <a:cxnLst/>
              <a:rect l="l" t="t" r="r" b="b"/>
              <a:pathLst>
                <a:path w="7112000" h="731520">
                  <a:moveTo>
                    <a:pt x="0" y="0"/>
                  </a:moveTo>
                  <a:lnTo>
                    <a:pt x="7112000" y="0"/>
                  </a:lnTo>
                  <a:lnTo>
                    <a:pt x="7112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6137" r="22857" b="-9613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71120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 b="1" u="none" strike="noStrike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대표 시료 선택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144000" y="6012788"/>
            <a:ext cx="7762875" cy="2339399"/>
            <a:chOff x="0" y="0"/>
            <a:chExt cx="9102818" cy="2743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9102817" cy="2743200"/>
            </a:xfrm>
            <a:custGeom>
              <a:avLst/>
              <a:gdLst/>
              <a:ahLst/>
              <a:cxnLst/>
              <a:rect l="l" t="t" r="r" b="b"/>
              <a:pathLst>
                <a:path w="9102817" h="2743200">
                  <a:moveTo>
                    <a:pt x="0" y="0"/>
                  </a:moveTo>
                  <a:lnTo>
                    <a:pt x="9102817" y="0"/>
                  </a:lnTo>
                  <a:lnTo>
                    <a:pt x="9102817" y="2743200"/>
                  </a:lnTo>
                  <a:lnTo>
                    <a:pt x="0" y="274320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405938" y="6220577"/>
            <a:ext cx="7239000" cy="1923821"/>
            <a:chOff x="0" y="0"/>
            <a:chExt cx="9652000" cy="2565095"/>
          </a:xfrm>
        </p:grpSpPr>
        <p:grpSp>
          <p:nvGrpSpPr>
            <p:cNvPr id="29" name="Group 29"/>
            <p:cNvGrpSpPr/>
            <p:nvPr/>
          </p:nvGrpSpPr>
          <p:grpSpPr>
            <a:xfrm>
              <a:off x="0" y="0"/>
              <a:ext cx="8890000" cy="731520"/>
              <a:chOff x="0" y="0"/>
              <a:chExt cx="8890000" cy="73152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889000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8890000" h="731520">
                    <a:moveTo>
                      <a:pt x="0" y="0"/>
                    </a:moveTo>
                    <a:lnTo>
                      <a:pt x="8890000" y="0"/>
                    </a:lnTo>
                    <a:lnTo>
                      <a:pt x="889000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42275" r="-23428" b="-242275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0" y="-9525"/>
                <a:ext cx="889000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l">
                  <a:lnSpc>
                    <a:spcPts val="2520"/>
                  </a:lnSpc>
                  <a:spcBef>
                    <a:spcPct val="0"/>
                  </a:spcBef>
                </a:pPr>
                <a:r>
                  <a:rPr lang="en-US" sz="2100" b="1" u="none" strike="noStrike">
                    <a:solidFill>
                      <a:srgbClr val="1E36C4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MRS Agar · Nutrient Agar</a:t>
                </a:r>
              </a:p>
              <a:p>
                <a:pPr marL="0" lvl="0" indent="0" algn="l">
                  <a:lnSpc>
                    <a:spcPts val="719"/>
                  </a:lnSpc>
                  <a:spcBef>
                    <a:spcPct val="0"/>
                  </a:spcBef>
                </a:pPr>
                <a:endParaRPr lang="en-US" sz="2100" b="1" u="none" strike="noStrike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endParaRPr>
              </a:p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0" y="622300"/>
              <a:ext cx="9652000" cy="19427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932"/>
                </a:lnSpc>
                <a:spcBef>
                  <a:spcPct val="0"/>
                </a:spcBef>
              </a:pPr>
              <a:r>
                <a:rPr lang="en-US" sz="1880" b="1" u="none" strike="noStrike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팀원 별 대표 토양 시료 1개 선택 → stock 제작 </a:t>
              </a:r>
            </a:p>
            <a:p>
              <a:pPr marL="0" lvl="0" indent="0" algn="l">
                <a:lnSpc>
                  <a:spcPts val="2932"/>
                </a:lnSpc>
                <a:spcBef>
                  <a:spcPct val="0"/>
                </a:spcBef>
              </a:pPr>
              <a:r>
                <a:rPr lang="en-US" sz="1880" b="1" u="none" strike="noStrike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 두 배지에 streaking → 배양 후 분리 가능한 균주 확보</a:t>
              </a:r>
            </a:p>
            <a:p>
              <a:pPr marL="0" lvl="0" indent="0" algn="l">
                <a:lnSpc>
                  <a:spcPts val="2932"/>
                </a:lnSpc>
                <a:spcBef>
                  <a:spcPct val="0"/>
                </a:spcBef>
              </a:pPr>
              <a:endParaRPr lang="en-US" sz="1880" b="1" u="none" strike="noStrik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marL="0" lvl="0" indent="0" algn="l">
                <a:lnSpc>
                  <a:spcPts val="2932"/>
                </a:lnSpc>
                <a:spcBef>
                  <a:spcPct val="0"/>
                </a:spcBef>
              </a:pPr>
              <a:r>
                <a:rPr lang="en-US" sz="1880" b="1" u="none" strike="noStrike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 다음: </a:t>
              </a:r>
              <a:r>
                <a:rPr lang="en-US" sz="1880" b="1" u="none" strike="noStrike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16S rRNA 기반 분리주 동정 및 후보 균주 선정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r">
                <a:lnSpc>
                  <a:spcPts val="1979"/>
                </a:lnSpc>
                <a:spcBef>
                  <a:spcPct val="0"/>
                </a:spcBef>
              </a:pPr>
              <a:r>
                <a:rPr lang="en-US" sz="1649" u="none" strike="noStrike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16/33</a:t>
              </a:r>
            </a:p>
          </p:txBody>
        </p:sp>
      </p:grpSp>
      <p:sp>
        <p:nvSpPr>
          <p:cNvPr id="36" name="Freeform 36" descr="MRS Agar와 Nutrient Agar에 streaking한 실제 실험 사진"/>
          <p:cNvSpPr/>
          <p:nvPr/>
        </p:nvSpPr>
        <p:spPr>
          <a:xfrm>
            <a:off x="1047750" y="2978753"/>
            <a:ext cx="7810500" cy="5373434"/>
          </a:xfrm>
          <a:custGeom>
            <a:avLst/>
            <a:gdLst/>
            <a:ahLst/>
            <a:cxnLst/>
            <a:rect l="l" t="t" r="r" b="b"/>
            <a:pathLst>
              <a:path w="7810500" h="5373434">
                <a:moveTo>
                  <a:pt x="0" y="0"/>
                </a:moveTo>
                <a:lnTo>
                  <a:pt x="7810500" y="0"/>
                </a:lnTo>
                <a:lnTo>
                  <a:pt x="7810500" y="5373434"/>
                </a:lnTo>
                <a:lnTo>
                  <a:pt x="0" y="53734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961" r="-961"/>
            </a:stretch>
          </a:blipFill>
        </p:spPr>
        <p:txBody>
          <a:bodyPr/>
          <a:lstStyle/>
          <a:p>
            <a:endParaRPr lang="ko-KR" altLang="en-US"/>
          </a:p>
        </p:txBody>
      </p:sp>
      <p:grpSp>
        <p:nvGrpSpPr>
          <p:cNvPr id="37" name="Group 37"/>
          <p:cNvGrpSpPr/>
          <p:nvPr/>
        </p:nvGrpSpPr>
        <p:grpSpPr>
          <a:xfrm>
            <a:off x="9667875" y="2978753"/>
            <a:ext cx="958032" cy="1040346"/>
            <a:chOff x="0" y="0"/>
            <a:chExt cx="1277377" cy="1387128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277377" cy="1387128"/>
            </a:xfrm>
            <a:custGeom>
              <a:avLst/>
              <a:gdLst/>
              <a:ahLst/>
              <a:cxnLst/>
              <a:rect l="l" t="t" r="r" b="b"/>
              <a:pathLst>
                <a:path w="1277377" h="1387128">
                  <a:moveTo>
                    <a:pt x="0" y="0"/>
                  </a:moveTo>
                  <a:lnTo>
                    <a:pt x="1277377" y="0"/>
                  </a:lnTo>
                  <a:lnTo>
                    <a:pt x="1277377" y="1387128"/>
                  </a:lnTo>
                  <a:lnTo>
                    <a:pt x="0" y="1387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234" r="-186336" b="247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1277377" cy="14061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5400"/>
                </a:lnSpc>
                <a:spcBef>
                  <a:spcPct val="0"/>
                </a:spcBef>
              </a:pPr>
              <a:r>
                <a:rPr lang="en-US" sz="4500" b="1" u="none" strike="noStrike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1980"/>
                </a:lnSpc>
                <a:spcBef>
                  <a:spcPct val="0"/>
                </a:spcBef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</a:t>
              </a:r>
              <a:r>
                <a:rPr lang="en-US" sz="1650" b="1" u="none" strike="noStrike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-5  STRAIN IDENTIFICATION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5040"/>
                </a:lnSpc>
                <a:spcBef>
                  <a:spcPct val="0"/>
                </a:spcBef>
              </a:pPr>
              <a:r>
                <a:rPr lang="en-US" sz="4200" b="1" u="none" strike="noStrike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16S rRNA 기반 분리주 동정과 후보 균주 선정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573000" y="4148796"/>
            <a:ext cx="5405227" cy="2639063"/>
            <a:chOff x="1795539" y="0"/>
            <a:chExt cx="7206968" cy="3518750"/>
          </a:xfrm>
        </p:grpSpPr>
        <p:grpSp>
          <p:nvGrpSpPr>
            <p:cNvPr id="9" name="Group 9"/>
            <p:cNvGrpSpPr/>
            <p:nvPr/>
          </p:nvGrpSpPr>
          <p:grpSpPr>
            <a:xfrm>
              <a:off x="1795539" y="0"/>
              <a:ext cx="6110920" cy="3518750"/>
              <a:chOff x="1795539" y="0"/>
              <a:chExt cx="6110920" cy="351875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1795539" y="0"/>
                <a:ext cx="6110920" cy="3518750"/>
              </a:xfrm>
              <a:custGeom>
                <a:avLst/>
                <a:gdLst/>
                <a:ahLst/>
                <a:cxnLst/>
                <a:rect l="l" t="t" r="r" b="b"/>
                <a:pathLst>
                  <a:path w="6110920" h="3518750">
                    <a:moveTo>
                      <a:pt x="0" y="0"/>
                    </a:moveTo>
                    <a:lnTo>
                      <a:pt x="6110920" y="0"/>
                    </a:lnTo>
                    <a:lnTo>
                      <a:pt x="6110920" y="3518750"/>
                    </a:lnTo>
                    <a:lnTo>
                      <a:pt x="0" y="3518750"/>
                    </a:ln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sp>
          <p:nvSpPr>
            <p:cNvPr id="11" name="TextBox 11"/>
            <p:cNvSpPr txBox="1"/>
            <p:nvPr/>
          </p:nvSpPr>
          <p:spPr>
            <a:xfrm>
              <a:off x="2316318" y="412977"/>
              <a:ext cx="5069360" cy="492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 b="1" dirty="0" err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후속</a:t>
              </a:r>
              <a:r>
                <a:rPr lang="en-US" sz="2400" b="1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배양</a:t>
              </a:r>
              <a:r>
                <a:rPr lang="en-US" sz="2400" b="1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최적화</a:t>
              </a:r>
              <a:r>
                <a:rPr lang="en-US" sz="2400" b="1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대상</a:t>
              </a:r>
              <a:r>
                <a:rPr lang="en-US" sz="2400" b="1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균주</a:t>
              </a:r>
              <a:r>
                <a:rPr lang="en-US" sz="2400" b="1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선정</a:t>
              </a:r>
              <a:endParaRPr lang="en-US" sz="2400" b="1" dirty="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316318" y="1398689"/>
              <a:ext cx="6686189" cy="15716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520"/>
                </a:lnSpc>
                <a:spcBef>
                  <a:spcPct val="0"/>
                </a:spcBef>
              </a:pPr>
              <a:r>
                <a:rPr lang="en-US" sz="2100" b="1" u="none" strike="noStrike" dirty="0" err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Priestia</a:t>
              </a:r>
              <a:r>
                <a:rPr lang="en-US" sz="2100" b="1" u="none" strike="noStrike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megaterium</a:t>
              </a:r>
            </a:p>
            <a:p>
              <a:pPr marL="0" lvl="0" indent="0" algn="l">
                <a:lnSpc>
                  <a:spcPts val="2256"/>
                </a:lnSpc>
                <a:spcBef>
                  <a:spcPct val="0"/>
                </a:spcBef>
              </a:pPr>
              <a:endParaRPr lang="en-US" sz="2100" b="1" u="none" strike="noStrike" dirty="0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marL="405893" lvl="1" indent="-202946" algn="l">
                <a:lnSpc>
                  <a:spcPts val="2256"/>
                </a:lnSpc>
                <a:buFont typeface="Arial"/>
                <a:buChar char="•"/>
              </a:pPr>
              <a:r>
                <a:rPr lang="en-US" sz="1880" b="1" u="none" strike="noStrike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 HIY - </a:t>
              </a:r>
              <a:r>
                <a:rPr lang="en-US" sz="1880" b="1" u="none" strike="noStrike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MRS</a:t>
              </a:r>
              <a:r>
                <a:rPr lang="en-US" sz="1880" b="1" u="none" strike="noStrike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, </a:t>
              </a:r>
              <a:r>
                <a:rPr lang="en-US" sz="1880" b="1" u="none" strike="noStrike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strain DSM 32</a:t>
              </a:r>
            </a:p>
            <a:p>
              <a:pPr marL="405893" lvl="1" indent="-202946" algn="l">
                <a:lnSpc>
                  <a:spcPts val="2256"/>
                </a:lnSpc>
                <a:buFont typeface="Arial"/>
                <a:buChar char="•"/>
              </a:pPr>
              <a:r>
                <a:rPr lang="en-US" sz="1880" b="1" u="none" strike="noStrike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JYR - </a:t>
              </a:r>
              <a:r>
                <a:rPr lang="en-US" sz="1880" b="1" u="none" strike="noStrike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MRS</a:t>
              </a:r>
              <a:r>
                <a:rPr lang="en-US" sz="1880" b="1" u="none" strike="noStrike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, </a:t>
              </a:r>
              <a:r>
                <a:rPr lang="en-US" sz="1880" b="1" u="none" strike="noStrike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strain IS4_1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r">
                <a:lnSpc>
                  <a:spcPts val="1979"/>
                </a:lnSpc>
                <a:spcBef>
                  <a:spcPct val="0"/>
                </a:spcBef>
              </a:pPr>
              <a:r>
                <a:rPr lang="en-US" sz="1649" u="none" strike="noStrike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17/33</a:t>
              </a:r>
            </a:p>
          </p:txBody>
        </p:sp>
      </p:grpSp>
      <p:graphicFrame>
        <p:nvGraphicFramePr>
          <p:cNvPr id="16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3696957"/>
              </p:ext>
            </p:extLst>
          </p:nvPr>
        </p:nvGraphicFramePr>
        <p:xfrm>
          <a:off x="822960" y="2526961"/>
          <a:ext cx="11040707" cy="5987505"/>
        </p:xfrm>
        <a:graphic>
          <a:graphicData uri="http://schemas.openxmlformats.org/drawingml/2006/table">
            <a:tbl>
              <a:tblPr/>
              <a:tblGrid>
                <a:gridCol w="1386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814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272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팀원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MRS Agar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Nutrient Agar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위치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7236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HJG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(함정관)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Bacillus </a:t>
                      </a:r>
                      <a:r>
                        <a:rPr lang="en-US" sz="1880" dirty="0" err="1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altitudinis</a:t>
                      </a:r>
                      <a:endParaRPr lang="en-US" sz="1100" dirty="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B6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Bacillus </a:t>
                      </a:r>
                      <a:r>
                        <a:rPr lang="en-US" sz="1880" dirty="0" err="1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safensis</a:t>
                      </a:r>
                      <a:endParaRPr lang="en-US" sz="1100" dirty="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1P09SA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Park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7236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SR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(주세린)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-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Paenibacillus alvei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isolate Paenibacillus B-LR1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Park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87236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JYR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(정유라)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b="1" dirty="0" err="1">
                          <a:solidFill>
                            <a:srgbClr val="1E36C4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Priestia</a:t>
                      </a:r>
                      <a:r>
                        <a:rPr lang="en-US" sz="1880" b="1" dirty="0">
                          <a:solidFill>
                            <a:srgbClr val="1E36C4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 megaterium</a:t>
                      </a:r>
                      <a:endParaRPr lang="en-US" sz="1100" dirty="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 dirty="0">
                          <a:solidFill>
                            <a:srgbClr val="1E36C4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IS4_1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 err="1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Paenibacillus</a:t>
                      </a: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 </a:t>
                      </a:r>
                      <a:r>
                        <a:rPr lang="en-US" sz="1880" dirty="0" err="1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thiaminolyticus</a:t>
                      </a:r>
                      <a:endParaRPr lang="en-US" sz="1100" dirty="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PATH554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Park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87236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HIY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(황인영)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632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880" b="1" u="none" strike="noStrike">
                          <a:solidFill>
                            <a:srgbClr val="1E36C4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Priestia megaterium</a:t>
                      </a:r>
                      <a:endParaRPr lang="en-US" sz="1100"/>
                    </a:p>
                    <a:p>
                      <a:pPr marL="0" lvl="0" indent="0" algn="ctr">
                        <a:lnSpc>
                          <a:spcPts val="2632"/>
                        </a:lnSpc>
                        <a:spcBef>
                          <a:spcPct val="0"/>
                        </a:spcBef>
                      </a:pPr>
                      <a:r>
                        <a:rPr lang="en-US" sz="1880" u="none" strike="noStrike">
                          <a:solidFill>
                            <a:srgbClr val="1E36C4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DSM 32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Bacillus </a:t>
                      </a:r>
                      <a:r>
                        <a:rPr lang="en-US" sz="1880" dirty="0" err="1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stratosphericus</a:t>
                      </a:r>
                      <a:endParaRPr lang="en-US" sz="1100" dirty="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T-7.3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Road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93053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YSJ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(윤수진)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 err="1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Mycoplana</a:t>
                      </a: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 dimorpha</a:t>
                      </a:r>
                      <a:endParaRPr lang="en-US" sz="1100" dirty="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DSM 7138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Road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87236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LJM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(이지민)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-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Road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24160" y="1508760"/>
            <a:ext cx="7543800" cy="7999288"/>
            <a:chOff x="0" y="0"/>
            <a:chExt cx="10058400" cy="106657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058400" cy="10665718"/>
            </a:xfrm>
            <a:custGeom>
              <a:avLst/>
              <a:gdLst/>
              <a:ahLst/>
              <a:cxnLst/>
              <a:rect l="l" t="t" r="r" b="b"/>
              <a:pathLst>
                <a:path w="10058400" h="10665718">
                  <a:moveTo>
                    <a:pt x="0" y="0"/>
                  </a:moveTo>
                  <a:lnTo>
                    <a:pt x="10058400" y="0"/>
                  </a:lnTo>
                  <a:lnTo>
                    <a:pt x="10058400" y="10665718"/>
                  </a:lnTo>
                  <a:lnTo>
                    <a:pt x="0" y="106657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 b="569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0058400" cy="106752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46800"/>
                </a:lnSpc>
              </a:pPr>
              <a:r>
                <a:rPr lang="en-US" sz="39000" b="1">
                  <a:solidFill>
                    <a:srgbClr val="F1F3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03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03" b="-104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0"/>
              <a:ext cx="2834640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spc="149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PART 03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860" y="4320540"/>
            <a:ext cx="12344400" cy="1783080"/>
            <a:chOff x="0" y="0"/>
            <a:chExt cx="16459200" cy="23774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459200" cy="2377440"/>
            </a:xfrm>
            <a:custGeom>
              <a:avLst/>
              <a:gdLst/>
              <a:ahLst/>
              <a:cxnLst/>
              <a:rect l="l" t="t" r="r" b="b"/>
              <a:pathLst>
                <a:path w="16459200" h="2377440">
                  <a:moveTo>
                    <a:pt x="0" y="0"/>
                  </a:moveTo>
                  <a:lnTo>
                    <a:pt x="16459200" y="0"/>
                  </a:lnTo>
                  <a:lnTo>
                    <a:pt x="1645920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896" b="-848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645920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9000"/>
                </a:lnSpc>
              </a:pPr>
              <a:r>
                <a:rPr lang="en-US" sz="75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AI 스케일업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34440" y="5897880"/>
            <a:ext cx="13030200" cy="685800"/>
            <a:chOff x="0" y="0"/>
            <a:chExt cx="1737360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7373600" cy="914400"/>
            </a:xfrm>
            <a:custGeom>
              <a:avLst/>
              <a:gdLst/>
              <a:ahLst/>
              <a:cxnLst/>
              <a:rect l="l" t="t" r="r" b="b"/>
              <a:pathLst>
                <a:path w="17373600" h="914400">
                  <a:moveTo>
                    <a:pt x="0" y="0"/>
                  </a:moveTo>
                  <a:lnTo>
                    <a:pt x="17373600" y="0"/>
                  </a:lnTo>
                  <a:lnTo>
                    <a:pt x="1737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0215" b="-32021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737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METIS 능동학습 기반 배지 조성 최적화 — Priestia megaterium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3-1  METHOD OVERVIEW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METIS 기반 배양 최적화 흐름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13435" y="2733675"/>
            <a:ext cx="3790950" cy="3242310"/>
            <a:chOff x="0" y="0"/>
            <a:chExt cx="5054600" cy="43230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54600" cy="4323080"/>
            </a:xfrm>
            <a:custGeom>
              <a:avLst/>
              <a:gdLst/>
              <a:ahLst/>
              <a:cxnLst/>
              <a:rect l="l" t="t" r="r" b="b"/>
              <a:pathLst>
                <a:path w="5054600" h="4323080">
                  <a:moveTo>
                    <a:pt x="0" y="0"/>
                  </a:moveTo>
                  <a:lnTo>
                    <a:pt x="5054600" y="0"/>
                  </a:lnTo>
                  <a:lnTo>
                    <a:pt x="5054600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24712" y="3017520"/>
            <a:ext cx="3168396" cy="615330"/>
            <a:chOff x="0" y="0"/>
            <a:chExt cx="4224528" cy="8204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224528" cy="820440"/>
            </a:xfrm>
            <a:custGeom>
              <a:avLst/>
              <a:gdLst/>
              <a:ahLst/>
              <a:cxnLst/>
              <a:rect l="l" t="t" r="r" b="b"/>
              <a:pathLst>
                <a:path w="4224528" h="820440">
                  <a:moveTo>
                    <a:pt x="0" y="0"/>
                  </a:moveTo>
                  <a:lnTo>
                    <a:pt x="4224528" y="0"/>
                  </a:lnTo>
                  <a:lnTo>
                    <a:pt x="4224528" y="820440"/>
                  </a:lnTo>
                  <a:lnTo>
                    <a:pt x="0" y="820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520" b="-4714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4224528" cy="829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24712" y="3867912"/>
            <a:ext cx="3168396" cy="548640"/>
            <a:chOff x="0" y="0"/>
            <a:chExt cx="4224528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초기 스크리닝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124712" y="4457700"/>
            <a:ext cx="3168396" cy="1371600"/>
            <a:chOff x="0" y="0"/>
            <a:chExt cx="4224528" cy="1828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224528" cy="1828800"/>
            </a:xfrm>
            <a:custGeom>
              <a:avLst/>
              <a:gdLst/>
              <a:ahLst/>
              <a:cxnLst/>
              <a:rect l="l" t="t" r="r" b="b"/>
              <a:pathLst>
                <a:path w="4224528" h="1828800">
                  <a:moveTo>
                    <a:pt x="0" y="0"/>
                  </a:moveTo>
                  <a:lnTo>
                    <a:pt x="4224528" y="0"/>
                  </a:lnTo>
                  <a:lnTo>
                    <a:pt x="4224528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542" r="-554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76200"/>
              <a:ext cx="4224528" cy="19050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수동 배지 조합 12개</a:t>
              </a:r>
            </a:p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1차 배양 및 OD600 측정</a:t>
              </a:r>
            </a:p>
            <a:p>
              <a:pPr algn="l">
                <a:lnSpc>
                  <a:spcPts val="2932"/>
                </a:lnSpc>
              </a:pPr>
              <a:endParaRPr lang="en-US" sz="188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622292" y="4011930"/>
            <a:ext cx="329184" cy="685800"/>
            <a:chOff x="0" y="0"/>
            <a:chExt cx="438912" cy="9144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38912" cy="914400"/>
            </a:xfrm>
            <a:custGeom>
              <a:avLst/>
              <a:gdLst/>
              <a:ahLst/>
              <a:cxnLst/>
              <a:rect l="l" t="t" r="r" b="b"/>
              <a:pathLst>
                <a:path w="438912" h="914400">
                  <a:moveTo>
                    <a:pt x="0" y="0"/>
                  </a:moveTo>
                  <a:lnTo>
                    <a:pt x="438912" y="0"/>
                  </a:lnTo>
                  <a:lnTo>
                    <a:pt x="43891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7299" r="-21729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438912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969383" y="2733675"/>
            <a:ext cx="3790950" cy="3242310"/>
            <a:chOff x="0" y="0"/>
            <a:chExt cx="5054600" cy="432308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054600" cy="4323080"/>
            </a:xfrm>
            <a:custGeom>
              <a:avLst/>
              <a:gdLst/>
              <a:ahLst/>
              <a:cxnLst/>
              <a:rect l="l" t="t" r="r" b="b"/>
              <a:pathLst>
                <a:path w="5054600" h="4323080">
                  <a:moveTo>
                    <a:pt x="0" y="0"/>
                  </a:moveTo>
                  <a:lnTo>
                    <a:pt x="5054600" y="0"/>
                  </a:lnTo>
                  <a:lnTo>
                    <a:pt x="5054600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280660" y="3017520"/>
            <a:ext cx="3168396" cy="615330"/>
            <a:chOff x="0" y="0"/>
            <a:chExt cx="4224528" cy="82044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224528" cy="820440"/>
            </a:xfrm>
            <a:custGeom>
              <a:avLst/>
              <a:gdLst/>
              <a:ahLst/>
              <a:cxnLst/>
              <a:rect l="l" t="t" r="r" b="b"/>
              <a:pathLst>
                <a:path w="4224528" h="820440">
                  <a:moveTo>
                    <a:pt x="0" y="0"/>
                  </a:moveTo>
                  <a:lnTo>
                    <a:pt x="4224528" y="0"/>
                  </a:lnTo>
                  <a:lnTo>
                    <a:pt x="4224528" y="820440"/>
                  </a:lnTo>
                  <a:lnTo>
                    <a:pt x="0" y="820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520" b="-4714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4224528" cy="829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02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280660" y="3867912"/>
            <a:ext cx="3168396" cy="548640"/>
            <a:chOff x="0" y="0"/>
            <a:chExt cx="4224528" cy="7315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METIS 배양 조건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5280660" y="4457700"/>
            <a:ext cx="3168396" cy="1371600"/>
            <a:chOff x="0" y="0"/>
            <a:chExt cx="4224528" cy="1828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4224528" cy="1828800"/>
            </a:xfrm>
            <a:custGeom>
              <a:avLst/>
              <a:gdLst/>
              <a:ahLst/>
              <a:cxnLst/>
              <a:rect l="l" t="t" r="r" b="b"/>
              <a:pathLst>
                <a:path w="4224528" h="1828800">
                  <a:moveTo>
                    <a:pt x="0" y="0"/>
                  </a:moveTo>
                  <a:lnTo>
                    <a:pt x="4224528" y="0"/>
                  </a:lnTo>
                  <a:lnTo>
                    <a:pt x="4224528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542" r="-554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76200"/>
              <a:ext cx="4224528" cy="19050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METIS 추천조건 선정</a:t>
              </a:r>
            </a:p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2차 배지 조합 12개 구성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778240" y="4011930"/>
            <a:ext cx="329184" cy="685800"/>
            <a:chOff x="0" y="0"/>
            <a:chExt cx="438912" cy="9144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438912" cy="914400"/>
            </a:xfrm>
            <a:custGeom>
              <a:avLst/>
              <a:gdLst/>
              <a:ahLst/>
              <a:cxnLst/>
              <a:rect l="l" t="t" r="r" b="b"/>
              <a:pathLst>
                <a:path w="438912" h="914400">
                  <a:moveTo>
                    <a:pt x="0" y="0"/>
                  </a:moveTo>
                  <a:lnTo>
                    <a:pt x="438912" y="0"/>
                  </a:lnTo>
                  <a:lnTo>
                    <a:pt x="43891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7299" r="-21729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438912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125331" y="2733675"/>
            <a:ext cx="3790950" cy="3242310"/>
            <a:chOff x="0" y="0"/>
            <a:chExt cx="5054600" cy="432308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054600" cy="4323080"/>
            </a:xfrm>
            <a:custGeom>
              <a:avLst/>
              <a:gdLst/>
              <a:ahLst/>
              <a:cxnLst/>
              <a:rect l="l" t="t" r="r" b="b"/>
              <a:pathLst>
                <a:path w="5054600" h="4323080">
                  <a:moveTo>
                    <a:pt x="0" y="0"/>
                  </a:moveTo>
                  <a:lnTo>
                    <a:pt x="5054600" y="0"/>
                  </a:lnTo>
                  <a:lnTo>
                    <a:pt x="5054600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436608" y="3017520"/>
            <a:ext cx="3168396" cy="615330"/>
            <a:chOff x="0" y="0"/>
            <a:chExt cx="4224528" cy="82044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4224528" cy="820440"/>
            </a:xfrm>
            <a:custGeom>
              <a:avLst/>
              <a:gdLst/>
              <a:ahLst/>
              <a:cxnLst/>
              <a:rect l="l" t="t" r="r" b="b"/>
              <a:pathLst>
                <a:path w="4224528" h="820440">
                  <a:moveTo>
                    <a:pt x="0" y="0"/>
                  </a:moveTo>
                  <a:lnTo>
                    <a:pt x="4224528" y="0"/>
                  </a:lnTo>
                  <a:lnTo>
                    <a:pt x="4224528" y="820440"/>
                  </a:lnTo>
                  <a:lnTo>
                    <a:pt x="0" y="820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520" b="-4714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9525"/>
              <a:ext cx="4224528" cy="829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03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436608" y="3867912"/>
            <a:ext cx="3168396" cy="548640"/>
            <a:chOff x="0" y="0"/>
            <a:chExt cx="4224528" cy="73152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2차 배양 결과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436608" y="4457700"/>
            <a:ext cx="3168396" cy="1371600"/>
            <a:chOff x="0" y="0"/>
            <a:chExt cx="4224528" cy="18288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4224528" cy="1828800"/>
            </a:xfrm>
            <a:custGeom>
              <a:avLst/>
              <a:gdLst/>
              <a:ahLst/>
              <a:cxnLst/>
              <a:rect l="l" t="t" r="r" b="b"/>
              <a:pathLst>
                <a:path w="4224528" h="1828800">
                  <a:moveTo>
                    <a:pt x="0" y="0"/>
                  </a:moveTo>
                  <a:lnTo>
                    <a:pt x="4224528" y="0"/>
                  </a:lnTo>
                  <a:lnTo>
                    <a:pt x="4224528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542" r="-554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76200"/>
              <a:ext cx="4224528" cy="19050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METIS 추천 조합 배양</a:t>
              </a:r>
            </a:p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2차 OD600 측정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2934188" y="4011930"/>
            <a:ext cx="329184" cy="685800"/>
            <a:chOff x="0" y="0"/>
            <a:chExt cx="438912" cy="9144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438912" cy="914400"/>
            </a:xfrm>
            <a:custGeom>
              <a:avLst/>
              <a:gdLst/>
              <a:ahLst/>
              <a:cxnLst/>
              <a:rect l="l" t="t" r="r" b="b"/>
              <a:pathLst>
                <a:path w="438912" h="914400">
                  <a:moveTo>
                    <a:pt x="0" y="0"/>
                  </a:moveTo>
                  <a:lnTo>
                    <a:pt x="438912" y="0"/>
                  </a:lnTo>
                  <a:lnTo>
                    <a:pt x="43891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7299" r="-21729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9525"/>
              <a:ext cx="438912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281279" y="2733675"/>
            <a:ext cx="3790950" cy="3242310"/>
            <a:chOff x="0" y="0"/>
            <a:chExt cx="5054600" cy="432308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5054600" cy="4323080"/>
            </a:xfrm>
            <a:custGeom>
              <a:avLst/>
              <a:gdLst/>
              <a:ahLst/>
              <a:cxnLst/>
              <a:rect l="l" t="t" r="r" b="b"/>
              <a:pathLst>
                <a:path w="5054600" h="4323080">
                  <a:moveTo>
                    <a:pt x="0" y="0"/>
                  </a:moveTo>
                  <a:lnTo>
                    <a:pt x="5054600" y="0"/>
                  </a:lnTo>
                  <a:lnTo>
                    <a:pt x="5054600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2B4A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3592556" y="3017520"/>
            <a:ext cx="3168396" cy="615330"/>
            <a:chOff x="0" y="0"/>
            <a:chExt cx="4224528" cy="82044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224528" cy="820440"/>
            </a:xfrm>
            <a:custGeom>
              <a:avLst/>
              <a:gdLst/>
              <a:ahLst/>
              <a:cxnLst/>
              <a:rect l="l" t="t" r="r" b="b"/>
              <a:pathLst>
                <a:path w="4224528" h="820440">
                  <a:moveTo>
                    <a:pt x="0" y="0"/>
                  </a:moveTo>
                  <a:lnTo>
                    <a:pt x="4224528" y="0"/>
                  </a:lnTo>
                  <a:lnTo>
                    <a:pt x="4224528" y="820440"/>
                  </a:lnTo>
                  <a:lnTo>
                    <a:pt x="0" y="820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520" b="-4714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9525"/>
              <a:ext cx="4224528" cy="829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C7C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04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3592556" y="3867912"/>
            <a:ext cx="3168396" cy="548640"/>
            <a:chOff x="0" y="0"/>
            <a:chExt cx="4224528" cy="73152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XGBoost 분석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592556" y="4457700"/>
            <a:ext cx="3356223" cy="1371600"/>
            <a:chOff x="0" y="0"/>
            <a:chExt cx="4474964" cy="182880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4474964" cy="1828800"/>
            </a:xfrm>
            <a:custGeom>
              <a:avLst/>
              <a:gdLst/>
              <a:ahLst/>
              <a:cxnLst/>
              <a:rect l="l" t="t" r="r" b="b"/>
              <a:pathLst>
                <a:path w="4474964" h="1828800">
                  <a:moveTo>
                    <a:pt x="0" y="0"/>
                  </a:moveTo>
                  <a:lnTo>
                    <a:pt x="4474964" y="0"/>
                  </a:lnTo>
                  <a:lnTo>
                    <a:pt x="4474964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32" r="36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76200"/>
              <a:ext cx="4474964" cy="19050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2차 배양 데이터 기반</a:t>
              </a:r>
            </a:p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변수 중요도·상호작용 분석</a:t>
              </a:r>
            </a:p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후속 배양 후보조건 제안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822960" y="6309360"/>
            <a:ext cx="16596360" cy="3154680"/>
            <a:chOff x="0" y="0"/>
            <a:chExt cx="22128480" cy="420624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22128480" cy="4206240"/>
            </a:xfrm>
            <a:custGeom>
              <a:avLst/>
              <a:gdLst/>
              <a:ahLst/>
              <a:cxnLst/>
              <a:rect l="l" t="t" r="r" b="b"/>
              <a:pathLst>
                <a:path w="22128480" h="4206240">
                  <a:moveTo>
                    <a:pt x="0" y="0"/>
                  </a:moveTo>
                  <a:lnTo>
                    <a:pt x="22128480" y="0"/>
                  </a:lnTo>
                  <a:lnTo>
                    <a:pt x="22128480" y="4206240"/>
                  </a:lnTo>
                  <a:lnTo>
                    <a:pt x="0" y="42062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303020" y="6652260"/>
            <a:ext cx="4389120" cy="960120"/>
            <a:chOff x="0" y="0"/>
            <a:chExt cx="5852160" cy="128016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5852160" cy="1280160"/>
            </a:xfrm>
            <a:custGeom>
              <a:avLst/>
              <a:gdLst/>
              <a:ahLst/>
              <a:cxnLst/>
              <a:rect l="l" t="t" r="r" b="b"/>
              <a:pathLst>
                <a:path w="5852160" h="1280160">
                  <a:moveTo>
                    <a:pt x="0" y="0"/>
                  </a:moveTo>
                  <a:lnTo>
                    <a:pt x="5852160" y="0"/>
                  </a:lnTo>
                  <a:lnTo>
                    <a:pt x="5852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074" b="-3907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9525"/>
              <a:ext cx="5852160" cy="12896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4</a:t>
              </a:r>
              <a:r>
                <a:rPr lang="en-US" sz="24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배지 성분 변수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6240780" y="6652260"/>
            <a:ext cx="4389120" cy="960120"/>
            <a:chOff x="0" y="0"/>
            <a:chExt cx="5852160" cy="1280160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852160" cy="1280160"/>
            </a:xfrm>
            <a:custGeom>
              <a:avLst/>
              <a:gdLst/>
              <a:ahLst/>
              <a:cxnLst/>
              <a:rect l="l" t="t" r="r" b="b"/>
              <a:pathLst>
                <a:path w="5852160" h="1280160">
                  <a:moveTo>
                    <a:pt x="0" y="0"/>
                  </a:moveTo>
                  <a:lnTo>
                    <a:pt x="5852160" y="0"/>
                  </a:lnTo>
                  <a:lnTo>
                    <a:pt x="5852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074" b="-3907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9525"/>
              <a:ext cx="5852160" cy="12896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12</a:t>
              </a:r>
              <a:r>
                <a:rPr lang="en-US" sz="24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METIS 기반 2차 배양조건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11178540" y="6652260"/>
            <a:ext cx="4389120" cy="960120"/>
            <a:chOff x="0" y="0"/>
            <a:chExt cx="5852160" cy="1280160"/>
          </a:xfrm>
        </p:grpSpPr>
        <p:sp>
          <p:nvSpPr>
            <p:cNvPr id="70" name="Freeform 70"/>
            <p:cNvSpPr/>
            <p:nvPr/>
          </p:nvSpPr>
          <p:spPr>
            <a:xfrm>
              <a:off x="0" y="0"/>
              <a:ext cx="5852160" cy="1280160"/>
            </a:xfrm>
            <a:custGeom>
              <a:avLst/>
              <a:gdLst/>
              <a:ahLst/>
              <a:cxnLst/>
              <a:rect l="l" t="t" r="r" b="b"/>
              <a:pathLst>
                <a:path w="5852160" h="1280160">
                  <a:moveTo>
                    <a:pt x="0" y="0"/>
                  </a:moveTo>
                  <a:lnTo>
                    <a:pt x="5852160" y="0"/>
                  </a:lnTo>
                  <a:lnTo>
                    <a:pt x="5852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074" b="-3907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0" y="-9525"/>
              <a:ext cx="5852160" cy="12896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20</a:t>
              </a:r>
              <a:r>
                <a:rPr lang="en-US" sz="24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XGBoost 앙상블 모델</a:t>
              </a:r>
            </a:p>
          </p:txBody>
        </p:sp>
      </p:grpSp>
      <p:sp>
        <p:nvSpPr>
          <p:cNvPr id="72" name="AutoShape 72"/>
          <p:cNvSpPr/>
          <p:nvPr/>
        </p:nvSpPr>
        <p:spPr>
          <a:xfrm rot="4200">
            <a:off x="1293485" y="7813357"/>
            <a:ext cx="15655300" cy="0"/>
          </a:xfrm>
          <a:prstGeom prst="line">
            <a:avLst/>
          </a:prstGeom>
          <a:ln w="9525" cap="rnd">
            <a:solidFill>
              <a:srgbClr val="D7DCF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73" name="Group 73"/>
          <p:cNvGrpSpPr/>
          <p:nvPr/>
        </p:nvGrpSpPr>
        <p:grpSpPr>
          <a:xfrm>
            <a:off x="1465748" y="8048916"/>
            <a:ext cx="6743057" cy="1234440"/>
            <a:chOff x="0" y="0"/>
            <a:chExt cx="8990743" cy="164592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8990743" cy="1645920"/>
            </a:xfrm>
            <a:custGeom>
              <a:avLst/>
              <a:gdLst/>
              <a:ahLst/>
              <a:cxnLst/>
              <a:rect l="l" t="t" r="r" b="b"/>
              <a:pathLst>
                <a:path w="8990743" h="1645920">
                  <a:moveTo>
                    <a:pt x="0" y="0"/>
                  </a:moveTo>
                  <a:lnTo>
                    <a:pt x="8990743" y="0"/>
                  </a:lnTo>
                  <a:lnTo>
                    <a:pt x="8990743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6810" r="-131886" b="-19681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0" y="-85725"/>
              <a:ext cx="8990743" cy="17316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45"/>
                </a:lnSpc>
              </a:pP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입력 데이터:</a:t>
              </a: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2차 배양 12개 조건의 성분 농도 및 OD600</a:t>
              </a:r>
            </a:p>
            <a:p>
              <a:pPr algn="l">
                <a:lnSpc>
                  <a:spcPts val="3045"/>
                </a:lnSpc>
              </a:pP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배지 변수:</a:t>
              </a: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Peptone, Meat extract, Yeast extract, Glucose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19/33</a:t>
              </a:r>
            </a:p>
          </p:txBody>
        </p:sp>
      </p:grpSp>
      <p:sp>
        <p:nvSpPr>
          <p:cNvPr id="79" name="TextBox 79"/>
          <p:cNvSpPr txBox="1"/>
          <p:nvPr/>
        </p:nvSpPr>
        <p:spPr>
          <a:xfrm>
            <a:off x="10263536" y="8278100"/>
            <a:ext cx="6195664" cy="7093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5"/>
              </a:lnSpc>
              <a:spcBef>
                <a:spcPct val="0"/>
              </a:spcBef>
            </a:pPr>
            <a:r>
              <a:rPr lang="en-US" sz="1880" b="1" spc="-18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모델 구성:</a:t>
            </a:r>
            <a:r>
              <a:rPr lang="en-US" sz="1880" spc="-18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RandomizedSearchCV 200회 × 4-fold CV로 선정한 </a:t>
            </a:r>
          </a:p>
          <a:p>
            <a:pPr algn="l">
              <a:lnSpc>
                <a:spcPts val="2895"/>
              </a:lnSpc>
              <a:spcBef>
                <a:spcPct val="0"/>
              </a:spcBef>
            </a:pPr>
            <a:r>
              <a:rPr lang="en-US" sz="1880" spc="-18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상위 20개 XGBoost 앙상블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3-2  INITIAL SCREENING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초기 스크리닝 설계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20/33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822960" y="1968818"/>
            <a:ext cx="11986510" cy="3752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  <a:spcBef>
                <a:spcPct val="0"/>
              </a:spcBef>
            </a:pPr>
            <a:r>
              <a:rPr lang="en-US" sz="2000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20× stock 분주</a:t>
            </a:r>
            <a:r>
              <a:rPr lang="en-US" sz="200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→ </a:t>
            </a:r>
            <a:r>
              <a:rPr lang="en-US" sz="2000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배지 1 mL 조제</a:t>
            </a:r>
            <a:r>
              <a:rPr lang="en-US" sz="200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→ </a:t>
            </a:r>
            <a:r>
              <a:rPr lang="en-US" sz="2000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균액 50 µL 접종</a:t>
            </a:r>
            <a:r>
              <a:rPr lang="en-US" sz="200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→ </a:t>
            </a:r>
            <a:r>
              <a:rPr lang="en-US" sz="2000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O/N 배양</a:t>
            </a:r>
            <a:r>
              <a:rPr lang="en-US" sz="200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→ </a:t>
            </a:r>
            <a:r>
              <a:rPr lang="en-US" sz="2000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OD600 측정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641985" y="2630751"/>
            <a:ext cx="19124677" cy="7147053"/>
            <a:chOff x="0" y="-85725"/>
            <a:chExt cx="25499569" cy="9529405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85725"/>
              <a:ext cx="14262853" cy="5327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3510"/>
                </a:lnSpc>
                <a:spcBef>
                  <a:spcPct val="0"/>
                </a:spcBef>
              </a:pPr>
              <a:r>
                <a:rPr lang="en-US" sz="22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  1. 모든 성분을 함께 변화시켜 전체 영양 수준 탐색 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8900" y="4906077"/>
              <a:ext cx="14262853" cy="5327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10"/>
                </a:lnSpc>
                <a:spcBef>
                  <a:spcPct val="0"/>
                </a:spcBef>
              </a:pPr>
              <a:r>
                <a:rPr lang="en-US" sz="22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 2. 한 성분씩 증가시킨 단일 변수 효과 설계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236716" y="-85725"/>
              <a:ext cx="14262853" cy="5327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10"/>
                </a:lnSpc>
                <a:spcBef>
                  <a:spcPct val="0"/>
                </a:spcBef>
              </a:pPr>
              <a:r>
                <a:rPr lang="en-US" sz="22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3. 선택한 두 성분을 동시에 변화시켜 조합 효과 탐색</a:t>
              </a:r>
            </a:p>
          </p:txBody>
        </p:sp>
        <p:grpSp>
          <p:nvGrpSpPr>
            <p:cNvPr id="19" name="Group 19"/>
            <p:cNvGrpSpPr/>
            <p:nvPr/>
          </p:nvGrpSpPr>
          <p:grpSpPr>
            <a:xfrm>
              <a:off x="11539940" y="5548697"/>
              <a:ext cx="9913055" cy="3894983"/>
              <a:chOff x="0" y="-1"/>
              <a:chExt cx="8662313" cy="3403548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-1"/>
                <a:ext cx="8662313" cy="3403548"/>
              </a:xfrm>
              <a:custGeom>
                <a:avLst/>
                <a:gdLst/>
                <a:ahLst/>
                <a:cxnLst/>
                <a:rect l="l" t="t" r="r" b="b"/>
                <a:pathLst>
                  <a:path w="8662313" h="3325629">
                    <a:moveTo>
                      <a:pt x="0" y="0"/>
                    </a:moveTo>
                    <a:lnTo>
                      <a:pt x="8662313" y="0"/>
                    </a:lnTo>
                    <a:lnTo>
                      <a:pt x="8662313" y="3325629"/>
                    </a:lnTo>
                    <a:lnTo>
                      <a:pt x="0" y="3325629"/>
                    </a:ln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11862462" y="5838892"/>
              <a:ext cx="10166383" cy="32097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44"/>
                </a:lnSpc>
              </a:pPr>
              <a:r>
                <a:rPr lang="en-US" sz="2400" b="1" dirty="0" err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실험</a:t>
              </a:r>
              <a:r>
                <a:rPr lang="en-US" sz="2400" b="1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조건</a:t>
              </a:r>
              <a:endParaRPr lang="en-US" sz="2400" b="1" dirty="0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algn="l">
                <a:lnSpc>
                  <a:spcPts val="819"/>
                </a:lnSpc>
              </a:pPr>
              <a:endParaRPr lang="en-US" sz="2400" b="1" dirty="0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marL="405892" lvl="1" indent="-202946" algn="l">
                <a:lnSpc>
                  <a:spcPts val="2932"/>
                </a:lnSpc>
                <a:buFont typeface="Arial"/>
                <a:buChar char="•"/>
              </a:pP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농도는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접종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전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액체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배지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1 mL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기준</a:t>
              </a:r>
              <a:endParaRPr lang="en-US" sz="1879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405892" lvl="1" indent="-202946" algn="l">
                <a:lnSpc>
                  <a:spcPts val="2932"/>
                </a:lnSpc>
                <a:buFont typeface="Arial"/>
                <a:buChar char="•"/>
              </a:pP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가변성분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20× stock: Peptone 200, Meat 160, Yeast 80, </a:t>
              </a:r>
            </a:p>
            <a:p>
              <a:pPr algn="l">
                <a:lnSpc>
                  <a:spcPts val="2932"/>
                </a:lnSpc>
              </a:pP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                                   Glucose 400 mg/mL</a:t>
              </a:r>
            </a:p>
            <a:p>
              <a:pPr marL="405892" lvl="1" indent="-202946" algn="l">
                <a:lnSpc>
                  <a:spcPts val="2932"/>
                </a:lnSpc>
                <a:buFont typeface="Arial"/>
                <a:buChar char="•"/>
              </a:pP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고정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염류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혼합액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250 µ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L는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모든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조건에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동일하게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첨가</a:t>
              </a:r>
              <a:endParaRPr lang="en-US" sz="1879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405892" lvl="1" indent="-202946" algn="l">
                <a:lnSpc>
                  <a:spcPts val="293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P. megaterium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균액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50 µL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접종</a:t>
              </a:r>
              <a:endParaRPr lang="en-US" sz="1879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8565" y="543355"/>
              <a:ext cx="15982013" cy="357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79"/>
                </a:lnSpc>
                <a:spcBef>
                  <a:spcPct val="0"/>
                </a:spcBef>
              </a:pPr>
              <a:r>
                <a:rPr lang="en-US" sz="152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농도 단위: g/L · 접종 전 배지 1 mL 기준 / Meat = Meat extract, Yeast = Yeast extract</a:t>
              </a:r>
            </a:p>
          </p:txBody>
        </p:sp>
      </p:grpSp>
      <p:graphicFrame>
        <p:nvGraphicFramePr>
          <p:cNvPr id="13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7338416"/>
              </p:ext>
            </p:extLst>
          </p:nvPr>
        </p:nvGraphicFramePr>
        <p:xfrm>
          <a:off x="927733" y="3386239"/>
          <a:ext cx="7434793" cy="2886075"/>
        </p:xfrm>
        <a:graphic>
          <a:graphicData uri="http://schemas.openxmlformats.org/drawingml/2006/table">
            <a:tbl>
              <a:tblPr/>
              <a:tblGrid>
                <a:gridCol w="1097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7215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조건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Peptone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Meat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Yeast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Glucose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215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215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215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215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7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1017558"/>
              </p:ext>
            </p:extLst>
          </p:nvPr>
        </p:nvGraphicFramePr>
        <p:xfrm>
          <a:off x="940907" y="6896468"/>
          <a:ext cx="7434793" cy="2886075"/>
        </p:xfrm>
        <a:graphic>
          <a:graphicData uri="http://schemas.openxmlformats.org/drawingml/2006/table">
            <a:tbl>
              <a:tblPr/>
              <a:tblGrid>
                <a:gridCol w="1097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4279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조건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Peptone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Meat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Yeast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Glucose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16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40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8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249976"/>
              </p:ext>
            </p:extLst>
          </p:nvPr>
        </p:nvGraphicFramePr>
        <p:xfrm>
          <a:off x="9296938" y="3386239"/>
          <a:ext cx="7434793" cy="2886075"/>
        </p:xfrm>
        <a:graphic>
          <a:graphicData uri="http://schemas.openxmlformats.org/drawingml/2006/table">
            <a:tbl>
              <a:tblPr/>
              <a:tblGrid>
                <a:gridCol w="1097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4279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조건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Peptone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Meat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Yeast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Glucose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9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15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15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3-3  METIS-GUIDED CULTURE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77861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METIS 추천 기반 2차 배양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21/33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18210" y="2378011"/>
            <a:ext cx="8023860" cy="7332917"/>
            <a:chOff x="0" y="0"/>
            <a:chExt cx="10698480" cy="977722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698480" cy="9777222"/>
            </a:xfrm>
            <a:custGeom>
              <a:avLst/>
              <a:gdLst/>
              <a:ahLst/>
              <a:cxnLst/>
              <a:rect l="l" t="t" r="r" b="b"/>
              <a:pathLst>
                <a:path w="10698480" h="9777222">
                  <a:moveTo>
                    <a:pt x="0" y="0"/>
                  </a:moveTo>
                  <a:lnTo>
                    <a:pt x="10698480" y="0"/>
                  </a:lnTo>
                  <a:lnTo>
                    <a:pt x="10698480" y="9777222"/>
                  </a:lnTo>
                  <a:lnTo>
                    <a:pt x="0" y="9777222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34440" y="2459168"/>
            <a:ext cx="7132320" cy="685800"/>
            <a:chOff x="0" y="0"/>
            <a:chExt cx="950976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509760" cy="914400"/>
            </a:xfrm>
            <a:custGeom>
              <a:avLst/>
              <a:gdLst/>
              <a:ahLst/>
              <a:cxnLst/>
              <a:rect l="l" t="t" r="r" b="b"/>
              <a:pathLst>
                <a:path w="9509760" h="914400">
                  <a:moveTo>
                    <a:pt x="0" y="0"/>
                  </a:moveTo>
                  <a:lnTo>
                    <a:pt x="9509760" y="0"/>
                  </a:lnTo>
                  <a:lnTo>
                    <a:pt x="95097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2644" b="-15264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950976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① METIS 추천 배지 조합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395460" y="2378011"/>
            <a:ext cx="8023860" cy="4440462"/>
            <a:chOff x="0" y="0"/>
            <a:chExt cx="10698480" cy="592061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698480" cy="5920615"/>
            </a:xfrm>
            <a:custGeom>
              <a:avLst/>
              <a:gdLst/>
              <a:ahLst/>
              <a:cxnLst/>
              <a:rect l="l" t="t" r="r" b="b"/>
              <a:pathLst>
                <a:path w="10698480" h="5920615">
                  <a:moveTo>
                    <a:pt x="0" y="0"/>
                  </a:moveTo>
                  <a:lnTo>
                    <a:pt x="10698480" y="0"/>
                  </a:lnTo>
                  <a:lnTo>
                    <a:pt x="10698480" y="5920615"/>
                  </a:lnTo>
                  <a:lnTo>
                    <a:pt x="0" y="5920615"/>
                  </a:lnTo>
                  <a:close/>
                </a:path>
              </a:pathLst>
            </a:custGeom>
            <a:solidFill>
              <a:srgbClr val="F7F8FD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648825" y="2459168"/>
            <a:ext cx="7132320" cy="685800"/>
            <a:chOff x="0" y="0"/>
            <a:chExt cx="9509760" cy="9144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9509760" cy="914400"/>
            </a:xfrm>
            <a:custGeom>
              <a:avLst/>
              <a:gdLst/>
              <a:ahLst/>
              <a:cxnLst/>
              <a:rect l="l" t="t" r="r" b="b"/>
              <a:pathLst>
                <a:path w="9509760" h="914400">
                  <a:moveTo>
                    <a:pt x="0" y="0"/>
                  </a:moveTo>
                  <a:lnTo>
                    <a:pt x="9509760" y="0"/>
                  </a:lnTo>
                  <a:lnTo>
                    <a:pt x="95097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2644" b="-15264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"/>
              <a:ext cx="950976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② 1차 대비 2차 배양 결과</a:t>
              </a:r>
            </a:p>
          </p:txBody>
        </p:sp>
      </p:grpSp>
      <p:graphicFrame>
        <p:nvGraphicFramePr>
          <p:cNvPr id="21" name="Table 21"/>
          <p:cNvGraphicFramePr>
            <a:graphicFrameLocks noGrp="1"/>
          </p:cNvGraphicFramePr>
          <p:nvPr/>
        </p:nvGraphicFramePr>
        <p:xfrm>
          <a:off x="1415415" y="3144968"/>
          <a:ext cx="7151372" cy="5981698"/>
        </p:xfrm>
        <a:graphic>
          <a:graphicData uri="http://schemas.openxmlformats.org/drawingml/2006/table">
            <a:tbl>
              <a:tblPr/>
              <a:tblGrid>
                <a:gridCol w="12393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80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80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80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780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86550"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조건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Peptone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Meat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Yeast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Glucose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14.88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3.52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9.6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0.56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5.12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0.16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7.2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7.92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8.16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3.36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13.76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7.68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15.68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8.96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6.48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9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1.12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4.48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11.52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6.24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7.6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15.2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2" name="TextBox 22"/>
          <p:cNvSpPr txBox="1"/>
          <p:nvPr/>
        </p:nvSpPr>
        <p:spPr>
          <a:xfrm>
            <a:off x="1415415" y="9231443"/>
            <a:ext cx="3689985" cy="3133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91"/>
              </a:lnSpc>
              <a:spcBef>
                <a:spcPct val="0"/>
              </a:spcBef>
            </a:pPr>
            <a:r>
              <a:rPr lang="en-US" sz="1725" dirty="0" err="1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농도</a:t>
            </a:r>
            <a:r>
              <a:rPr lang="en-US" sz="1725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725" dirty="0" err="1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단위</a:t>
            </a:r>
            <a:r>
              <a:rPr lang="en-US" sz="1725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: g/L, </a:t>
            </a:r>
            <a:r>
              <a:rPr lang="en-US" sz="1725" dirty="0" err="1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접종</a:t>
            </a:r>
            <a:r>
              <a:rPr lang="en-US" sz="1725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전 </a:t>
            </a:r>
            <a:r>
              <a:rPr lang="en-US" sz="1725" dirty="0" err="1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배지</a:t>
            </a:r>
            <a:r>
              <a:rPr lang="en-US" sz="1725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1 mL </a:t>
            </a:r>
            <a:r>
              <a:rPr lang="en-US" sz="1725" dirty="0" err="1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기준</a:t>
            </a:r>
            <a:endParaRPr lang="en-US" sz="1725" dirty="0">
              <a:solidFill>
                <a:srgbClr val="000000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</p:txBody>
      </p:sp>
      <p:graphicFrame>
        <p:nvGraphicFramePr>
          <p:cNvPr id="23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8661998"/>
              </p:ext>
            </p:extLst>
          </p:nvPr>
        </p:nvGraphicFramePr>
        <p:xfrm>
          <a:off x="9835396" y="3144968"/>
          <a:ext cx="7143987" cy="3352801"/>
        </p:xfrm>
        <a:graphic>
          <a:graphicData uri="http://schemas.openxmlformats.org/drawingml/2006/table">
            <a:tbl>
              <a:tblPr/>
              <a:tblGrid>
                <a:gridCol w="1485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60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60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860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7159"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FFFFFF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지표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1차 스크리닝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2차 METIS 추천조건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변화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60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배양조건 수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60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평균 OD600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0.578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0.743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28.60%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60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중앙값 OD600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0.579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0.76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31.30%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60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최고 OD600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0.758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0.879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16.00%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60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OD600 범위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0.346–0.758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0.571–0.879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전반적 상승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60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OD600 ≥ 0.700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 / 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10 / 12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+8조건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24" name="Group 24"/>
          <p:cNvGrpSpPr/>
          <p:nvPr/>
        </p:nvGrpSpPr>
        <p:grpSpPr>
          <a:xfrm>
            <a:off x="9395460" y="7199473"/>
            <a:ext cx="8023860" cy="2127220"/>
            <a:chOff x="0" y="0"/>
            <a:chExt cx="10698480" cy="283629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0698480" cy="2836293"/>
            </a:xfrm>
            <a:custGeom>
              <a:avLst/>
              <a:gdLst/>
              <a:ahLst/>
              <a:cxnLst/>
              <a:rect l="l" t="t" r="r" b="b"/>
              <a:pathLst>
                <a:path w="10698480" h="2836293">
                  <a:moveTo>
                    <a:pt x="0" y="0"/>
                  </a:moveTo>
                  <a:lnTo>
                    <a:pt x="10698480" y="0"/>
                  </a:lnTo>
                  <a:lnTo>
                    <a:pt x="10698480" y="2836293"/>
                  </a:lnTo>
                  <a:lnTo>
                    <a:pt x="0" y="2836293"/>
                  </a:lnTo>
                  <a:close/>
                </a:path>
              </a:pathLst>
            </a:custGeom>
            <a:solidFill>
              <a:srgbClr val="D9DFF7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9648825" y="7357778"/>
            <a:ext cx="7517130" cy="1686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43"/>
              </a:lnSpc>
            </a:pPr>
            <a:r>
              <a:rPr lang="en-US" sz="2399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주요 관찰 결과</a:t>
            </a:r>
          </a:p>
          <a:p>
            <a:pPr algn="l">
              <a:lnSpc>
                <a:spcPts val="935"/>
              </a:lnSpc>
            </a:pPr>
            <a:endParaRPr lang="en-US" sz="2399" b="1">
              <a:solidFill>
                <a:srgbClr val="1E36C4"/>
              </a:solidFill>
              <a:latin typeface="프리텐다드 Bold"/>
              <a:ea typeface="프리텐다드 Bold"/>
              <a:cs typeface="프리텐다드 Bold"/>
              <a:sym typeface="프리텐다드 Bold"/>
            </a:endParaRPr>
          </a:p>
          <a:p>
            <a:pPr marL="405892" lvl="1" indent="-202946" algn="l">
              <a:lnSpc>
                <a:spcPts val="2932"/>
              </a:lnSpc>
              <a:buFont typeface="Arial"/>
              <a:buChar char="•"/>
            </a:pPr>
            <a:r>
              <a:rPr lang="en-US" sz="1879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2차 배양에서 1차 대비 전반적으로 높은 OD600 분포 확인</a:t>
            </a:r>
          </a:p>
          <a:p>
            <a:pPr marL="405892" lvl="1" indent="-202946" algn="l">
              <a:lnSpc>
                <a:spcPts val="2932"/>
              </a:lnSpc>
              <a:buFont typeface="Arial"/>
              <a:buChar char="•"/>
            </a:pPr>
            <a:r>
              <a:rPr lang="en-US" sz="1879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서로 다른 배지 조합이므로 조건별 직접 비교가 아닌 전체 생장 경향으로 해석</a:t>
            </a:r>
          </a:p>
          <a:p>
            <a:pPr marL="405892" lvl="1" indent="-202946" algn="l">
              <a:lnSpc>
                <a:spcPts val="2932"/>
              </a:lnSpc>
              <a:buFont typeface="Arial"/>
              <a:buChar char="•"/>
            </a:pPr>
            <a:r>
              <a:rPr lang="en-US" sz="1879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2차 배양의 성분 농도와 실측 OD600을 후속 XGBoost 분석에 활용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430" b="-33942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22960" y="568928"/>
            <a:ext cx="10972800" cy="555784"/>
            <a:chOff x="0" y="0"/>
            <a:chExt cx="14630400" cy="74104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4630400" cy="741045"/>
            </a:xfrm>
            <a:custGeom>
              <a:avLst/>
              <a:gdLst/>
              <a:ahLst/>
              <a:cxnLst/>
              <a:rect l="l" t="t" r="r" b="b"/>
              <a:pathLst>
                <a:path w="14630400" h="741045">
                  <a:moveTo>
                    <a:pt x="0" y="0"/>
                  </a:moveTo>
                  <a:lnTo>
                    <a:pt x="14630400" y="0"/>
                  </a:lnTo>
                  <a:lnTo>
                    <a:pt x="1463040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4691" b="-33469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46304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3-4  RESULT 1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351" b="-2563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22960" y="1158716"/>
            <a:ext cx="16184880" cy="1035844"/>
            <a:chOff x="0" y="0"/>
            <a:chExt cx="21579840" cy="138112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579839" cy="1381125"/>
            </a:xfrm>
            <a:custGeom>
              <a:avLst/>
              <a:gdLst/>
              <a:ahLst/>
              <a:cxnLst/>
              <a:rect l="l" t="t" r="r" b="b"/>
              <a:pathLst>
                <a:path w="21579839" h="1381125">
                  <a:moveTo>
                    <a:pt x="0" y="0"/>
                  </a:moveTo>
                  <a:lnTo>
                    <a:pt x="21579839" y="0"/>
                  </a:lnTo>
                  <a:lnTo>
                    <a:pt x="21579839" y="1381125"/>
                  </a:lnTo>
                  <a:lnTo>
                    <a:pt x="0" y="13811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54450" b="-2544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21579840" cy="1390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어떤 배지 성분이 가장 중요한가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85800" y="2743200"/>
            <a:ext cx="10424160" cy="5349240"/>
            <a:chOff x="0" y="0"/>
            <a:chExt cx="13898880" cy="7132320"/>
          </a:xfrm>
        </p:grpSpPr>
        <p:sp>
          <p:nvSpPr>
            <p:cNvPr id="13" name="Freeform 13" descr="/home/claude/ppt/assets/feature_importance_slide.png"/>
            <p:cNvSpPr/>
            <p:nvPr/>
          </p:nvSpPr>
          <p:spPr>
            <a:xfrm>
              <a:off x="0" y="0"/>
              <a:ext cx="13898880" cy="7132320"/>
            </a:xfrm>
            <a:custGeom>
              <a:avLst/>
              <a:gdLst/>
              <a:ahLst/>
              <a:cxnLst/>
              <a:rect l="l" t="t" r="r" b="b"/>
              <a:pathLst>
                <a:path w="13898880" h="7132320">
                  <a:moveTo>
                    <a:pt x="0" y="0"/>
                  </a:moveTo>
                  <a:lnTo>
                    <a:pt x="13898880" y="0"/>
                  </a:lnTo>
                  <a:lnTo>
                    <a:pt x="13898880" y="7132320"/>
                  </a:lnTo>
                  <a:lnTo>
                    <a:pt x="0" y="7132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49" r="-14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1452860" y="2743200"/>
            <a:ext cx="6035040" cy="5212080"/>
            <a:chOff x="0" y="0"/>
            <a:chExt cx="8046720" cy="69494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046720" cy="6949440"/>
            </a:xfrm>
            <a:custGeom>
              <a:avLst/>
              <a:gdLst/>
              <a:ahLst/>
              <a:cxnLst/>
              <a:rect l="l" t="t" r="r" b="b"/>
              <a:pathLst>
                <a:path w="8046720" h="6949440">
                  <a:moveTo>
                    <a:pt x="0" y="0"/>
                  </a:moveTo>
                  <a:lnTo>
                    <a:pt x="8046720" y="0"/>
                  </a:lnTo>
                  <a:lnTo>
                    <a:pt x="8046720" y="6949440"/>
                  </a:lnTo>
                  <a:lnTo>
                    <a:pt x="0" y="69494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1864340" y="3086100"/>
            <a:ext cx="5280660" cy="685800"/>
            <a:chOff x="0" y="0"/>
            <a:chExt cx="7040880" cy="9144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040880" cy="914400"/>
            </a:xfrm>
            <a:custGeom>
              <a:avLst/>
              <a:gdLst/>
              <a:ahLst/>
              <a:cxnLst/>
              <a:rect l="l" t="t" r="r" b="b"/>
              <a:pathLst>
                <a:path w="7040880" h="914400">
                  <a:moveTo>
                    <a:pt x="0" y="0"/>
                  </a:moveTo>
                  <a:lnTo>
                    <a:pt x="7040880" y="0"/>
                  </a:lnTo>
                  <a:lnTo>
                    <a:pt x="70408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9930" b="-9993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1864340" y="3078956"/>
            <a:ext cx="5280660" cy="692944"/>
            <a:chOff x="0" y="0"/>
            <a:chExt cx="7040880" cy="92392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7040880" cy="923925"/>
            </a:xfrm>
            <a:custGeom>
              <a:avLst/>
              <a:gdLst/>
              <a:ahLst/>
              <a:cxnLst/>
              <a:rect l="l" t="t" r="r" b="b"/>
              <a:pathLst>
                <a:path w="7040880" h="923925">
                  <a:moveTo>
                    <a:pt x="0" y="0"/>
                  </a:moveTo>
                  <a:lnTo>
                    <a:pt x="7040880" y="0"/>
                  </a:lnTo>
                  <a:lnTo>
                    <a:pt x="7040880" y="923925"/>
                  </a:lnTo>
                  <a:lnTo>
                    <a:pt x="0" y="9239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98488" b="-984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"/>
              <a:ext cx="7040880" cy="933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8"/>
                </a:lnSpc>
              </a:pPr>
              <a:r>
                <a:rPr lang="en-US" sz="2400" b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Meat extract가 1위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1864340" y="3775710"/>
            <a:ext cx="5143499" cy="37970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11718" lvl="1" indent="-205859" algn="l">
              <a:lnSpc>
                <a:spcPts val="3042"/>
              </a:lnSpc>
              <a:buFont typeface="Arial"/>
              <a:buChar char="•"/>
            </a:pP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OD600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예측에서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가장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높은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변수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중요도를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보임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(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중요도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0.36)</a:t>
            </a:r>
          </a:p>
          <a:p>
            <a:pPr marL="411718" lvl="1" indent="-205859" algn="l">
              <a:lnSpc>
                <a:spcPts val="3042"/>
              </a:lnSpc>
              <a:buFont typeface="Arial"/>
              <a:buChar char="•"/>
            </a:pP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Yeast extract(0.28) &gt; Glucose(0.25) &gt; Peptone(0.11)</a:t>
            </a:r>
          </a:p>
          <a:p>
            <a:pPr marL="411594" lvl="1" indent="-205797" algn="l">
              <a:lnSpc>
                <a:spcPts val="3042"/>
              </a:lnSpc>
              <a:buFont typeface="Arial"/>
              <a:buChar char="•"/>
            </a:pP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20개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XGBoost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모델의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Feature Importance</a:t>
            </a:r>
          </a:p>
          <a:p>
            <a:pPr algn="l">
              <a:lnSpc>
                <a:spcPts val="3042"/>
              </a:lnSpc>
            </a:pP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     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평균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±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표준편차로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산출</a:t>
            </a:r>
            <a:endParaRPr lang="en-US" sz="1950" dirty="0">
              <a:solidFill>
                <a:srgbClr val="1A1A1A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  <a:p>
            <a:pPr algn="l">
              <a:lnSpc>
                <a:spcPts val="3042"/>
              </a:lnSpc>
            </a:pPr>
            <a:endParaRPr lang="en-US" sz="1950" dirty="0">
              <a:solidFill>
                <a:srgbClr val="1A1A1A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  <a:p>
            <a:pPr algn="l">
              <a:lnSpc>
                <a:spcPts val="3042"/>
              </a:lnSpc>
            </a:pPr>
            <a:r>
              <a:rPr lang="en-US" sz="195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   → </a:t>
            </a:r>
            <a:r>
              <a:rPr lang="en-US" sz="195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단일</a:t>
            </a:r>
            <a:r>
              <a:rPr lang="en-US" sz="195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</a:t>
            </a:r>
            <a:r>
              <a:rPr lang="en-US" sz="195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모델에</a:t>
            </a:r>
            <a:r>
              <a:rPr lang="en-US" sz="195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</a:t>
            </a:r>
            <a:r>
              <a:rPr lang="en-US" sz="195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따른</a:t>
            </a:r>
            <a:r>
              <a:rPr lang="en-US" sz="195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</a:t>
            </a:r>
            <a:r>
              <a:rPr lang="en-US" sz="195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변동성을</a:t>
            </a:r>
            <a:r>
              <a:rPr lang="en-US" sz="195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</a:t>
            </a:r>
            <a:r>
              <a:rPr lang="en-US" sz="195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완화</a:t>
            </a:r>
            <a:endParaRPr lang="en-US" sz="1950" b="1" dirty="0">
              <a:solidFill>
                <a:srgbClr val="1A1A1A"/>
              </a:solidFill>
              <a:latin typeface="프리텐다드 Bold"/>
              <a:ea typeface="프리텐다드 Bold"/>
              <a:cs typeface="프리텐다드 Bold"/>
              <a:sym typeface="프리텐다드 Bold"/>
            </a:endParaRPr>
          </a:p>
          <a:p>
            <a:pPr marL="411718" lvl="1" indent="-205859" algn="l">
              <a:lnSpc>
                <a:spcPts val="3042"/>
              </a:lnSpc>
            </a:pPr>
            <a:endParaRPr lang="en-US" sz="1950" b="1" dirty="0">
              <a:solidFill>
                <a:srgbClr val="1A1A1A"/>
              </a:solidFill>
              <a:latin typeface="프리텐다드 Bold"/>
              <a:ea typeface="프리텐다드 Bold"/>
              <a:cs typeface="프리텐다드 Bold"/>
              <a:sym typeface="프리텐다드 Bold"/>
            </a:endParaRPr>
          </a:p>
          <a:p>
            <a:pPr marL="411718" lvl="1" indent="-205859" algn="l">
              <a:lnSpc>
                <a:spcPts val="3042"/>
              </a:lnSpc>
            </a:pP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    </a:t>
            </a:r>
            <a:r>
              <a:rPr lang="en-US" sz="1950" dirty="0">
                <a:solidFill>
                  <a:srgbClr val="C7CFFF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P. megaterium </a:t>
            </a:r>
            <a:r>
              <a:rPr lang="en-US" sz="1950" dirty="0" err="1">
                <a:solidFill>
                  <a:srgbClr val="C7CFFF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배양</a:t>
            </a:r>
            <a:r>
              <a:rPr lang="en-US" sz="1950" dirty="0">
                <a:solidFill>
                  <a:srgbClr val="C7CFFF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C7CFFF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데이터에</a:t>
            </a:r>
            <a:r>
              <a:rPr lang="en-US" sz="1950" dirty="0">
                <a:solidFill>
                  <a:srgbClr val="C7CFFF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C7CFFF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한정</a:t>
            </a:r>
            <a:endParaRPr lang="en-US" sz="1950" dirty="0">
              <a:solidFill>
                <a:srgbClr val="C7CFFF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</p:txBody>
      </p:sp>
      <p:grpSp>
        <p:nvGrpSpPr>
          <p:cNvPr id="22" name="Group 22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14" b="-841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6459200" y="9703784"/>
            <a:ext cx="1234440" cy="418624"/>
            <a:chOff x="0" y="0"/>
            <a:chExt cx="1645920" cy="55816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645920" cy="558165"/>
            </a:xfrm>
            <a:custGeom>
              <a:avLst/>
              <a:gdLst/>
              <a:ahLst/>
              <a:cxnLst/>
              <a:rect l="l" t="t" r="r" b="b"/>
              <a:pathLst>
                <a:path w="1645920" h="558165">
                  <a:moveTo>
                    <a:pt x="0" y="0"/>
                  </a:moveTo>
                  <a:lnTo>
                    <a:pt x="1645920" y="0"/>
                  </a:lnTo>
                  <a:lnTo>
                    <a:pt x="1645920" y="558165"/>
                  </a:lnTo>
                  <a:lnTo>
                    <a:pt x="0" y="5581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457" b="-745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164592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22/33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430" b="-33942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22960" y="568928"/>
            <a:ext cx="10972800" cy="555784"/>
            <a:chOff x="0" y="0"/>
            <a:chExt cx="14630400" cy="74104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4630400" cy="741045"/>
            </a:xfrm>
            <a:custGeom>
              <a:avLst/>
              <a:gdLst/>
              <a:ahLst/>
              <a:cxnLst/>
              <a:rect l="l" t="t" r="r" b="b"/>
              <a:pathLst>
                <a:path w="14630400" h="741045">
                  <a:moveTo>
                    <a:pt x="0" y="0"/>
                  </a:moveTo>
                  <a:lnTo>
                    <a:pt x="14630400" y="0"/>
                  </a:lnTo>
                  <a:lnTo>
                    <a:pt x="1463040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4691" b="-33469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46304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3-4  RESULT 1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351" b="-2563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22960" y="1158716"/>
            <a:ext cx="16184880" cy="1035844"/>
            <a:chOff x="0" y="0"/>
            <a:chExt cx="21579840" cy="138112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579839" cy="1381125"/>
            </a:xfrm>
            <a:custGeom>
              <a:avLst/>
              <a:gdLst/>
              <a:ahLst/>
              <a:cxnLst/>
              <a:rect l="l" t="t" r="r" b="b"/>
              <a:pathLst>
                <a:path w="21579839" h="1381125">
                  <a:moveTo>
                    <a:pt x="0" y="0"/>
                  </a:moveTo>
                  <a:lnTo>
                    <a:pt x="21579839" y="0"/>
                  </a:lnTo>
                  <a:lnTo>
                    <a:pt x="21579839" y="1381125"/>
                  </a:lnTo>
                  <a:lnTo>
                    <a:pt x="0" y="13811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54450" b="-2544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21579840" cy="1390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원자료 분포로 다시 확인하기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94385" y="2772832"/>
            <a:ext cx="4526280" cy="5760720"/>
            <a:chOff x="0" y="0"/>
            <a:chExt cx="6035040" cy="7680960"/>
          </a:xfrm>
        </p:grpSpPr>
        <p:sp>
          <p:nvSpPr>
            <p:cNvPr id="13" name="Freeform 13" descr="/home/claude/ppt/assets/yield_boxplot.png"/>
            <p:cNvSpPr/>
            <p:nvPr/>
          </p:nvSpPr>
          <p:spPr>
            <a:xfrm>
              <a:off x="0" y="0"/>
              <a:ext cx="6035040" cy="7680960"/>
            </a:xfrm>
            <a:custGeom>
              <a:avLst/>
              <a:gdLst/>
              <a:ahLst/>
              <a:cxnLst/>
              <a:rect l="l" t="t" r="r" b="b"/>
              <a:pathLst>
                <a:path w="6035040" h="7680960">
                  <a:moveTo>
                    <a:pt x="0" y="0"/>
                  </a:moveTo>
                  <a:lnTo>
                    <a:pt x="6035040" y="0"/>
                  </a:lnTo>
                  <a:lnTo>
                    <a:pt x="6035040" y="7680960"/>
                  </a:lnTo>
                  <a:lnTo>
                    <a:pt x="0" y="76809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98" b="-19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411980" y="2331720"/>
            <a:ext cx="9464040" cy="7475220"/>
            <a:chOff x="0" y="0"/>
            <a:chExt cx="12618720" cy="9966960"/>
          </a:xfrm>
        </p:grpSpPr>
        <p:sp>
          <p:nvSpPr>
            <p:cNvPr id="15" name="Freeform 15" descr="/home/claude/ppt/assets/metabolite_scatter.png"/>
            <p:cNvSpPr/>
            <p:nvPr/>
          </p:nvSpPr>
          <p:spPr>
            <a:xfrm>
              <a:off x="0" y="0"/>
              <a:ext cx="12618720" cy="9966960"/>
            </a:xfrm>
            <a:custGeom>
              <a:avLst/>
              <a:gdLst/>
              <a:ahLst/>
              <a:cxnLst/>
              <a:rect l="l" t="t" r="r" b="b"/>
              <a:pathLst>
                <a:path w="12618720" h="9966960">
                  <a:moveTo>
                    <a:pt x="0" y="0"/>
                  </a:moveTo>
                  <a:lnTo>
                    <a:pt x="12618720" y="0"/>
                  </a:lnTo>
                  <a:lnTo>
                    <a:pt x="12618720" y="9966960"/>
                  </a:lnTo>
                  <a:lnTo>
                    <a:pt x="0" y="99669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4" r="-2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4200327" y="3577590"/>
            <a:ext cx="3493313" cy="2790339"/>
            <a:chOff x="0" y="0"/>
            <a:chExt cx="4657750" cy="372045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657725" cy="3720465"/>
            </a:xfrm>
            <a:custGeom>
              <a:avLst/>
              <a:gdLst/>
              <a:ahLst/>
              <a:cxnLst/>
              <a:rect l="l" t="t" r="r" b="b"/>
              <a:pathLst>
                <a:path w="4657725" h="3720465">
                  <a:moveTo>
                    <a:pt x="0" y="0"/>
                  </a:moveTo>
                  <a:lnTo>
                    <a:pt x="4657725" y="0"/>
                  </a:lnTo>
                  <a:lnTo>
                    <a:pt x="4657725" y="3720465"/>
                  </a:lnTo>
                  <a:lnTo>
                    <a:pt x="0" y="3720465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321971" y="3984498"/>
            <a:ext cx="3250016" cy="22190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12개 실측 OD600값</a:t>
            </a:r>
          </a:p>
          <a:p>
            <a:pPr algn="l">
              <a:lnSpc>
                <a:spcPts val="2932"/>
              </a:lnSpc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0.57~0.88 범위</a:t>
            </a:r>
          </a:p>
          <a:p>
            <a:pPr algn="l">
              <a:lnSpc>
                <a:spcPts val="2932"/>
              </a:lnSpc>
            </a:pPr>
            <a:endParaRPr lang="en-US" sz="1880">
              <a:solidFill>
                <a:srgbClr val="1A1A1A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  <a:p>
            <a:pPr algn="l">
              <a:lnSpc>
                <a:spcPts val="2932"/>
              </a:lnSpc>
            </a:pPr>
            <a:r>
              <a:rPr lang="en-US" sz="188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Glucose 고농도(60) 조건 </a:t>
            </a:r>
          </a:p>
          <a:p>
            <a:pPr algn="l">
              <a:lnSpc>
                <a:spcPts val="2932"/>
              </a:lnSpc>
            </a:pPr>
            <a:r>
              <a:rPr lang="en-US" sz="1880" b="1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→ </a:t>
            </a:r>
            <a:r>
              <a:rPr lang="en-US" sz="188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높은 OD600 값이 집중 경향</a:t>
            </a:r>
          </a:p>
          <a:p>
            <a:pPr algn="l">
              <a:lnSpc>
                <a:spcPts val="2932"/>
              </a:lnSpc>
            </a:pPr>
            <a:endParaRPr lang="en-US" sz="1880" b="1">
              <a:solidFill>
                <a:srgbClr val="1E36C4"/>
              </a:solidFill>
              <a:latin typeface="프리텐다드 Bold"/>
              <a:ea typeface="프리텐다드 Bold"/>
              <a:cs typeface="프리텐다드 Bold"/>
              <a:sym typeface="프리텐다드 Bold"/>
            </a:endParaRPr>
          </a:p>
        </p:txBody>
      </p:sp>
      <p:grpSp>
        <p:nvGrpSpPr>
          <p:cNvPr id="19" name="Group 19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14" b="-841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6459200" y="9703784"/>
            <a:ext cx="1234440" cy="418624"/>
            <a:chOff x="0" y="0"/>
            <a:chExt cx="1645920" cy="55816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645920" cy="558165"/>
            </a:xfrm>
            <a:custGeom>
              <a:avLst/>
              <a:gdLst/>
              <a:ahLst/>
              <a:cxnLst/>
              <a:rect l="l" t="t" r="r" b="b"/>
              <a:pathLst>
                <a:path w="1645920" h="558165">
                  <a:moveTo>
                    <a:pt x="0" y="0"/>
                  </a:moveTo>
                  <a:lnTo>
                    <a:pt x="1645920" y="0"/>
                  </a:lnTo>
                  <a:lnTo>
                    <a:pt x="1645920" y="558165"/>
                  </a:lnTo>
                  <a:lnTo>
                    <a:pt x="0" y="5581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457" b="-745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9525"/>
              <a:ext cx="164592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23/33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430" b="-33942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22960" y="568928"/>
            <a:ext cx="10972800" cy="555784"/>
            <a:chOff x="0" y="0"/>
            <a:chExt cx="14630400" cy="74104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4630400" cy="741045"/>
            </a:xfrm>
            <a:custGeom>
              <a:avLst/>
              <a:gdLst/>
              <a:ahLst/>
              <a:cxnLst/>
              <a:rect l="l" t="t" r="r" b="b"/>
              <a:pathLst>
                <a:path w="14630400" h="741045">
                  <a:moveTo>
                    <a:pt x="0" y="0"/>
                  </a:moveTo>
                  <a:lnTo>
                    <a:pt x="14630400" y="0"/>
                  </a:lnTo>
                  <a:lnTo>
                    <a:pt x="1463040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4691" b="-33469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46304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3-4  RESULT 2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351" b="-2563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22960" y="1158716"/>
            <a:ext cx="16184880" cy="1035844"/>
            <a:chOff x="0" y="0"/>
            <a:chExt cx="21579840" cy="138112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579839" cy="1381125"/>
            </a:xfrm>
            <a:custGeom>
              <a:avLst/>
              <a:gdLst/>
              <a:ahLst/>
              <a:cxnLst/>
              <a:rect l="l" t="t" r="r" b="b"/>
              <a:pathLst>
                <a:path w="21579839" h="1381125">
                  <a:moveTo>
                    <a:pt x="0" y="0"/>
                  </a:moveTo>
                  <a:lnTo>
                    <a:pt x="21579839" y="0"/>
                  </a:lnTo>
                  <a:lnTo>
                    <a:pt x="21579839" y="1381125"/>
                  </a:lnTo>
                  <a:lnTo>
                    <a:pt x="0" y="13811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54450" b="-2544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21579840" cy="1390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예측 최적 배지 조성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85800" y="2947340"/>
            <a:ext cx="6309360" cy="5280660"/>
            <a:chOff x="0" y="0"/>
            <a:chExt cx="8412480" cy="7040880"/>
          </a:xfrm>
        </p:grpSpPr>
        <p:sp>
          <p:nvSpPr>
            <p:cNvPr id="13" name="Freeform 13" descr="/home/claude/ppt/assets/predicted_vs_observed.png"/>
            <p:cNvSpPr/>
            <p:nvPr/>
          </p:nvSpPr>
          <p:spPr>
            <a:xfrm>
              <a:off x="0" y="0"/>
              <a:ext cx="8412480" cy="7040880"/>
            </a:xfrm>
            <a:custGeom>
              <a:avLst/>
              <a:gdLst/>
              <a:ahLst/>
              <a:cxnLst/>
              <a:rect l="l" t="t" r="r" b="b"/>
              <a:pathLst>
                <a:path w="8412480" h="7040880">
                  <a:moveTo>
                    <a:pt x="0" y="0"/>
                  </a:moveTo>
                  <a:lnTo>
                    <a:pt x="8412480" y="0"/>
                  </a:lnTo>
                  <a:lnTo>
                    <a:pt x="8412480" y="7040880"/>
                  </a:lnTo>
                  <a:lnTo>
                    <a:pt x="0" y="704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945" r="-94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7338060" y="3198965"/>
          <a:ext cx="10096500" cy="2336800"/>
        </p:xfrm>
        <a:graphic>
          <a:graphicData uri="http://schemas.openxmlformats.org/drawingml/2006/table">
            <a:tbl>
              <a:tblPr/>
              <a:tblGrid>
                <a:gridCol w="2019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9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9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9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Peptone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Meat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Yeast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Glucose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예측 OD600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5.0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9.92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1.68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60.0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0.854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5.0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9.92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0.96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60.0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0.854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5.0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10.72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2.24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60.0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0.854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5" name="Group 15"/>
          <p:cNvGrpSpPr/>
          <p:nvPr/>
        </p:nvGrpSpPr>
        <p:grpSpPr>
          <a:xfrm>
            <a:off x="7338060" y="5621960"/>
            <a:ext cx="10149840" cy="548640"/>
            <a:chOff x="0" y="0"/>
            <a:chExt cx="13533120" cy="7315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3533120" cy="731520"/>
            </a:xfrm>
            <a:custGeom>
              <a:avLst/>
              <a:gdLst/>
              <a:ahLst/>
              <a:cxnLst/>
              <a:rect l="l" t="t" r="r" b="b"/>
              <a:pathLst>
                <a:path w="13533120" h="731520">
                  <a:moveTo>
                    <a:pt x="0" y="0"/>
                  </a:moveTo>
                  <a:lnTo>
                    <a:pt x="13533120" y="0"/>
                  </a:lnTo>
                  <a:lnTo>
                    <a:pt x="13533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0222" b="-31022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7338060" y="5614816"/>
            <a:ext cx="10149840" cy="555784"/>
            <a:chOff x="0" y="0"/>
            <a:chExt cx="13533120" cy="741045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3533120" cy="741045"/>
            </a:xfrm>
            <a:custGeom>
              <a:avLst/>
              <a:gdLst/>
              <a:ahLst/>
              <a:cxnLst/>
              <a:rect l="l" t="t" r="r" b="b"/>
              <a:pathLst>
                <a:path w="13533120" h="741045">
                  <a:moveTo>
                    <a:pt x="0" y="0"/>
                  </a:moveTo>
                  <a:lnTo>
                    <a:pt x="13533120" y="0"/>
                  </a:lnTo>
                  <a:lnTo>
                    <a:pt x="1353312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05839" b="-30583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9525"/>
              <a:ext cx="13533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30"/>
                </a:lnSpc>
              </a:pPr>
              <a:r>
                <a:rPr lang="en-US" sz="2025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예측 최적 조건: Glucose 최댓값(60) + Yeast 낮음(1–2대) + Meat 중간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7338060" y="6444920"/>
            <a:ext cx="10149840" cy="2426360"/>
            <a:chOff x="0" y="0"/>
            <a:chExt cx="13533120" cy="323514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3533120" cy="3235198"/>
            </a:xfrm>
            <a:custGeom>
              <a:avLst/>
              <a:gdLst/>
              <a:ahLst/>
              <a:cxnLst/>
              <a:rect l="l" t="t" r="r" b="b"/>
              <a:pathLst>
                <a:path w="13533120" h="3235198">
                  <a:moveTo>
                    <a:pt x="0" y="0"/>
                  </a:moveTo>
                  <a:lnTo>
                    <a:pt x="13533120" y="0"/>
                  </a:lnTo>
                  <a:lnTo>
                    <a:pt x="13533120" y="3235198"/>
                  </a:lnTo>
                  <a:lnTo>
                    <a:pt x="0" y="3235198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749540" y="6694475"/>
            <a:ext cx="5486400" cy="548640"/>
            <a:chOff x="0" y="0"/>
            <a:chExt cx="7315200" cy="7315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7315200" cy="731520"/>
            </a:xfrm>
            <a:custGeom>
              <a:avLst/>
              <a:gdLst/>
              <a:ahLst/>
              <a:cxnLst/>
              <a:rect l="l" t="t" r="r" b="b"/>
              <a:pathLst>
                <a:path w="7315200" h="731520">
                  <a:moveTo>
                    <a:pt x="0" y="0"/>
                  </a:moveTo>
                  <a:lnTo>
                    <a:pt x="7315200" y="0"/>
                  </a:lnTo>
                  <a:lnTo>
                    <a:pt x="73152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4715" b="-14471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7749540" y="6687331"/>
            <a:ext cx="5486400" cy="555784"/>
            <a:chOff x="0" y="0"/>
            <a:chExt cx="7315200" cy="74104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315200" cy="741045"/>
            </a:xfrm>
            <a:custGeom>
              <a:avLst/>
              <a:gdLst/>
              <a:ahLst/>
              <a:cxnLst/>
              <a:rect l="l" t="t" r="r" b="b"/>
              <a:pathLst>
                <a:path w="7315200" h="741045">
                  <a:moveTo>
                    <a:pt x="0" y="0"/>
                  </a:moveTo>
                  <a:lnTo>
                    <a:pt x="7315200" y="0"/>
                  </a:lnTo>
                  <a:lnTo>
                    <a:pt x="731520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42345" b="-14234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73152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해석 포인트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749540" y="7262165"/>
            <a:ext cx="9464040" cy="1181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95883" lvl="1" indent="-197941" algn="l">
              <a:lnSpc>
                <a:spcPts val="2925"/>
              </a:lnSpc>
              <a:buFont typeface="Arial"/>
              <a:buChar char="•"/>
            </a:pPr>
            <a:r>
              <a:rPr lang="en-US" sz="1875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모델 예측 최댓값(0.854)이 실측 최고값(0.879)을 넘지 못함</a:t>
            </a:r>
          </a:p>
          <a:p>
            <a:pPr marL="395883" lvl="1" indent="-197941" algn="l">
              <a:lnSpc>
                <a:spcPts val="2925"/>
              </a:lnSpc>
              <a:buFont typeface="Arial"/>
              <a:buChar char="•"/>
            </a:pPr>
            <a:r>
              <a:rPr lang="en-US" sz="1875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학습 데이터가 12개로 제한, 현재 학습 데이터 범위에서는 예측 최댓값이 실측 최고값보다 낮음</a:t>
            </a:r>
          </a:p>
          <a:p>
            <a:pPr marL="395883" lvl="1" indent="-197941" algn="l">
              <a:lnSpc>
                <a:spcPts val="2925"/>
              </a:lnSpc>
              <a:buFont typeface="Arial"/>
              <a:buChar char="•"/>
            </a:pPr>
            <a:r>
              <a:rPr lang="en-US" sz="1875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추가 라운드로 데이터가 쌓이면 개선 여지가 있음 (향후 연구 방향)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14" b="-841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6459200" y="9703784"/>
            <a:ext cx="1234440" cy="418624"/>
            <a:chOff x="0" y="0"/>
            <a:chExt cx="1645920" cy="558165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645920" cy="558165"/>
            </a:xfrm>
            <a:custGeom>
              <a:avLst/>
              <a:gdLst/>
              <a:ahLst/>
              <a:cxnLst/>
              <a:rect l="l" t="t" r="r" b="b"/>
              <a:pathLst>
                <a:path w="1645920" h="558165">
                  <a:moveTo>
                    <a:pt x="0" y="0"/>
                  </a:moveTo>
                  <a:lnTo>
                    <a:pt x="1645920" y="0"/>
                  </a:lnTo>
                  <a:lnTo>
                    <a:pt x="1645920" y="558165"/>
                  </a:lnTo>
                  <a:lnTo>
                    <a:pt x="0" y="5581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457" b="-745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9525"/>
              <a:ext cx="164592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24/33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430" b="-33942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22960" y="568928"/>
            <a:ext cx="10972800" cy="555784"/>
            <a:chOff x="0" y="0"/>
            <a:chExt cx="14630400" cy="74104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4630400" cy="741045"/>
            </a:xfrm>
            <a:custGeom>
              <a:avLst/>
              <a:gdLst/>
              <a:ahLst/>
              <a:cxnLst/>
              <a:rect l="l" t="t" r="r" b="b"/>
              <a:pathLst>
                <a:path w="14630400" h="741045">
                  <a:moveTo>
                    <a:pt x="0" y="0"/>
                  </a:moveTo>
                  <a:lnTo>
                    <a:pt x="14630400" y="0"/>
                  </a:lnTo>
                  <a:lnTo>
                    <a:pt x="1463040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4691" b="-33469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46304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3-4  RESULT 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351" b="-2563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22960" y="1158716"/>
            <a:ext cx="16184880" cy="1035844"/>
            <a:chOff x="0" y="0"/>
            <a:chExt cx="21579840" cy="138112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579839" cy="1381125"/>
            </a:xfrm>
            <a:custGeom>
              <a:avLst/>
              <a:gdLst/>
              <a:ahLst/>
              <a:cxnLst/>
              <a:rect l="l" t="t" r="r" b="b"/>
              <a:pathLst>
                <a:path w="21579839" h="1381125">
                  <a:moveTo>
                    <a:pt x="0" y="0"/>
                  </a:moveTo>
                  <a:lnTo>
                    <a:pt x="21579839" y="0"/>
                  </a:lnTo>
                  <a:lnTo>
                    <a:pt x="21579839" y="1381125"/>
                  </a:lnTo>
                  <a:lnTo>
                    <a:pt x="0" y="13811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54450" b="-2544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21579840" cy="1390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배지 성분 간 pairwise interaction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34440" y="2263140"/>
            <a:ext cx="7269480" cy="6652260"/>
            <a:chOff x="0" y="0"/>
            <a:chExt cx="9692640" cy="8869680"/>
          </a:xfrm>
        </p:grpSpPr>
        <p:sp>
          <p:nvSpPr>
            <p:cNvPr id="13" name="Freeform 13" descr="/home/claude/ppt/assets/interaction_heatmap_slide.png"/>
            <p:cNvSpPr/>
            <p:nvPr/>
          </p:nvSpPr>
          <p:spPr>
            <a:xfrm>
              <a:off x="0" y="0"/>
              <a:ext cx="9692640" cy="8869680"/>
            </a:xfrm>
            <a:custGeom>
              <a:avLst/>
              <a:gdLst/>
              <a:ahLst/>
              <a:cxnLst/>
              <a:rect l="l" t="t" r="r" b="b"/>
              <a:pathLst>
                <a:path w="9692640" h="8869680">
                  <a:moveTo>
                    <a:pt x="0" y="0"/>
                  </a:moveTo>
                  <a:lnTo>
                    <a:pt x="9692640" y="0"/>
                  </a:lnTo>
                  <a:lnTo>
                    <a:pt x="9692640" y="8869680"/>
                  </a:lnTo>
                  <a:lnTo>
                    <a:pt x="0" y="8869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245" r="-124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8915400" y="3677816"/>
            <a:ext cx="8092440" cy="3822908"/>
            <a:chOff x="0" y="0"/>
            <a:chExt cx="10789920" cy="5097211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0789920" cy="5097211"/>
              <a:chOff x="0" y="0"/>
              <a:chExt cx="10789920" cy="5097211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0789920" cy="5097249"/>
              </a:xfrm>
              <a:custGeom>
                <a:avLst/>
                <a:gdLst/>
                <a:ahLst/>
                <a:cxnLst/>
                <a:rect l="l" t="t" r="r" b="b"/>
                <a:pathLst>
                  <a:path w="10789920" h="5097249">
                    <a:moveTo>
                      <a:pt x="0" y="0"/>
                    </a:moveTo>
                    <a:lnTo>
                      <a:pt x="10789920" y="0"/>
                    </a:lnTo>
                    <a:lnTo>
                      <a:pt x="10789920" y="5097249"/>
                    </a:lnTo>
                    <a:lnTo>
                      <a:pt x="0" y="5097249"/>
                    </a:ln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48640" y="457200"/>
              <a:ext cx="10058400" cy="914400"/>
              <a:chOff x="0" y="0"/>
              <a:chExt cx="10058400" cy="91440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10058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10058400" h="914400">
                    <a:moveTo>
                      <a:pt x="0" y="0"/>
                    </a:moveTo>
                    <a:lnTo>
                      <a:pt x="10058400" y="0"/>
                    </a:lnTo>
                    <a:lnTo>
                      <a:pt x="10058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64186" b="-164186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548640" y="298131"/>
              <a:ext cx="10058400" cy="914400"/>
              <a:chOff x="0" y="0"/>
              <a:chExt cx="10058400" cy="9144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10058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10058400" h="914400">
                    <a:moveTo>
                      <a:pt x="0" y="0"/>
                    </a:moveTo>
                    <a:lnTo>
                      <a:pt x="10058400" y="0"/>
                    </a:lnTo>
                    <a:lnTo>
                      <a:pt x="10058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t="-164335" b="-164335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-9525"/>
                <a:ext cx="1005840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E36C4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Peptone의 숨은 역할</a:t>
                </a:r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548640" y="1405960"/>
              <a:ext cx="10058400" cy="35080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96939" lvl="1" indent="-198470" algn="l">
                <a:lnSpc>
                  <a:spcPts val="3045"/>
                </a:lnSpc>
                <a:buFont typeface="Arial"/>
                <a:buChar char="•"/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Peptone은 단독 중요도는 낮음 (11%, 4개 중 4위)</a:t>
              </a:r>
            </a:p>
            <a:p>
              <a:pPr marL="396939" lvl="1" indent="-198470" algn="l">
                <a:lnSpc>
                  <a:spcPts val="3045"/>
                </a:lnSpc>
              </a:pPr>
              <a:endPara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396820" lvl="1" indent="-198410" algn="l">
                <a:lnSpc>
                  <a:spcPts val="3043"/>
                </a:lnSpc>
                <a:buFont typeface="Arial"/>
                <a:buChar char="•"/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그러나</a:t>
              </a: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Meat</a:t>
              </a: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(+0.146), </a:t>
              </a: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Glucose</a:t>
              </a: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(+0.143)와의 상호작용은 </a:t>
              </a:r>
            </a:p>
            <a:p>
              <a:pPr algn="l">
                <a:lnSpc>
                  <a:spcPts val="3043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 6개 조합 중 </a:t>
              </a: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가장 강함</a:t>
              </a:r>
            </a:p>
            <a:p>
              <a:pPr algn="l">
                <a:lnSpc>
                  <a:spcPts val="3043"/>
                </a:lnSpc>
              </a:pPr>
              <a:endParaRPr lang="en-US" sz="188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</a:t>
              </a: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→</a:t>
              </a: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Peptone의 영향은 Meat &amp; Glucose 와의 조합에 따라 달라질 가능성</a:t>
              </a:r>
            </a:p>
            <a:p>
              <a:pPr algn="l">
                <a:lnSpc>
                  <a:spcPts val="3045"/>
                </a:lnSpc>
              </a:pPr>
              <a:endPara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14" b="-841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6459200" y="9703784"/>
            <a:ext cx="1234440" cy="418624"/>
            <a:chOff x="0" y="0"/>
            <a:chExt cx="1645920" cy="558165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645920" cy="558165"/>
            </a:xfrm>
            <a:custGeom>
              <a:avLst/>
              <a:gdLst/>
              <a:ahLst/>
              <a:cxnLst/>
              <a:rect l="l" t="t" r="r" b="b"/>
              <a:pathLst>
                <a:path w="1645920" h="558165">
                  <a:moveTo>
                    <a:pt x="0" y="0"/>
                  </a:moveTo>
                  <a:lnTo>
                    <a:pt x="1645920" y="0"/>
                  </a:lnTo>
                  <a:lnTo>
                    <a:pt x="1645920" y="558165"/>
                  </a:lnTo>
                  <a:lnTo>
                    <a:pt x="0" y="5581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457" b="-745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164592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25/33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3-5  LIMITATIONS &amp; NEXT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한계 및 향후 계획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939415"/>
            <a:ext cx="16683990" cy="4956810"/>
            <a:chOff x="0" y="0"/>
            <a:chExt cx="22245320" cy="6609080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7066280" cy="6609080"/>
              <a:chOff x="0" y="0"/>
              <a:chExt cx="7066280" cy="660908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7066280" cy="6609080"/>
              </a:xfrm>
              <a:custGeom>
                <a:avLst/>
                <a:gdLst/>
                <a:ahLst/>
                <a:cxnLst/>
                <a:rect l="l" t="t" r="r" b="b"/>
                <a:pathLst>
                  <a:path w="7066280" h="6609080">
                    <a:moveTo>
                      <a:pt x="0" y="0"/>
                    </a:moveTo>
                    <a:lnTo>
                      <a:pt x="7066280" y="0"/>
                    </a:lnTo>
                    <a:lnTo>
                      <a:pt x="7066280" y="6609080"/>
                    </a:lnTo>
                    <a:lnTo>
                      <a:pt x="0" y="660908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3E6F5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561340" y="314960"/>
              <a:ext cx="914400" cy="914400"/>
              <a:chOff x="0" y="0"/>
              <a:chExt cx="914400" cy="9144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2B4A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3" name="Group 13"/>
            <p:cNvGrpSpPr/>
            <p:nvPr/>
          </p:nvGrpSpPr>
          <p:grpSpPr>
            <a:xfrm>
              <a:off x="561340" y="314960"/>
              <a:ext cx="914400" cy="914400"/>
              <a:chOff x="0" y="0"/>
              <a:chExt cx="914400" cy="9144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r="-7830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9525"/>
                <a:ext cx="91440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879"/>
                  </a:lnSpc>
                </a:pPr>
                <a:r>
                  <a:rPr lang="en-US" sz="2400" b="1">
                    <a:solidFill>
                      <a:srgbClr val="FFFF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1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561340" y="1841500"/>
              <a:ext cx="5943600" cy="1097280"/>
              <a:chOff x="0" y="0"/>
              <a:chExt cx="5943600" cy="109728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5943600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5943600" h="1097280">
                    <a:moveTo>
                      <a:pt x="0" y="0"/>
                    </a:moveTo>
                    <a:lnTo>
                      <a:pt x="5943600" y="0"/>
                    </a:lnTo>
                    <a:lnTo>
                      <a:pt x="5943600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5543" b="-5554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9525"/>
                <a:ext cx="5943600" cy="110680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표본 수의 한계</a:t>
                </a:r>
              </a:p>
            </p:txBody>
          </p:sp>
        </p:grpSp>
        <p:sp>
          <p:nvSpPr>
            <p:cNvPr id="19" name="TextBox 19"/>
            <p:cNvSpPr txBox="1"/>
            <p:nvPr/>
          </p:nvSpPr>
          <p:spPr>
            <a:xfrm>
              <a:off x="561340" y="2944495"/>
              <a:ext cx="5943600" cy="19843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37"/>
                </a:lnSpc>
              </a:pP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학습 데이터</a:t>
              </a: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가 </a:t>
              </a: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12</a:t>
              </a: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개로 적어, 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K-Most-Informative 등 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일부 분석은 신뢰도가 </a:t>
              </a: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제한적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(참고용으로만 활용)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7589520" y="0"/>
              <a:ext cx="7066280" cy="6609080"/>
              <a:chOff x="0" y="0"/>
              <a:chExt cx="7066280" cy="660908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7066280" cy="6609080"/>
              </a:xfrm>
              <a:custGeom>
                <a:avLst/>
                <a:gdLst/>
                <a:ahLst/>
                <a:cxnLst/>
                <a:rect l="l" t="t" r="r" b="b"/>
                <a:pathLst>
                  <a:path w="7066280" h="6609080">
                    <a:moveTo>
                      <a:pt x="0" y="0"/>
                    </a:moveTo>
                    <a:lnTo>
                      <a:pt x="7066280" y="0"/>
                    </a:lnTo>
                    <a:lnTo>
                      <a:pt x="7066280" y="6609080"/>
                    </a:lnTo>
                    <a:lnTo>
                      <a:pt x="0" y="660908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3E6F5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8150860" y="561340"/>
              <a:ext cx="914400" cy="914400"/>
              <a:chOff x="0" y="0"/>
              <a:chExt cx="914400" cy="9144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2B4A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8150860" y="561340"/>
              <a:ext cx="914400" cy="914400"/>
              <a:chOff x="0" y="0"/>
              <a:chExt cx="914400" cy="9144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r="-7830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9525"/>
                <a:ext cx="91440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879"/>
                  </a:lnSpc>
                </a:pPr>
                <a:r>
                  <a:rPr lang="en-US" sz="2400" b="1">
                    <a:solidFill>
                      <a:srgbClr val="FFFF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2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8150860" y="1841500"/>
              <a:ext cx="5943600" cy="1097280"/>
              <a:chOff x="0" y="0"/>
              <a:chExt cx="5943600" cy="109728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5943600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5943600" h="1097280">
                    <a:moveTo>
                      <a:pt x="0" y="0"/>
                    </a:moveTo>
                    <a:lnTo>
                      <a:pt x="5943600" y="0"/>
                    </a:lnTo>
                    <a:lnTo>
                      <a:pt x="5943600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5543" b="-5554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9525"/>
                <a:ext cx="5943600" cy="110680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예측 성능의 한계</a:t>
                </a:r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8150860" y="2944495"/>
              <a:ext cx="5943600" cy="14763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모델 예측 최적값(0.854)이 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실측 최고값(0.879)에 못 미침 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— 추가 라운드 데이터로 개선 여지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15179040" y="0"/>
              <a:ext cx="7066280" cy="6609080"/>
              <a:chOff x="0" y="0"/>
              <a:chExt cx="7066280" cy="660908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7066280" cy="6609080"/>
              </a:xfrm>
              <a:custGeom>
                <a:avLst/>
                <a:gdLst/>
                <a:ahLst/>
                <a:cxnLst/>
                <a:rect l="l" t="t" r="r" b="b"/>
                <a:pathLst>
                  <a:path w="7066280" h="6609080">
                    <a:moveTo>
                      <a:pt x="0" y="0"/>
                    </a:moveTo>
                    <a:lnTo>
                      <a:pt x="7066280" y="0"/>
                    </a:lnTo>
                    <a:lnTo>
                      <a:pt x="7066280" y="6609080"/>
                    </a:lnTo>
                    <a:lnTo>
                      <a:pt x="0" y="660908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3E6F5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5740380" y="561340"/>
              <a:ext cx="914400" cy="914400"/>
              <a:chOff x="0" y="0"/>
              <a:chExt cx="914400" cy="9144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2B4A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15740380" y="561340"/>
              <a:ext cx="914400" cy="914400"/>
              <a:chOff x="0" y="0"/>
              <a:chExt cx="914400" cy="914400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r="-7830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-9525"/>
                <a:ext cx="91440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879"/>
                  </a:lnSpc>
                </a:pPr>
                <a:r>
                  <a:rPr lang="en-US" sz="2400" b="1">
                    <a:solidFill>
                      <a:srgbClr val="FFFF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3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15740380" y="1841500"/>
              <a:ext cx="5943600" cy="1097280"/>
              <a:chOff x="0" y="0"/>
              <a:chExt cx="5943600" cy="109728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5943600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5943600" h="1097280">
                    <a:moveTo>
                      <a:pt x="0" y="0"/>
                    </a:moveTo>
                    <a:lnTo>
                      <a:pt x="5943600" y="0"/>
                    </a:lnTo>
                    <a:lnTo>
                      <a:pt x="5943600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5543" b="-5554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0" y="-9525"/>
                <a:ext cx="5943600" cy="110680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다음 라운드 후보 도출</a:t>
                </a:r>
              </a:p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15740380" y="2944495"/>
              <a:ext cx="5675222" cy="19843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Active learning 기반 </a:t>
              </a:r>
            </a:p>
            <a:p>
              <a:pPr algn="l">
                <a:lnSpc>
                  <a:spcPts val="3037"/>
                </a:lnSpc>
              </a:pP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다음 라운드 탐색 조합</a:t>
              </a: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4개 </a:t>
              </a: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제안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— 시간 제약으로 습식 실험은 미실행, 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향후 연구로 제안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26/33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3-5  WRAP-UP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AI 스케일업 — 요약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891028"/>
            <a:ext cx="16596360" cy="1577340"/>
            <a:chOff x="0" y="0"/>
            <a:chExt cx="22128480" cy="210312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2128480" cy="2103120"/>
            </a:xfrm>
            <a:custGeom>
              <a:avLst/>
              <a:gdLst/>
              <a:ahLst/>
              <a:cxnLst/>
              <a:rect l="l" t="t" r="r" b="b"/>
              <a:pathLst>
                <a:path w="22128480" h="2103120">
                  <a:moveTo>
                    <a:pt x="0" y="0"/>
                  </a:moveTo>
                  <a:lnTo>
                    <a:pt x="22128480" y="0"/>
                  </a:lnTo>
                  <a:lnTo>
                    <a:pt x="22128480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34440" y="3233928"/>
            <a:ext cx="891540" cy="891540"/>
            <a:chOff x="0" y="0"/>
            <a:chExt cx="1188720" cy="11887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188720" cy="1188720"/>
            </a:xfrm>
            <a:custGeom>
              <a:avLst/>
              <a:gdLst/>
              <a:ahLst/>
              <a:cxnLst/>
              <a:rect l="l" t="t" r="r" b="b"/>
              <a:pathLst>
                <a:path w="1188720" h="1188720">
                  <a:moveTo>
                    <a:pt x="0" y="594360"/>
                  </a:moveTo>
                  <a:cubicBezTo>
                    <a:pt x="0" y="266065"/>
                    <a:pt x="266065" y="0"/>
                    <a:pt x="594360" y="0"/>
                  </a:cubicBezTo>
                  <a:cubicBezTo>
                    <a:pt x="922655" y="0"/>
                    <a:pt x="1188720" y="266065"/>
                    <a:pt x="1188720" y="594360"/>
                  </a:cubicBezTo>
                  <a:cubicBezTo>
                    <a:pt x="1188720" y="922655"/>
                    <a:pt x="922655" y="1188720"/>
                    <a:pt x="594360" y="1188720"/>
                  </a:cubicBezTo>
                  <a:cubicBezTo>
                    <a:pt x="266065" y="1188720"/>
                    <a:pt x="0" y="922655"/>
                    <a:pt x="0" y="594360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34440" y="3233928"/>
            <a:ext cx="891540" cy="891540"/>
            <a:chOff x="0" y="0"/>
            <a:chExt cx="1188720" cy="11887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88720" cy="1188720"/>
            </a:xfrm>
            <a:custGeom>
              <a:avLst/>
              <a:gdLst/>
              <a:ahLst/>
              <a:cxnLst/>
              <a:rect l="l" t="t" r="r" b="b"/>
              <a:pathLst>
                <a:path w="1188720" h="1188720">
                  <a:moveTo>
                    <a:pt x="0" y="0"/>
                  </a:moveTo>
                  <a:lnTo>
                    <a:pt x="1188720" y="0"/>
                  </a:lnTo>
                  <a:lnTo>
                    <a:pt x="1188720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1188720" cy="11982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2537460" y="2959608"/>
            <a:ext cx="14538960" cy="1440180"/>
            <a:chOff x="0" y="0"/>
            <a:chExt cx="19385280" cy="192024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385280" cy="1920240"/>
            </a:xfrm>
            <a:custGeom>
              <a:avLst/>
              <a:gdLst/>
              <a:ahLst/>
              <a:cxnLst/>
              <a:rect l="l" t="t" r="r" b="b"/>
              <a:pathLst>
                <a:path w="19385280" h="1920240">
                  <a:moveTo>
                    <a:pt x="0" y="0"/>
                  </a:moveTo>
                  <a:lnTo>
                    <a:pt x="19385280" y="0"/>
                  </a:lnTo>
                  <a:lnTo>
                    <a:pt x="193852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706" b="-14670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19385280" cy="19202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90"/>
                </a:lnSpc>
              </a:pPr>
              <a:r>
                <a:rPr lang="en-US" sz="2325" b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Meat extract </a:t>
              </a:r>
              <a:r>
                <a:rPr lang="en-US" sz="2325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가 가장 높은 Feature Importance를 보임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22960" y="4811268"/>
            <a:ext cx="16596360" cy="1577340"/>
            <a:chOff x="0" y="0"/>
            <a:chExt cx="22128480" cy="210312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2128480" cy="2103120"/>
            </a:xfrm>
            <a:custGeom>
              <a:avLst/>
              <a:gdLst/>
              <a:ahLst/>
              <a:cxnLst/>
              <a:rect l="l" t="t" r="r" b="b"/>
              <a:pathLst>
                <a:path w="22128480" h="2103120">
                  <a:moveTo>
                    <a:pt x="0" y="0"/>
                  </a:moveTo>
                  <a:lnTo>
                    <a:pt x="22128480" y="0"/>
                  </a:lnTo>
                  <a:lnTo>
                    <a:pt x="22128480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34440" y="5154168"/>
            <a:ext cx="891540" cy="891540"/>
            <a:chOff x="0" y="0"/>
            <a:chExt cx="1188720" cy="118872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188720" cy="1188720"/>
            </a:xfrm>
            <a:custGeom>
              <a:avLst/>
              <a:gdLst/>
              <a:ahLst/>
              <a:cxnLst/>
              <a:rect l="l" t="t" r="r" b="b"/>
              <a:pathLst>
                <a:path w="1188720" h="1188720">
                  <a:moveTo>
                    <a:pt x="0" y="594360"/>
                  </a:moveTo>
                  <a:cubicBezTo>
                    <a:pt x="0" y="266065"/>
                    <a:pt x="266065" y="0"/>
                    <a:pt x="594360" y="0"/>
                  </a:cubicBezTo>
                  <a:cubicBezTo>
                    <a:pt x="922655" y="0"/>
                    <a:pt x="1188720" y="266065"/>
                    <a:pt x="1188720" y="594360"/>
                  </a:cubicBezTo>
                  <a:cubicBezTo>
                    <a:pt x="1188720" y="922655"/>
                    <a:pt x="922655" y="1188720"/>
                    <a:pt x="594360" y="1188720"/>
                  </a:cubicBezTo>
                  <a:cubicBezTo>
                    <a:pt x="266065" y="1188720"/>
                    <a:pt x="0" y="922655"/>
                    <a:pt x="0" y="594360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34440" y="5154168"/>
            <a:ext cx="891540" cy="891540"/>
            <a:chOff x="0" y="0"/>
            <a:chExt cx="1188720" cy="11887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188720" cy="1188720"/>
            </a:xfrm>
            <a:custGeom>
              <a:avLst/>
              <a:gdLst/>
              <a:ahLst/>
              <a:cxnLst/>
              <a:rect l="l" t="t" r="r" b="b"/>
              <a:pathLst>
                <a:path w="1188720" h="1188720">
                  <a:moveTo>
                    <a:pt x="0" y="0"/>
                  </a:moveTo>
                  <a:lnTo>
                    <a:pt x="1188720" y="0"/>
                  </a:lnTo>
                  <a:lnTo>
                    <a:pt x="1188720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9525"/>
              <a:ext cx="1188720" cy="11982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2537460" y="4879848"/>
            <a:ext cx="14538960" cy="1440180"/>
            <a:chOff x="0" y="0"/>
            <a:chExt cx="19385280" cy="192024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9385280" cy="1920240"/>
            </a:xfrm>
            <a:custGeom>
              <a:avLst/>
              <a:gdLst/>
              <a:ahLst/>
              <a:cxnLst/>
              <a:rect l="l" t="t" r="r" b="b"/>
              <a:pathLst>
                <a:path w="19385280" h="1920240">
                  <a:moveTo>
                    <a:pt x="0" y="0"/>
                  </a:moveTo>
                  <a:lnTo>
                    <a:pt x="19385280" y="0"/>
                  </a:lnTo>
                  <a:lnTo>
                    <a:pt x="193852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706" b="-14670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0"/>
              <a:ext cx="19385280" cy="19202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90"/>
                </a:lnSpc>
              </a:pPr>
              <a:r>
                <a:rPr lang="en-US" sz="2325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예측 최적 조성은 Glucose 를 최댓값으로 — 실측 최고값(0.879)에 근접(0.854), 다만 예측 최댓값은 실측치보다 낮음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822960" y="6731508"/>
            <a:ext cx="16596360" cy="1577340"/>
            <a:chOff x="0" y="0"/>
            <a:chExt cx="22128480" cy="210312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2128480" cy="2103120"/>
            </a:xfrm>
            <a:custGeom>
              <a:avLst/>
              <a:gdLst/>
              <a:ahLst/>
              <a:cxnLst/>
              <a:rect l="l" t="t" r="r" b="b"/>
              <a:pathLst>
                <a:path w="22128480" h="2103120">
                  <a:moveTo>
                    <a:pt x="0" y="0"/>
                  </a:moveTo>
                  <a:lnTo>
                    <a:pt x="22128480" y="0"/>
                  </a:lnTo>
                  <a:lnTo>
                    <a:pt x="22128480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234440" y="7074408"/>
            <a:ext cx="891540" cy="891540"/>
            <a:chOff x="0" y="0"/>
            <a:chExt cx="1188720" cy="118872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188720" cy="1188720"/>
            </a:xfrm>
            <a:custGeom>
              <a:avLst/>
              <a:gdLst/>
              <a:ahLst/>
              <a:cxnLst/>
              <a:rect l="l" t="t" r="r" b="b"/>
              <a:pathLst>
                <a:path w="1188720" h="1188720">
                  <a:moveTo>
                    <a:pt x="0" y="594360"/>
                  </a:moveTo>
                  <a:cubicBezTo>
                    <a:pt x="0" y="266065"/>
                    <a:pt x="266065" y="0"/>
                    <a:pt x="594360" y="0"/>
                  </a:cubicBezTo>
                  <a:cubicBezTo>
                    <a:pt x="922655" y="0"/>
                    <a:pt x="1188720" y="266065"/>
                    <a:pt x="1188720" y="594360"/>
                  </a:cubicBezTo>
                  <a:cubicBezTo>
                    <a:pt x="1188720" y="922655"/>
                    <a:pt x="922655" y="1188720"/>
                    <a:pt x="594360" y="1188720"/>
                  </a:cubicBezTo>
                  <a:cubicBezTo>
                    <a:pt x="266065" y="1188720"/>
                    <a:pt x="0" y="922655"/>
                    <a:pt x="0" y="594360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34440" y="7074408"/>
            <a:ext cx="891540" cy="891540"/>
            <a:chOff x="0" y="0"/>
            <a:chExt cx="1188720" cy="118872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188720" cy="1188720"/>
            </a:xfrm>
            <a:custGeom>
              <a:avLst/>
              <a:gdLst/>
              <a:ahLst/>
              <a:cxnLst/>
              <a:rect l="l" t="t" r="r" b="b"/>
              <a:pathLst>
                <a:path w="1188720" h="1188720">
                  <a:moveTo>
                    <a:pt x="0" y="0"/>
                  </a:moveTo>
                  <a:lnTo>
                    <a:pt x="1188720" y="0"/>
                  </a:lnTo>
                  <a:lnTo>
                    <a:pt x="1188720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9525"/>
              <a:ext cx="1188720" cy="11982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2537460" y="6800088"/>
            <a:ext cx="14538960" cy="1440180"/>
            <a:chOff x="0" y="0"/>
            <a:chExt cx="19385280" cy="192024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9385280" cy="1920240"/>
            </a:xfrm>
            <a:custGeom>
              <a:avLst/>
              <a:gdLst/>
              <a:ahLst/>
              <a:cxnLst/>
              <a:rect l="l" t="t" r="r" b="b"/>
              <a:pathLst>
                <a:path w="19385280" h="1920240">
                  <a:moveTo>
                    <a:pt x="0" y="0"/>
                  </a:moveTo>
                  <a:lnTo>
                    <a:pt x="19385280" y="0"/>
                  </a:lnTo>
                  <a:lnTo>
                    <a:pt x="193852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706" b="-14670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0"/>
              <a:ext cx="19385280" cy="19202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90"/>
                </a:lnSpc>
              </a:pPr>
              <a:r>
                <a:rPr lang="en-US" sz="2325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Peptone 은 단독 중요도 낮지만, Meat &amp; Glucose 와의 높은 상호작용</a:t>
              </a:r>
            </a:p>
          </p:txBody>
        </p:sp>
      </p:grpSp>
      <p:sp>
        <p:nvSpPr>
          <p:cNvPr id="38" name="AutoShape 38"/>
          <p:cNvSpPr/>
          <p:nvPr/>
        </p:nvSpPr>
        <p:spPr>
          <a:xfrm>
            <a:off x="813431" y="8847918"/>
            <a:ext cx="16615409" cy="19140"/>
          </a:xfrm>
          <a:prstGeom prst="line">
            <a:avLst/>
          </a:prstGeom>
          <a:ln w="9525" cap="rnd">
            <a:solidFill>
              <a:srgbClr val="E3E6F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39" name="Group 39"/>
          <p:cNvGrpSpPr/>
          <p:nvPr/>
        </p:nvGrpSpPr>
        <p:grpSpPr>
          <a:xfrm>
            <a:off x="822960" y="9063228"/>
            <a:ext cx="8229600" cy="685800"/>
            <a:chOff x="0" y="0"/>
            <a:chExt cx="10972800" cy="9144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0972800" cy="914400"/>
            </a:xfrm>
            <a:custGeom>
              <a:avLst/>
              <a:gdLst/>
              <a:ahLst/>
              <a:cxnLst/>
              <a:rect l="l" t="t" r="r" b="b"/>
              <a:pathLst>
                <a:path w="10972800" h="914400">
                  <a:moveTo>
                    <a:pt x="0" y="0"/>
                  </a:moveTo>
                  <a:lnTo>
                    <a:pt x="10972800" y="0"/>
                  </a:lnTo>
                  <a:lnTo>
                    <a:pt x="109728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3820" b="-18382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109728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 i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 다음: Part 4. 결론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27/33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9430" b="-33942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56351" b="-2563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24160" y="1508760"/>
            <a:ext cx="7543800" cy="7999288"/>
            <a:chOff x="0" y="0"/>
            <a:chExt cx="10058400" cy="106657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058400" cy="10665718"/>
            </a:xfrm>
            <a:custGeom>
              <a:avLst/>
              <a:gdLst/>
              <a:ahLst/>
              <a:cxnLst/>
              <a:rect l="l" t="t" r="r" b="b"/>
              <a:pathLst>
                <a:path w="10058400" h="10665718">
                  <a:moveTo>
                    <a:pt x="0" y="0"/>
                  </a:moveTo>
                  <a:lnTo>
                    <a:pt x="10058400" y="0"/>
                  </a:lnTo>
                  <a:lnTo>
                    <a:pt x="10058400" y="10665718"/>
                  </a:lnTo>
                  <a:lnTo>
                    <a:pt x="0" y="106657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 b="569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0058400" cy="106752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46800"/>
                </a:lnSpc>
              </a:pPr>
              <a:r>
                <a:rPr lang="en-US" sz="39000" b="1">
                  <a:solidFill>
                    <a:srgbClr val="F1F3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04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03" b="-104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0"/>
              <a:ext cx="2834640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spc="149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PART 04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860" y="4320540"/>
            <a:ext cx="12344400" cy="1783080"/>
            <a:chOff x="0" y="0"/>
            <a:chExt cx="16459200" cy="23774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459200" cy="2377440"/>
            </a:xfrm>
            <a:custGeom>
              <a:avLst/>
              <a:gdLst/>
              <a:ahLst/>
              <a:cxnLst/>
              <a:rect l="l" t="t" r="r" b="b"/>
              <a:pathLst>
                <a:path w="16459200" h="2377440">
                  <a:moveTo>
                    <a:pt x="0" y="0"/>
                  </a:moveTo>
                  <a:lnTo>
                    <a:pt x="16459200" y="0"/>
                  </a:lnTo>
                  <a:lnTo>
                    <a:pt x="1645920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896" b="-848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645920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9000"/>
                </a:lnSpc>
              </a:pPr>
              <a:r>
                <a:rPr lang="en-US" sz="75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결론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34440" y="5897880"/>
            <a:ext cx="13030200" cy="685800"/>
            <a:chOff x="0" y="0"/>
            <a:chExt cx="1737360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7373600" cy="914400"/>
            </a:xfrm>
            <a:custGeom>
              <a:avLst/>
              <a:gdLst/>
              <a:ahLst/>
              <a:cxnLst/>
              <a:rect l="l" t="t" r="r" b="b"/>
              <a:pathLst>
                <a:path w="17373600" h="914400">
                  <a:moveTo>
                    <a:pt x="0" y="0"/>
                  </a:moveTo>
                  <a:lnTo>
                    <a:pt x="17373600" y="0"/>
                  </a:lnTo>
                  <a:lnTo>
                    <a:pt x="1737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0215" b="-32021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737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종합 및 시사점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4-1  BACK TO THE QUESTIONS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도입에서 던진 질문에 답하면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902839"/>
            <a:ext cx="1440180" cy="1783080"/>
            <a:chOff x="0" y="0"/>
            <a:chExt cx="1920240" cy="23774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20240" cy="2377440"/>
            </a:xfrm>
            <a:custGeom>
              <a:avLst/>
              <a:gdLst/>
              <a:ahLst/>
              <a:cxnLst/>
              <a:rect l="l" t="t" r="r" b="b"/>
              <a:pathLst>
                <a:path w="1920240" h="2377440">
                  <a:moveTo>
                    <a:pt x="0" y="0"/>
                  </a:moveTo>
                  <a:lnTo>
                    <a:pt x="1920240" y="0"/>
                  </a:lnTo>
                  <a:lnTo>
                    <a:pt x="1920240" y="2377440"/>
                  </a:lnTo>
                  <a:lnTo>
                    <a:pt x="0" y="23774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22960" y="2902839"/>
            <a:ext cx="1440180" cy="1783080"/>
            <a:chOff x="0" y="0"/>
            <a:chExt cx="1920240" cy="23774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920240" cy="2377440"/>
            </a:xfrm>
            <a:custGeom>
              <a:avLst/>
              <a:gdLst/>
              <a:ahLst/>
              <a:cxnLst/>
              <a:rect l="l" t="t" r="r" b="b"/>
              <a:pathLst>
                <a:path w="1920240" h="2377440">
                  <a:moveTo>
                    <a:pt x="0" y="0"/>
                  </a:moveTo>
                  <a:lnTo>
                    <a:pt x="1920240" y="0"/>
                  </a:lnTo>
                  <a:lnTo>
                    <a:pt x="192024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08852" r="-1088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92024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Q1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2537460" y="3198114"/>
            <a:ext cx="14264640" cy="685800"/>
            <a:chOff x="0" y="0"/>
            <a:chExt cx="1901952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019520" cy="914400"/>
            </a:xfrm>
            <a:custGeom>
              <a:avLst/>
              <a:gdLst/>
              <a:ahLst/>
              <a:cxnLst/>
              <a:rect l="l" t="t" r="r" b="b"/>
              <a:pathLst>
                <a:path w="19019520" h="914400">
                  <a:moveTo>
                    <a:pt x="0" y="0"/>
                  </a:moveTo>
                  <a:lnTo>
                    <a:pt x="19019520" y="0"/>
                  </a:lnTo>
                  <a:lnTo>
                    <a:pt x="190195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5288" b="-3552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901952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도로변과 공원 토양의 세균 군집은 서로 다른가?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2537460" y="3817239"/>
            <a:ext cx="14264640" cy="347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1875" b="1">
                <a:solidFill>
                  <a:srgbClr val="2B4AFF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→ 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다중검정 보정 후 두 환경 간 유의한 차이를 보인 분류군은 확인되지 않음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822960" y="5165979"/>
            <a:ext cx="1440180" cy="1783080"/>
            <a:chOff x="0" y="0"/>
            <a:chExt cx="1920240" cy="237744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920240" cy="2377440"/>
            </a:xfrm>
            <a:custGeom>
              <a:avLst/>
              <a:gdLst/>
              <a:ahLst/>
              <a:cxnLst/>
              <a:rect l="l" t="t" r="r" b="b"/>
              <a:pathLst>
                <a:path w="1920240" h="2377440">
                  <a:moveTo>
                    <a:pt x="0" y="0"/>
                  </a:moveTo>
                  <a:lnTo>
                    <a:pt x="1920240" y="0"/>
                  </a:lnTo>
                  <a:lnTo>
                    <a:pt x="1920240" y="2377440"/>
                  </a:lnTo>
                  <a:lnTo>
                    <a:pt x="0" y="23774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822960" y="5165979"/>
            <a:ext cx="1440180" cy="1783080"/>
            <a:chOff x="0" y="0"/>
            <a:chExt cx="1920240" cy="23774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920240" cy="2377440"/>
            </a:xfrm>
            <a:custGeom>
              <a:avLst/>
              <a:gdLst/>
              <a:ahLst/>
              <a:cxnLst/>
              <a:rect l="l" t="t" r="r" b="b"/>
              <a:pathLst>
                <a:path w="1920240" h="2377440">
                  <a:moveTo>
                    <a:pt x="0" y="0"/>
                  </a:moveTo>
                  <a:lnTo>
                    <a:pt x="1920240" y="0"/>
                  </a:lnTo>
                  <a:lnTo>
                    <a:pt x="192024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08852" r="-1088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192024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Q2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2537460" y="5461254"/>
            <a:ext cx="14264640" cy="685800"/>
            <a:chOff x="0" y="0"/>
            <a:chExt cx="19019520" cy="9144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9019520" cy="914400"/>
            </a:xfrm>
            <a:custGeom>
              <a:avLst/>
              <a:gdLst/>
              <a:ahLst/>
              <a:cxnLst/>
              <a:rect l="l" t="t" r="r" b="b"/>
              <a:pathLst>
                <a:path w="19019520" h="914400">
                  <a:moveTo>
                    <a:pt x="0" y="0"/>
                  </a:moveTo>
                  <a:lnTo>
                    <a:pt x="19019520" y="0"/>
                  </a:lnTo>
                  <a:lnTo>
                    <a:pt x="190195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5288" b="-3552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9525"/>
              <a:ext cx="1901952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두 환경을 구분할 수 있는 세균 분류군이 존재하는가?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2537460" y="6080379"/>
            <a:ext cx="14264640" cy="347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1875" b="1">
                <a:solidFill>
                  <a:srgbClr val="2B4AFF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→ 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Gemmatimonadota 등 일부 분류군에서 시사적 경향(q=0.06–0.29) 확인 — 확정적이진 않음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822960" y="7429119"/>
            <a:ext cx="1440180" cy="1783080"/>
            <a:chOff x="0" y="0"/>
            <a:chExt cx="1920240" cy="237744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920240" cy="2377440"/>
            </a:xfrm>
            <a:custGeom>
              <a:avLst/>
              <a:gdLst/>
              <a:ahLst/>
              <a:cxnLst/>
              <a:rect l="l" t="t" r="r" b="b"/>
              <a:pathLst>
                <a:path w="1920240" h="2377440">
                  <a:moveTo>
                    <a:pt x="0" y="0"/>
                  </a:moveTo>
                  <a:lnTo>
                    <a:pt x="1920240" y="0"/>
                  </a:lnTo>
                  <a:lnTo>
                    <a:pt x="1920240" y="2377440"/>
                  </a:lnTo>
                  <a:lnTo>
                    <a:pt x="0" y="23774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822960" y="7429119"/>
            <a:ext cx="1440180" cy="1783080"/>
            <a:chOff x="0" y="0"/>
            <a:chExt cx="1920240" cy="237744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920240" cy="2377440"/>
            </a:xfrm>
            <a:custGeom>
              <a:avLst/>
              <a:gdLst/>
              <a:ahLst/>
              <a:cxnLst/>
              <a:rect l="l" t="t" r="r" b="b"/>
              <a:pathLst>
                <a:path w="1920240" h="2377440">
                  <a:moveTo>
                    <a:pt x="0" y="0"/>
                  </a:moveTo>
                  <a:lnTo>
                    <a:pt x="1920240" y="0"/>
                  </a:lnTo>
                  <a:lnTo>
                    <a:pt x="192024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08852" r="-1088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92024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Q3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537460" y="7724394"/>
            <a:ext cx="14264640" cy="685800"/>
            <a:chOff x="0" y="0"/>
            <a:chExt cx="19019520" cy="9144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9019520" cy="914400"/>
            </a:xfrm>
            <a:custGeom>
              <a:avLst/>
              <a:gdLst/>
              <a:ahLst/>
              <a:cxnLst/>
              <a:rect l="l" t="t" r="r" b="b"/>
              <a:pathLst>
                <a:path w="19019520" h="914400">
                  <a:moveTo>
                    <a:pt x="0" y="0"/>
                  </a:moveTo>
                  <a:lnTo>
                    <a:pt x="19019520" y="0"/>
                  </a:lnTo>
                  <a:lnTo>
                    <a:pt x="190195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5288" b="-3552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9525"/>
              <a:ext cx="1901952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배양 가능한 유용 자원을 확보하고 최적화할 수 있는가?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2537460" y="8343519"/>
            <a:ext cx="14264640" cy="347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1875" b="1">
                <a:solidFill>
                  <a:srgbClr val="2B4AFF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→ 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Priestia megaterium 확보 + METIS로 배양조건 최적 조성 예측, Meat extract가 핵심 변수로 확인됨</a:t>
            </a:r>
          </a:p>
        </p:txBody>
      </p:sp>
      <p:grpSp>
        <p:nvGrpSpPr>
          <p:cNvPr id="35" name="Group 35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29/33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4-2  SUMMARY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연구 요약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870648"/>
            <a:ext cx="16596360" cy="4545704"/>
            <a:chOff x="0" y="0"/>
            <a:chExt cx="22128480" cy="6060939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10698480" cy="6060939"/>
              <a:chOff x="0" y="0"/>
              <a:chExt cx="10698480" cy="606093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0698480" cy="6060939"/>
              </a:xfrm>
              <a:custGeom>
                <a:avLst/>
                <a:gdLst/>
                <a:ahLst/>
                <a:cxnLst/>
                <a:rect l="l" t="t" r="r" b="b"/>
                <a:pathLst>
                  <a:path w="10698480" h="6060939">
                    <a:moveTo>
                      <a:pt x="0" y="0"/>
                    </a:moveTo>
                    <a:lnTo>
                      <a:pt x="10698480" y="0"/>
                    </a:lnTo>
                    <a:lnTo>
                      <a:pt x="10698480" y="6060939"/>
                    </a:lnTo>
                    <a:lnTo>
                      <a:pt x="0" y="6060939"/>
                    </a:lnTo>
                    <a:close/>
                  </a:path>
                </a:pathLst>
              </a:custGeom>
              <a:solidFill>
                <a:srgbClr val="FAFAFC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548640" y="365760"/>
              <a:ext cx="9509760" cy="914400"/>
              <a:chOff x="0" y="0"/>
              <a:chExt cx="9509760" cy="9144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950976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509760" h="914400">
                    <a:moveTo>
                      <a:pt x="0" y="0"/>
                    </a:moveTo>
                    <a:lnTo>
                      <a:pt x="9509760" y="0"/>
                    </a:lnTo>
                    <a:lnTo>
                      <a:pt x="950976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solidFill>
                <a:srgbClr val="FAFAFC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9509760" cy="9144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060"/>
                  </a:lnSpc>
                </a:pPr>
                <a:r>
                  <a:rPr lang="en-US" sz="2550" b="1">
                    <a:solidFill>
                      <a:srgbClr val="1E36C4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① NGS 군집 비교</a:t>
                </a:r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548640" y="1524479"/>
              <a:ext cx="9509760" cy="36808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수도권 도로변(n=16)·공원(n=16) 토양 32개 시료의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9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  16S rRNA 군집 비교</a:t>
              </a:r>
            </a:p>
            <a:p>
              <a:pPr algn="l">
                <a:lnSpc>
                  <a:spcPts val="3159"/>
                </a:lnSpc>
              </a:pPr>
              <a:endParaRPr lang="en-US" sz="195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다중검정 보정 후 통계적으로 </a:t>
              </a:r>
              <a:r>
                <a:rPr lang="en-US" sz="19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유의한</a:t>
              </a: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분류군 </a:t>
              </a:r>
              <a:r>
                <a:rPr lang="en-US" sz="19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차이</a:t>
              </a: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는 </a:t>
              </a:r>
              <a:r>
                <a:rPr lang="en-US" sz="19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확인되지 않음</a:t>
              </a:r>
            </a:p>
            <a:p>
              <a:pPr algn="l">
                <a:lnSpc>
                  <a:spcPts val="3159"/>
                </a:lnSpc>
              </a:pPr>
              <a:endParaRPr lang="en-US" sz="195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Gemmatimonadota 등 일부 분류군에서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시사적 경향(q=0.06–0.29) 확인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11430000" y="0"/>
              <a:ext cx="10698480" cy="6060939"/>
              <a:chOff x="0" y="0"/>
              <a:chExt cx="10698480" cy="6060939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0698480" cy="6060939"/>
              </a:xfrm>
              <a:custGeom>
                <a:avLst/>
                <a:gdLst/>
                <a:ahLst/>
                <a:cxnLst/>
                <a:rect l="l" t="t" r="r" b="b"/>
                <a:pathLst>
                  <a:path w="10698480" h="6060939">
                    <a:moveTo>
                      <a:pt x="0" y="0"/>
                    </a:moveTo>
                    <a:lnTo>
                      <a:pt x="10698480" y="0"/>
                    </a:lnTo>
                    <a:lnTo>
                      <a:pt x="10698480" y="6060939"/>
                    </a:lnTo>
                    <a:lnTo>
                      <a:pt x="0" y="6060939"/>
                    </a:lnTo>
                    <a:close/>
                  </a:path>
                </a:pathLst>
              </a:custGeom>
              <a:solidFill>
                <a:srgbClr val="FAFAFC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11978640" y="365760"/>
              <a:ext cx="9509760" cy="914400"/>
              <a:chOff x="0" y="0"/>
              <a:chExt cx="9509760" cy="91440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950976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509760" h="914400">
                    <a:moveTo>
                      <a:pt x="0" y="0"/>
                    </a:moveTo>
                    <a:lnTo>
                      <a:pt x="9509760" y="0"/>
                    </a:lnTo>
                    <a:lnTo>
                      <a:pt x="950976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solidFill>
                <a:srgbClr val="FAFAFC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9509760" cy="9144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060"/>
                  </a:lnSpc>
                </a:pPr>
                <a:r>
                  <a:rPr lang="en-US" sz="2550" b="1">
                    <a:solidFill>
                      <a:srgbClr val="000000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② AI 스케일업</a:t>
                </a:r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1978640" y="1524479"/>
              <a:ext cx="9509760" cy="31474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도로변 &amp; 공원 양쪽에서 분리된 Priestia megaterium 대상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배양조건 탐색</a:t>
              </a:r>
            </a:p>
            <a:p>
              <a:pPr algn="l">
                <a:lnSpc>
                  <a:spcPts val="3159"/>
                </a:lnSpc>
              </a:pPr>
              <a:endParaRPr lang="en-US" sz="195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METIS 능동학습으로 </a:t>
              </a:r>
              <a:r>
                <a:rPr lang="en-US" sz="19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Meat extract</a:t>
              </a: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가 </a:t>
              </a:r>
              <a:r>
                <a:rPr lang="en-US" sz="19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핵심 변수</a:t>
              </a: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임을 확인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최적 예측 조성</a:t>
              </a: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및 </a:t>
              </a:r>
              <a:r>
                <a:rPr lang="en-US" sz="19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다음 라운드 추천 조합</a:t>
              </a: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까지 도출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30/33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4-3  SIGNIFICANCE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종합 결론 및 의의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3048449"/>
            <a:ext cx="15910560" cy="5154930"/>
            <a:chOff x="0" y="0"/>
            <a:chExt cx="21214080" cy="6873240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54864"/>
              <a:ext cx="914400" cy="914400"/>
              <a:chOff x="0" y="0"/>
              <a:chExt cx="914400" cy="9144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0" y="54864"/>
              <a:ext cx="914400" cy="914400"/>
              <a:chOff x="0" y="0"/>
              <a:chExt cx="914400" cy="9144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r="-7830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-57150"/>
                <a:ext cx="914400" cy="97155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 b="1">
                    <a:solidFill>
                      <a:srgbClr val="2B4A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✓</a:t>
                </a:r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1280160" y="0"/>
              <a:ext cx="19933920" cy="731520"/>
              <a:chOff x="0" y="0"/>
              <a:chExt cx="19933920" cy="73152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1993392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19933920" h="731520">
                    <a:moveTo>
                      <a:pt x="0" y="0"/>
                    </a:moveTo>
                    <a:lnTo>
                      <a:pt x="19933920" y="0"/>
                    </a:lnTo>
                    <a:lnTo>
                      <a:pt x="1993392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480967" b="-480967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9525"/>
                <a:ext cx="1993392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국내 최초 시도</a:t>
                </a:r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1280160" y="746760"/>
              <a:ext cx="19933920" cy="4572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25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수도권 도로변·공원 토양 세균 군집을 직접 비교한 국내 연구는 아직 보고된 바 없음 — 학술적 공백을 메우는 파일럿 연구</a:t>
              </a:r>
            </a:p>
          </p:txBody>
        </p:sp>
        <p:grpSp>
          <p:nvGrpSpPr>
            <p:cNvPr id="18" name="Group 18"/>
            <p:cNvGrpSpPr/>
            <p:nvPr/>
          </p:nvGrpSpPr>
          <p:grpSpPr>
            <a:xfrm>
              <a:off x="0" y="2889504"/>
              <a:ext cx="914400" cy="914400"/>
              <a:chOff x="0" y="0"/>
              <a:chExt cx="914400" cy="9144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0" y="2889504"/>
              <a:ext cx="914400" cy="914400"/>
              <a:chOff x="0" y="0"/>
              <a:chExt cx="914400" cy="91440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r="-7830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57150"/>
                <a:ext cx="914400" cy="97155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 b="1">
                    <a:solidFill>
                      <a:srgbClr val="2B4A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✓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1280160" y="2834640"/>
              <a:ext cx="19933920" cy="731520"/>
              <a:chOff x="0" y="0"/>
              <a:chExt cx="19933920" cy="73152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1993392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19933920" h="731520">
                    <a:moveTo>
                      <a:pt x="0" y="0"/>
                    </a:moveTo>
                    <a:lnTo>
                      <a:pt x="19933920" y="0"/>
                    </a:lnTo>
                    <a:lnTo>
                      <a:pt x="1993392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480967" b="-480967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-9525"/>
                <a:ext cx="1993392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예비적, 탐색적 위치</a:t>
                </a:r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1280160" y="3581400"/>
              <a:ext cx="19933920" cy="4572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25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통계적으로 강력한 발견을 제시하는 논문이 아니라, 국내 미개척 주제(NGS 비교)를 국제적으로 활발한 방법론(</a:t>
              </a: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AI</a:t>
              </a: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능동학습)과 결합해 시연한 연구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0" y="5724144"/>
              <a:ext cx="914400" cy="914400"/>
              <a:chOff x="0" y="0"/>
              <a:chExt cx="914400" cy="91440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0" y="5724144"/>
              <a:ext cx="914400" cy="914400"/>
              <a:chOff x="0" y="0"/>
              <a:chExt cx="914400" cy="9144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r="-7830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0" y="-57150"/>
                <a:ext cx="914400" cy="97155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 b="1">
                    <a:solidFill>
                      <a:srgbClr val="2B4A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✓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1280160" y="5669280"/>
              <a:ext cx="19933920" cy="731520"/>
              <a:chOff x="0" y="0"/>
              <a:chExt cx="19933920" cy="731520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1993392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19933920" h="731520">
                    <a:moveTo>
                      <a:pt x="0" y="0"/>
                    </a:moveTo>
                    <a:lnTo>
                      <a:pt x="19933920" y="0"/>
                    </a:lnTo>
                    <a:lnTo>
                      <a:pt x="1993392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480967" b="-480967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0" y="-9525"/>
                <a:ext cx="1993392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실용적 확장 가능성</a:t>
                </a:r>
              </a:p>
            </p:txBody>
          </p:sp>
        </p:grpSp>
        <p:sp>
          <p:nvSpPr>
            <p:cNvPr id="35" name="TextBox 35"/>
            <p:cNvSpPr txBox="1"/>
            <p:nvPr/>
          </p:nvSpPr>
          <p:spPr>
            <a:xfrm>
              <a:off x="1280160" y="6416040"/>
              <a:ext cx="19933920" cy="4572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25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도로변 &amp; 공원 양쪽에서 재현적으로 검출된 Priestia megaterium은 비료·바이오시멘트 등 </a:t>
              </a: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후속 응용 연구의 기초 자원</a:t>
              </a: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이 될 수 있음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31/33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4-4  LIMITATIONS &amp; FUTURE WORK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한계 및 향후 연구 방향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939415"/>
            <a:ext cx="5299710" cy="4956810"/>
            <a:chOff x="0" y="0"/>
            <a:chExt cx="7066280" cy="66090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066280" cy="6609080"/>
            </a:xfrm>
            <a:custGeom>
              <a:avLst/>
              <a:gdLst/>
              <a:ahLst/>
              <a:cxnLst/>
              <a:rect l="l" t="t" r="r" b="b"/>
              <a:pathLst>
                <a:path w="7066280" h="6609080">
                  <a:moveTo>
                    <a:pt x="0" y="0"/>
                  </a:moveTo>
                  <a:lnTo>
                    <a:pt x="7066280" y="0"/>
                  </a:lnTo>
                  <a:lnTo>
                    <a:pt x="7066280" y="6609080"/>
                  </a:lnTo>
                  <a:lnTo>
                    <a:pt x="0" y="66090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43965" y="3360420"/>
            <a:ext cx="685800" cy="685800"/>
            <a:chOff x="0" y="0"/>
            <a:chExt cx="914400" cy="91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43965" y="3360420"/>
            <a:ext cx="685800" cy="685800"/>
            <a:chOff x="0" y="0"/>
            <a:chExt cx="914400" cy="9144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43965" y="4320540"/>
            <a:ext cx="4457700" cy="822960"/>
            <a:chOff x="0" y="0"/>
            <a:chExt cx="5943600" cy="109728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943600" cy="1097280"/>
            </a:xfrm>
            <a:custGeom>
              <a:avLst/>
              <a:gdLst/>
              <a:ahLst/>
              <a:cxnLst/>
              <a:rect l="l" t="t" r="r" b="b"/>
              <a:pathLst>
                <a:path w="5943600" h="1097280">
                  <a:moveTo>
                    <a:pt x="0" y="0"/>
                  </a:moveTo>
                  <a:lnTo>
                    <a:pt x="5943600" y="0"/>
                  </a:lnTo>
                  <a:lnTo>
                    <a:pt x="59436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5543" b="-5554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9525"/>
              <a:ext cx="5943600" cy="11068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표본 및 변수의 한계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243965" y="5345525"/>
            <a:ext cx="4457700" cy="747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토양 32개·배양조건 12개로 </a:t>
            </a:r>
            <a:r>
              <a:rPr lang="en-US" sz="1875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표본이 제한적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토양 물리화학적 변수(pH, 유기탄소 등) 미측정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6515100" y="2939415"/>
            <a:ext cx="5299710" cy="4956810"/>
            <a:chOff x="0" y="0"/>
            <a:chExt cx="7066280" cy="660908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7066280" cy="6609080"/>
            </a:xfrm>
            <a:custGeom>
              <a:avLst/>
              <a:gdLst/>
              <a:ahLst/>
              <a:cxnLst/>
              <a:rect l="l" t="t" r="r" b="b"/>
              <a:pathLst>
                <a:path w="7066280" h="6609080">
                  <a:moveTo>
                    <a:pt x="0" y="0"/>
                  </a:moveTo>
                  <a:lnTo>
                    <a:pt x="7066280" y="0"/>
                  </a:lnTo>
                  <a:lnTo>
                    <a:pt x="7066280" y="6609080"/>
                  </a:lnTo>
                  <a:lnTo>
                    <a:pt x="0" y="66090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936105" y="3360420"/>
            <a:ext cx="685800" cy="685800"/>
            <a:chOff x="0" y="0"/>
            <a:chExt cx="914400" cy="91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936105" y="3360420"/>
            <a:ext cx="685800" cy="685800"/>
            <a:chOff x="0" y="0"/>
            <a:chExt cx="914400" cy="91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936105" y="4320540"/>
            <a:ext cx="4457700" cy="822960"/>
            <a:chOff x="0" y="0"/>
            <a:chExt cx="5943600" cy="109728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943600" cy="1097280"/>
            </a:xfrm>
            <a:custGeom>
              <a:avLst/>
              <a:gdLst/>
              <a:ahLst/>
              <a:cxnLst/>
              <a:rect l="l" t="t" r="r" b="b"/>
              <a:pathLst>
                <a:path w="5943600" h="1097280">
                  <a:moveTo>
                    <a:pt x="0" y="0"/>
                  </a:moveTo>
                  <a:lnTo>
                    <a:pt x="5943600" y="0"/>
                  </a:lnTo>
                  <a:lnTo>
                    <a:pt x="59436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5543" b="-5554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5943600" cy="11068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검증이 더 필요한 후보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6936105" y="5345525"/>
            <a:ext cx="4457700" cy="1128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Gemmatimonadota 등 NGS 후보 분류군,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K-Most-Informative 분석은 </a:t>
            </a:r>
            <a:r>
              <a:rPr lang="en-US" sz="1875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추가 표본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으로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재검증 필요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12207240" y="2939415"/>
            <a:ext cx="5299710" cy="4956810"/>
            <a:chOff x="0" y="0"/>
            <a:chExt cx="7066280" cy="660908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7066280" cy="6609080"/>
            </a:xfrm>
            <a:custGeom>
              <a:avLst/>
              <a:gdLst/>
              <a:ahLst/>
              <a:cxnLst/>
              <a:rect l="l" t="t" r="r" b="b"/>
              <a:pathLst>
                <a:path w="7066280" h="6609080">
                  <a:moveTo>
                    <a:pt x="0" y="0"/>
                  </a:moveTo>
                  <a:lnTo>
                    <a:pt x="7066280" y="0"/>
                  </a:lnTo>
                  <a:lnTo>
                    <a:pt x="7066280" y="6609080"/>
                  </a:lnTo>
                  <a:lnTo>
                    <a:pt x="0" y="66090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628245" y="3360420"/>
            <a:ext cx="685800" cy="685800"/>
            <a:chOff x="0" y="0"/>
            <a:chExt cx="914400" cy="9144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628245" y="3360420"/>
            <a:ext cx="685800" cy="685800"/>
            <a:chOff x="0" y="0"/>
            <a:chExt cx="914400" cy="9144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2628245" y="4320540"/>
            <a:ext cx="4457700" cy="822960"/>
            <a:chOff x="0" y="0"/>
            <a:chExt cx="5943600" cy="109728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5943600" cy="1097280"/>
            </a:xfrm>
            <a:custGeom>
              <a:avLst/>
              <a:gdLst/>
              <a:ahLst/>
              <a:cxnLst/>
              <a:rect l="l" t="t" r="r" b="b"/>
              <a:pathLst>
                <a:path w="5943600" h="1097280">
                  <a:moveTo>
                    <a:pt x="0" y="0"/>
                  </a:moveTo>
                  <a:lnTo>
                    <a:pt x="5943600" y="0"/>
                  </a:lnTo>
                  <a:lnTo>
                    <a:pt x="59436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5543" b="-5554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9525"/>
              <a:ext cx="5943600" cy="11068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다음 단계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12628245" y="5345525"/>
            <a:ext cx="4457700" cy="747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3라운드 습식실험, 물리화학 변수 측정,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분리주의 인산가용화능 등 </a:t>
            </a:r>
            <a:r>
              <a:rPr lang="en-US" sz="1875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기능적 특성 검증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32/33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017520" y="7132320"/>
            <a:ext cx="6309360" cy="6309360"/>
            <a:chOff x="0" y="0"/>
            <a:chExt cx="8412480" cy="84124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412480" cy="8412480"/>
            </a:xfrm>
            <a:custGeom>
              <a:avLst/>
              <a:gdLst/>
              <a:ahLst/>
              <a:cxnLst/>
              <a:rect l="l" t="t" r="r" b="b"/>
              <a:pathLst>
                <a:path w="8412480" h="8412480">
                  <a:moveTo>
                    <a:pt x="0" y="4206240"/>
                  </a:moveTo>
                  <a:cubicBezTo>
                    <a:pt x="0" y="1883156"/>
                    <a:pt x="1883156" y="0"/>
                    <a:pt x="4206240" y="0"/>
                  </a:cubicBezTo>
                  <a:cubicBezTo>
                    <a:pt x="6529325" y="0"/>
                    <a:pt x="8412480" y="1883156"/>
                    <a:pt x="8412480" y="4206240"/>
                  </a:cubicBezTo>
                  <a:cubicBezTo>
                    <a:pt x="8412480" y="6529325"/>
                    <a:pt x="6529324" y="8412480"/>
                    <a:pt x="4206240" y="8412480"/>
                  </a:cubicBezTo>
                  <a:cubicBezTo>
                    <a:pt x="1883156" y="8412480"/>
                    <a:pt x="0" y="6529324"/>
                    <a:pt x="0" y="420624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" name="Freeform 4"/>
          <p:cNvSpPr/>
          <p:nvPr/>
        </p:nvSpPr>
        <p:spPr>
          <a:xfrm>
            <a:off x="386951" y="197974"/>
            <a:ext cx="2807101" cy="538632"/>
          </a:xfrm>
          <a:custGeom>
            <a:avLst/>
            <a:gdLst/>
            <a:ahLst/>
            <a:cxnLst/>
            <a:rect l="l" t="t" r="r" b="b"/>
            <a:pathLst>
              <a:path w="2807101" h="538632">
                <a:moveTo>
                  <a:pt x="0" y="0"/>
                </a:moveTo>
                <a:lnTo>
                  <a:pt x="2807101" y="0"/>
                </a:lnTo>
                <a:lnTo>
                  <a:pt x="2807101" y="538632"/>
                </a:lnTo>
                <a:lnTo>
                  <a:pt x="0" y="5386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1165860" y="3977640"/>
            <a:ext cx="15087600" cy="1645920"/>
            <a:chOff x="0" y="0"/>
            <a:chExt cx="20116800" cy="21945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0116800" cy="2194560"/>
            </a:xfrm>
            <a:custGeom>
              <a:avLst/>
              <a:gdLst/>
              <a:ahLst/>
              <a:cxnLst/>
              <a:rect l="l" t="t" r="r" b="b"/>
              <a:pathLst>
                <a:path w="20116800" h="2194560">
                  <a:moveTo>
                    <a:pt x="0" y="0"/>
                  </a:moveTo>
                  <a:lnTo>
                    <a:pt x="20116800" y="0"/>
                  </a:lnTo>
                  <a:lnTo>
                    <a:pt x="201168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28612" b="-12861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9050"/>
              <a:ext cx="20116800" cy="22136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920"/>
                </a:lnSpc>
              </a:pPr>
              <a:r>
                <a:rPr lang="en-US" sz="66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감사합니다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65860" y="6200911"/>
            <a:ext cx="14401800" cy="685800"/>
            <a:chOff x="0" y="0"/>
            <a:chExt cx="19202400" cy="9144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202400" cy="914400"/>
            </a:xfrm>
            <a:custGeom>
              <a:avLst/>
              <a:gdLst/>
              <a:ahLst/>
              <a:cxnLst/>
              <a:rect l="l" t="t" r="r" b="b"/>
              <a:pathLst>
                <a:path w="19202400" h="914400">
                  <a:moveTo>
                    <a:pt x="0" y="0"/>
                  </a:moveTo>
                  <a:lnTo>
                    <a:pt x="19202400" y="0"/>
                  </a:lnTo>
                  <a:lnTo>
                    <a:pt x="19202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59185" b="-35918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9202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수도권 도로변 &amp; 공원 토양 세균 군집 비교와 AI 기반 배양 최적화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755880" y="-2743200"/>
            <a:ext cx="8915400" cy="8915400"/>
            <a:chOff x="0" y="0"/>
            <a:chExt cx="11887200" cy="11887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887200" cy="11887200"/>
            </a:xfrm>
            <a:custGeom>
              <a:avLst/>
              <a:gdLst/>
              <a:ahLst/>
              <a:cxnLst/>
              <a:rect l="l" t="t" r="r" b="b"/>
              <a:pathLst>
                <a:path w="11887200" h="11887200">
                  <a:moveTo>
                    <a:pt x="0" y="5943600"/>
                  </a:moveTo>
                  <a:cubicBezTo>
                    <a:pt x="0" y="2661031"/>
                    <a:pt x="2661031" y="0"/>
                    <a:pt x="5943600" y="0"/>
                  </a:cubicBezTo>
                  <a:cubicBezTo>
                    <a:pt x="9226169" y="0"/>
                    <a:pt x="11887200" y="2661031"/>
                    <a:pt x="11887200" y="5943600"/>
                  </a:cubicBezTo>
                  <a:cubicBezTo>
                    <a:pt x="11887200" y="9226169"/>
                    <a:pt x="9226169" y="11887200"/>
                    <a:pt x="5943600" y="11887200"/>
                  </a:cubicBezTo>
                  <a:cubicBezTo>
                    <a:pt x="2661031" y="11887200"/>
                    <a:pt x="0" y="9226169"/>
                    <a:pt x="0" y="594360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65860" y="5623560"/>
            <a:ext cx="4399399" cy="548640"/>
            <a:chOff x="0" y="0"/>
            <a:chExt cx="5865865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865865" cy="731520"/>
            </a:xfrm>
            <a:custGeom>
              <a:avLst/>
              <a:gdLst/>
              <a:ahLst/>
              <a:cxnLst/>
              <a:rect l="l" t="t" r="r" b="b"/>
              <a:pathLst>
                <a:path w="5865865" h="731520">
                  <a:moveTo>
                    <a:pt x="0" y="0"/>
                  </a:moveTo>
                  <a:lnTo>
                    <a:pt x="5865865" y="0"/>
                  </a:lnTo>
                  <a:lnTo>
                    <a:pt x="5865865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2275" r="-87061" b="-24227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865865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 spc="299">
                  <a:solidFill>
                    <a:srgbClr val="0B2981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오믹스,마이크로바이옴 응용 프로젝트</a:t>
              </a:r>
            </a:p>
          </p:txBody>
        </p:sp>
      </p:grpSp>
      <p:sp>
        <p:nvSpPr>
          <p:cNvPr id="16" name="AutoShape 16"/>
          <p:cNvSpPr/>
          <p:nvPr/>
        </p:nvSpPr>
        <p:spPr>
          <a:xfrm>
            <a:off x="1224911" y="8557091"/>
            <a:ext cx="15792448" cy="19018"/>
          </a:xfrm>
          <a:prstGeom prst="line">
            <a:avLst/>
          </a:prstGeom>
          <a:ln w="9525" cap="rnd">
            <a:solidFill>
              <a:srgbClr val="E3E6F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Box 17"/>
          <p:cNvSpPr txBox="1"/>
          <p:nvPr/>
        </p:nvSpPr>
        <p:spPr>
          <a:xfrm>
            <a:off x="1016003" y="8590397"/>
            <a:ext cx="6615852" cy="836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46"/>
              </a:lnSpc>
            </a:pPr>
            <a:r>
              <a:rPr lang="en-US" sz="240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Team 1</a:t>
            </a:r>
          </a:p>
          <a:p>
            <a:pPr algn="l">
              <a:lnSpc>
                <a:spcPts val="3346"/>
              </a:lnSpc>
            </a:pPr>
            <a:r>
              <a:rPr lang="en-US" sz="240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함정관, 이지민, 윤수진, 황인영, 정유라, 주세린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4284</Words>
  <Application>Microsoft Office PowerPoint</Application>
  <PresentationFormat>사용자 지정</PresentationFormat>
  <Paragraphs>958</Paragraphs>
  <Slides>33</Slides>
  <Notes>33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0" baseType="lpstr">
      <vt:lpstr>프리텐다드 Bold</vt:lpstr>
      <vt:lpstr>Calibri</vt:lpstr>
      <vt:lpstr>프리텐다드</vt:lpstr>
      <vt:lpstr>프리텐다드 Medium</vt:lpstr>
      <vt:lpstr>Calibri (MS) Bold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1_마이크로바이옴.pptx</dc:title>
  <cp:lastModifiedBy>정관 함</cp:lastModifiedBy>
  <cp:revision>1</cp:revision>
  <dcterms:created xsi:type="dcterms:W3CDTF">2006-08-16T00:00:00Z</dcterms:created>
  <dcterms:modified xsi:type="dcterms:W3CDTF">2026-09-10T02:24:43Z</dcterms:modified>
  <dc:identifier>DAHUOrgrSwc</dc:identifier>
</cp:coreProperties>
</file>